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3" r:id="rId4"/>
    <p:sldId id="269" r:id="rId5"/>
    <p:sldId id="270" r:id="rId6"/>
    <p:sldId id="273" r:id="rId7"/>
    <p:sldId id="276" r:id="rId8"/>
    <p:sldId id="277" r:id="rId9"/>
    <p:sldId id="271" r:id="rId10"/>
    <p:sldId id="27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2E1E"/>
    <a:srgbClr val="E59A59"/>
    <a:srgbClr val="888870"/>
    <a:srgbClr val="011A9B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70CD7-145D-2C4E-AEC8-B50B9B76B9E8}" type="datetimeFigureOut">
              <a:rPr lang="en-FR" smtClean="0"/>
              <a:t>12/04/2023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0D7E3-B0ED-D94C-A856-43C37D4ECB6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1910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13639-4F26-46D5-810E-08F16702F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232710"/>
            <a:ext cx="10515600" cy="1170671"/>
          </a:xfrm>
          <a:prstGeom prst="rect">
            <a:avLst/>
          </a:prstGeom>
          <a:solidFill>
            <a:srgbClr val="712E1E"/>
          </a:solidFill>
          <a:ln>
            <a:noFill/>
          </a:ln>
          <a:effectLst>
            <a:outerShdw blurRad="451370" dist="282263" dir="12540000" algn="tr" rotWithShape="0">
              <a:prstClr val="black">
                <a:alpha val="40000"/>
              </a:prstClr>
            </a:outerShdw>
            <a:softEdge rad="0"/>
          </a:effectLst>
        </p:spPr>
        <p:txBody>
          <a:bodyPr anchor="ctr">
            <a:normAutofit/>
          </a:bodyPr>
          <a:lstStyle>
            <a:lvl1pPr algn="ctr">
              <a:defRPr sz="4400" b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70298-4A00-487F-88BC-7A3072FA47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61545"/>
            <a:ext cx="9144000" cy="57606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Your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8532D4D-048E-533C-B12B-504B330D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1E78CF6-DF76-EC02-9F06-7B3CDB353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5AF309-64BF-8493-11C1-E2B67E80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6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942EA-E749-4D6C-901E-AB3CC35FD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718457"/>
            <a:ext cx="11926387" cy="577378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150E056-858C-110E-CAB2-62BAE284B526}"/>
              </a:ext>
            </a:extLst>
          </p:cNvPr>
          <p:cNvSpPr txBox="1">
            <a:spLocks/>
          </p:cNvSpPr>
          <p:nvPr userDrawn="1"/>
        </p:nvSpPr>
        <p:spPr>
          <a:xfrm>
            <a:off x="4820194" y="-2780"/>
            <a:ext cx="7371806" cy="245560"/>
          </a:xfrm>
          <a:prstGeom prst="rect">
            <a:avLst/>
          </a:prstGeom>
          <a:solidFill>
            <a:srgbClr val="712E1E">
              <a:alpha val="90000"/>
            </a:srgb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74ABF9B-77F7-45F2-5677-A02B3B328C00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4820195" cy="245561"/>
          </a:xfrm>
          <a:prstGeom prst="rect">
            <a:avLst/>
          </a:prstGeom>
          <a:solidFill>
            <a:srgbClr val="712E1E">
              <a:alpha val="70000"/>
            </a:srgbClr>
          </a:solidFill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FD29A75-21CE-D978-E9A3-DB71F8FC5292}"/>
              </a:ext>
            </a:extLst>
          </p:cNvPr>
          <p:cNvSpPr txBox="1">
            <a:spLocks/>
          </p:cNvSpPr>
          <p:nvPr userDrawn="1"/>
        </p:nvSpPr>
        <p:spPr>
          <a:xfrm>
            <a:off x="0" y="253497"/>
            <a:ext cx="12192000" cy="389237"/>
          </a:xfrm>
          <a:prstGeom prst="rect">
            <a:avLst/>
          </a:prstGeom>
          <a:solidFill>
            <a:srgbClr val="712E1E"/>
          </a:solidFill>
          <a:ln>
            <a:noFill/>
          </a:ln>
        </p:spPr>
        <p:txBody>
          <a:bodyPr anchor="b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851C32F-F93C-063F-9950-CEC5AF00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190C502-D05E-4970-EA56-73079BD6E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AF958FA-6481-7FE2-F83E-65D12AF3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75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A0E9E-29C7-4254-9EF1-22FC64B56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522" y="715617"/>
            <a:ext cx="5887278" cy="577794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693F-2B5D-47A4-9937-F8D0829FE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715617"/>
            <a:ext cx="5887277" cy="57779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03AF9C-4BB3-15EC-EFBC-B375E339C7EB}"/>
              </a:ext>
            </a:extLst>
          </p:cNvPr>
          <p:cNvSpPr txBox="1">
            <a:spLocks/>
          </p:cNvSpPr>
          <p:nvPr userDrawn="1"/>
        </p:nvSpPr>
        <p:spPr>
          <a:xfrm>
            <a:off x="4820194" y="-2780"/>
            <a:ext cx="7371806" cy="245560"/>
          </a:xfrm>
          <a:prstGeom prst="rect">
            <a:avLst/>
          </a:prstGeom>
          <a:solidFill>
            <a:srgbClr val="712E1E">
              <a:alpha val="90000"/>
            </a:srgb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0E14FA5-08B6-C434-17D4-D80B719CF0D1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4820195" cy="245561"/>
          </a:xfrm>
          <a:prstGeom prst="rect">
            <a:avLst/>
          </a:prstGeom>
          <a:solidFill>
            <a:srgbClr val="712E1E">
              <a:alpha val="70000"/>
            </a:srgbClr>
          </a:solidFill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A7EFC96-B2BB-DF03-2342-BCF0F76F4305}"/>
              </a:ext>
            </a:extLst>
          </p:cNvPr>
          <p:cNvSpPr txBox="1">
            <a:spLocks/>
          </p:cNvSpPr>
          <p:nvPr userDrawn="1"/>
        </p:nvSpPr>
        <p:spPr>
          <a:xfrm>
            <a:off x="0" y="253497"/>
            <a:ext cx="12192000" cy="389237"/>
          </a:xfrm>
          <a:prstGeom prst="rect">
            <a:avLst/>
          </a:prstGeom>
          <a:solidFill>
            <a:srgbClr val="712E1E"/>
          </a:solidFill>
          <a:ln>
            <a:noFill/>
          </a:ln>
        </p:spPr>
        <p:txBody>
          <a:bodyPr anchor="b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B7FD980-4173-EC17-4932-DFDD8C0E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1FB6536-CA78-8C79-662C-95897B90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7F6A134-64F1-F52D-77B1-123D73EA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22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40E5-4C34-4241-9607-30A57A5E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66" y="702365"/>
            <a:ext cx="5904810" cy="1040704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C258-E6CF-4250-9ADE-3CCF914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766" y="1802253"/>
            <a:ext cx="5904810" cy="4704563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3D0E3-F2B3-4828-9FE8-79E35EBAD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702365"/>
            <a:ext cx="5904809" cy="1040704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FC978-7416-4BEC-A3E2-5F84F456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02254"/>
            <a:ext cx="5904808" cy="470456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1AB65B0-9C20-0F5C-D988-618AAD0478C8}"/>
              </a:ext>
            </a:extLst>
          </p:cNvPr>
          <p:cNvSpPr txBox="1">
            <a:spLocks/>
          </p:cNvSpPr>
          <p:nvPr userDrawn="1"/>
        </p:nvSpPr>
        <p:spPr>
          <a:xfrm>
            <a:off x="4820194" y="-2780"/>
            <a:ext cx="7371806" cy="245560"/>
          </a:xfrm>
          <a:prstGeom prst="rect">
            <a:avLst/>
          </a:prstGeom>
          <a:solidFill>
            <a:srgbClr val="712E1E">
              <a:alpha val="90000"/>
            </a:srgb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42DA102-E876-41B9-339D-370E081BBE8C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4820195" cy="245561"/>
          </a:xfrm>
          <a:prstGeom prst="rect">
            <a:avLst/>
          </a:prstGeom>
          <a:solidFill>
            <a:srgbClr val="712E1E">
              <a:alpha val="70000"/>
            </a:srgbClr>
          </a:solidFill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7A1C35B-45E8-BEE7-43BB-1DDB01808DAF}"/>
              </a:ext>
            </a:extLst>
          </p:cNvPr>
          <p:cNvSpPr txBox="1">
            <a:spLocks/>
          </p:cNvSpPr>
          <p:nvPr userDrawn="1"/>
        </p:nvSpPr>
        <p:spPr>
          <a:xfrm>
            <a:off x="0" y="253497"/>
            <a:ext cx="12192000" cy="389237"/>
          </a:xfrm>
          <a:prstGeom prst="rect">
            <a:avLst/>
          </a:prstGeom>
          <a:solidFill>
            <a:srgbClr val="712E1E"/>
          </a:solidFill>
          <a:ln>
            <a:noFill/>
          </a:ln>
        </p:spPr>
        <p:txBody>
          <a:bodyPr anchor="b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5C6DDD1-CBAB-25A3-7BC5-4902FF148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31A6567-3855-0B91-1043-B68B4BB8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BE62B3B-1655-17D6-A1F3-039FBDF2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8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7F170A04-3FF4-6279-76DE-BE21A1ED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9915"/>
            <a:ext cx="12191999" cy="51349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D8D4F50E-1DA7-DC87-C13C-1532AC10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642652"/>
            <a:ext cx="2634894" cy="206822"/>
          </a:xfrm>
        </p:spPr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2D2B6677-DC41-16FC-35C9-7068419F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0192" y="6636756"/>
            <a:ext cx="6840411" cy="212718"/>
          </a:xfrm>
        </p:spPr>
        <p:txBody>
          <a:bodyPr/>
          <a:lstStyle/>
          <a:p>
            <a:r>
              <a:rPr lang="en-US" dirty="0"/>
              <a:t>LMA36-MFA13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C871128-BF8B-5C7D-941A-BEEDD33E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83612" y="6634126"/>
            <a:ext cx="2608387" cy="215348"/>
          </a:xfrm>
        </p:spPr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FC37E0D7-5098-BA62-4973-B378401F15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17" y="569842"/>
            <a:ext cx="11979965" cy="60035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8119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86C2F-ADEF-447D-A076-C462E87DB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685" y="689699"/>
            <a:ext cx="7209825" cy="581711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FB149-3681-404B-B16C-3997D588D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90" y="1273351"/>
            <a:ext cx="4677535" cy="52334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C2085A-14E9-AA33-6895-9CA134FB84F1}"/>
              </a:ext>
            </a:extLst>
          </p:cNvPr>
          <p:cNvSpPr txBox="1">
            <a:spLocks/>
          </p:cNvSpPr>
          <p:nvPr userDrawn="1"/>
        </p:nvSpPr>
        <p:spPr>
          <a:xfrm>
            <a:off x="0" y="689699"/>
            <a:ext cx="4820194" cy="494846"/>
          </a:xfrm>
          <a:prstGeom prst="rect">
            <a:avLst/>
          </a:prstGeom>
          <a:solidFill>
            <a:srgbClr val="712E1E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2200" b="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Click to edit Master title style</a:t>
            </a:r>
            <a:endParaRPr lang="en-US" sz="2200" b="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839549A-DD67-5837-DBE1-A9FAFF03D584}"/>
              </a:ext>
            </a:extLst>
          </p:cNvPr>
          <p:cNvSpPr txBox="1">
            <a:spLocks/>
          </p:cNvSpPr>
          <p:nvPr userDrawn="1"/>
        </p:nvSpPr>
        <p:spPr>
          <a:xfrm>
            <a:off x="4820194" y="-2780"/>
            <a:ext cx="7371806" cy="245560"/>
          </a:xfrm>
          <a:prstGeom prst="rect">
            <a:avLst/>
          </a:prstGeom>
          <a:solidFill>
            <a:srgbClr val="712E1E">
              <a:alpha val="90000"/>
            </a:srgb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837B907-33DD-C377-04EC-1928FC3016A1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4820195" cy="245561"/>
          </a:xfrm>
          <a:prstGeom prst="rect">
            <a:avLst/>
          </a:prstGeom>
          <a:solidFill>
            <a:srgbClr val="712E1E">
              <a:alpha val="70000"/>
            </a:srgbClr>
          </a:solidFill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DF6471D-ABDF-3A41-FA86-D66DCB3A981D}"/>
              </a:ext>
            </a:extLst>
          </p:cNvPr>
          <p:cNvSpPr txBox="1">
            <a:spLocks/>
          </p:cNvSpPr>
          <p:nvPr userDrawn="1"/>
        </p:nvSpPr>
        <p:spPr>
          <a:xfrm>
            <a:off x="0" y="253497"/>
            <a:ext cx="12192000" cy="389237"/>
          </a:xfrm>
          <a:prstGeom prst="rect">
            <a:avLst/>
          </a:prstGeom>
          <a:solidFill>
            <a:srgbClr val="712E1E"/>
          </a:solidFill>
          <a:ln>
            <a:noFill/>
          </a:ln>
        </p:spPr>
        <p:txBody>
          <a:bodyPr anchor="b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F4F09AF-0AA6-81C3-B2E2-20A64664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51C8C1CE-6EE3-398D-2749-AA8B15F6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AEA44AE-3F1C-5579-6332-0D1986ED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53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99C68-EA94-44E4-861F-ACEA6D729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76800" y="690562"/>
            <a:ext cx="7220708" cy="5816253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685A7-0A6C-411B-899C-9B6DC9F86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92" y="1275077"/>
            <a:ext cx="4677534" cy="523173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126109-63B6-2D33-021D-5F705B28E945}"/>
              </a:ext>
            </a:extLst>
          </p:cNvPr>
          <p:cNvSpPr txBox="1">
            <a:spLocks/>
          </p:cNvSpPr>
          <p:nvPr userDrawn="1"/>
        </p:nvSpPr>
        <p:spPr>
          <a:xfrm>
            <a:off x="0" y="690562"/>
            <a:ext cx="4820194" cy="494846"/>
          </a:xfrm>
          <a:prstGeom prst="rect">
            <a:avLst/>
          </a:prstGeom>
          <a:solidFill>
            <a:srgbClr val="712E1E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2200" b="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Click to edit Master title style</a:t>
            </a:r>
            <a:endParaRPr lang="en-US" sz="2200" b="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3CA9BEB-AAEF-DBB1-673D-E1B1197650C7}"/>
              </a:ext>
            </a:extLst>
          </p:cNvPr>
          <p:cNvSpPr txBox="1">
            <a:spLocks/>
          </p:cNvSpPr>
          <p:nvPr userDrawn="1"/>
        </p:nvSpPr>
        <p:spPr>
          <a:xfrm>
            <a:off x="4820194" y="-2780"/>
            <a:ext cx="7371806" cy="245560"/>
          </a:xfrm>
          <a:prstGeom prst="rect">
            <a:avLst/>
          </a:prstGeom>
          <a:solidFill>
            <a:srgbClr val="712E1E">
              <a:alpha val="90000"/>
            </a:srgb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97BAC2F-CC6A-D5C0-1DD6-427D9CDF0CD6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4820195" cy="245561"/>
          </a:xfrm>
          <a:prstGeom prst="rect">
            <a:avLst/>
          </a:prstGeom>
          <a:solidFill>
            <a:srgbClr val="712E1E">
              <a:alpha val="70000"/>
            </a:srgbClr>
          </a:solidFill>
          <a:ln>
            <a:noFill/>
          </a:ln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1" kern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D1077EA-5D79-2CBB-F33B-B8964916BCAB}"/>
              </a:ext>
            </a:extLst>
          </p:cNvPr>
          <p:cNvSpPr txBox="1">
            <a:spLocks/>
          </p:cNvSpPr>
          <p:nvPr userDrawn="1"/>
        </p:nvSpPr>
        <p:spPr>
          <a:xfrm>
            <a:off x="0" y="253497"/>
            <a:ext cx="12192000" cy="389237"/>
          </a:xfrm>
          <a:prstGeom prst="rect">
            <a:avLst/>
          </a:prstGeom>
          <a:solidFill>
            <a:srgbClr val="712E1E"/>
          </a:solidFill>
          <a:ln>
            <a:noFill/>
          </a:ln>
        </p:spPr>
        <p:txBody>
          <a:bodyPr anchor="b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707BEDC-BC42-A8A7-E750-C716976B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BD3F2F9-CECB-2C6F-9B71-AF46092F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0FE82F4-4481-4EE1-0823-1895ABD5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91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A7735-0958-4F79-9D87-67DA22BCF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017" y="556590"/>
            <a:ext cx="11966713" cy="6028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is the first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75F63-3A28-42D0-A112-749A432F0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42652"/>
            <a:ext cx="2608386" cy="215348"/>
          </a:xfrm>
          <a:prstGeom prst="rect">
            <a:avLst/>
          </a:prstGeom>
          <a:solidFill>
            <a:srgbClr val="712E1E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C9FBB-1B4B-432A-8E9F-8BBCFF5C4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34890" y="6636756"/>
            <a:ext cx="6948722" cy="221244"/>
          </a:xfrm>
          <a:prstGeom prst="rect">
            <a:avLst/>
          </a:prstGeom>
          <a:solidFill>
            <a:srgbClr val="712E1E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CA29A-A230-4FE5-8DD4-E102E902B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10116" y="6634126"/>
            <a:ext cx="2581883" cy="231230"/>
          </a:xfrm>
          <a:prstGeom prst="rect">
            <a:avLst/>
          </a:prstGeom>
          <a:solidFill>
            <a:srgbClr val="712E1E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fld id="{B7CBE8AE-9389-4E4D-966C-8642C3CA71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Placeholder 16">
            <a:extLst>
              <a:ext uri="{FF2B5EF4-FFF2-40B4-BE49-F238E27FC236}">
                <a16:creationId xmlns:a16="http://schemas.microsoft.com/office/drawing/2014/main" id="{0F1873F1-9635-5890-7BB1-EE762F72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9915"/>
            <a:ext cx="12191999" cy="513497"/>
          </a:xfrm>
          <a:prstGeom prst="rect">
            <a:avLst/>
          </a:prstGeom>
          <a:solidFill>
            <a:srgbClr val="712E1E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66442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dirty="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SzPct val="120000"/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685800" indent="-228600" algn="just" defTabSz="914400" rtl="0" eaLnBrk="1" latinLnBrk="0" hangingPunct="1">
        <a:lnSpc>
          <a:spcPct val="70000"/>
        </a:lnSpc>
        <a:spcBef>
          <a:spcPts val="600"/>
        </a:spcBef>
        <a:buClr>
          <a:srgbClr val="C00000"/>
        </a:buClr>
        <a:buSzPct val="12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SzPct val="12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SzPct val="12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SzPct val="120000"/>
        <a:buFont typeface="Wingdings" panose="05000000000000000000" pitchFamily="2" charset="2"/>
        <a:buChar char="§"/>
        <a:defRPr sz="1600" i="1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B190-86F4-4101-9D11-5652CCB0A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14993"/>
            <a:ext cx="9144000" cy="1170671"/>
          </a:xfrm>
        </p:spPr>
        <p:txBody>
          <a:bodyPr/>
          <a:lstStyle/>
          <a:p>
            <a:r>
              <a:rPr lang="en-US" b="0" dirty="0" err="1"/>
              <a:t>L’apprentissage</a:t>
            </a:r>
            <a:r>
              <a:rPr lang="en-US" b="0" dirty="0"/>
              <a:t> </a:t>
            </a:r>
            <a:r>
              <a:rPr lang="en-US" b="0" dirty="0" err="1"/>
              <a:t>supervisé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7EA59-E571-443E-AA64-47CD7401E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8284"/>
            <a:ext cx="9144000" cy="1769139"/>
          </a:xfrm>
        </p:spPr>
        <p:txBody>
          <a:bodyPr>
            <a:normAutofit/>
          </a:bodyPr>
          <a:lstStyle/>
          <a:p>
            <a:r>
              <a:rPr lang="en-US" sz="3200" dirty="0"/>
              <a:t>Carine TOURE</a:t>
            </a:r>
          </a:p>
          <a:p>
            <a:r>
              <a:rPr lang="en-US" sz="2000" dirty="0"/>
              <a:t>LMA36-31</a:t>
            </a:r>
          </a:p>
          <a:p>
            <a:r>
              <a:rPr lang="en-US" sz="2000" dirty="0"/>
              <a:t>Université des Lagunes</a:t>
            </a:r>
          </a:p>
        </p:txBody>
      </p:sp>
    </p:spTree>
    <p:extLst>
      <p:ext uri="{BB962C8B-B14F-4D97-AF65-F5344CB8AC3E}">
        <p14:creationId xmlns:p14="http://schemas.microsoft.com/office/powerpoint/2010/main" val="46130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7DBB-1A52-15E1-ED2B-77E79D00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Outline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A7DE7-E85F-2A2D-CC75-9C90542A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FE5B9-3881-5C47-7840-B7C22239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E14D9-3BCD-2ADE-E7FB-E07F3D74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6E3BB3-AFF2-20C9-2550-7637C17905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FR" sz="2200" dirty="0"/>
              <a:t>Préambule</a:t>
            </a:r>
          </a:p>
          <a:p>
            <a:pPr lvl="1"/>
            <a:r>
              <a:rPr lang="en-FR" dirty="0"/>
              <a:t>L’apprentissage machine : vue d’ensemble</a:t>
            </a:r>
          </a:p>
          <a:p>
            <a:pPr lvl="1"/>
            <a:r>
              <a:rPr lang="en-FR" dirty="0"/>
              <a:t>L’apprentissage supervisé</a:t>
            </a:r>
          </a:p>
          <a:p>
            <a:pPr lvl="2"/>
            <a:r>
              <a:rPr lang="en-FR" dirty="0"/>
              <a:t>Définition</a:t>
            </a:r>
          </a:p>
          <a:p>
            <a:pPr lvl="2"/>
            <a:r>
              <a:rPr lang="en-FR" dirty="0"/>
              <a:t>Exemple d’hypothèses</a:t>
            </a:r>
          </a:p>
          <a:p>
            <a:pPr lvl="2"/>
            <a:r>
              <a:rPr lang="en-FR" dirty="0"/>
              <a:t>Compromis biais/variance</a:t>
            </a:r>
          </a:p>
          <a:p>
            <a:pPr lvl="2"/>
            <a:r>
              <a:rPr lang="en-FR" dirty="0"/>
              <a:t>Mesure de l’erreur</a:t>
            </a:r>
          </a:p>
          <a:p>
            <a:pPr lvl="2"/>
            <a:r>
              <a:rPr lang="en-FR" dirty="0"/>
              <a:t>Récapitulatif</a:t>
            </a:r>
          </a:p>
          <a:p>
            <a:pPr lvl="1"/>
            <a:r>
              <a:rPr lang="en-FR" dirty="0"/>
              <a:t>Ce que nous allons voir dans la suite du cours</a:t>
            </a:r>
          </a:p>
          <a:p>
            <a:r>
              <a:rPr lang="en-FR" sz="2200" dirty="0">
                <a:solidFill>
                  <a:schemeClr val="bg2">
                    <a:lumMod val="75000"/>
                  </a:schemeClr>
                </a:solidFill>
              </a:rPr>
              <a:t>Classification bayésienne </a:t>
            </a: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Les k plus proches voisins</a:t>
            </a:r>
            <a:endParaRPr lang="en-FR" sz="22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Les arbres de décision</a:t>
            </a:r>
            <a:endParaRPr lang="en-FR" sz="22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La régression linéaire</a:t>
            </a: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La régression logistique</a:t>
            </a: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Les machines à support de vecteur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4138140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1E043-E0B8-AF4D-68BF-470B04C4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1B346-A47E-2483-D89C-DCA94D6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0FE5F-493E-49EC-2286-1DCD469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86059-5DF4-F3A7-2BC7-31BB5EC1F8E6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306BF-4AC0-EE14-B685-0E0D266F41C3}"/>
              </a:ext>
            </a:extLst>
          </p:cNvPr>
          <p:cNvSpPr txBox="1"/>
          <p:nvPr/>
        </p:nvSpPr>
        <p:spPr>
          <a:xfrm>
            <a:off x="157133" y="253689"/>
            <a:ext cx="48527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Apprentissage machine : vue d’ensemble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2AEBA79-98BC-381A-8AC9-BADB5BF00EFE}"/>
              </a:ext>
            </a:extLst>
          </p:cNvPr>
          <p:cNvSpPr txBox="1">
            <a:spLocks/>
          </p:cNvSpPr>
          <p:nvPr/>
        </p:nvSpPr>
        <p:spPr>
          <a:xfrm>
            <a:off x="106017" y="746114"/>
            <a:ext cx="11979965" cy="5578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Intelligence artificielle</a:t>
            </a:r>
            <a:r>
              <a:rPr lang="en-FR" baseline="30000" dirty="0"/>
              <a:t>1</a:t>
            </a:r>
            <a:r>
              <a:rPr lang="en-FR" dirty="0"/>
              <a:t> =&gt; discipline générale s’intéressant à la compréhension et à la construction d’entités intelligentes (agents), ie des machines capables de calculer comment agir efficacement et de manière sure dans une grande variété de situations nouvelles.</a:t>
            </a:r>
            <a:endParaRPr lang="en-FR" baseline="-25000" dirty="0"/>
          </a:p>
          <a:p>
            <a:r>
              <a:rPr lang="en-FR" dirty="0"/>
              <a:t>Apprentissage machine (automatique) =&gt; sous-domaine de l’IA qui étudie la capacité à améliorer les performances de la machine en fonction de l’expérience. L’acquisition de compétences par l’expérience ne s’utilise pas pour toutes les méthodes. </a:t>
            </a:r>
          </a:p>
          <a:p>
            <a:pPr lvl="1"/>
            <a:r>
              <a:rPr lang="en-FR" dirty="0"/>
              <a:t>IA sans apprentissage automatique : systèmes à base de règles (chatbots de 1ère génération), les plongements lexicaux (utilisés en NLP)</a:t>
            </a:r>
          </a:p>
          <a:p>
            <a:pPr lvl="1"/>
            <a:r>
              <a:rPr lang="en-FR" dirty="0"/>
              <a:t>IA avec apprentissage automatique : détecteurs de spam, chatgpt, véhicules autonomes  </a:t>
            </a:r>
          </a:p>
          <a:p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BD7A2-92C6-69A0-46B5-F62DA50B1AE1}"/>
              </a:ext>
            </a:extLst>
          </p:cNvPr>
          <p:cNvSpPr txBox="1"/>
          <p:nvPr/>
        </p:nvSpPr>
        <p:spPr>
          <a:xfrm>
            <a:off x="106017" y="6301871"/>
            <a:ext cx="11979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200" baseline="300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1</a:t>
            </a:r>
            <a:r>
              <a:rPr lang="en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Intelligence artificielle, une approche moderne – 4ème édition 2021. Stuart R</a:t>
            </a:r>
            <a:r>
              <a:rPr lang="en-GB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</a:t>
            </a:r>
            <a:r>
              <a:rPr lang="en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ssel &amp; Peter Novig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1BEEB-47C1-6C6A-A2C5-18398667A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6414"/>
            <a:ext cx="2433499" cy="18008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E9A518-2F27-C14D-8EEB-0832E235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890" y="4704511"/>
            <a:ext cx="2938469" cy="12654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E10E70-904B-9ACE-753F-6AC7995A7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750" y="3614370"/>
            <a:ext cx="2940232" cy="22051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CAA157-ADBB-4DF3-63BD-0441737F338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1" r="4159"/>
          <a:stretch/>
        </p:blipFill>
        <p:spPr>
          <a:xfrm>
            <a:off x="6422834" y="3988949"/>
            <a:ext cx="2224490" cy="115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09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1E043-E0B8-AF4D-68BF-470B04C4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1B346-A47E-2483-D89C-DCA94D6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0FE5F-493E-49EC-2286-1DCD469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86059-5DF4-F3A7-2BC7-31BB5EC1F8E6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306BF-4AC0-EE14-B685-0E0D266F41C3}"/>
              </a:ext>
            </a:extLst>
          </p:cNvPr>
          <p:cNvSpPr txBox="1"/>
          <p:nvPr/>
        </p:nvSpPr>
        <p:spPr>
          <a:xfrm>
            <a:off x="157133" y="253689"/>
            <a:ext cx="48527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Apprentissage machine : vue d’ensemble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2AEBA79-98BC-381A-8AC9-BADB5BF00EFE}"/>
              </a:ext>
            </a:extLst>
          </p:cNvPr>
          <p:cNvSpPr txBox="1">
            <a:spLocks/>
          </p:cNvSpPr>
          <p:nvPr/>
        </p:nvSpPr>
        <p:spPr>
          <a:xfrm>
            <a:off x="106017" y="746114"/>
            <a:ext cx="11979965" cy="5578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  </a:t>
            </a:r>
          </a:p>
          <a:p>
            <a:endParaRPr lang="en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7B9BA-83B5-EC51-6F76-45AD0F47EB20}"/>
              </a:ext>
            </a:extLst>
          </p:cNvPr>
          <p:cNvSpPr txBox="1"/>
          <p:nvPr/>
        </p:nvSpPr>
        <p:spPr>
          <a:xfrm>
            <a:off x="2536707" y="6135345"/>
            <a:ext cx="729731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Figure 1. Les grandes familles d’apprentissage machine. </a:t>
            </a:r>
          </a:p>
          <a:p>
            <a:pPr algn="ctr"/>
            <a:r>
              <a:rPr lang="en-FR" sz="1050" u="sng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Source</a:t>
            </a:r>
            <a:r>
              <a:rPr lang="en-FR" sz="105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: </a:t>
            </a:r>
            <a:r>
              <a:rPr lang="en-GB" sz="105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https://</a:t>
            </a:r>
            <a:r>
              <a:rPr lang="en-GB" sz="1050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deeplylearning.fr</a:t>
            </a:r>
            <a:r>
              <a:rPr lang="en-GB" sz="105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/tag/</a:t>
            </a:r>
            <a:r>
              <a:rPr lang="en-GB" sz="1050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renforcement</a:t>
            </a:r>
            <a:r>
              <a:rPr lang="en-GB" sz="105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/</a:t>
            </a:r>
            <a:endParaRPr lang="en-FR" sz="1200" i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230092-5DF7-E243-DD44-7F8FE15FB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890" y="897000"/>
            <a:ext cx="7100952" cy="507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1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1E043-E0B8-AF4D-68BF-470B04C4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1B346-A47E-2483-D89C-DCA94D6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0FE5F-493E-49EC-2286-1DCD469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86059-5DF4-F3A7-2BC7-31BB5EC1F8E6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306BF-4AC0-EE14-B685-0E0D266F41C3}"/>
              </a:ext>
            </a:extLst>
          </p:cNvPr>
          <p:cNvSpPr txBox="1"/>
          <p:nvPr/>
        </p:nvSpPr>
        <p:spPr>
          <a:xfrm>
            <a:off x="157133" y="253689"/>
            <a:ext cx="1313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Définition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2AEBA79-98BC-381A-8AC9-BADB5BF00EFE}"/>
              </a:ext>
            </a:extLst>
          </p:cNvPr>
          <p:cNvSpPr txBox="1">
            <a:spLocks/>
          </p:cNvSpPr>
          <p:nvPr/>
        </p:nvSpPr>
        <p:spPr>
          <a:xfrm>
            <a:off x="106017" y="746114"/>
            <a:ext cx="11979965" cy="5578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Apprentissage : processus d’amélioration des performances d’un agent après observation de son environnement, construction d’un modèle à partir de ces observations, utilisation de ce modèle comme hypothèse et comme procédure logicielle capable de résoudre certains problèmes. </a:t>
            </a:r>
          </a:p>
          <a:p>
            <a:pPr lvl="1"/>
            <a:r>
              <a:rPr lang="en-GB" dirty="0"/>
              <a:t>V</a:t>
            </a:r>
            <a:r>
              <a:rPr lang="en-FR" dirty="0"/>
              <a:t>arie selon la nature de l’agent, du composant à améliorer et du retour disponible </a:t>
            </a:r>
          </a:p>
          <a:p>
            <a:endParaRPr lang="en-FR" sz="1800" dirty="0"/>
          </a:p>
          <a:p>
            <a:r>
              <a:rPr lang="en-FR" dirty="0"/>
              <a:t>Si le retour disponible indique la réponse correcte pour des exemples d’entrée, on parle d’</a:t>
            </a:r>
            <a:r>
              <a:rPr lang="en-FR" b="1" dirty="0"/>
              <a:t>apprentissage supervisé</a:t>
            </a:r>
            <a:r>
              <a:rPr lang="en-FR" dirty="0"/>
              <a:t>.</a:t>
            </a:r>
          </a:p>
          <a:p>
            <a:endParaRPr lang="en-FR" sz="1800" dirty="0"/>
          </a:p>
          <a:p>
            <a:r>
              <a:rPr lang="en-FR" dirty="0"/>
              <a:t>Pour un ensemble d’apprentissage de N exemples couples entrée-sortie </a:t>
            </a:r>
            <a:r>
              <a:rPr lang="en-FR" sz="2000" dirty="0"/>
              <a:t>(x</a:t>
            </a:r>
            <a:r>
              <a:rPr lang="en-FR" sz="2000" baseline="-25000" dirty="0"/>
              <a:t>1</a:t>
            </a:r>
            <a:r>
              <a:rPr lang="en-FR" sz="2000" dirty="0"/>
              <a:t>, y</a:t>
            </a:r>
            <a:r>
              <a:rPr lang="en-FR" sz="2000" baseline="-25000" dirty="0"/>
              <a:t>1</a:t>
            </a:r>
            <a:r>
              <a:rPr lang="en-FR" sz="2000" dirty="0"/>
              <a:t>), (x</a:t>
            </a:r>
            <a:r>
              <a:rPr lang="en-FR" sz="2000" baseline="-25000" dirty="0"/>
              <a:t>2</a:t>
            </a:r>
            <a:r>
              <a:rPr lang="en-FR" sz="2000" dirty="0"/>
              <a:t>, y</a:t>
            </a:r>
            <a:r>
              <a:rPr lang="en-FR" sz="2000" baseline="-25000" dirty="0"/>
              <a:t>2</a:t>
            </a:r>
            <a:r>
              <a:rPr lang="en-FR" sz="2000" dirty="0"/>
              <a:t>), ..., (x</a:t>
            </a:r>
            <a:r>
              <a:rPr lang="en-FR" sz="2000" baseline="-25000" dirty="0"/>
              <a:t>N</a:t>
            </a:r>
            <a:r>
              <a:rPr lang="en-FR" sz="2000" dirty="0"/>
              <a:t>, y</a:t>
            </a:r>
            <a:r>
              <a:rPr lang="en-FR" sz="2000" baseline="-25000" dirty="0"/>
              <a:t>N</a:t>
            </a:r>
            <a:r>
              <a:rPr lang="en-FR" sz="2000" dirty="0"/>
              <a:t>)</a:t>
            </a:r>
            <a:r>
              <a:rPr lang="en-FR" dirty="0"/>
              <a:t> :</a:t>
            </a:r>
          </a:p>
          <a:p>
            <a:pPr lvl="1"/>
            <a:r>
              <a:rPr lang="en-GB" dirty="0" err="1"/>
              <a:t>y</a:t>
            </a:r>
            <a:r>
              <a:rPr lang="en-GB" baseline="-25000" dirty="0" err="1"/>
              <a:t>i</a:t>
            </a:r>
            <a:r>
              <a:rPr lang="en-GB" dirty="0"/>
              <a:t> : </a:t>
            </a:r>
            <a:r>
              <a:rPr lang="en-GB" dirty="0" err="1"/>
              <a:t>référence</a:t>
            </a:r>
            <a:r>
              <a:rPr lang="en-GB" dirty="0"/>
              <a:t>, </a:t>
            </a:r>
            <a:r>
              <a:rPr lang="en-GB" dirty="0" err="1"/>
              <a:t>réponse</a:t>
            </a:r>
            <a:r>
              <a:rPr lang="en-GB" dirty="0"/>
              <a:t> </a:t>
            </a:r>
            <a:r>
              <a:rPr lang="en-GB" dirty="0" err="1"/>
              <a:t>véritable</a:t>
            </a:r>
            <a:r>
              <a:rPr lang="en-GB" dirty="0"/>
              <a:t> que </a:t>
            </a:r>
            <a:r>
              <a:rPr lang="en-GB" dirty="0" err="1"/>
              <a:t>l’on</a:t>
            </a:r>
            <a:r>
              <a:rPr lang="en-GB" dirty="0"/>
              <a:t> </a:t>
            </a:r>
            <a:r>
              <a:rPr lang="en-GB" dirty="0" err="1"/>
              <a:t>cherche</a:t>
            </a:r>
            <a:r>
              <a:rPr lang="en-GB" dirty="0"/>
              <a:t> </a:t>
            </a:r>
            <a:r>
              <a:rPr lang="en-GB" dirty="0" err="1"/>
              <a:t>à</a:t>
            </a:r>
            <a:r>
              <a:rPr lang="en-GB" dirty="0"/>
              <a:t> </a:t>
            </a:r>
            <a:r>
              <a:rPr lang="en-GB" dirty="0" err="1"/>
              <a:t>prédire</a:t>
            </a:r>
            <a:endParaRPr lang="en-GB" dirty="0"/>
          </a:p>
          <a:p>
            <a:pPr lvl="1"/>
            <a:r>
              <a:rPr lang="en-GB" dirty="0"/>
              <a:t>C</a:t>
            </a:r>
            <a:r>
              <a:rPr lang="en-FR" dirty="0"/>
              <a:t>haque y</a:t>
            </a:r>
            <a:r>
              <a:rPr lang="en-FR" baseline="-25000" dirty="0"/>
              <a:t>i</a:t>
            </a:r>
            <a:r>
              <a:rPr lang="en-FR" dirty="0"/>
              <a:t> a été produit par une fonction inconnue y = f(x)</a:t>
            </a:r>
          </a:p>
          <a:p>
            <a:pPr lvl="1"/>
            <a:r>
              <a:rPr lang="en-FR" dirty="0"/>
              <a:t>Objectif : trouver une fonction h (l’hypothèse cohérente) qui approche la vraie fonction f. h provient d’un espace d’hypothèses H (ou classe de fonctions) qui contient les fonctions possibles.</a:t>
            </a:r>
          </a:p>
          <a:p>
            <a:endParaRPr lang="en-FR" sz="1800" dirty="0"/>
          </a:p>
          <a:p>
            <a:r>
              <a:rPr lang="en-FR" dirty="0"/>
              <a:t>Lorsque les valeurs de y sont discrètes, on a un problème de </a:t>
            </a:r>
            <a:r>
              <a:rPr lang="en-FR" b="1" dirty="0"/>
              <a:t>classification</a:t>
            </a:r>
          </a:p>
          <a:p>
            <a:r>
              <a:rPr lang="en-FR" dirty="0"/>
              <a:t>Lorsque les valeurs de y sont continues, on a un problème de </a:t>
            </a:r>
            <a:r>
              <a:rPr lang="en-FR" b="1" dirty="0"/>
              <a:t>régression</a:t>
            </a:r>
          </a:p>
          <a:p>
            <a:pPr marL="0" indent="0">
              <a:buNone/>
            </a:pPr>
            <a:endParaRPr lang="en-FR" dirty="0"/>
          </a:p>
          <a:p>
            <a:endParaRPr lang="en-FR" dirty="0"/>
          </a:p>
          <a:p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5A8D41-DFEA-B93F-A057-F3B938A8D0BC}"/>
              </a:ext>
            </a:extLst>
          </p:cNvPr>
          <p:cNvSpPr txBox="1"/>
          <p:nvPr/>
        </p:nvSpPr>
        <p:spPr>
          <a:xfrm>
            <a:off x="106017" y="6367973"/>
            <a:ext cx="119799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100" baseline="300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1</a:t>
            </a:r>
            <a:r>
              <a:rPr lang="en-FR" sz="11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Intelligence artificielle, une approche moderne – 4ème édition 2021. Stuart R</a:t>
            </a:r>
            <a:r>
              <a:rPr lang="en-GB" sz="11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</a:t>
            </a:r>
            <a:r>
              <a:rPr lang="en-FR" sz="11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ssel &amp; Peter Novig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E540A-FDAF-3EE9-D45F-85CB3E6F484D}"/>
              </a:ext>
            </a:extLst>
          </p:cNvPr>
          <p:cNvSpPr txBox="1"/>
          <p:nvPr/>
        </p:nvSpPr>
        <p:spPr>
          <a:xfrm>
            <a:off x="4987106" y="-54160"/>
            <a:ext cx="2397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solidFill>
                  <a:schemeClr val="bg1"/>
                </a:solidFill>
              </a:rPr>
              <a:t>L’apprentissage supervisé</a:t>
            </a:r>
            <a:r>
              <a:rPr lang="en-FR" sz="1600" baseline="300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21793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1E043-E0B8-AF4D-68BF-470B04C4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1B346-A47E-2483-D89C-DCA94D6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0FE5F-493E-49EC-2286-1DCD469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86059-5DF4-F3A7-2BC7-31BB5EC1F8E6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306BF-4AC0-EE14-B685-0E0D266F41C3}"/>
              </a:ext>
            </a:extLst>
          </p:cNvPr>
          <p:cNvSpPr txBox="1"/>
          <p:nvPr/>
        </p:nvSpPr>
        <p:spPr>
          <a:xfrm>
            <a:off x="157133" y="253689"/>
            <a:ext cx="1313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Définition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2AEBA79-98BC-381A-8AC9-BADB5BF00EFE}"/>
              </a:ext>
            </a:extLst>
          </p:cNvPr>
          <p:cNvSpPr txBox="1">
            <a:spLocks/>
          </p:cNvSpPr>
          <p:nvPr/>
        </p:nvSpPr>
        <p:spPr>
          <a:xfrm>
            <a:off x="106017" y="746114"/>
            <a:ext cx="11979965" cy="5578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Comment choisir l’espace d’hypothèses ?</a:t>
            </a:r>
          </a:p>
          <a:p>
            <a:pPr lvl="1"/>
            <a:r>
              <a:rPr lang="en-FR" dirty="0"/>
              <a:t>connaissance a-priori du processus ayant engendré les données, exploration par analyse des données (visualisations, tests statistiques, ...)</a:t>
            </a:r>
          </a:p>
          <a:p>
            <a:pPr marL="0" indent="0">
              <a:buNone/>
            </a:pPr>
            <a:endParaRPr lang="en-FR" dirty="0"/>
          </a:p>
          <a:p>
            <a:endParaRPr lang="en-FR" dirty="0"/>
          </a:p>
          <a:p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E540A-FDAF-3EE9-D45F-85CB3E6F484D}"/>
              </a:ext>
            </a:extLst>
          </p:cNvPr>
          <p:cNvSpPr txBox="1"/>
          <p:nvPr/>
        </p:nvSpPr>
        <p:spPr>
          <a:xfrm>
            <a:off x="4987106" y="-54160"/>
            <a:ext cx="2293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solidFill>
                  <a:schemeClr val="bg1"/>
                </a:solidFill>
              </a:rPr>
              <a:t>L’apprentissage supervisé</a:t>
            </a:r>
            <a:endParaRPr lang="en-FR" sz="1600" baseline="300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A2F6B9-F80E-9397-A471-C989E5B86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604" y="1875988"/>
            <a:ext cx="8094464" cy="3456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38EFB2-A525-68E1-04F6-AF3B12BC12F5}"/>
              </a:ext>
            </a:extLst>
          </p:cNvPr>
          <p:cNvSpPr txBox="1"/>
          <p:nvPr/>
        </p:nvSpPr>
        <p:spPr>
          <a:xfrm>
            <a:off x="1239522" y="5318598"/>
            <a:ext cx="9820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Figure 2. Exemples d’hypothèses</a:t>
            </a:r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pour approcher les données. </a:t>
            </a:r>
            <a:endParaRPr lang="fr-FR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algn="ctr"/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Rangée du</a:t>
            </a:r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haut : quatre tracés avec </a:t>
            </a:r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la meilleure hypothèse issue d’un des quatre espaces d’hypothèses, par entrainement sur un ensemble de données</a:t>
            </a:r>
          </a:p>
          <a:p>
            <a:pPr algn="ctr"/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Rangée du bas : la même chose, mais avec un échantillon différent du même ensemble de données</a:t>
            </a:r>
            <a:endParaRPr lang="en-FR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04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1BA966-9CEB-04FF-7FA9-73A2B93FA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506CE6B-33B1-46B8-FE46-B51FEE25C04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endParaRPr lang="en-GB" dirty="0"/>
              </a:p>
              <a:p>
                <a:r>
                  <a:rPr lang="en-GB" dirty="0" err="1"/>
                  <a:t>Colonne</a:t>
                </a:r>
                <a:r>
                  <a:rPr lang="en-GB" dirty="0"/>
                  <a:t> (a) : </a:t>
                </a:r>
                <a:r>
                  <a:rPr lang="en-GB" dirty="0" err="1"/>
                  <a:t>Lignes</a:t>
                </a:r>
                <a:r>
                  <a:rPr lang="en-GB" dirty="0"/>
                  <a:t> </a:t>
                </a:r>
                <a:r>
                  <a:rPr lang="en-GB" dirty="0" err="1"/>
                  <a:t>droites</a:t>
                </a:r>
                <a:r>
                  <a:rPr lang="en-GB" dirty="0"/>
                  <a:t>; </a:t>
                </a:r>
                <a:r>
                  <a:rPr lang="en-GB" dirty="0" err="1"/>
                  <a:t>fonctions</a:t>
                </a:r>
                <a:r>
                  <a:rPr lang="en-GB" dirty="0"/>
                  <a:t> de la </a:t>
                </a:r>
                <a:r>
                  <a:rPr lang="en-GB" dirty="0" err="1"/>
                  <a:t>forme</a:t>
                </a:r>
                <a:r>
                  <a:rPr lang="en-GB" dirty="0"/>
                  <a:t>             h(x) = w</a:t>
                </a:r>
                <a:r>
                  <a:rPr lang="en-GB" baseline="-25000" dirty="0"/>
                  <a:t>1</a:t>
                </a:r>
                <a:r>
                  <a:rPr lang="en-GB" dirty="0"/>
                  <a:t>x+w</a:t>
                </a:r>
                <a:r>
                  <a:rPr lang="en-GB" baseline="-25000" dirty="0"/>
                  <a:t>0</a:t>
                </a:r>
                <a:r>
                  <a:rPr lang="en-GB" dirty="0"/>
                  <a:t>. </a:t>
                </a:r>
                <a:r>
                  <a:rPr lang="en-GB" dirty="0" err="1"/>
                  <a:t>Aucune</a:t>
                </a:r>
                <a:r>
                  <a:rPr lang="en-GB" dirty="0"/>
                  <a:t> </a:t>
                </a:r>
                <a:r>
                  <a:rPr lang="en-GB" dirty="0" err="1"/>
                  <a:t>ligne</a:t>
                </a:r>
                <a:r>
                  <a:rPr lang="en-GB" dirty="0"/>
                  <a:t> droite </a:t>
                </a:r>
                <a:r>
                  <a:rPr lang="en-GB" dirty="0" err="1"/>
                  <a:t>n’est</a:t>
                </a:r>
                <a:r>
                  <a:rPr lang="en-GB" dirty="0"/>
                  <a:t> </a:t>
                </a:r>
                <a:r>
                  <a:rPr lang="en-GB" dirty="0" err="1"/>
                  <a:t>une</a:t>
                </a:r>
                <a:r>
                  <a:rPr lang="en-GB" dirty="0"/>
                  <a:t> </a:t>
                </a:r>
                <a:r>
                  <a:rPr lang="en-GB" dirty="0" err="1"/>
                  <a:t>hypothèse</a:t>
                </a:r>
                <a:r>
                  <a:rPr lang="en-GB" dirty="0"/>
                  <a:t> </a:t>
                </a:r>
                <a:r>
                  <a:rPr lang="en-GB" dirty="0" err="1"/>
                  <a:t>cohérente</a:t>
                </a:r>
                <a:r>
                  <a:rPr lang="en-GB" dirty="0"/>
                  <a:t> pour </a:t>
                </a:r>
                <a:r>
                  <a:rPr lang="en-GB" dirty="0" err="1"/>
                  <a:t>ces</a:t>
                </a:r>
                <a:r>
                  <a:rPr lang="en-GB" dirty="0"/>
                  <a:t> </a:t>
                </a:r>
                <a:r>
                  <a:rPr lang="en-GB" dirty="0" err="1"/>
                  <a:t>données</a:t>
                </a:r>
                <a:endParaRPr lang="en-GB" dirty="0"/>
              </a:p>
              <a:p>
                <a:br>
                  <a:rPr lang="en-GB" dirty="0"/>
                </a:br>
                <a:r>
                  <a:rPr lang="en-GB" dirty="0" err="1"/>
                  <a:t>Colonne</a:t>
                </a:r>
                <a:r>
                  <a:rPr lang="en-GB" dirty="0"/>
                  <a:t> (b) : </a:t>
                </a:r>
                <a:r>
                  <a:rPr lang="en-GB" dirty="0" err="1"/>
                  <a:t>Sinusoïdes</a:t>
                </a:r>
                <a:r>
                  <a:rPr lang="en-GB" dirty="0"/>
                  <a:t>; </a:t>
                </a:r>
                <a:r>
                  <a:rPr lang="en-GB" dirty="0" err="1"/>
                  <a:t>fonctions</a:t>
                </a:r>
                <a:r>
                  <a:rPr lang="en-GB" dirty="0"/>
                  <a:t> de la </a:t>
                </a:r>
                <a:r>
                  <a:rPr lang="en-GB" dirty="0" err="1"/>
                  <a:t>forme</a:t>
                </a:r>
                <a:r>
                  <a:rPr lang="en-GB" dirty="0"/>
                  <a:t>  h(x) = w</a:t>
                </a:r>
                <a:r>
                  <a:rPr lang="en-GB" baseline="-25000" dirty="0"/>
                  <a:t>1</a:t>
                </a:r>
                <a:r>
                  <a:rPr lang="en-GB" dirty="0"/>
                  <a:t>x+sin(w</a:t>
                </a:r>
                <a:r>
                  <a:rPr lang="en-GB" baseline="-25000" dirty="0"/>
                  <a:t>0</a:t>
                </a:r>
                <a:r>
                  <a:rPr lang="en-GB" dirty="0"/>
                  <a:t>x). Ce </a:t>
                </a:r>
                <a:r>
                  <a:rPr lang="en-GB" dirty="0" err="1"/>
                  <a:t>choix</a:t>
                </a:r>
                <a:r>
                  <a:rPr lang="en-GB" dirty="0"/>
                  <a:t> </a:t>
                </a:r>
                <a:r>
                  <a:rPr lang="en-GB" dirty="0" err="1"/>
                  <a:t>n’est</a:t>
                </a:r>
                <a:r>
                  <a:rPr lang="en-GB" dirty="0"/>
                  <a:t> pas </a:t>
                </a:r>
                <a:r>
                  <a:rPr lang="en-GB" dirty="0" err="1"/>
                  <a:t>parfaitement</a:t>
                </a:r>
                <a:r>
                  <a:rPr lang="en-GB" dirty="0"/>
                  <a:t> </a:t>
                </a:r>
                <a:r>
                  <a:rPr lang="en-GB" dirty="0" err="1"/>
                  <a:t>cohérent</a:t>
                </a:r>
                <a:r>
                  <a:rPr lang="en-GB" dirty="0"/>
                  <a:t> </a:t>
                </a:r>
                <a:r>
                  <a:rPr lang="en-GB" dirty="0" err="1"/>
                  <a:t>mais</a:t>
                </a:r>
                <a:r>
                  <a:rPr lang="en-GB" dirty="0"/>
                  <a:t> </a:t>
                </a:r>
                <a:r>
                  <a:rPr lang="en-GB" dirty="0" err="1"/>
                  <a:t>s’adapte</a:t>
                </a:r>
                <a:r>
                  <a:rPr lang="en-GB" dirty="0"/>
                  <a:t> bien aux </a:t>
                </a:r>
                <a:r>
                  <a:rPr lang="en-GB" dirty="0" err="1"/>
                  <a:t>données</a:t>
                </a:r>
                <a:r>
                  <a:rPr lang="en-GB" dirty="0"/>
                  <a:t>.</a:t>
                </a:r>
              </a:p>
              <a:p>
                <a:br>
                  <a:rPr lang="en-GB" dirty="0"/>
                </a:br>
                <a:r>
                  <a:rPr lang="en-GB" dirty="0" err="1"/>
                  <a:t>Colonne</a:t>
                </a:r>
                <a:r>
                  <a:rPr lang="en-GB" dirty="0"/>
                  <a:t> (c) : </a:t>
                </a:r>
                <a:r>
                  <a:rPr lang="en-GB" dirty="0" err="1"/>
                  <a:t>Fonctions</a:t>
                </a:r>
                <a:r>
                  <a:rPr lang="en-GB" dirty="0"/>
                  <a:t> </a:t>
                </a:r>
                <a:r>
                  <a:rPr lang="en-GB" dirty="0" err="1"/>
                  <a:t>linéaires</a:t>
                </a:r>
                <a:r>
                  <a:rPr lang="en-GB" dirty="0"/>
                  <a:t> par morceaux; </a:t>
                </a:r>
                <a:r>
                  <a:rPr lang="en-GB" dirty="0" err="1"/>
                  <a:t>chaque</a:t>
                </a:r>
                <a:r>
                  <a:rPr lang="en-GB" dirty="0"/>
                  <a:t> segment </a:t>
                </a:r>
                <a:r>
                  <a:rPr lang="en-GB" dirty="0" err="1"/>
                  <a:t>relie</a:t>
                </a:r>
                <a:r>
                  <a:rPr lang="en-GB" dirty="0"/>
                  <a:t> </a:t>
                </a:r>
                <a:r>
                  <a:rPr lang="en-GB" dirty="0" err="1"/>
                  <a:t>simplement</a:t>
                </a:r>
                <a:r>
                  <a:rPr lang="en-GB" dirty="0"/>
                  <a:t> un point </a:t>
                </a:r>
                <a:r>
                  <a:rPr lang="en-GB" dirty="0" err="1"/>
                  <a:t>à</a:t>
                </a:r>
                <a:r>
                  <a:rPr lang="en-GB" dirty="0"/>
                  <a:t> un </a:t>
                </a:r>
                <a:r>
                  <a:rPr lang="en-GB" dirty="0" err="1"/>
                  <a:t>autre</a:t>
                </a:r>
                <a:r>
                  <a:rPr lang="en-GB" dirty="0"/>
                  <a:t>. </a:t>
                </a:r>
                <a:r>
                  <a:rPr lang="en-GB" dirty="0" err="1"/>
                  <a:t>Ces</a:t>
                </a:r>
                <a:r>
                  <a:rPr lang="en-GB" dirty="0"/>
                  <a:t> </a:t>
                </a:r>
                <a:r>
                  <a:rPr lang="en-GB" dirty="0" err="1"/>
                  <a:t>fonctions</a:t>
                </a:r>
                <a:r>
                  <a:rPr lang="en-GB" dirty="0"/>
                  <a:t> </a:t>
                </a:r>
                <a:r>
                  <a:rPr lang="en-GB" dirty="0" err="1"/>
                  <a:t>sont</a:t>
                </a:r>
                <a:r>
                  <a:rPr lang="en-GB" dirty="0"/>
                  <a:t> </a:t>
                </a:r>
                <a:r>
                  <a:rPr lang="en-GB" dirty="0" err="1"/>
                  <a:t>toujours</a:t>
                </a:r>
                <a:r>
                  <a:rPr lang="en-GB" dirty="0"/>
                  <a:t> </a:t>
                </a:r>
                <a:r>
                  <a:rPr lang="en-GB" dirty="0" err="1"/>
                  <a:t>cohérentes</a:t>
                </a:r>
                <a:r>
                  <a:rPr lang="en-GB" dirty="0"/>
                  <a:t> par nature.</a:t>
                </a:r>
              </a:p>
              <a:p>
                <a:br>
                  <a:rPr lang="en-GB" dirty="0"/>
                </a:br>
                <a:r>
                  <a:rPr lang="en-GB" dirty="0" err="1"/>
                  <a:t>Colonne</a:t>
                </a:r>
                <a:r>
                  <a:rPr lang="en-GB" dirty="0"/>
                  <a:t> (d) : </a:t>
                </a:r>
                <a:r>
                  <a:rPr lang="en-GB" dirty="0" err="1"/>
                  <a:t>Polynômes</a:t>
                </a:r>
                <a:r>
                  <a:rPr lang="en-GB" dirty="0"/>
                  <a:t> de </a:t>
                </a:r>
                <a:r>
                  <a:rPr lang="en-GB" dirty="0" err="1"/>
                  <a:t>degré</a:t>
                </a:r>
                <a:r>
                  <a:rPr lang="en-GB" dirty="0"/>
                  <a:t> 12; h(x)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fr-FR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fr-FR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 baseline="3000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GB" dirty="0"/>
                  <a:t>.   </a:t>
                </a:r>
                <a:r>
                  <a:rPr lang="en-GB" dirty="0" err="1"/>
                  <a:t>Ils</a:t>
                </a:r>
                <a:r>
                  <a:rPr lang="en-GB" dirty="0"/>
                  <a:t> </a:t>
                </a:r>
                <a:r>
                  <a:rPr lang="en-GB" dirty="0" err="1"/>
                  <a:t>sont</a:t>
                </a:r>
                <a:r>
                  <a:rPr lang="en-GB" dirty="0"/>
                  <a:t> </a:t>
                </a:r>
                <a:r>
                  <a:rPr lang="en-GB" dirty="0" err="1"/>
                  <a:t>cohérents</a:t>
                </a:r>
                <a:r>
                  <a:rPr lang="en-GB" dirty="0"/>
                  <a:t> </a:t>
                </a:r>
                <a:r>
                  <a:rPr lang="en-GB" dirty="0" err="1"/>
                  <a:t>puisqu’on</a:t>
                </a:r>
                <a:r>
                  <a:rPr lang="en-GB" dirty="0"/>
                  <a:t> </a:t>
                </a:r>
                <a:r>
                  <a:rPr lang="en-GB" dirty="0" err="1"/>
                  <a:t>peut</a:t>
                </a:r>
                <a:r>
                  <a:rPr lang="en-GB" dirty="0"/>
                  <a:t> </a:t>
                </a:r>
                <a:r>
                  <a:rPr lang="en-GB" dirty="0" err="1"/>
                  <a:t>toujours</a:t>
                </a:r>
                <a:r>
                  <a:rPr lang="en-GB" dirty="0"/>
                  <a:t> faire passer </a:t>
                </a:r>
                <a:r>
                  <a:rPr lang="en-GB" dirty="0" err="1"/>
                  <a:t>exactement</a:t>
                </a:r>
                <a:r>
                  <a:rPr lang="en-GB" dirty="0"/>
                  <a:t> un </a:t>
                </a:r>
                <a:r>
                  <a:rPr lang="en-GB" dirty="0" err="1"/>
                  <a:t>polynôme</a:t>
                </a:r>
                <a:r>
                  <a:rPr lang="en-GB" dirty="0"/>
                  <a:t> de </a:t>
                </a:r>
                <a:r>
                  <a:rPr lang="en-GB" dirty="0" err="1"/>
                  <a:t>degré</a:t>
                </a:r>
                <a:r>
                  <a:rPr lang="en-GB" dirty="0"/>
                  <a:t> 12 par 13 points </a:t>
                </a:r>
                <a:r>
                  <a:rPr lang="en-GB" dirty="0" err="1"/>
                  <a:t>distincts</a:t>
                </a:r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Attention ! La coherence de </a:t>
                </a:r>
                <a:r>
                  <a:rPr lang="en-GB" dirty="0" err="1">
                    <a:solidFill>
                      <a:srgbClr val="FF0000"/>
                    </a:solidFill>
                  </a:rPr>
                  <a:t>l’hypothèse</a:t>
                </a:r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 err="1">
                    <a:solidFill>
                      <a:srgbClr val="FF0000"/>
                    </a:solidFill>
                  </a:rPr>
                  <a:t>s’assure</a:t>
                </a:r>
                <a:r>
                  <a:rPr lang="en-GB" dirty="0">
                    <a:solidFill>
                      <a:srgbClr val="FF0000"/>
                    </a:solidFill>
                  </a:rPr>
                  <a:t> pas </a:t>
                </a:r>
                <a:r>
                  <a:rPr lang="en-GB" dirty="0" err="1">
                    <a:solidFill>
                      <a:srgbClr val="FF0000"/>
                    </a:solidFill>
                  </a:rPr>
                  <a:t>sa</a:t>
                </a:r>
                <a:r>
                  <a:rPr lang="en-GB" dirty="0">
                    <a:solidFill>
                      <a:srgbClr val="FF0000"/>
                    </a:solidFill>
                  </a:rPr>
                  <a:t> </a:t>
                </a:r>
                <a:r>
                  <a:rPr lang="en-GB" dirty="0" err="1">
                    <a:solidFill>
                      <a:srgbClr val="FF0000"/>
                    </a:solidFill>
                  </a:rPr>
                  <a:t>qualité</a:t>
                </a:r>
                <a:r>
                  <a:rPr lang="en-GB" dirty="0">
                    <a:solidFill>
                      <a:srgbClr val="FF0000"/>
                    </a:solidFill>
                  </a:rPr>
                  <a:t>  </a:t>
                </a:r>
              </a:p>
              <a:p>
                <a:endParaRPr lang="en-FR" dirty="0"/>
              </a:p>
              <a:p>
                <a:r>
                  <a:rPr lang="en-FR" b="1" dirty="0">
                    <a:solidFill>
                      <a:schemeClr val="accent6">
                        <a:lumMod val="75000"/>
                      </a:schemeClr>
                    </a:solidFill>
                  </a:rPr>
                  <a:t>Nécessité d’analyser le biais et la variance qu’ils imposent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506CE6B-33B1-46B8-FE46-B51FEE25C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542" r="-271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43C77-A65D-B10B-726F-45CC5D34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C8BEF-BB88-F272-3993-C3498347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478E2-E256-1124-DAA5-7EB7B9D2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4A5E5D-1006-1E79-5CEA-2BA395D39726}"/>
              </a:ext>
            </a:extLst>
          </p:cNvPr>
          <p:cNvSpPr/>
          <p:nvPr/>
        </p:nvSpPr>
        <p:spPr>
          <a:xfrm>
            <a:off x="33198" y="711734"/>
            <a:ext cx="4760861" cy="447816"/>
          </a:xfrm>
          <a:prstGeom prst="rect">
            <a:avLst/>
          </a:prstGeom>
          <a:solidFill>
            <a:srgbClr val="712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B2B63-5012-BFAE-0C2A-A60972655EE7}"/>
              </a:ext>
            </a:extLst>
          </p:cNvPr>
          <p:cNvSpPr txBox="1"/>
          <p:nvPr/>
        </p:nvSpPr>
        <p:spPr>
          <a:xfrm>
            <a:off x="157133" y="253689"/>
            <a:ext cx="1313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Définition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F576E-3D0D-5421-0715-38046A2FE56E}"/>
              </a:ext>
            </a:extLst>
          </p:cNvPr>
          <p:cNvSpPr txBox="1"/>
          <p:nvPr/>
        </p:nvSpPr>
        <p:spPr>
          <a:xfrm>
            <a:off x="157133" y="717627"/>
            <a:ext cx="27512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Exemple d’hypothèses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60577-1052-F43C-28A6-FC569C738A4E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8F91F-B43E-6EC4-272B-6FD74807BEE3}"/>
              </a:ext>
            </a:extLst>
          </p:cNvPr>
          <p:cNvSpPr txBox="1"/>
          <p:nvPr/>
        </p:nvSpPr>
        <p:spPr>
          <a:xfrm>
            <a:off x="4987106" y="-54160"/>
            <a:ext cx="2293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solidFill>
                  <a:schemeClr val="bg1"/>
                </a:solidFill>
              </a:rPr>
              <a:t>L’apprentissage supervisé</a:t>
            </a:r>
            <a:endParaRPr lang="en-FR" sz="1600" baseline="30000" dirty="0">
              <a:solidFill>
                <a:schemeClr val="bg1"/>
              </a:solidFill>
            </a:endParaRPr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81E3FAAD-EFF1-5B94-2380-7F0928F76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618" y="1889985"/>
            <a:ext cx="6852721" cy="3078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872A9E-BEB6-64EE-4CB6-CF2EA0D6D424}"/>
              </a:ext>
            </a:extLst>
          </p:cNvPr>
          <p:cNvSpPr txBox="1"/>
          <p:nvPr/>
        </p:nvSpPr>
        <p:spPr>
          <a:xfrm>
            <a:off x="5539639" y="5065797"/>
            <a:ext cx="6559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           (a)                           (b)                          (c)                               (d)</a:t>
            </a:r>
            <a:endParaRPr lang="en-FR" sz="1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9A5AAB-37B1-D933-D1F9-B667CE8CF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66" y="702365"/>
            <a:ext cx="5904810" cy="520507"/>
          </a:xfrm>
        </p:spPr>
        <p:txBody>
          <a:bodyPr/>
          <a:lstStyle/>
          <a:p>
            <a:r>
              <a:rPr lang="en-FR" dirty="0"/>
              <a:t>Le biais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647E9-0351-BD19-DB83-1C80A3A98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766" y="1284461"/>
            <a:ext cx="5904810" cy="3937534"/>
          </a:xfrm>
        </p:spPr>
        <p:txBody>
          <a:bodyPr/>
          <a:lstStyle/>
          <a:p>
            <a:endParaRPr lang="en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70D49-C224-3A53-041A-6603AE6C5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702365"/>
            <a:ext cx="5904809" cy="520507"/>
          </a:xfrm>
        </p:spPr>
        <p:txBody>
          <a:bodyPr/>
          <a:lstStyle/>
          <a:p>
            <a:r>
              <a:rPr lang="en-FR" dirty="0"/>
              <a:t>La variance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7D37F-4437-1F04-D89F-BDB3D6FDA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73443"/>
            <a:ext cx="5904808" cy="3937534"/>
          </a:xfrm>
        </p:spPr>
        <p:txBody>
          <a:bodyPr/>
          <a:lstStyle/>
          <a:p>
            <a:endParaRPr lang="en-FR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A3B0D4-330C-AF48-43BE-5C37B087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DE0AD3C-D668-28F1-E327-CCD360E9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508163-7E3D-904D-6EBD-3605C3D4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40752-2EA1-6B74-4842-73E705C547BA}"/>
              </a:ext>
            </a:extLst>
          </p:cNvPr>
          <p:cNvSpPr txBox="1"/>
          <p:nvPr/>
        </p:nvSpPr>
        <p:spPr>
          <a:xfrm>
            <a:off x="84712" y="5351450"/>
            <a:ext cx="11979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Compromis biais/variance :</a:t>
            </a:r>
            <a:r>
              <a:rPr lang="fr-FR" sz="20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endParaRPr lang="en-FR" sz="14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BA193-93E5-D03E-CAF1-29247C72843C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0897E-327F-8E95-BA47-2F93BBF27E68}"/>
              </a:ext>
            </a:extLst>
          </p:cNvPr>
          <p:cNvSpPr txBox="1"/>
          <p:nvPr/>
        </p:nvSpPr>
        <p:spPr>
          <a:xfrm>
            <a:off x="4987106" y="-54160"/>
            <a:ext cx="2293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solidFill>
                  <a:schemeClr val="bg1"/>
                </a:solidFill>
              </a:rPr>
              <a:t>L’apprentissage supervisé</a:t>
            </a:r>
            <a:endParaRPr lang="en-FR" sz="1600" baseline="30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D4DDE-2FB1-AABB-E018-0E15B5DDB96F}"/>
              </a:ext>
            </a:extLst>
          </p:cNvPr>
          <p:cNvSpPr txBox="1"/>
          <p:nvPr/>
        </p:nvSpPr>
        <p:spPr>
          <a:xfrm>
            <a:off x="157133" y="253689"/>
            <a:ext cx="31559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Compromis biais/variance</a:t>
            </a:r>
          </a:p>
        </p:txBody>
      </p:sp>
    </p:spTree>
    <p:extLst>
      <p:ext uri="{BB962C8B-B14F-4D97-AF65-F5344CB8AC3E}">
        <p14:creationId xmlns:p14="http://schemas.microsoft.com/office/powerpoint/2010/main" val="28807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1E043-E0B8-AF4D-68BF-470B04C4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1B346-A47E-2483-D89C-DCA94D6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0FE5F-493E-49EC-2286-1DCD469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86059-5DF4-F3A7-2BC7-31BB5EC1F8E6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306BF-4AC0-EE14-B685-0E0D266F41C3}"/>
              </a:ext>
            </a:extLst>
          </p:cNvPr>
          <p:cNvSpPr txBox="1"/>
          <p:nvPr/>
        </p:nvSpPr>
        <p:spPr>
          <a:xfrm>
            <a:off x="157133" y="253689"/>
            <a:ext cx="26130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La mesure de l’erreur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5">
                <a:extLst>
                  <a:ext uri="{FF2B5EF4-FFF2-40B4-BE49-F238E27FC236}">
                    <a16:creationId xmlns:a16="http://schemas.microsoft.com/office/drawing/2014/main" id="{02AEBA79-98BC-381A-8AC9-BADB5BF00E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017" y="746114"/>
                <a:ext cx="11979965" cy="5578411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SzPct val="120000"/>
                  <a:buFont typeface="Wingdings" panose="05000000000000000000" pitchFamily="2" charset="2"/>
                  <a:buChar char="§"/>
                  <a:defRPr sz="2200" kern="1200">
                    <a:solidFill>
                      <a:schemeClr val="tx1"/>
                    </a:solidFill>
                    <a:latin typeface="CMU Sans Serif Medium" panose="02000603000000000000" pitchFamily="2" charset="0"/>
                    <a:ea typeface="CMU Sans Serif Medium" panose="02000603000000000000" pitchFamily="2" charset="0"/>
                    <a:cs typeface="CMU Sans Serif Medium" panose="02000603000000000000" pitchFamily="2" charset="0"/>
                  </a:defRPr>
                </a:lvl1pPr>
                <a:lvl2pPr marL="685800" indent="-228600" algn="just" defTabSz="914400" rtl="0" eaLnBrk="1" latinLnBrk="0" hangingPunct="1">
                  <a:lnSpc>
                    <a:spcPct val="70000"/>
                  </a:lnSpc>
                  <a:spcBef>
                    <a:spcPts val="600"/>
                  </a:spcBef>
                  <a:buClr>
                    <a:srgbClr val="C00000"/>
                  </a:buClr>
                  <a:buSzPct val="120000"/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CMU Sans Serif Medium" panose="02000603000000000000" pitchFamily="2" charset="0"/>
                    <a:ea typeface="CMU Sans Serif Medium" panose="02000603000000000000" pitchFamily="2" charset="0"/>
                    <a:cs typeface="CMU Sans Serif Medium" panose="02000603000000000000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CMU Sans Serif Medium" panose="02000603000000000000" pitchFamily="2" charset="0"/>
                    <a:ea typeface="CMU Sans Serif Medium" panose="02000603000000000000" pitchFamily="2" charset="0"/>
                    <a:cs typeface="CMU Sans Serif Medium" panose="02000603000000000000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Wingdings" panose="05000000000000000000" pitchFamily="2" charset="2"/>
                  <a:buChar char="§"/>
                  <a:defRPr sz="1600" kern="1200">
                    <a:solidFill>
                      <a:schemeClr val="tx1"/>
                    </a:solidFill>
                    <a:latin typeface="CMU Sans Serif Medium" panose="02000603000000000000" pitchFamily="2" charset="0"/>
                    <a:ea typeface="CMU Sans Serif Medium" panose="02000603000000000000" pitchFamily="2" charset="0"/>
                    <a:cs typeface="CMU Sans Serif Medium" panose="02000603000000000000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SzPct val="120000"/>
                  <a:buFont typeface="Wingdings" panose="05000000000000000000" pitchFamily="2" charset="2"/>
                  <a:buChar char="§"/>
                  <a:defRPr sz="1600" i="1" kern="1200">
                    <a:solidFill>
                      <a:schemeClr val="tx1"/>
                    </a:solidFill>
                    <a:latin typeface="CMU SANS SERIF MEDIUM" panose="02000603000000000000" pitchFamily="2" charset="0"/>
                    <a:ea typeface="CMU SANS SERIF MEDIUM" panose="02000603000000000000" pitchFamily="2" charset="0"/>
                    <a:cs typeface="CMU SANS SERIF MEDIUM" panose="02000603000000000000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FR" dirty="0"/>
                  <a:t>Comment choisir l’hypothèse cohérente dans l’espace d’hypothèses ?</a:t>
                </a:r>
              </a:p>
              <a:p>
                <a:pPr lvl="1"/>
                <a:r>
                  <a:rPr lang="en-GB" dirty="0"/>
                  <a:t>T</a:t>
                </a:r>
                <a:r>
                  <a:rPr lang="en-FR" dirty="0"/>
                  <a:t>rouver </a:t>
                </a:r>
                <a:r>
                  <a:rPr lang="en-GB" dirty="0"/>
                  <a:t>h</a:t>
                </a:r>
                <a:r>
                  <a:rPr lang="en-FR" dirty="0"/>
                  <a:t> telle que pour chaque x de l’ensemble d’entrainement, on a h(x</a:t>
                </a:r>
                <a:r>
                  <a:rPr lang="en-FR" baseline="-25000" dirty="0"/>
                  <a:t>i</a:t>
                </a:r>
                <a:r>
                  <a:rPr lang="en-FR" dirty="0"/>
                  <a:t>) ≈ y</a:t>
                </a:r>
                <a:r>
                  <a:rPr lang="en-FR" baseline="-25000" dirty="0"/>
                  <a:t>i</a:t>
                </a:r>
              </a:p>
              <a:p>
                <a:pPr lvl="1"/>
                <a:r>
                  <a:rPr lang="en-FR" dirty="0"/>
                  <a:t>Pour cela, minimiser une fonction de perte L(x, y,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FR" dirty="0"/>
                  <a:t>)</a:t>
                </a:r>
              </a:p>
              <a:p>
                <a:r>
                  <a:rPr lang="en-FR" dirty="0"/>
                  <a:t>La mesure objective de l’hypothèse ne se fait pas sur son comportement sur l’ensemble d’entrainement mais sur un ensemble de test. </a:t>
                </a:r>
              </a:p>
              <a:p>
                <a:r>
                  <a:rPr lang="en-FR" dirty="0"/>
                  <a:t>On dit que h généralise correctement si elle prédit correctement les sorties sur l’ensemble de test</a:t>
                </a:r>
              </a:p>
              <a:p>
                <a:endParaRPr lang="en-FR" dirty="0"/>
              </a:p>
              <a:p>
                <a:endParaRPr lang="en-FR" dirty="0"/>
              </a:p>
              <a:p>
                <a:endParaRPr lang="en-FR" dirty="0"/>
              </a:p>
            </p:txBody>
          </p:sp>
        </mc:Choice>
        <mc:Fallback>
          <p:sp>
            <p:nvSpPr>
              <p:cNvPr id="11" name="Content Placeholder 5">
                <a:extLst>
                  <a:ext uri="{FF2B5EF4-FFF2-40B4-BE49-F238E27FC236}">
                    <a16:creationId xmlns:a16="http://schemas.microsoft.com/office/drawing/2014/main" id="{02AEBA79-98BC-381A-8AC9-BADB5BF00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7" y="746114"/>
                <a:ext cx="11979965" cy="5578411"/>
              </a:xfrm>
              <a:prstGeom prst="rect">
                <a:avLst/>
              </a:prstGeom>
              <a:blipFill>
                <a:blip r:embed="rId2"/>
                <a:stretch>
                  <a:fillRect l="-847" t="-2273"/>
                </a:stretch>
              </a:blipFill>
            </p:spPr>
            <p:txBody>
              <a:bodyPr/>
              <a:lstStyle/>
              <a:p>
                <a:r>
                  <a:rPr lang="en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5803732-6D2D-F45D-BF0E-00812701CCCB}"/>
              </a:ext>
            </a:extLst>
          </p:cNvPr>
          <p:cNvSpPr txBox="1"/>
          <p:nvPr/>
        </p:nvSpPr>
        <p:spPr>
          <a:xfrm>
            <a:off x="4987106" y="-54160"/>
            <a:ext cx="2293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solidFill>
                  <a:schemeClr val="bg1"/>
                </a:solidFill>
              </a:rPr>
              <a:t>L’apprentissage supervisé</a:t>
            </a:r>
          </a:p>
        </p:txBody>
      </p:sp>
    </p:spTree>
    <p:extLst>
      <p:ext uri="{BB962C8B-B14F-4D97-AF65-F5344CB8AC3E}">
        <p14:creationId xmlns:p14="http://schemas.microsoft.com/office/powerpoint/2010/main" val="3566254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1E043-E0B8-AF4D-68BF-470B04C4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1B346-A47E-2483-D89C-DCA94D6E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C0FE5F-493E-49EC-2286-1DCD469B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86059-5DF4-F3A7-2BC7-31BB5EC1F8E6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306BF-4AC0-EE14-B685-0E0D266F41C3}"/>
              </a:ext>
            </a:extLst>
          </p:cNvPr>
          <p:cNvSpPr txBox="1"/>
          <p:nvPr/>
        </p:nvSpPr>
        <p:spPr>
          <a:xfrm>
            <a:off x="157133" y="253689"/>
            <a:ext cx="20260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Pour récapituler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02AEBA79-98BC-381A-8AC9-BADB5BF00EFE}"/>
              </a:ext>
            </a:extLst>
          </p:cNvPr>
          <p:cNvSpPr txBox="1">
            <a:spLocks/>
          </p:cNvSpPr>
          <p:nvPr/>
        </p:nvSpPr>
        <p:spPr>
          <a:xfrm>
            <a:off x="106017" y="746114"/>
            <a:ext cx="11979965" cy="55784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Char char="§"/>
              <a:defRPr sz="1600" i="1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FR" dirty="0"/>
              <a:t>L’ensemble des observations (dataset)</a:t>
            </a:r>
          </a:p>
          <a:p>
            <a:r>
              <a:rPr lang="en-FR" dirty="0"/>
              <a:t>L’ensemble d’entrainement (training set)</a:t>
            </a:r>
          </a:p>
          <a:p>
            <a:r>
              <a:rPr lang="en-FR" dirty="0"/>
              <a:t>L’ensemble de test (test set)</a:t>
            </a:r>
          </a:p>
          <a:p>
            <a:r>
              <a:rPr lang="en-FR" dirty="0"/>
              <a:t>La fonction hypothèse ()</a:t>
            </a:r>
          </a:p>
          <a:p>
            <a:r>
              <a:rPr lang="en-FR" dirty="0"/>
              <a:t>La fonction de perte (loss function)</a:t>
            </a:r>
          </a:p>
          <a:p>
            <a:r>
              <a:rPr lang="fr-FR" dirty="0"/>
              <a:t>Le biais (</a:t>
            </a:r>
            <a:r>
              <a:rPr lang="fr-FR" dirty="0" err="1"/>
              <a:t>bias</a:t>
            </a:r>
            <a:r>
              <a:rPr lang="fr-FR" dirty="0"/>
              <a:t>)</a:t>
            </a:r>
            <a:endParaRPr lang="en-FR" dirty="0"/>
          </a:p>
          <a:p>
            <a:r>
              <a:rPr lang="en-FR" dirty="0"/>
              <a:t>La variance (variance)</a:t>
            </a:r>
          </a:p>
          <a:p>
            <a:r>
              <a:rPr lang="en-FR" dirty="0"/>
              <a:t>Sur-adaptation (overfitting)</a:t>
            </a:r>
          </a:p>
          <a:p>
            <a:r>
              <a:rPr lang="en-FR" dirty="0"/>
              <a:t>Sous-adaptation (underfitting)</a:t>
            </a:r>
          </a:p>
          <a:p>
            <a:r>
              <a:rPr lang="fr-FR" dirty="0"/>
              <a:t>Le compromis biais-variance (</a:t>
            </a:r>
            <a:r>
              <a:rPr lang="fr-FR" dirty="0" err="1"/>
              <a:t>bias</a:t>
            </a:r>
            <a:r>
              <a:rPr lang="fr-FR" dirty="0"/>
              <a:t>/variance </a:t>
            </a:r>
            <a:r>
              <a:rPr lang="fr-FR" dirty="0" err="1"/>
              <a:t>trade</a:t>
            </a:r>
            <a:r>
              <a:rPr lang="fr-FR" dirty="0"/>
              <a:t>-off)</a:t>
            </a:r>
          </a:p>
          <a:p>
            <a:r>
              <a:rPr lang="fr-FR" dirty="0"/>
              <a:t>La régression</a:t>
            </a:r>
          </a:p>
          <a:p>
            <a:r>
              <a:rPr lang="fr-FR" dirty="0"/>
              <a:t>La classification</a:t>
            </a:r>
          </a:p>
          <a:p>
            <a:pPr marL="0" indent="0">
              <a:buNone/>
            </a:pPr>
            <a:endParaRPr lang="en-FR" dirty="0"/>
          </a:p>
          <a:p>
            <a:endParaRPr lang="en-FR" dirty="0"/>
          </a:p>
          <a:p>
            <a:endParaRPr lang="en-FR" dirty="0"/>
          </a:p>
          <a:p>
            <a:endParaRPr lang="en-F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5A8D41-DFEA-B93F-A057-F3B938A8D0BC}"/>
              </a:ext>
            </a:extLst>
          </p:cNvPr>
          <p:cNvSpPr txBox="1"/>
          <p:nvPr/>
        </p:nvSpPr>
        <p:spPr>
          <a:xfrm>
            <a:off x="106017" y="6301871"/>
            <a:ext cx="11979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200" baseline="300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1</a:t>
            </a:r>
            <a:r>
              <a:rPr lang="en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Intelligence artificielle, une approche moderne – 4ème édition 2021. Stuart R</a:t>
            </a:r>
            <a:r>
              <a:rPr lang="en-GB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</a:t>
            </a:r>
            <a:r>
              <a:rPr lang="en-FR" sz="1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ssel &amp; Peter Novig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59A7A-D69D-5BEB-47A7-B54D17ACC8DF}"/>
              </a:ext>
            </a:extLst>
          </p:cNvPr>
          <p:cNvSpPr txBox="1"/>
          <p:nvPr/>
        </p:nvSpPr>
        <p:spPr>
          <a:xfrm>
            <a:off x="4987106" y="-54160"/>
            <a:ext cx="2293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dirty="0">
                <a:solidFill>
                  <a:schemeClr val="bg1"/>
                </a:solidFill>
              </a:rPr>
              <a:t>L’apprentissage supervisé</a:t>
            </a:r>
          </a:p>
        </p:txBody>
      </p:sp>
    </p:spTree>
    <p:extLst>
      <p:ext uri="{BB962C8B-B14F-4D97-AF65-F5344CB8AC3E}">
        <p14:creationId xmlns:p14="http://schemas.microsoft.com/office/powerpoint/2010/main" val="294127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ACA0CE-762B-FABD-4D89-3888EBF58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CM / TD / TP</a:t>
            </a:r>
          </a:p>
          <a:p>
            <a:r>
              <a:rPr lang="en-GB" dirty="0"/>
              <a:t>R</a:t>
            </a:r>
            <a:r>
              <a:rPr lang="en-FR" dirty="0"/>
              <a:t>apporteurs</a:t>
            </a:r>
          </a:p>
          <a:p>
            <a:r>
              <a:rPr lang="en-GB" dirty="0"/>
              <a:t>O</a:t>
            </a:r>
            <a:r>
              <a:rPr lang="en-FR" dirty="0"/>
              <a:t>bjectifs</a:t>
            </a:r>
          </a:p>
          <a:p>
            <a:r>
              <a:rPr lang="en-FR" dirty="0"/>
              <a:t>Évaluation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6A6110-CE21-964F-8BE2-7C54722F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12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0D6A9-5714-32C2-0D5E-4EFBB1AC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0099E-75D7-80F9-A81C-E203B518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30952-AD89-6CE9-3746-B35B4D18D8D8}"/>
              </a:ext>
            </a:extLst>
          </p:cNvPr>
          <p:cNvSpPr txBox="1"/>
          <p:nvPr/>
        </p:nvSpPr>
        <p:spPr>
          <a:xfrm>
            <a:off x="130629" y="-54160"/>
            <a:ext cx="1108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1600" b="1" dirty="0">
                <a:solidFill>
                  <a:schemeClr val="bg1"/>
                </a:solidFill>
              </a:rPr>
              <a:t>Préambule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C9198-CAB8-FD8A-9B9B-DCDC948A4942}"/>
              </a:ext>
            </a:extLst>
          </p:cNvPr>
          <p:cNvSpPr txBox="1"/>
          <p:nvPr/>
        </p:nvSpPr>
        <p:spPr>
          <a:xfrm>
            <a:off x="157133" y="253689"/>
            <a:ext cx="28285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200" dirty="0">
                <a:solidFill>
                  <a:schemeClr val="bg1"/>
                </a:solidFill>
              </a:rPr>
              <a:t>Ce que nous allons voir</a:t>
            </a:r>
          </a:p>
        </p:txBody>
      </p:sp>
    </p:spTree>
    <p:extLst>
      <p:ext uri="{BB962C8B-B14F-4D97-AF65-F5344CB8AC3E}">
        <p14:creationId xmlns:p14="http://schemas.microsoft.com/office/powerpoint/2010/main" val="417600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7DBB-1A52-15E1-ED2B-77E79D00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Outline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A7DE7-E85F-2A2D-CC75-9C90542A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198D-B88C-BE44-878B-1A610EDA2CF6}" type="datetime4">
              <a:rPr lang="fr-FR" smtClean="0"/>
              <a:t>13 avril 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FE5B9-3881-5C47-7840-B7C222398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LMA36-MFA13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E14D9-3BCD-2ADE-E7FB-E07F3D74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E8AE-9389-4E4D-966C-8642C3CA71E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6E3BB3-AFF2-20C9-2550-7637C17905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FR" sz="2200" dirty="0">
                <a:solidFill>
                  <a:schemeClr val="bg2">
                    <a:lumMod val="75000"/>
                  </a:schemeClr>
                </a:solidFill>
              </a:rPr>
              <a:t>Préambule</a:t>
            </a:r>
          </a:p>
          <a:p>
            <a:r>
              <a:rPr lang="en-FR" sz="2200" dirty="0"/>
              <a:t>Classification bayésienne </a:t>
            </a:r>
          </a:p>
          <a:p>
            <a:pPr lvl="1"/>
            <a:r>
              <a:rPr lang="en-FR" dirty="0"/>
              <a:t>Théorème de Bayes</a:t>
            </a:r>
          </a:p>
          <a:p>
            <a:pPr lvl="1"/>
            <a:r>
              <a:rPr lang="en-FR" dirty="0"/>
              <a:t>Performance du modèle</a:t>
            </a:r>
          </a:p>
          <a:p>
            <a:pPr lvl="1"/>
            <a:r>
              <a:rPr lang="en-FR" dirty="0"/>
              <a:t>Optimisation du modèle</a:t>
            </a: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Les k plus proches voisins</a:t>
            </a:r>
            <a:endParaRPr lang="en-FR" sz="22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Les arbres de décision</a:t>
            </a:r>
            <a:endParaRPr lang="en-FR" sz="22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La régression linéaire</a:t>
            </a: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La régression logistique</a:t>
            </a:r>
          </a:p>
          <a:p>
            <a:r>
              <a:rPr lang="en-FR" dirty="0">
                <a:solidFill>
                  <a:schemeClr val="bg2">
                    <a:lumMod val="75000"/>
                  </a:schemeClr>
                </a:solidFill>
              </a:rPr>
              <a:t>Les machines à support de vecteur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67185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75C528E-1BA2-4382-8856-345AFECED076}" vid="{376DE555-1096-43FB-960B-E5A523914F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3968839B70BC41B8BF5D2B044EEE83" ma:contentTypeVersion="2" ma:contentTypeDescription="Create a new document." ma:contentTypeScope="" ma:versionID="3f1107f204b01cc1653c4feb78114014">
  <xsd:schema xmlns:xsd="http://www.w3.org/2001/XMLSchema" xmlns:xs="http://www.w3.org/2001/XMLSchema" xmlns:p="http://schemas.microsoft.com/office/2006/metadata/properties" xmlns:ns2="90a211de-abdf-4824-af85-802065ec3de0" targetNamespace="http://schemas.microsoft.com/office/2006/metadata/properties" ma:root="true" ma:fieldsID="009bef13e0a66ac861aa2fd202548c74" ns2:_="">
    <xsd:import namespace="90a211de-abdf-4824-af85-802065ec3d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211de-abdf-4824-af85-802065ec3d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B8FDD4-12C8-42AD-BCEA-8545FD62A2FE}"/>
</file>

<file path=customXml/itemProps2.xml><?xml version="1.0" encoding="utf-8"?>
<ds:datastoreItem xmlns:ds="http://schemas.openxmlformats.org/officeDocument/2006/customXml" ds:itemID="{193CFCF6-0A6F-4A1A-A665-0202BF09A82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19363</TotalTime>
  <Words>966</Words>
  <Application>Microsoft Macintosh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CMU SANS SERIF MEDIUM</vt:lpstr>
      <vt:lpstr>CMU SANS SERIF MEDIUM</vt:lpstr>
      <vt:lpstr>Wingdings</vt:lpstr>
      <vt:lpstr>Office Theme</vt:lpstr>
      <vt:lpstr>L’apprentissage supervisé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Carine TOURÉ</dc:creator>
  <cp:lastModifiedBy>Carine TOURÉ</cp:lastModifiedBy>
  <cp:revision>20</cp:revision>
  <dcterms:created xsi:type="dcterms:W3CDTF">2023-03-28T12:41:39Z</dcterms:created>
  <dcterms:modified xsi:type="dcterms:W3CDTF">2023-04-14T12:38:13Z</dcterms:modified>
</cp:coreProperties>
</file>