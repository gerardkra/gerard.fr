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83" r:id="rId24"/>
    <p:sldId id="285" r:id="rId25"/>
    <p:sldId id="286" r:id="rId26"/>
    <p:sldId id="287" r:id="rId27"/>
  </p:sldIdLst>
  <p:sldSz cx="10083800" cy="7556500"/>
  <p:notesSz cx="10083800" cy="7556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37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94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94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94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50795" y="384809"/>
            <a:ext cx="498220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940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9189" y="1625599"/>
            <a:ext cx="8507095" cy="180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1490" y="7117638"/>
            <a:ext cx="1498600" cy="28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pc="60" dirty="0"/>
              <a:t>D.Longuet-UML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57359" y="7117638"/>
            <a:ext cx="344170" cy="28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7F7F7F"/>
                </a:solidFill>
                <a:latin typeface="Lucida Sans Unicode"/>
                <a:cs typeface="Lucida Sans Unicode"/>
              </a:defRPr>
            </a:lvl1pPr>
          </a:lstStyle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‹N°›</a:t>
            </a:fld>
            <a:endParaRPr spc="509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100" y="939103"/>
            <a:ext cx="13258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chemeClr val="tx1"/>
                </a:solidFill>
              </a:rPr>
              <a:t>U</a:t>
            </a:r>
            <a:r>
              <a:rPr spc="50" dirty="0">
                <a:solidFill>
                  <a:schemeClr val="tx1"/>
                </a:solidFill>
              </a:rPr>
              <a:t>M</a:t>
            </a:r>
            <a:r>
              <a:rPr spc="1864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7" name="Text Box 271">
            <a:extLst>
              <a:ext uri="{FF2B5EF4-FFF2-40B4-BE49-F238E27FC236}">
                <a16:creationId xmlns:a16="http://schemas.microsoft.com/office/drawing/2014/main" id="{46F7455B-F029-46F4-BCF7-CAA7472BB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0" y="2940050"/>
            <a:ext cx="4267200" cy="457200"/>
          </a:xfrm>
          <a:prstGeom prst="rect">
            <a:avLst/>
          </a:prstGeom>
          <a:solidFill>
            <a:schemeClr val="tx1">
              <a:lumMod val="100000"/>
              <a:lumOff val="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fr-FR" sz="2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Leçon 3 : Diagramme de classes</a:t>
            </a: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2</a:t>
            </a:fld>
            <a:endParaRPr spc="50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170" y="384809"/>
            <a:ext cx="45199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Objets et classes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00" y="1177290"/>
            <a:ext cx="9829800" cy="1703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200"/>
              </a:lnSpc>
              <a:spcBef>
                <a:spcPts val="100"/>
              </a:spcBef>
            </a:pP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Conception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orientée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objet</a:t>
            </a:r>
            <a:r>
              <a:rPr sz="2400" dirty="0">
                <a:latin typeface="Lucida Sans Unicode"/>
                <a:cs typeface="Lucida Sans Unicode"/>
              </a:rPr>
              <a:t>: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 err="1">
                <a:latin typeface="Lucida Sans Unicode"/>
                <a:cs typeface="Lucida Sans Unicode"/>
              </a:rPr>
              <a:t>Représentation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du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 err="1">
                <a:latin typeface="Lucida Sans Unicode"/>
                <a:cs typeface="Lucida Sans Unicode"/>
              </a:rPr>
              <a:t>système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 err="1">
                <a:latin typeface="Lucida Sans Unicode"/>
                <a:cs typeface="Lucida Sans Unicode"/>
              </a:rPr>
              <a:t>comme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  </a:t>
            </a:r>
            <a:r>
              <a:rPr sz="2400" dirty="0">
                <a:solidFill>
                  <a:srgbClr val="569C1B"/>
                </a:solidFill>
                <a:latin typeface="Lucida Sans Unicode"/>
                <a:cs typeface="Lucida Sans Unicode"/>
              </a:rPr>
              <a:t>ensemble</a:t>
            </a:r>
            <a:r>
              <a:rPr lang="fr-FR" sz="240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d'objets</a:t>
            </a:r>
            <a:r>
              <a:rPr lang="fr-FR" sz="240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interagisant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6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Diagramme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de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clas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s</a:t>
            </a:r>
            <a:r>
              <a:rPr sz="240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9189" y="357124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189" y="2964180"/>
            <a:ext cx="8703311" cy="12785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50" dirty="0" err="1">
                <a:latin typeface="Lucida Sans Unicode"/>
                <a:cs typeface="Lucida Sans Unicode"/>
              </a:rPr>
              <a:t>Représentation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de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la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structure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interne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du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logiciel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sz="2400" spc="-40" dirty="0" err="1">
                <a:latin typeface="Lucida Sans Unicode"/>
                <a:cs typeface="Lucida Sans Unicode"/>
              </a:rPr>
              <a:t>Utilisé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surtout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en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conception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mais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peut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être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utilisé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en</a:t>
            </a:r>
            <a:r>
              <a:rPr lang="fr-FR" sz="2400" spc="-40" dirty="0">
                <a:latin typeface="Lucida Sans Unicode"/>
                <a:cs typeface="Lucida Sans Unicode"/>
              </a:rPr>
              <a:t> </a:t>
            </a:r>
            <a:r>
              <a:rPr sz="2400" spc="-40" dirty="0" err="1">
                <a:latin typeface="Lucida Sans Unicode"/>
                <a:cs typeface="Lucida Sans Unicode"/>
              </a:rPr>
              <a:t>analyse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490" y="4382770"/>
            <a:ext cx="37122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Diagramme</a:t>
            </a:r>
            <a:r>
              <a:rPr lang="fr-FR" sz="2400" spc="-7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-7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d'objets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9" y="535686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9189" y="4749800"/>
            <a:ext cx="8453121" cy="22567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45" dirty="0" err="1">
                <a:latin typeface="Lucida Sans Unicode"/>
                <a:cs typeface="Lucida Sans Unicode"/>
              </a:rPr>
              <a:t>Représentation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de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latin typeface="Lucida Sans Unicode"/>
                <a:cs typeface="Lucida Sans Unicode"/>
              </a:rPr>
              <a:t>l'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état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du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latin typeface="Lucida Sans Unicode"/>
                <a:cs typeface="Lucida Sans Unicode"/>
              </a:rPr>
              <a:t>logiciel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(objets+</a:t>
            </a:r>
            <a:r>
              <a:rPr sz="2400" spc="-484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relations)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sz="2400" spc="-60" dirty="0" err="1">
                <a:latin typeface="Lucida Sans Unicode"/>
                <a:cs typeface="Lucida Sans Unicode"/>
              </a:rPr>
              <a:t>Diagramme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évoluant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avec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l'exécution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du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logiciel</a:t>
            </a:r>
            <a:endParaRPr sz="2400" dirty="0">
              <a:latin typeface="Lucida Sans Unicode"/>
              <a:cs typeface="Lucida Sans Unicode"/>
            </a:endParaRPr>
          </a:p>
          <a:p>
            <a:pPr marL="659765">
              <a:lnSpc>
                <a:spcPct val="100000"/>
              </a:lnSpc>
              <a:spcBef>
                <a:spcPts val="640"/>
              </a:spcBef>
            </a:pPr>
            <a:r>
              <a:rPr sz="2400" spc="-70" dirty="0">
                <a:latin typeface="Lucida Sans Unicode"/>
                <a:cs typeface="Lucida Sans Unicode"/>
              </a:rPr>
              <a:t>-</a:t>
            </a:r>
            <a:r>
              <a:rPr sz="2400" spc="-70" dirty="0" err="1">
                <a:latin typeface="Lucida Sans Unicode"/>
                <a:cs typeface="Lucida Sans Unicode"/>
              </a:rPr>
              <a:t>création</a:t>
            </a:r>
            <a:r>
              <a:rPr lang="fr-FR" sz="2400" spc="-7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et</a:t>
            </a:r>
            <a:r>
              <a:rPr lang="fr-FR" sz="2400" spc="-7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suppression</a:t>
            </a:r>
            <a:r>
              <a:rPr lang="fr-FR" sz="2400" spc="-70" dirty="0">
                <a:latin typeface="Lucida Sans Unicode"/>
                <a:cs typeface="Lucida Sans Unicode"/>
              </a:rPr>
              <a:t> </a:t>
            </a:r>
            <a:r>
              <a:rPr sz="2400" spc="-70" dirty="0" err="1">
                <a:latin typeface="Lucida Sans Unicode"/>
                <a:cs typeface="Lucida Sans Unicode"/>
              </a:rPr>
              <a:t>d'objets</a:t>
            </a:r>
            <a:endParaRPr sz="2400" dirty="0">
              <a:latin typeface="Lucida Sans Unicode"/>
              <a:cs typeface="Lucida Sans Unicode"/>
            </a:endParaRPr>
          </a:p>
          <a:p>
            <a:pPr marL="659765">
              <a:lnSpc>
                <a:spcPct val="100000"/>
              </a:lnSpc>
              <a:spcBef>
                <a:spcPts val="630"/>
              </a:spcBef>
            </a:pPr>
            <a:r>
              <a:rPr sz="2400" spc="-85" dirty="0">
                <a:latin typeface="Lucida Sans Unicode"/>
                <a:cs typeface="Lucida Sans Unicode"/>
              </a:rPr>
              <a:t>-modification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de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 err="1">
                <a:latin typeface="Lucida Sans Unicode"/>
                <a:cs typeface="Lucida Sans Unicode"/>
              </a:rPr>
              <a:t>l'état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des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 err="1">
                <a:latin typeface="Lucida Sans Unicode"/>
                <a:cs typeface="Lucida Sans Unicode"/>
              </a:rPr>
              <a:t>objets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(</a:t>
            </a:r>
            <a:r>
              <a:rPr sz="2400" spc="-85" dirty="0" err="1">
                <a:latin typeface="Lucida Sans Unicode"/>
                <a:cs typeface="Lucida Sans Unicode"/>
              </a:rPr>
              <a:t>valeurs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>
                <a:latin typeface="Lucida Sans Unicode"/>
                <a:cs typeface="Lucida Sans Unicode"/>
              </a:rPr>
              <a:t>des</a:t>
            </a:r>
            <a:r>
              <a:rPr lang="fr-FR" sz="2400" spc="-85" dirty="0">
                <a:latin typeface="Lucida Sans Unicode"/>
                <a:cs typeface="Lucida Sans Unicode"/>
              </a:rPr>
              <a:t> </a:t>
            </a:r>
            <a:r>
              <a:rPr sz="2400" spc="-85" dirty="0" err="1">
                <a:latin typeface="Lucida Sans Unicode"/>
                <a:cs typeface="Lucida Sans Unicode"/>
              </a:rPr>
              <a:t>atributs</a:t>
            </a:r>
            <a:r>
              <a:rPr sz="2400" spc="-8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659765">
              <a:lnSpc>
                <a:spcPct val="100000"/>
              </a:lnSpc>
              <a:spcBef>
                <a:spcPts val="640"/>
              </a:spcBef>
            </a:pPr>
            <a:r>
              <a:rPr sz="2400" spc="-95" dirty="0">
                <a:latin typeface="Lucida Sans Unicode"/>
                <a:cs typeface="Lucida Sans Unicode"/>
              </a:rPr>
              <a:t>-modification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des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relations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entre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 err="1">
                <a:latin typeface="Lucida Sans Unicode"/>
                <a:cs typeface="Lucida Sans Unicode"/>
              </a:rPr>
              <a:t>objets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170" y="384809"/>
            <a:ext cx="43675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Objets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</a:t>
            </a:r>
            <a:r>
              <a:rPr lang="fr-F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sses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490" y="1258570"/>
            <a:ext cx="92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latin typeface="Lucida Sans Unicode"/>
                <a:cs typeface="Lucida Sans Unicode"/>
              </a:rPr>
              <a:t>O</a:t>
            </a:r>
            <a:r>
              <a:rPr sz="2400" spc="-275" dirty="0">
                <a:latin typeface="Lucida Sans Unicode"/>
                <a:cs typeface="Lucida Sans Unicode"/>
              </a:rPr>
              <a:t>b</a:t>
            </a:r>
            <a:r>
              <a:rPr sz="2400" spc="-95" dirty="0">
                <a:latin typeface="Lucida Sans Unicode"/>
                <a:cs typeface="Lucida Sans Unicode"/>
              </a:rPr>
              <a:t>j</a:t>
            </a:r>
            <a:r>
              <a:rPr sz="2400" spc="-280" dirty="0">
                <a:latin typeface="Lucida Sans Unicode"/>
                <a:cs typeface="Lucida Sans Unicode"/>
              </a:rPr>
              <a:t>e</a:t>
            </a:r>
            <a:r>
              <a:rPr sz="2400" spc="1500" dirty="0">
                <a:latin typeface="Lucida Sans Unicode"/>
                <a:cs typeface="Lucida Sans Unicode"/>
              </a:rPr>
              <a:t>t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178561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089" y="1625599"/>
            <a:ext cx="8346440" cy="180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100"/>
              </a:spcBef>
            </a:pP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Entité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concrète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ou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abstraite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du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domaine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d'application</a:t>
            </a:r>
            <a:r>
              <a:rPr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7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Décrit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par:</a:t>
            </a:r>
            <a:r>
              <a:rPr sz="2400" spc="-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identité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(</a:t>
            </a:r>
            <a:r>
              <a:rPr sz="2400" spc="-25" dirty="0" err="1">
                <a:latin typeface="Lucida Sans Unicode"/>
                <a:cs typeface="Lucida Sans Unicode"/>
              </a:rPr>
              <a:t>adresse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mémoire</a:t>
            </a:r>
            <a:r>
              <a:rPr sz="2400" spc="-2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1254760">
              <a:lnSpc>
                <a:spcPct val="100000"/>
              </a:lnSpc>
              <a:spcBef>
                <a:spcPts val="630"/>
              </a:spcBef>
            </a:pPr>
            <a:r>
              <a:rPr sz="2400" spc="490" dirty="0">
                <a:latin typeface="Lucida Sans Unicode"/>
                <a:cs typeface="Lucida Sans Unicode"/>
              </a:rPr>
              <a:t>+</a:t>
            </a:r>
            <a:r>
              <a:rPr sz="2400" spc="-480" dirty="0">
                <a:latin typeface="Lucida Sans Unicode"/>
                <a:cs typeface="Lucida Sans Unicode"/>
              </a:rPr>
              <a:t> </a:t>
            </a:r>
            <a:r>
              <a:rPr sz="2400" spc="-275" dirty="0">
                <a:solidFill>
                  <a:srgbClr val="569C1B"/>
                </a:solidFill>
                <a:latin typeface="Lucida Sans Unicode"/>
                <a:cs typeface="Lucida Sans Unicode"/>
              </a:rPr>
              <a:t>é</a:t>
            </a:r>
            <a:r>
              <a:rPr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185" dirty="0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770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150" dirty="0">
                <a:latin typeface="Lucida Sans Unicode"/>
                <a:cs typeface="Lucida Sans Unicode"/>
              </a:rPr>
              <a:t>(</a:t>
            </a:r>
            <a:r>
              <a:rPr sz="2400" spc="-185" dirty="0">
                <a:latin typeface="Lucida Sans Unicode"/>
                <a:cs typeface="Lucida Sans Unicode"/>
              </a:rPr>
              <a:t>a</a:t>
            </a:r>
            <a:r>
              <a:rPr lang="fr-FR" sz="2400" spc="-185" dirty="0">
                <a:latin typeface="Lucida Sans Unicode"/>
                <a:cs typeface="Lucida Sans Unicode"/>
              </a:rPr>
              <a:t>tt</a:t>
            </a:r>
            <a:r>
              <a:rPr sz="2400" spc="-165" dirty="0" err="1">
                <a:latin typeface="Lucida Sans Unicode"/>
                <a:cs typeface="Lucida Sans Unicode"/>
              </a:rPr>
              <a:t>r</a:t>
            </a:r>
            <a:r>
              <a:rPr sz="2400" spc="-130" dirty="0" err="1">
                <a:latin typeface="Lucida Sans Unicode"/>
                <a:cs typeface="Lucida Sans Unicode"/>
              </a:rPr>
              <a:t>i</a:t>
            </a:r>
            <a:r>
              <a:rPr sz="2400" spc="-254" dirty="0" err="1">
                <a:latin typeface="Lucida Sans Unicode"/>
                <a:cs typeface="Lucida Sans Unicode"/>
              </a:rPr>
              <a:t>b</a:t>
            </a:r>
            <a:r>
              <a:rPr sz="2400" spc="-285" dirty="0" err="1">
                <a:latin typeface="Lucida Sans Unicode"/>
                <a:cs typeface="Lucida Sans Unicode"/>
              </a:rPr>
              <a:t>u</a:t>
            </a:r>
            <a:r>
              <a:rPr sz="2400" spc="-35" dirty="0" err="1">
                <a:latin typeface="Lucida Sans Unicode"/>
                <a:cs typeface="Lucida Sans Unicode"/>
              </a:rPr>
              <a:t>t</a:t>
            </a:r>
            <a:r>
              <a:rPr sz="2400" spc="-75" dirty="0" err="1">
                <a:latin typeface="Lucida Sans Unicode"/>
                <a:cs typeface="Lucida Sans Unicode"/>
              </a:rPr>
              <a:t>s</a:t>
            </a:r>
            <a:r>
              <a:rPr sz="2400" spc="-7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1254760">
              <a:lnSpc>
                <a:spcPct val="100000"/>
              </a:lnSpc>
              <a:spcBef>
                <a:spcPts val="640"/>
              </a:spcBef>
            </a:pPr>
            <a:r>
              <a:rPr sz="2400" spc="490" dirty="0">
                <a:latin typeface="Lucida Sans Unicode"/>
                <a:cs typeface="Lucida Sans Unicode"/>
              </a:rPr>
              <a:t>+</a:t>
            </a:r>
            <a:r>
              <a:rPr sz="2400" spc="-480" dirty="0">
                <a:latin typeface="Lucida Sans Unicode"/>
                <a:cs typeface="Lucida Sans Unicode"/>
              </a:rPr>
              <a:t> </a:t>
            </a:r>
            <a:r>
              <a:rPr sz="2400" spc="-165" dirty="0">
                <a:solidFill>
                  <a:srgbClr val="569C1B"/>
                </a:solidFill>
                <a:latin typeface="Lucida Sans Unicode"/>
                <a:cs typeface="Lucida Sans Unicode"/>
              </a:rPr>
              <a:t>c</a:t>
            </a:r>
            <a:r>
              <a:rPr sz="2400" spc="-275" dirty="0">
                <a:solidFill>
                  <a:srgbClr val="569C1B"/>
                </a:solidFill>
                <a:latin typeface="Lucida Sans Unicode"/>
                <a:cs typeface="Lucida Sans Unicode"/>
              </a:rPr>
              <a:t>o</a:t>
            </a:r>
            <a:r>
              <a:rPr sz="2400" spc="-340" dirty="0">
                <a:solidFill>
                  <a:srgbClr val="569C1B"/>
                </a:solidFill>
                <a:latin typeface="Lucida Sans Unicode"/>
                <a:cs typeface="Lucida Sans Unicode"/>
              </a:rPr>
              <a:t>m</a:t>
            </a:r>
            <a:r>
              <a:rPr sz="2400" spc="-229" dirty="0">
                <a:solidFill>
                  <a:srgbClr val="569C1B"/>
                </a:solidFill>
                <a:latin typeface="Lucida Sans Unicode"/>
                <a:cs typeface="Lucida Sans Unicode"/>
              </a:rPr>
              <a:t>p</a:t>
            </a:r>
            <a:r>
              <a:rPr sz="2400" spc="-345" dirty="0">
                <a:solidFill>
                  <a:srgbClr val="569C1B"/>
                </a:solidFill>
                <a:latin typeface="Lucida Sans Unicode"/>
                <a:cs typeface="Lucida Sans Unicode"/>
              </a:rPr>
              <a:t>o</a:t>
            </a:r>
            <a:r>
              <a:rPr sz="2400" spc="-165" dirty="0">
                <a:solidFill>
                  <a:srgbClr val="569C1B"/>
                </a:solidFill>
                <a:latin typeface="Lucida Sans Unicode"/>
                <a:cs typeface="Lucida Sans Unicode"/>
              </a:rPr>
              <a:t>r</a:t>
            </a:r>
            <a:r>
              <a:rPr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275" dirty="0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-340" dirty="0">
                <a:solidFill>
                  <a:srgbClr val="569C1B"/>
                </a:solidFill>
                <a:latin typeface="Lucida Sans Unicode"/>
                <a:cs typeface="Lucida Sans Unicode"/>
              </a:rPr>
              <a:t>m</a:t>
            </a:r>
            <a:r>
              <a:rPr sz="2400" spc="-280" dirty="0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-250" dirty="0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77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140" dirty="0">
                <a:latin typeface="Lucida Sans Unicode"/>
                <a:cs typeface="Lucida Sans Unicode"/>
              </a:rPr>
              <a:t>(</a:t>
            </a:r>
            <a:r>
              <a:rPr sz="2400" spc="-275" dirty="0">
                <a:latin typeface="Lucida Sans Unicode"/>
                <a:cs typeface="Lucida Sans Unicode"/>
              </a:rPr>
              <a:t>o</a:t>
            </a:r>
            <a:r>
              <a:rPr sz="2400" spc="-220" dirty="0">
                <a:latin typeface="Lucida Sans Unicode"/>
                <a:cs typeface="Lucida Sans Unicode"/>
              </a:rPr>
              <a:t>p</a:t>
            </a:r>
            <a:r>
              <a:rPr sz="2400" spc="-275" dirty="0">
                <a:latin typeface="Lucida Sans Unicode"/>
                <a:cs typeface="Lucida Sans Unicode"/>
              </a:rPr>
              <a:t>é</a:t>
            </a:r>
            <a:r>
              <a:rPr sz="2400" spc="-180" dirty="0">
                <a:latin typeface="Lucida Sans Unicode"/>
                <a:cs typeface="Lucida Sans Unicode"/>
              </a:rPr>
              <a:t>r</a:t>
            </a:r>
            <a:r>
              <a:rPr sz="2400" spc="-185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t</a:t>
            </a:r>
            <a:r>
              <a:rPr sz="2400" spc="-130" dirty="0">
                <a:latin typeface="Lucida Sans Unicode"/>
                <a:cs typeface="Lucida Sans Unicode"/>
              </a:rPr>
              <a:t>i</a:t>
            </a:r>
            <a:r>
              <a:rPr sz="2400" spc="-270" dirty="0">
                <a:latin typeface="Lucida Sans Unicode"/>
                <a:cs typeface="Lucida Sans Unicode"/>
              </a:rPr>
              <a:t>o</a:t>
            </a:r>
            <a:r>
              <a:rPr sz="2400" spc="-265" dirty="0">
                <a:latin typeface="Lucida Sans Unicode"/>
                <a:cs typeface="Lucida Sans Unicode"/>
              </a:rPr>
              <a:t>n</a:t>
            </a:r>
            <a:r>
              <a:rPr sz="2400" spc="-300" dirty="0">
                <a:latin typeface="Lucida Sans Unicode"/>
                <a:cs typeface="Lucida Sans Unicode"/>
              </a:rPr>
              <a:t>s</a:t>
            </a:r>
            <a:r>
              <a:rPr sz="2400" spc="1614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1879" y="4103370"/>
            <a:ext cx="2879090" cy="36163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660"/>
              </a:spcBef>
            </a:pPr>
            <a:r>
              <a:rPr sz="1800" b="1" u="heavy" spc="2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800" b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1800" b="1" u="heavy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18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800" b="1" u="heavy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800" b="1" u="heavy" spc="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800" b="1" u="heavy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800" b="1" spc="-325" dirty="0">
                <a:latin typeface="Arial"/>
                <a:cs typeface="Arial"/>
              </a:rPr>
              <a:t> </a:t>
            </a:r>
            <a:r>
              <a:rPr sz="1800" b="1" u="heavy" spc="6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sz="18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800" b="1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800" b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1800" b="1" u="heavy" spc="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800" b="1" u="heavy" spc="7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endParaRPr sz="18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1879" y="5543550"/>
            <a:ext cx="2879090" cy="1008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80"/>
              </a:spcBef>
            </a:pPr>
            <a:r>
              <a:rPr sz="1800" spc="-60" dirty="0">
                <a:latin typeface="Lucida Sans Unicode"/>
                <a:cs typeface="Lucida Sans Unicode"/>
              </a:rPr>
              <a:t>déposer(montant:float)</a:t>
            </a:r>
            <a:endParaRPr sz="1800" dirty="0">
              <a:latin typeface="Lucida Sans Unicode"/>
              <a:cs typeface="Lucida Sans Unicode"/>
            </a:endParaRPr>
          </a:p>
          <a:p>
            <a:pPr marL="90170" marR="438784">
              <a:lnSpc>
                <a:spcPts val="2660"/>
              </a:lnSpc>
              <a:spcBef>
                <a:spcPts val="160"/>
              </a:spcBef>
            </a:pPr>
            <a:r>
              <a:rPr sz="1800" spc="-40" dirty="0">
                <a:latin typeface="Lucida Sans Unicode"/>
                <a:cs typeface="Lucida Sans Unicode"/>
              </a:rPr>
              <a:t>retirer(montant:float) 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solde():float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1879" y="4536440"/>
            <a:ext cx="2879090" cy="1007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185" dirty="0">
                <a:latin typeface="Lucida Sans Unicode"/>
                <a:cs typeface="Lucida Sans Unicode"/>
              </a:rPr>
              <a:t>u</a:t>
            </a:r>
            <a:r>
              <a:rPr sz="1800" spc="-260" dirty="0">
                <a:latin typeface="Lucida Sans Unicode"/>
                <a:cs typeface="Lucida Sans Unicode"/>
              </a:rPr>
              <a:t>m</a:t>
            </a:r>
            <a:r>
              <a:rPr sz="1800" spc="-210" dirty="0">
                <a:latin typeface="Lucida Sans Unicode"/>
                <a:cs typeface="Lucida Sans Unicode"/>
              </a:rPr>
              <a:t>é</a:t>
            </a:r>
            <a:r>
              <a:rPr sz="1800" spc="-130" dirty="0">
                <a:latin typeface="Lucida Sans Unicode"/>
                <a:cs typeface="Lucida Sans Unicode"/>
              </a:rPr>
              <a:t>r</a:t>
            </a:r>
            <a:r>
              <a:rPr sz="1800" spc="385" dirty="0">
                <a:latin typeface="Lucida Sans Unicode"/>
                <a:cs typeface="Lucida Sans Unicode"/>
              </a:rPr>
              <a:t>o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65" dirty="0">
                <a:latin typeface="Lucida Sans Unicode"/>
                <a:cs typeface="Lucida Sans Unicode"/>
              </a:rPr>
              <a:t> </a:t>
            </a:r>
            <a:r>
              <a:rPr sz="1800" spc="-254" dirty="0">
                <a:latin typeface="Lucida Sans Unicode"/>
                <a:cs typeface="Lucida Sans Unicode"/>
              </a:rPr>
              <a:t>1</a:t>
            </a:r>
            <a:r>
              <a:rPr sz="1800" spc="-235" dirty="0">
                <a:latin typeface="Lucida Sans Unicode"/>
                <a:cs typeface="Lucida Sans Unicode"/>
              </a:rPr>
              <a:t>2</a:t>
            </a:r>
            <a:r>
              <a:rPr sz="1800" spc="-254" dirty="0">
                <a:latin typeface="Lucida Sans Unicode"/>
                <a:cs typeface="Lucida Sans Unicode"/>
              </a:rPr>
              <a:t>3</a:t>
            </a:r>
            <a:r>
              <a:rPr sz="1800" spc="-235" dirty="0">
                <a:latin typeface="Lucida Sans Unicode"/>
                <a:cs typeface="Lucida Sans Unicode"/>
              </a:rPr>
              <a:t>4</a:t>
            </a:r>
            <a:r>
              <a:rPr sz="1800" spc="-254" dirty="0">
                <a:latin typeface="Lucida Sans Unicode"/>
                <a:cs typeface="Lucida Sans Unicode"/>
              </a:rPr>
              <a:t>5</a:t>
            </a:r>
            <a:r>
              <a:rPr sz="1800" spc="660" dirty="0">
                <a:latin typeface="Lucida Sans Unicode"/>
                <a:cs typeface="Lucida Sans Unicode"/>
              </a:rPr>
              <a:t>6</a:t>
            </a:r>
            <a:endParaRPr sz="1800">
              <a:latin typeface="Lucida Sans Unicode"/>
              <a:cs typeface="Lucida Sans Unicode"/>
            </a:endParaRPr>
          </a:p>
          <a:p>
            <a:pPr marL="90170" marR="1224915">
              <a:lnSpc>
                <a:spcPct val="122700"/>
              </a:lnSpc>
              <a:spcBef>
                <a:spcPts val="10"/>
              </a:spcBef>
            </a:pPr>
            <a:r>
              <a:rPr sz="1800" spc="-204" dirty="0">
                <a:latin typeface="Lucida Sans Unicode"/>
                <a:cs typeface="Lucida Sans Unicode"/>
              </a:rPr>
              <a:t>d</a:t>
            </a:r>
            <a:r>
              <a:rPr sz="1800" spc="-200" dirty="0">
                <a:latin typeface="Lucida Sans Unicode"/>
                <a:cs typeface="Lucida Sans Unicode"/>
              </a:rPr>
              <a:t>e</a:t>
            </a:r>
            <a:r>
              <a:rPr sz="1800" spc="-114" dirty="0">
                <a:latin typeface="Lucida Sans Unicode"/>
                <a:cs typeface="Lucida Sans Unicode"/>
              </a:rPr>
              <a:t>v</a:t>
            </a:r>
            <a:r>
              <a:rPr sz="1800" spc="-95" dirty="0">
                <a:latin typeface="Lucida Sans Unicode"/>
                <a:cs typeface="Lucida Sans Unicode"/>
              </a:rPr>
              <a:t>i</a:t>
            </a:r>
            <a:r>
              <a:rPr sz="1800" spc="-235" dirty="0">
                <a:latin typeface="Lucida Sans Unicode"/>
                <a:cs typeface="Lucida Sans Unicode"/>
              </a:rPr>
              <a:t>s</a:t>
            </a:r>
            <a:r>
              <a:rPr sz="1800" spc="390" dirty="0">
                <a:latin typeface="Lucida Sans Unicode"/>
                <a:cs typeface="Lucida Sans Unicode"/>
              </a:rPr>
              <a:t>e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65" dirty="0">
                <a:latin typeface="Lucida Sans Unicode"/>
                <a:cs typeface="Lucida Sans Unicode"/>
              </a:rPr>
              <a:t> </a:t>
            </a:r>
            <a:r>
              <a:rPr sz="1800" spc="95" dirty="0">
                <a:latin typeface="Lucida Sans Unicode"/>
                <a:cs typeface="Lucida Sans Unicode"/>
              </a:rPr>
              <a:t>E</a:t>
            </a:r>
            <a:r>
              <a:rPr sz="1800" spc="-25" dirty="0">
                <a:latin typeface="Lucida Sans Unicode"/>
                <a:cs typeface="Lucida Sans Unicode"/>
              </a:rPr>
              <a:t>U</a:t>
            </a:r>
            <a:r>
              <a:rPr sz="1800" spc="440" dirty="0">
                <a:latin typeface="Lucida Sans Unicode"/>
                <a:cs typeface="Lucida Sans Unicode"/>
              </a:rPr>
              <a:t>R  </a:t>
            </a:r>
            <a:r>
              <a:rPr sz="1800" spc="-240" dirty="0">
                <a:latin typeface="Lucida Sans Unicode"/>
                <a:cs typeface="Lucida Sans Unicode"/>
              </a:rPr>
              <a:t>s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-95" dirty="0">
                <a:latin typeface="Lucida Sans Unicode"/>
                <a:cs typeface="Lucida Sans Unicode"/>
              </a:rPr>
              <a:t>l</a:t>
            </a:r>
            <a:r>
              <a:rPr sz="1800" spc="-200" dirty="0">
                <a:latin typeface="Lucida Sans Unicode"/>
                <a:cs typeface="Lucida Sans Unicode"/>
              </a:rPr>
              <a:t>d</a:t>
            </a:r>
            <a:r>
              <a:rPr sz="1800" spc="390" dirty="0">
                <a:latin typeface="Lucida Sans Unicode"/>
                <a:cs typeface="Lucida Sans Unicode"/>
              </a:rPr>
              <a:t>e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65" dirty="0">
                <a:latin typeface="Lucida Sans Unicode"/>
                <a:cs typeface="Lucida Sans Unicode"/>
              </a:rPr>
              <a:t> </a:t>
            </a:r>
            <a:r>
              <a:rPr sz="1800" spc="-240" dirty="0">
                <a:latin typeface="Lucida Sans Unicode"/>
                <a:cs typeface="Lucida Sans Unicode"/>
              </a:rPr>
              <a:t>3509</a:t>
            </a:r>
            <a:r>
              <a:rPr sz="1800" spc="-70" dirty="0">
                <a:latin typeface="Lucida Sans Unicode"/>
                <a:cs typeface="Lucida Sans Unicode"/>
              </a:rPr>
              <a:t>,</a:t>
            </a:r>
            <a:r>
              <a:rPr sz="1800" spc="-240" dirty="0">
                <a:latin typeface="Lucida Sans Unicode"/>
                <a:cs typeface="Lucida Sans Unicode"/>
              </a:rPr>
              <a:t>43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12159" y="3870581"/>
            <a:ext cx="1104900" cy="216535"/>
          </a:xfrm>
          <a:custGeom>
            <a:avLst/>
            <a:gdLst/>
            <a:ahLst/>
            <a:cxnLst/>
            <a:rect l="l" t="t" r="r" b="b"/>
            <a:pathLst>
              <a:path w="1104900" h="216535">
                <a:moveTo>
                  <a:pt x="0" y="89278"/>
                </a:moveTo>
                <a:lnTo>
                  <a:pt x="107643" y="68506"/>
                </a:lnTo>
                <a:lnTo>
                  <a:pt x="207443" y="50768"/>
                </a:lnTo>
                <a:lnTo>
                  <a:pt x="299719" y="35927"/>
                </a:lnTo>
                <a:lnTo>
                  <a:pt x="384789" y="23844"/>
                </a:lnTo>
                <a:lnTo>
                  <a:pt x="462975" y="14382"/>
                </a:lnTo>
                <a:lnTo>
                  <a:pt x="534595" y="7404"/>
                </a:lnTo>
                <a:lnTo>
                  <a:pt x="599969" y="2773"/>
                </a:lnTo>
                <a:lnTo>
                  <a:pt x="659417" y="350"/>
                </a:lnTo>
                <a:lnTo>
                  <a:pt x="713258" y="0"/>
                </a:lnTo>
                <a:lnTo>
                  <a:pt x="761812" y="1583"/>
                </a:lnTo>
                <a:lnTo>
                  <a:pt x="805399" y="4962"/>
                </a:lnTo>
                <a:lnTo>
                  <a:pt x="844338" y="10001"/>
                </a:lnTo>
                <a:lnTo>
                  <a:pt x="909550" y="24505"/>
                </a:lnTo>
                <a:lnTo>
                  <a:pt x="960008" y="43996"/>
                </a:lnTo>
                <a:lnTo>
                  <a:pt x="998266" y="67373"/>
                </a:lnTo>
                <a:lnTo>
                  <a:pt x="1026883" y="93538"/>
                </a:lnTo>
                <a:lnTo>
                  <a:pt x="1057323" y="135604"/>
                </a:lnTo>
                <a:lnTo>
                  <a:pt x="1080452" y="177755"/>
                </a:lnTo>
                <a:lnTo>
                  <a:pt x="1088028" y="191182"/>
                </a:lnTo>
                <a:lnTo>
                  <a:pt x="1096071" y="204069"/>
                </a:lnTo>
                <a:lnTo>
                  <a:pt x="1104900" y="216278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81500" y="4064000"/>
            <a:ext cx="82550" cy="111760"/>
          </a:xfrm>
          <a:custGeom>
            <a:avLst/>
            <a:gdLst/>
            <a:ahLst/>
            <a:cxnLst/>
            <a:rect l="l" t="t" r="r" b="b"/>
            <a:pathLst>
              <a:path w="82550" h="111760">
                <a:moveTo>
                  <a:pt x="63500" y="0"/>
                </a:moveTo>
                <a:lnTo>
                  <a:pt x="0" y="33020"/>
                </a:lnTo>
                <a:lnTo>
                  <a:pt x="82550" y="111760"/>
                </a:lnTo>
                <a:lnTo>
                  <a:pt x="63500" y="0"/>
                </a:lnTo>
                <a:close/>
              </a:path>
            </a:pathLst>
          </a:custGeom>
          <a:solidFill>
            <a:srgbClr val="0083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818764" y="4957024"/>
            <a:ext cx="720725" cy="86360"/>
            <a:chOff x="2818764" y="4957024"/>
            <a:chExt cx="720725" cy="86360"/>
          </a:xfrm>
        </p:grpSpPr>
        <p:sp>
          <p:nvSpPr>
            <p:cNvPr id="13" name="object 13"/>
            <p:cNvSpPr/>
            <p:nvPr/>
          </p:nvSpPr>
          <p:spPr>
            <a:xfrm>
              <a:off x="2819399" y="4957659"/>
              <a:ext cx="622300" cy="83185"/>
            </a:xfrm>
            <a:custGeom>
              <a:avLst/>
              <a:gdLst/>
              <a:ahLst/>
              <a:cxnLst/>
              <a:rect l="l" t="t" r="r" b="b"/>
              <a:pathLst>
                <a:path w="622300" h="83185">
                  <a:moveTo>
                    <a:pt x="0" y="82970"/>
                  </a:moveTo>
                  <a:lnTo>
                    <a:pt x="79257" y="53447"/>
                  </a:lnTo>
                  <a:lnTo>
                    <a:pt x="150982" y="31201"/>
                  </a:lnTo>
                  <a:lnTo>
                    <a:pt x="215801" y="15482"/>
                  </a:lnTo>
                  <a:lnTo>
                    <a:pt x="274343" y="5542"/>
                  </a:lnTo>
                  <a:lnTo>
                    <a:pt x="327234" y="631"/>
                  </a:lnTo>
                  <a:lnTo>
                    <a:pt x="375103" y="0"/>
                  </a:lnTo>
                  <a:lnTo>
                    <a:pt x="418578" y="2899"/>
                  </a:lnTo>
                  <a:lnTo>
                    <a:pt x="458286" y="8580"/>
                  </a:lnTo>
                  <a:lnTo>
                    <a:pt x="528914" y="25291"/>
                  </a:lnTo>
                  <a:lnTo>
                    <a:pt x="592008" y="44138"/>
                  </a:lnTo>
                  <a:lnTo>
                    <a:pt x="622300" y="52490"/>
                  </a:lnTo>
                </a:path>
              </a:pathLst>
            </a:custGeom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5189" y="4974589"/>
              <a:ext cx="114300" cy="68580"/>
            </a:xfrm>
            <a:custGeom>
              <a:avLst/>
              <a:gdLst/>
              <a:ahLst/>
              <a:cxnLst/>
              <a:rect l="l" t="t" r="r" b="b"/>
              <a:pathLst>
                <a:path w="114300" h="68579">
                  <a:moveTo>
                    <a:pt x="21589" y="0"/>
                  </a:moveTo>
                  <a:lnTo>
                    <a:pt x="0" y="68580"/>
                  </a:lnTo>
                  <a:lnTo>
                    <a:pt x="114300" y="66040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83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18764" y="6262370"/>
            <a:ext cx="720725" cy="89535"/>
            <a:chOff x="2818764" y="6262370"/>
            <a:chExt cx="720725" cy="89535"/>
          </a:xfrm>
        </p:grpSpPr>
        <p:sp>
          <p:nvSpPr>
            <p:cNvPr id="16" name="object 16"/>
            <p:cNvSpPr/>
            <p:nvPr/>
          </p:nvSpPr>
          <p:spPr>
            <a:xfrm>
              <a:off x="2819399" y="6263640"/>
              <a:ext cx="622300" cy="87630"/>
            </a:xfrm>
            <a:custGeom>
              <a:avLst/>
              <a:gdLst/>
              <a:ahLst/>
              <a:cxnLst/>
              <a:rect l="l" t="t" r="r" b="b"/>
              <a:pathLst>
                <a:path w="622300" h="87629">
                  <a:moveTo>
                    <a:pt x="0" y="0"/>
                  </a:moveTo>
                  <a:lnTo>
                    <a:pt x="79257" y="31063"/>
                  </a:lnTo>
                  <a:lnTo>
                    <a:pt x="150982" y="54444"/>
                  </a:lnTo>
                  <a:lnTo>
                    <a:pt x="215801" y="70936"/>
                  </a:lnTo>
                  <a:lnTo>
                    <a:pt x="274343" y="81335"/>
                  </a:lnTo>
                  <a:lnTo>
                    <a:pt x="327234" y="86434"/>
                  </a:lnTo>
                  <a:lnTo>
                    <a:pt x="375103" y="87028"/>
                  </a:lnTo>
                  <a:lnTo>
                    <a:pt x="418578" y="83910"/>
                  </a:lnTo>
                  <a:lnTo>
                    <a:pt x="458286" y="77876"/>
                  </a:lnTo>
                  <a:lnTo>
                    <a:pt x="528914" y="60233"/>
                  </a:lnTo>
                  <a:lnTo>
                    <a:pt x="592008" y="40455"/>
                  </a:lnTo>
                  <a:lnTo>
                    <a:pt x="622300" y="31750"/>
                  </a:lnTo>
                </a:path>
              </a:pathLst>
            </a:custGeom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5189" y="6262370"/>
              <a:ext cx="114300" cy="68580"/>
            </a:xfrm>
            <a:custGeom>
              <a:avLst/>
              <a:gdLst/>
              <a:ahLst/>
              <a:cxnLst/>
              <a:rect l="l" t="t" r="r" b="b"/>
              <a:pathLst>
                <a:path w="114300" h="68579">
                  <a:moveTo>
                    <a:pt x="0" y="0"/>
                  </a:moveTo>
                  <a:lnTo>
                    <a:pt x="21589" y="68579"/>
                  </a:lnTo>
                  <a:lnTo>
                    <a:pt x="114300" y="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3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17370" y="3849370"/>
            <a:ext cx="1556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75" dirty="0">
                <a:latin typeface="Arial"/>
                <a:cs typeface="Arial"/>
              </a:rPr>
              <a:t>n</a:t>
            </a:r>
            <a:r>
              <a:rPr sz="1800" i="1" spc="-105" dirty="0">
                <a:latin typeface="Arial"/>
                <a:cs typeface="Arial"/>
              </a:rPr>
              <a:t>o</a:t>
            </a:r>
            <a:r>
              <a:rPr sz="1800" i="1" spc="300" dirty="0">
                <a:latin typeface="Arial"/>
                <a:cs typeface="Arial"/>
              </a:rPr>
              <a:t>m</a:t>
            </a:r>
            <a:r>
              <a:rPr sz="1800" i="1" spc="-275" dirty="0">
                <a:latin typeface="Arial"/>
                <a:cs typeface="Arial"/>
              </a:rPr>
              <a:t> </a:t>
            </a:r>
            <a:r>
              <a:rPr sz="1800" i="1" spc="-75" dirty="0">
                <a:latin typeface="Arial"/>
                <a:cs typeface="Arial"/>
              </a:rPr>
              <a:t>d</a:t>
            </a:r>
            <a:r>
              <a:rPr sz="1800" i="1" spc="400" dirty="0">
                <a:latin typeface="Arial"/>
                <a:cs typeface="Arial"/>
              </a:rPr>
              <a:t>e</a:t>
            </a:r>
            <a:r>
              <a:rPr sz="1800" i="1" spc="30" dirty="0">
                <a:latin typeface="Arial"/>
                <a:cs typeface="Arial"/>
              </a:rPr>
              <a:t>l</a:t>
            </a:r>
            <a:r>
              <a:rPr sz="1800" i="1" spc="160" dirty="0">
                <a:latin typeface="Arial"/>
                <a:cs typeface="Arial"/>
              </a:rPr>
              <a:t>'</a:t>
            </a:r>
            <a:r>
              <a:rPr sz="1800" i="1" spc="-120" dirty="0">
                <a:latin typeface="Arial"/>
                <a:cs typeface="Arial"/>
              </a:rPr>
              <a:t>o</a:t>
            </a:r>
            <a:r>
              <a:rPr sz="1800" i="1" spc="-70" dirty="0">
                <a:latin typeface="Arial"/>
                <a:cs typeface="Arial"/>
              </a:rPr>
              <a:t>b</a:t>
            </a:r>
            <a:r>
              <a:rPr sz="1800" i="1" spc="80" dirty="0">
                <a:latin typeface="Arial"/>
                <a:cs typeface="Arial"/>
              </a:rPr>
              <a:t>j</a:t>
            </a:r>
            <a:r>
              <a:rPr sz="1800" i="1" spc="-200" dirty="0">
                <a:latin typeface="Arial"/>
                <a:cs typeface="Arial"/>
              </a:rPr>
              <a:t>e</a:t>
            </a:r>
            <a:r>
              <a:rPr sz="1800" i="1" spc="1295" dirty="0">
                <a:latin typeface="Arial"/>
                <a:cs typeface="Arial"/>
              </a:rPr>
              <a:t>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8489" y="4897120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at</a:t>
            </a:r>
            <a:r>
              <a:rPr lang="fr-FR" sz="1800" i="1" dirty="0">
                <a:latin typeface="Arial"/>
                <a:cs typeface="Arial"/>
              </a:rPr>
              <a:t>t</a:t>
            </a:r>
            <a:r>
              <a:rPr sz="1800" i="1" dirty="0" err="1">
                <a:latin typeface="Arial"/>
                <a:cs typeface="Arial"/>
              </a:rPr>
              <a:t>ributs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7200" y="6049009"/>
            <a:ext cx="115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40" dirty="0">
                <a:latin typeface="Arial"/>
                <a:cs typeface="Arial"/>
              </a:rPr>
              <a:t>opérations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94729" y="4823459"/>
            <a:ext cx="613410" cy="214629"/>
          </a:xfrm>
          <a:custGeom>
            <a:avLst/>
            <a:gdLst/>
            <a:ahLst/>
            <a:cxnLst/>
            <a:rect l="l" t="t" r="r" b="b"/>
            <a:pathLst>
              <a:path w="613409" h="214629">
                <a:moveTo>
                  <a:pt x="0" y="214629"/>
                </a:moveTo>
                <a:lnTo>
                  <a:pt x="327302" y="171450"/>
                </a:lnTo>
                <a:lnTo>
                  <a:pt x="512445" y="98742"/>
                </a:lnTo>
                <a:lnTo>
                  <a:pt x="594717" y="30321"/>
                </a:lnTo>
                <a:lnTo>
                  <a:pt x="613410" y="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88050" y="5001259"/>
            <a:ext cx="107950" cy="72390"/>
          </a:xfrm>
          <a:custGeom>
            <a:avLst/>
            <a:gdLst/>
            <a:ahLst/>
            <a:cxnLst/>
            <a:rect l="l" t="t" r="r" b="b"/>
            <a:pathLst>
              <a:path w="107950" h="72389">
                <a:moveTo>
                  <a:pt x="106679" y="0"/>
                </a:moveTo>
                <a:lnTo>
                  <a:pt x="0" y="39369"/>
                </a:lnTo>
                <a:lnTo>
                  <a:pt x="107950" y="72389"/>
                </a:lnTo>
                <a:lnTo>
                  <a:pt x="106679" y="0"/>
                </a:lnTo>
                <a:close/>
              </a:path>
            </a:pathLst>
          </a:custGeom>
          <a:solidFill>
            <a:srgbClr val="0083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48780" y="4605020"/>
            <a:ext cx="32461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85" dirty="0">
                <a:latin typeface="Arial"/>
                <a:cs typeface="Arial"/>
              </a:rPr>
              <a:t>état(</a:t>
            </a:r>
            <a:r>
              <a:rPr sz="1800" i="1" spc="85" dirty="0" err="1">
                <a:latin typeface="Arial"/>
                <a:cs typeface="Arial"/>
              </a:rPr>
              <a:t>valeur</a:t>
            </a:r>
            <a:r>
              <a:rPr lang="fr-FR" sz="1800" i="1" spc="85" dirty="0">
                <a:latin typeface="Arial"/>
                <a:cs typeface="Arial"/>
              </a:rPr>
              <a:t> </a:t>
            </a:r>
            <a:r>
              <a:rPr sz="1800" i="1" spc="85" dirty="0">
                <a:latin typeface="Arial"/>
                <a:cs typeface="Arial"/>
              </a:rPr>
              <a:t>des</a:t>
            </a:r>
            <a:r>
              <a:rPr lang="fr-FR" sz="1800" i="1" spc="85" dirty="0">
                <a:latin typeface="Arial"/>
                <a:cs typeface="Arial"/>
              </a:rPr>
              <a:t> </a:t>
            </a:r>
            <a:r>
              <a:rPr sz="1800" i="1" spc="85" dirty="0" err="1">
                <a:latin typeface="Arial"/>
                <a:cs typeface="Arial"/>
              </a:rPr>
              <a:t>attributs</a:t>
            </a:r>
            <a:r>
              <a:rPr sz="1800" i="1" spc="85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3</a:t>
            </a:fld>
            <a:endParaRPr spc="50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170" y="384809"/>
            <a:ext cx="49771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Objets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clases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26705" y="3347084"/>
            <a:ext cx="167640" cy="432434"/>
            <a:chOff x="7926705" y="3347084"/>
            <a:chExt cx="167640" cy="432434"/>
          </a:xfrm>
        </p:grpSpPr>
        <p:sp>
          <p:nvSpPr>
            <p:cNvPr id="5" name="object 5"/>
            <p:cNvSpPr/>
            <p:nvPr/>
          </p:nvSpPr>
          <p:spPr>
            <a:xfrm>
              <a:off x="7927340" y="3347719"/>
              <a:ext cx="166370" cy="353060"/>
            </a:xfrm>
            <a:custGeom>
              <a:avLst/>
              <a:gdLst/>
              <a:ahLst/>
              <a:cxnLst/>
              <a:rect l="l" t="t" r="r" b="b"/>
              <a:pathLst>
                <a:path w="166370" h="353060">
                  <a:moveTo>
                    <a:pt x="0" y="0"/>
                  </a:moveTo>
                  <a:lnTo>
                    <a:pt x="63047" y="35541"/>
                  </a:lnTo>
                  <a:lnTo>
                    <a:pt x="109302" y="69808"/>
                  </a:lnTo>
                  <a:lnTo>
                    <a:pt x="140652" y="102850"/>
                  </a:lnTo>
                  <a:lnTo>
                    <a:pt x="166187" y="165449"/>
                  </a:lnTo>
                  <a:lnTo>
                    <a:pt x="164147" y="195103"/>
                  </a:lnTo>
                  <a:lnTo>
                    <a:pt x="139888" y="251365"/>
                  </a:lnTo>
                  <a:lnTo>
                    <a:pt x="101306" y="303888"/>
                  </a:lnTo>
                  <a:lnTo>
                    <a:pt x="81362" y="328868"/>
                  </a:lnTo>
                  <a:lnTo>
                    <a:pt x="63500" y="35305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27340" y="3672839"/>
              <a:ext cx="95250" cy="106680"/>
            </a:xfrm>
            <a:custGeom>
              <a:avLst/>
              <a:gdLst/>
              <a:ahLst/>
              <a:cxnLst/>
              <a:rect l="l" t="t" r="r" b="b"/>
              <a:pathLst>
                <a:path w="95250" h="106679">
                  <a:moveTo>
                    <a:pt x="39369" y="0"/>
                  </a:moveTo>
                  <a:lnTo>
                    <a:pt x="0" y="106680"/>
                  </a:lnTo>
                  <a:lnTo>
                    <a:pt x="95250" y="44450"/>
                  </a:lnTo>
                  <a:lnTo>
                    <a:pt x="3936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567419" y="4435475"/>
            <a:ext cx="577215" cy="396875"/>
            <a:chOff x="8567419" y="4435475"/>
            <a:chExt cx="577215" cy="396875"/>
          </a:xfrm>
        </p:grpSpPr>
        <p:sp>
          <p:nvSpPr>
            <p:cNvPr id="8" name="object 8"/>
            <p:cNvSpPr/>
            <p:nvPr/>
          </p:nvSpPr>
          <p:spPr>
            <a:xfrm>
              <a:off x="8667749" y="4436110"/>
              <a:ext cx="476250" cy="363220"/>
            </a:xfrm>
            <a:custGeom>
              <a:avLst/>
              <a:gdLst/>
              <a:ahLst/>
              <a:cxnLst/>
              <a:rect l="l" t="t" r="r" b="b"/>
              <a:pathLst>
                <a:path w="476250" h="363220">
                  <a:moveTo>
                    <a:pt x="476250" y="0"/>
                  </a:moveTo>
                  <a:lnTo>
                    <a:pt x="444723" y="63127"/>
                  </a:lnTo>
                  <a:lnTo>
                    <a:pt x="411813" y="117491"/>
                  </a:lnTo>
                  <a:lnTo>
                    <a:pt x="377770" y="163852"/>
                  </a:lnTo>
                  <a:lnTo>
                    <a:pt x="342844" y="202970"/>
                  </a:lnTo>
                  <a:lnTo>
                    <a:pt x="307285" y="235607"/>
                  </a:lnTo>
                  <a:lnTo>
                    <a:pt x="271343" y="262523"/>
                  </a:lnTo>
                  <a:lnTo>
                    <a:pt x="235267" y="284479"/>
                  </a:lnTo>
                  <a:lnTo>
                    <a:pt x="199308" y="302237"/>
                  </a:lnTo>
                  <a:lnTo>
                    <a:pt x="163716" y="316557"/>
                  </a:lnTo>
                  <a:lnTo>
                    <a:pt x="94630" y="337927"/>
                  </a:lnTo>
                  <a:lnTo>
                    <a:pt x="30010" y="354676"/>
                  </a:lnTo>
                  <a:lnTo>
                    <a:pt x="0" y="363219"/>
                  </a:lnTo>
                </a:path>
              </a:pathLst>
            </a:custGeom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67419" y="4762500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114300" h="69850">
                  <a:moveTo>
                    <a:pt x="96520" y="0"/>
                  </a:moveTo>
                  <a:lnTo>
                    <a:pt x="0" y="60960"/>
                  </a:lnTo>
                  <a:lnTo>
                    <a:pt x="114300" y="69850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0083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1300" y="1177290"/>
            <a:ext cx="9525000" cy="1654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200"/>
              </a:lnSpc>
              <a:spcBef>
                <a:spcPts val="100"/>
              </a:spcBef>
            </a:pPr>
            <a:r>
              <a:rPr sz="2400" spc="-30" dirty="0" err="1">
                <a:solidFill>
                  <a:srgbClr val="FF940D"/>
                </a:solidFill>
                <a:latin typeface="Lucida Sans Unicode"/>
                <a:cs typeface="Lucida Sans Unicode"/>
              </a:rPr>
              <a:t>Clase</a:t>
            </a:r>
            <a:r>
              <a:rPr sz="2400" spc="-30" dirty="0">
                <a:latin typeface="Lucida Sans Unicode"/>
                <a:cs typeface="Lucida Sans Unicode"/>
              </a:rPr>
              <a:t>: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Regroupement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d'objets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de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même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nature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(mêmesatributs+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sz="2400" spc="-170" dirty="0" err="1">
                <a:latin typeface="Lucida Sans Unicode"/>
                <a:cs typeface="Lucida Sans Unicode"/>
              </a:rPr>
              <a:t>mêmes</a:t>
            </a:r>
            <a:r>
              <a:rPr lang="fr-FR" sz="2400" spc="-170" dirty="0">
                <a:latin typeface="Lucida Sans Unicode"/>
                <a:cs typeface="Lucida Sans Unicode"/>
              </a:rPr>
              <a:t> </a:t>
            </a:r>
            <a:r>
              <a:rPr sz="2400" spc="-170" dirty="0" err="1">
                <a:latin typeface="Lucida Sans Unicode"/>
                <a:cs typeface="Lucida Sans Unicode"/>
              </a:rPr>
              <a:t>opérations</a:t>
            </a:r>
            <a:r>
              <a:rPr sz="2400" spc="-170" dirty="0">
                <a:latin typeface="Lucida Sans Unicode"/>
                <a:cs typeface="Lucida Sans Unicode"/>
              </a:rPr>
              <a:t>)</a:t>
            </a:r>
            <a:endParaRPr lang="fr-FR" sz="2400" spc="-17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2200"/>
              </a:lnSpc>
              <a:spcBef>
                <a:spcPts val="100"/>
              </a:spcBef>
            </a:pPr>
            <a:r>
              <a:rPr sz="2400" spc="-11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</a:t>
            </a:r>
            <a:r>
              <a:rPr sz="2400" spc="-2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b</a:t>
            </a:r>
            <a:r>
              <a:rPr sz="2400" spc="-9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j</a:t>
            </a:r>
            <a:r>
              <a:rPr sz="2400" spc="-27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76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490" dirty="0">
                <a:solidFill>
                  <a:srgbClr val="569C1B"/>
                </a:solidFill>
                <a:latin typeface="Lucida Sans Unicode"/>
                <a:cs typeface="Lucida Sans Unicode"/>
              </a:rPr>
              <a:t>=</a:t>
            </a:r>
            <a:r>
              <a:rPr sz="2400" spc="-49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i</a:t>
            </a:r>
            <a:r>
              <a:rPr sz="2400" spc="-26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-30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18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-2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-16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</a:t>
            </a:r>
            <a:r>
              <a:rPr sz="2400" spc="5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-27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</a:t>
            </a:r>
            <a:r>
              <a:rPr sz="2400" spc="114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'</a:t>
            </a:r>
            <a:r>
              <a:rPr sz="2400" spc="-2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u</a:t>
            </a:r>
            <a:r>
              <a:rPr sz="2400" spc="-26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5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-16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</a:t>
            </a:r>
            <a:r>
              <a:rPr sz="2400" spc="-12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l</a:t>
            </a:r>
            <a:r>
              <a:rPr sz="2400" spc="-18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-31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30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10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endParaRPr sz="2150" dirty="0">
              <a:latin typeface="Lucida Sans Unicode"/>
              <a:cs typeface="Lucida Sans Unicode"/>
            </a:endParaRPr>
          </a:p>
          <a:p>
            <a:pPr marL="5789930"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6690" y="4141470"/>
            <a:ext cx="981075" cy="2997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20" dirty="0">
                <a:latin typeface="Arial"/>
                <a:cs typeface="Arial"/>
              </a:rPr>
              <a:t>attributs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65390" y="6355079"/>
            <a:ext cx="1152525" cy="2997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5" dirty="0">
                <a:latin typeface="Arial"/>
                <a:cs typeface="Arial"/>
              </a:rPr>
              <a:t>o</a:t>
            </a:r>
            <a:r>
              <a:rPr sz="1800" i="1" spc="-30" dirty="0">
                <a:latin typeface="Arial"/>
                <a:cs typeface="Arial"/>
              </a:rPr>
              <a:t>p</a:t>
            </a:r>
            <a:r>
              <a:rPr sz="1800" i="1" spc="-200" dirty="0">
                <a:latin typeface="Arial"/>
                <a:cs typeface="Arial"/>
              </a:rPr>
              <a:t>é</a:t>
            </a:r>
            <a:r>
              <a:rPr sz="1800" i="1" spc="10" dirty="0">
                <a:latin typeface="Arial"/>
                <a:cs typeface="Arial"/>
              </a:rPr>
              <a:t>r</a:t>
            </a:r>
            <a:r>
              <a:rPr sz="1800" i="1" spc="-145" dirty="0">
                <a:latin typeface="Arial"/>
                <a:cs typeface="Arial"/>
              </a:rPr>
              <a:t>a</a:t>
            </a:r>
            <a:r>
              <a:rPr sz="1800" i="1" spc="140" dirty="0">
                <a:latin typeface="Arial"/>
                <a:cs typeface="Arial"/>
              </a:rPr>
              <a:t>t</a:t>
            </a:r>
            <a:r>
              <a:rPr sz="1800" i="1" spc="30" dirty="0">
                <a:latin typeface="Arial"/>
                <a:cs typeface="Arial"/>
              </a:rPr>
              <a:t>i</a:t>
            </a:r>
            <a:r>
              <a:rPr sz="1800" i="1" spc="-105" dirty="0">
                <a:latin typeface="Arial"/>
                <a:cs typeface="Arial"/>
              </a:rPr>
              <a:t>o</a:t>
            </a:r>
            <a:r>
              <a:rPr sz="1800" i="1" spc="-70" dirty="0">
                <a:latin typeface="Arial"/>
                <a:cs typeface="Arial"/>
              </a:rPr>
              <a:t>n</a:t>
            </a:r>
            <a:r>
              <a:rPr sz="1800" i="1" spc="90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7159" y="3708400"/>
            <a:ext cx="2512060" cy="36035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843915">
              <a:lnSpc>
                <a:spcPct val="100000"/>
              </a:lnSpc>
              <a:spcBef>
                <a:spcPts val="650"/>
              </a:spcBef>
            </a:pPr>
            <a:r>
              <a:rPr sz="1800" b="1" spc="105" dirty="0">
                <a:latin typeface="Arial"/>
                <a:cs typeface="Arial"/>
              </a:rPr>
              <a:t>Compte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7159" y="5148579"/>
            <a:ext cx="2588260" cy="87241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270"/>
              </a:spcBef>
            </a:pP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déposer(montant:float)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105" marR="147320">
              <a:lnSpc>
                <a:spcPct val="122700"/>
              </a:lnSpc>
              <a:spcBef>
                <a:spcPts val="10"/>
              </a:spcBef>
            </a:pP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retirer(montant:float) 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solde():float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7159" y="4140200"/>
            <a:ext cx="2512060" cy="85882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80"/>
              </a:spcBef>
            </a:pP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numéro:int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" marR="847090">
              <a:lnSpc>
                <a:spcPct val="122700"/>
              </a:lnSpc>
            </a:pPr>
            <a:r>
              <a:rPr sz="1600" spc="-204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1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9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4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7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52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600" spc="-5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1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9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3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565" dirty="0">
                <a:latin typeface="Arial" panose="020B0604020202020204" pitchFamily="34" charset="0"/>
                <a:cs typeface="Arial" panose="020B0604020202020204" pitchFamily="34" charset="0"/>
              </a:rPr>
              <a:t>e 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solde:float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39175" y="5976620"/>
            <a:ext cx="203835" cy="503555"/>
            <a:chOff x="8639175" y="5976620"/>
            <a:chExt cx="203835" cy="503555"/>
          </a:xfrm>
        </p:grpSpPr>
        <p:sp>
          <p:nvSpPr>
            <p:cNvPr id="19" name="object 19"/>
            <p:cNvSpPr/>
            <p:nvPr/>
          </p:nvSpPr>
          <p:spPr>
            <a:xfrm>
              <a:off x="8639810" y="6074410"/>
              <a:ext cx="193040" cy="405130"/>
            </a:xfrm>
            <a:custGeom>
              <a:avLst/>
              <a:gdLst/>
              <a:ahLst/>
              <a:cxnLst/>
              <a:rect l="l" t="t" r="r" b="b"/>
              <a:pathLst>
                <a:path w="193040" h="405129">
                  <a:moveTo>
                    <a:pt x="0" y="405129"/>
                  </a:moveTo>
                  <a:lnTo>
                    <a:pt x="60147" y="369267"/>
                  </a:lnTo>
                  <a:lnTo>
                    <a:pt x="106956" y="333492"/>
                  </a:lnTo>
                  <a:lnTo>
                    <a:pt x="141902" y="297894"/>
                  </a:lnTo>
                  <a:lnTo>
                    <a:pt x="166464" y="262560"/>
                  </a:lnTo>
                  <a:lnTo>
                    <a:pt x="182117" y="227579"/>
                  </a:lnTo>
                  <a:lnTo>
                    <a:pt x="192611" y="159029"/>
                  </a:lnTo>
                  <a:lnTo>
                    <a:pt x="190405" y="125635"/>
                  </a:lnTo>
                  <a:lnTo>
                    <a:pt x="185201" y="92948"/>
                  </a:lnTo>
                  <a:lnTo>
                    <a:pt x="178476" y="61054"/>
                  </a:lnTo>
                  <a:lnTo>
                    <a:pt x="171706" y="30041"/>
                  </a:lnTo>
                  <a:lnTo>
                    <a:pt x="166370" y="0"/>
                  </a:lnTo>
                </a:path>
              </a:pathLst>
            </a:custGeom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1889" y="5976620"/>
              <a:ext cx="71120" cy="113030"/>
            </a:xfrm>
            <a:custGeom>
              <a:avLst/>
              <a:gdLst/>
              <a:ahLst/>
              <a:cxnLst/>
              <a:rect l="l" t="t" r="r" b="b"/>
              <a:pathLst>
                <a:path w="71120" h="113029">
                  <a:moveTo>
                    <a:pt x="12700" y="0"/>
                  </a:moveTo>
                  <a:lnTo>
                    <a:pt x="0" y="113029"/>
                  </a:lnTo>
                  <a:lnTo>
                    <a:pt x="71119" y="96519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83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734369" y="4760180"/>
            <a:ext cx="1458595" cy="133350"/>
            <a:chOff x="4734369" y="4760180"/>
            <a:chExt cx="1458595" cy="133350"/>
          </a:xfrm>
        </p:grpSpPr>
        <p:sp>
          <p:nvSpPr>
            <p:cNvPr id="22" name="object 22"/>
            <p:cNvSpPr/>
            <p:nvPr/>
          </p:nvSpPr>
          <p:spPr>
            <a:xfrm>
              <a:off x="4752340" y="4778150"/>
              <a:ext cx="1262380" cy="82550"/>
            </a:xfrm>
            <a:custGeom>
              <a:avLst/>
              <a:gdLst/>
              <a:ahLst/>
              <a:cxnLst/>
              <a:rect l="l" t="t" r="r" b="b"/>
              <a:pathLst>
                <a:path w="1262379" h="82550">
                  <a:moveTo>
                    <a:pt x="0" y="82139"/>
                  </a:moveTo>
                  <a:lnTo>
                    <a:pt x="84346" y="65844"/>
                  </a:lnTo>
                  <a:lnTo>
                    <a:pt x="164667" y="51637"/>
                  </a:lnTo>
                  <a:lnTo>
                    <a:pt x="241120" y="39411"/>
                  </a:lnTo>
                  <a:lnTo>
                    <a:pt x="313863" y="29056"/>
                  </a:lnTo>
                  <a:lnTo>
                    <a:pt x="383052" y="20467"/>
                  </a:lnTo>
                  <a:lnTo>
                    <a:pt x="448844" y="13537"/>
                  </a:lnTo>
                  <a:lnTo>
                    <a:pt x="511397" y="8157"/>
                  </a:lnTo>
                  <a:lnTo>
                    <a:pt x="570867" y="4220"/>
                  </a:lnTo>
                  <a:lnTo>
                    <a:pt x="627411" y="1620"/>
                  </a:lnTo>
                  <a:lnTo>
                    <a:pt x="681187" y="249"/>
                  </a:lnTo>
                  <a:lnTo>
                    <a:pt x="732351" y="0"/>
                  </a:lnTo>
                  <a:lnTo>
                    <a:pt x="781061" y="764"/>
                  </a:lnTo>
                  <a:lnTo>
                    <a:pt x="827473" y="2436"/>
                  </a:lnTo>
                  <a:lnTo>
                    <a:pt x="871745" y="4908"/>
                  </a:lnTo>
                  <a:lnTo>
                    <a:pt x="914034" y="8072"/>
                  </a:lnTo>
                  <a:lnTo>
                    <a:pt x="954496" y="11822"/>
                  </a:lnTo>
                  <a:lnTo>
                    <a:pt x="993289" y="16049"/>
                  </a:lnTo>
                  <a:lnTo>
                    <a:pt x="1066495" y="25508"/>
                  </a:lnTo>
                  <a:lnTo>
                    <a:pt x="1134907" y="35592"/>
                  </a:lnTo>
                  <a:lnTo>
                    <a:pt x="1167709" y="40600"/>
                  </a:lnTo>
                  <a:lnTo>
                    <a:pt x="1199784" y="45442"/>
                  </a:lnTo>
                  <a:lnTo>
                    <a:pt x="1231288" y="50010"/>
                  </a:lnTo>
                  <a:lnTo>
                    <a:pt x="1262380" y="54199"/>
                  </a:lnTo>
                </a:path>
              </a:pathLst>
            </a:custGeom>
            <a:ln w="35941">
              <a:solidFill>
                <a:srgbClr val="569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95670" y="4768850"/>
              <a:ext cx="196850" cy="124460"/>
            </a:xfrm>
            <a:custGeom>
              <a:avLst/>
              <a:gdLst/>
              <a:ahLst/>
              <a:cxnLst/>
              <a:rect l="l" t="t" r="r" b="b"/>
              <a:pathLst>
                <a:path w="196850" h="124460">
                  <a:moveTo>
                    <a:pt x="19050" y="0"/>
                  </a:moveTo>
                  <a:lnTo>
                    <a:pt x="0" y="124460"/>
                  </a:lnTo>
                  <a:lnTo>
                    <a:pt x="196850" y="91439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569C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65370" y="4389120"/>
            <a:ext cx="131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instancesde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4</a:t>
            </a:fld>
            <a:endParaRPr spc="509" dirty="0"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CA0F607B-C139-43EF-95E0-C0B6EB7A1B15}"/>
              </a:ext>
            </a:extLst>
          </p:cNvPr>
          <p:cNvSpPr txBox="1"/>
          <p:nvPr/>
        </p:nvSpPr>
        <p:spPr>
          <a:xfrm>
            <a:off x="6014720" y="3100950"/>
            <a:ext cx="2078990" cy="2898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i="1" spc="120" dirty="0">
                <a:latin typeface="Arial"/>
                <a:cs typeface="Arial"/>
              </a:rPr>
              <a:t>Nom de la classe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B084A27F-0303-4EA9-8F9E-EEEF117D5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5" y="2950937"/>
            <a:ext cx="4476750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6090" y="384809"/>
            <a:ext cx="21005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Clas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490" y="1258570"/>
            <a:ext cx="134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Atributs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189" y="267843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8" y="1625762"/>
            <a:ext cx="8703312" cy="135235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Clr>
                <a:srgbClr val="000000"/>
              </a:buClr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Caractéristique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partagée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par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tous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les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objets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de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la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classe</a:t>
            </a:r>
            <a:endParaRPr lang="fr-FR" sz="2400" spc="-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buClr>
                <a:srgbClr val="000000"/>
              </a:buClr>
              <a:buSzPct val="43750"/>
              <a:tabLst>
                <a:tab pos="228600" algn="l"/>
              </a:tabLst>
            </a:pPr>
            <a:r>
              <a:rPr lang="fr-FR" sz="2400" dirty="0">
                <a:latin typeface="Lucida Sans Unicode"/>
                <a:cs typeface="Lucida Sans Unicode"/>
              </a:rPr>
              <a:t>  Associe à chaque objet une valeur</a:t>
            </a:r>
            <a:endParaRPr sz="2400" dirty="0">
              <a:latin typeface="Lucida Sans Unicode"/>
              <a:cs typeface="Lucida Sans Unicode"/>
            </a:endParaRPr>
          </a:p>
          <a:p>
            <a:pPr marL="228600" marR="5080">
              <a:lnSpc>
                <a:spcPct val="121900"/>
              </a:lnSpc>
            </a:pPr>
            <a:r>
              <a:rPr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Type</a:t>
            </a: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asocié</a:t>
            </a: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simple</a:t>
            </a:r>
            <a:r>
              <a:rPr sz="2400" spc="20" dirty="0">
                <a:latin typeface="Lucida Sans Unicode"/>
                <a:cs typeface="Lucida Sans Unicode"/>
              </a:rPr>
              <a:t>(int,bol...),</a:t>
            </a:r>
            <a:r>
              <a:rPr sz="2400" spc="20" dirty="0" err="1">
                <a:latin typeface="Lucida Sans Unicode"/>
                <a:cs typeface="Lucida Sans Unicode"/>
              </a:rPr>
              <a:t>primitif</a:t>
            </a:r>
            <a:r>
              <a:rPr lang="fr-FR" sz="2400" spc="20" dirty="0">
                <a:latin typeface="Lucida Sans Unicode"/>
                <a:cs typeface="Lucida Sans Unicode"/>
              </a:rPr>
              <a:t> </a:t>
            </a:r>
            <a:r>
              <a:rPr sz="2400" spc="20" dirty="0">
                <a:latin typeface="Lucida Sans Unicode"/>
                <a:cs typeface="Lucida Sans Unicode"/>
              </a:rPr>
              <a:t>(Date)</a:t>
            </a:r>
            <a:r>
              <a:rPr lang="fr-FR" sz="2400" spc="20" dirty="0">
                <a:latin typeface="Lucida Sans Unicode"/>
                <a:cs typeface="Lucida Sans Unicode"/>
              </a:rPr>
              <a:t> </a:t>
            </a:r>
            <a:r>
              <a:rPr sz="2400" spc="20" dirty="0" err="1">
                <a:latin typeface="Lucida Sans Unicode"/>
                <a:cs typeface="Lucida Sans Unicode"/>
              </a:rPr>
              <a:t>ou</a:t>
            </a:r>
            <a:r>
              <a:rPr lang="fr-FR" sz="2400" spc="20" dirty="0">
                <a:latin typeface="Lucida Sans Unicode"/>
                <a:cs typeface="Lucida Sans Unicode"/>
              </a:rPr>
              <a:t> </a:t>
            </a:r>
            <a:r>
              <a:rPr sz="2400" spc="20" dirty="0" err="1">
                <a:latin typeface="Lucida Sans Unicode"/>
                <a:cs typeface="Lucida Sans Unicode"/>
              </a:rPr>
              <a:t>énuméré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9520" y="4391659"/>
            <a:ext cx="2520950" cy="4318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848994">
              <a:lnSpc>
                <a:spcPct val="100000"/>
              </a:lnSpc>
              <a:spcBef>
                <a:spcPts val="660"/>
              </a:spcBef>
            </a:pPr>
            <a:r>
              <a:rPr sz="1800" b="1" spc="105" dirty="0">
                <a:latin typeface="Arial"/>
                <a:cs typeface="Arial"/>
              </a:rPr>
              <a:t>Compte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9520" y="5831840"/>
            <a:ext cx="2597150" cy="96039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280"/>
              </a:spcBef>
            </a:pP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déposer(montant:float)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marR="152400">
              <a:lnSpc>
                <a:spcPts val="2660"/>
              </a:lnSpc>
              <a:spcBef>
                <a:spcPts val="160"/>
              </a:spcBef>
            </a:pP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retirer(montant:float) 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solde():float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9520" y="4823459"/>
            <a:ext cx="2520950" cy="87370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80"/>
              </a:spcBef>
            </a:pP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numéro:int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" marR="857885">
              <a:lnSpc>
                <a:spcPct val="122700"/>
              </a:lnSpc>
              <a:spcBef>
                <a:spcPts val="10"/>
              </a:spcBef>
            </a:pPr>
            <a:r>
              <a:rPr sz="1600" spc="-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1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9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3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69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52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600" spc="-5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1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600" spc="-9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24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565" dirty="0">
                <a:latin typeface="Arial" panose="020B0604020202020204" pitchFamily="34" charset="0"/>
                <a:cs typeface="Arial" panose="020B0604020202020204" pitchFamily="34" charset="0"/>
              </a:rPr>
              <a:t>e 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solde:float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1430" y="4032250"/>
            <a:ext cx="1871980" cy="66813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489"/>
              </a:spcBef>
            </a:pPr>
            <a:r>
              <a:rPr sz="1800" b="1" spc="190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sz="1800" b="1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20" dirty="0">
                <a:latin typeface="Arial" panose="020B0604020202020204" pitchFamily="34" charset="0"/>
                <a:cs typeface="Arial" panose="020B0604020202020204" pitchFamily="34" charset="0"/>
              </a:rPr>
              <a:t>enumeration»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4360">
              <a:lnSpc>
                <a:spcPct val="100000"/>
              </a:lnSpc>
              <a:spcBef>
                <a:spcPts val="430"/>
              </a:spcBef>
            </a:pPr>
            <a:r>
              <a:rPr sz="1800" b="1" spc="75" dirty="0">
                <a:latin typeface="Arial" panose="020B0604020202020204" pitchFamily="34" charset="0"/>
                <a:cs typeface="Arial" panose="020B0604020202020204" pitchFamily="34" charset="0"/>
              </a:rPr>
              <a:t>Devise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31430" y="4752340"/>
            <a:ext cx="1871980" cy="132985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0170" marR="1240155" algn="just">
              <a:lnSpc>
                <a:spcPts val="2650"/>
              </a:lnSpc>
              <a:spcBef>
                <a:spcPts val="50"/>
              </a:spcBef>
            </a:pPr>
            <a:r>
              <a:rPr sz="1600" spc="9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600" spc="440" dirty="0">
                <a:latin typeface="Arial" panose="020B0604020202020204" pitchFamily="34" charset="0"/>
                <a:cs typeface="Arial" panose="020B0604020202020204" pitchFamily="34" charset="0"/>
              </a:rPr>
              <a:t>R  </a:t>
            </a:r>
            <a:r>
              <a:rPr sz="1600" spc="30" dirty="0">
                <a:latin typeface="Arial" panose="020B0604020202020204" pitchFamily="34" charset="0"/>
                <a:cs typeface="Arial" panose="020B0604020202020204" pitchFamily="34" charset="0"/>
              </a:rPr>
              <a:t>GB</a:t>
            </a:r>
            <a:r>
              <a:rPr sz="1600" spc="575" dirty="0">
                <a:latin typeface="Arial" panose="020B0604020202020204" pitchFamily="34" charset="0"/>
                <a:cs typeface="Arial" panose="020B0604020202020204" pitchFamily="34" charset="0"/>
              </a:rPr>
              <a:t>P  </a:t>
            </a:r>
            <a:r>
              <a:rPr sz="1600" spc="150" dirty="0">
                <a:latin typeface="Arial" panose="020B0604020202020204" pitchFamily="34" charset="0"/>
                <a:cs typeface="Arial" panose="020B0604020202020204" pitchFamily="34" charset="0"/>
              </a:rPr>
              <a:t>USD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">
              <a:lnSpc>
                <a:spcPct val="100000"/>
              </a:lnSpc>
              <a:spcBef>
                <a:spcPts val="330"/>
              </a:spcBef>
            </a:pPr>
            <a:r>
              <a:rPr sz="1600" spc="229" dirty="0">
                <a:latin typeface="Arial" panose="020B0604020202020204" pitchFamily="34" charset="0"/>
                <a:cs typeface="Arial" panose="020B0604020202020204" pitchFamily="34" charset="0"/>
              </a:rPr>
              <a:t>CHF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78779" y="4175759"/>
            <a:ext cx="784860" cy="1125220"/>
          </a:xfrm>
          <a:custGeom>
            <a:avLst/>
            <a:gdLst/>
            <a:ahLst/>
            <a:cxnLst/>
            <a:rect l="l" t="t" r="r" b="b"/>
            <a:pathLst>
              <a:path w="784860" h="1125220">
                <a:moveTo>
                  <a:pt x="784860" y="0"/>
                </a:moveTo>
                <a:lnTo>
                  <a:pt x="761920" y="72848"/>
                </a:lnTo>
                <a:lnTo>
                  <a:pt x="737834" y="142469"/>
                </a:lnTo>
                <a:lnTo>
                  <a:pt x="712696" y="208951"/>
                </a:lnTo>
                <a:lnTo>
                  <a:pt x="686601" y="272381"/>
                </a:lnTo>
                <a:lnTo>
                  <a:pt x="659643" y="332849"/>
                </a:lnTo>
                <a:lnTo>
                  <a:pt x="631917" y="390444"/>
                </a:lnTo>
                <a:lnTo>
                  <a:pt x="603518" y="445252"/>
                </a:lnTo>
                <a:lnTo>
                  <a:pt x="574540" y="497363"/>
                </a:lnTo>
                <a:lnTo>
                  <a:pt x="545078" y="546865"/>
                </a:lnTo>
                <a:lnTo>
                  <a:pt x="515227" y="593847"/>
                </a:lnTo>
                <a:lnTo>
                  <a:pt x="485082" y="638397"/>
                </a:lnTo>
                <a:lnTo>
                  <a:pt x="454736" y="680603"/>
                </a:lnTo>
                <a:lnTo>
                  <a:pt x="424285" y="720554"/>
                </a:lnTo>
                <a:lnTo>
                  <a:pt x="393823" y="758338"/>
                </a:lnTo>
                <a:lnTo>
                  <a:pt x="363446" y="794044"/>
                </a:lnTo>
                <a:lnTo>
                  <a:pt x="333247" y="827761"/>
                </a:lnTo>
                <a:lnTo>
                  <a:pt x="303322" y="859575"/>
                </a:lnTo>
                <a:lnTo>
                  <a:pt x="273764" y="889577"/>
                </a:lnTo>
                <a:lnTo>
                  <a:pt x="244670" y="917854"/>
                </a:lnTo>
                <a:lnTo>
                  <a:pt x="216132" y="944494"/>
                </a:lnTo>
                <a:lnTo>
                  <a:pt x="161109" y="993221"/>
                </a:lnTo>
                <a:lnTo>
                  <a:pt x="109450" y="1036463"/>
                </a:lnTo>
                <a:lnTo>
                  <a:pt x="61915" y="1074929"/>
                </a:lnTo>
                <a:lnTo>
                  <a:pt x="39930" y="1092592"/>
                </a:lnTo>
                <a:lnTo>
                  <a:pt x="19260" y="1109326"/>
                </a:lnTo>
                <a:lnTo>
                  <a:pt x="0" y="1125220"/>
                </a:lnTo>
              </a:path>
            </a:pathLst>
          </a:custGeom>
          <a:ln w="3175">
            <a:solidFill>
              <a:srgbClr val="0083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00040" y="5269229"/>
            <a:ext cx="106680" cy="95250"/>
          </a:xfrm>
          <a:custGeom>
            <a:avLst/>
            <a:gdLst/>
            <a:ahLst/>
            <a:cxnLst/>
            <a:rect l="l" t="t" r="r" b="b"/>
            <a:pathLst>
              <a:path w="106679" h="95250">
                <a:moveTo>
                  <a:pt x="62230" y="0"/>
                </a:moveTo>
                <a:lnTo>
                  <a:pt x="0" y="95250"/>
                </a:lnTo>
                <a:lnTo>
                  <a:pt x="106680" y="55880"/>
                </a:lnTo>
                <a:lnTo>
                  <a:pt x="62230" y="0"/>
                </a:lnTo>
                <a:close/>
              </a:path>
            </a:pathLst>
          </a:custGeom>
          <a:solidFill>
            <a:srgbClr val="0083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83909" y="3463290"/>
            <a:ext cx="1692275" cy="69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100"/>
              </a:spcBef>
            </a:pPr>
            <a:r>
              <a:rPr sz="1800" i="1" spc="50" dirty="0">
                <a:solidFill>
                  <a:srgbClr val="0083D0"/>
                </a:solidFill>
                <a:latin typeface="Arial"/>
                <a:cs typeface="Arial"/>
              </a:rPr>
              <a:t>typeénuméré </a:t>
            </a:r>
            <a:r>
              <a:rPr sz="1800" i="1" spc="55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spc="100" dirty="0">
                <a:solidFill>
                  <a:srgbClr val="0083D0"/>
                </a:solidFill>
                <a:latin typeface="Arial"/>
                <a:cs typeface="Arial"/>
              </a:rPr>
              <a:t>(</a:t>
            </a:r>
            <a:r>
              <a:rPr sz="1800" i="1" spc="-70" dirty="0">
                <a:solidFill>
                  <a:srgbClr val="0083D0"/>
                </a:solidFill>
                <a:latin typeface="Arial"/>
                <a:cs typeface="Arial"/>
              </a:rPr>
              <a:t>p</a:t>
            </a:r>
            <a:r>
              <a:rPr sz="1800" i="1" spc="-145" dirty="0">
                <a:solidFill>
                  <a:srgbClr val="0083D0"/>
                </a:solidFill>
                <a:latin typeface="Arial"/>
                <a:cs typeface="Arial"/>
              </a:rPr>
              <a:t>a</a:t>
            </a:r>
            <a:r>
              <a:rPr sz="1800" i="1" spc="385" dirty="0">
                <a:solidFill>
                  <a:srgbClr val="0083D0"/>
                </a:solidFill>
                <a:latin typeface="Arial"/>
                <a:cs typeface="Arial"/>
              </a:rPr>
              <a:t>s</a:t>
            </a:r>
            <a:r>
              <a:rPr sz="1800" i="1" spc="-75" dirty="0">
                <a:solidFill>
                  <a:srgbClr val="0083D0"/>
                </a:solidFill>
                <a:latin typeface="Arial"/>
                <a:cs typeface="Arial"/>
              </a:rPr>
              <a:t>u</a:t>
            </a:r>
            <a:r>
              <a:rPr sz="1800" i="1" spc="-70" dirty="0">
                <a:solidFill>
                  <a:srgbClr val="0083D0"/>
                </a:solidFill>
                <a:latin typeface="Arial"/>
                <a:cs typeface="Arial"/>
              </a:rPr>
              <a:t>n</a:t>
            </a:r>
            <a:r>
              <a:rPr sz="1800" i="1" spc="390" dirty="0">
                <a:solidFill>
                  <a:srgbClr val="0083D0"/>
                </a:solidFill>
                <a:latin typeface="Arial"/>
                <a:cs typeface="Arial"/>
              </a:rPr>
              <a:t>e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c</a:t>
            </a:r>
            <a:r>
              <a:rPr sz="1800" i="1" spc="35" dirty="0">
                <a:solidFill>
                  <a:srgbClr val="0083D0"/>
                </a:solidFill>
                <a:latin typeface="Arial"/>
                <a:cs typeface="Arial"/>
              </a:rPr>
              <a:t>l</a:t>
            </a:r>
            <a:r>
              <a:rPr sz="1800" i="1" spc="-145" dirty="0">
                <a:solidFill>
                  <a:srgbClr val="0083D0"/>
                </a:solidFill>
                <a:latin typeface="Arial"/>
                <a:cs typeface="Arial"/>
              </a:rPr>
              <a:t>a</a:t>
            </a:r>
            <a:r>
              <a:rPr sz="1800" i="1" spc="465" dirty="0">
                <a:solidFill>
                  <a:srgbClr val="0083D0"/>
                </a:solidFill>
                <a:latin typeface="Arial"/>
                <a:cs typeface="Arial"/>
              </a:rPr>
              <a:t>s</a:t>
            </a:r>
            <a:r>
              <a:rPr sz="1800" i="1" spc="-210" dirty="0">
                <a:solidFill>
                  <a:srgbClr val="0083D0"/>
                </a:solidFill>
                <a:latin typeface="Arial"/>
                <a:cs typeface="Arial"/>
              </a:rPr>
              <a:t>e</a:t>
            </a:r>
            <a:r>
              <a:rPr sz="1800" i="1" spc="1200" dirty="0">
                <a:solidFill>
                  <a:srgbClr val="0083D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67194" y="4175125"/>
            <a:ext cx="793115" cy="390525"/>
            <a:chOff x="6767194" y="4175125"/>
            <a:chExt cx="793115" cy="390525"/>
          </a:xfrm>
        </p:grpSpPr>
        <p:sp>
          <p:nvSpPr>
            <p:cNvPr id="16" name="object 16"/>
            <p:cNvSpPr/>
            <p:nvPr/>
          </p:nvSpPr>
          <p:spPr>
            <a:xfrm>
              <a:off x="6767829" y="4175760"/>
              <a:ext cx="693420" cy="354330"/>
            </a:xfrm>
            <a:custGeom>
              <a:avLst/>
              <a:gdLst/>
              <a:ahLst/>
              <a:cxnLst/>
              <a:rect l="l" t="t" r="r" b="b"/>
              <a:pathLst>
                <a:path w="693420" h="354329">
                  <a:moveTo>
                    <a:pt x="0" y="0"/>
                  </a:moveTo>
                  <a:lnTo>
                    <a:pt x="26062" y="56645"/>
                  </a:lnTo>
                  <a:lnTo>
                    <a:pt x="55723" y="106643"/>
                  </a:lnTo>
                  <a:lnTo>
                    <a:pt x="88582" y="150424"/>
                  </a:lnTo>
                  <a:lnTo>
                    <a:pt x="124240" y="188419"/>
                  </a:lnTo>
                  <a:lnTo>
                    <a:pt x="162297" y="221061"/>
                  </a:lnTo>
                  <a:lnTo>
                    <a:pt x="202353" y="248778"/>
                  </a:lnTo>
                  <a:lnTo>
                    <a:pt x="244008" y="272004"/>
                  </a:lnTo>
                  <a:lnTo>
                    <a:pt x="286863" y="291169"/>
                  </a:lnTo>
                  <a:lnTo>
                    <a:pt x="330517" y="306704"/>
                  </a:lnTo>
                  <a:lnTo>
                    <a:pt x="374571" y="319041"/>
                  </a:lnTo>
                  <a:lnTo>
                    <a:pt x="418625" y="328611"/>
                  </a:lnTo>
                  <a:lnTo>
                    <a:pt x="462279" y="335844"/>
                  </a:lnTo>
                  <a:lnTo>
                    <a:pt x="505134" y="341172"/>
                  </a:lnTo>
                  <a:lnTo>
                    <a:pt x="546789" y="345027"/>
                  </a:lnTo>
                  <a:lnTo>
                    <a:pt x="586845" y="347838"/>
                  </a:lnTo>
                  <a:lnTo>
                    <a:pt x="624902" y="350039"/>
                  </a:lnTo>
                  <a:lnTo>
                    <a:pt x="660560" y="352059"/>
                  </a:lnTo>
                  <a:lnTo>
                    <a:pt x="693420" y="3543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49819" y="4494529"/>
              <a:ext cx="110489" cy="71120"/>
            </a:xfrm>
            <a:custGeom>
              <a:avLst/>
              <a:gdLst/>
              <a:ahLst/>
              <a:cxnLst/>
              <a:rect l="l" t="t" r="r" b="b"/>
              <a:pathLst>
                <a:path w="110490" h="71120">
                  <a:moveTo>
                    <a:pt x="3809" y="0"/>
                  </a:moveTo>
                  <a:lnTo>
                    <a:pt x="0" y="71120"/>
                  </a:lnTo>
                  <a:lnTo>
                    <a:pt x="110489" y="41910"/>
                  </a:lnTo>
                  <a:lnTo>
                    <a:pt x="380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82239" y="5152390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atributs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00450" y="4823459"/>
            <a:ext cx="143510" cy="1008380"/>
          </a:xfrm>
          <a:custGeom>
            <a:avLst/>
            <a:gdLst/>
            <a:ahLst/>
            <a:cxnLst/>
            <a:rect l="l" t="t" r="r" b="b"/>
            <a:pathLst>
              <a:path w="143510" h="1008379">
                <a:moveTo>
                  <a:pt x="143510" y="0"/>
                </a:moveTo>
                <a:lnTo>
                  <a:pt x="102026" y="21664"/>
                </a:lnTo>
                <a:lnTo>
                  <a:pt x="80724" y="78779"/>
                </a:lnTo>
                <a:lnTo>
                  <a:pt x="75538" y="116938"/>
                </a:lnTo>
                <a:lnTo>
                  <a:pt x="72876" y="159528"/>
                </a:lnTo>
                <a:lnTo>
                  <a:pt x="71895" y="205073"/>
                </a:lnTo>
                <a:lnTo>
                  <a:pt x="71755" y="252094"/>
                </a:lnTo>
                <a:lnTo>
                  <a:pt x="71614" y="299116"/>
                </a:lnTo>
                <a:lnTo>
                  <a:pt x="70633" y="344661"/>
                </a:lnTo>
                <a:lnTo>
                  <a:pt x="67971" y="387251"/>
                </a:lnTo>
                <a:lnTo>
                  <a:pt x="62785" y="425410"/>
                </a:lnTo>
                <a:lnTo>
                  <a:pt x="41483" y="482525"/>
                </a:lnTo>
                <a:lnTo>
                  <a:pt x="23684" y="498527"/>
                </a:lnTo>
                <a:lnTo>
                  <a:pt x="0" y="504189"/>
                </a:lnTo>
              </a:path>
              <a:path w="143510" h="1008379">
                <a:moveTo>
                  <a:pt x="0" y="504189"/>
                </a:moveTo>
                <a:lnTo>
                  <a:pt x="41483" y="525854"/>
                </a:lnTo>
                <a:lnTo>
                  <a:pt x="62785" y="582969"/>
                </a:lnTo>
                <a:lnTo>
                  <a:pt x="67971" y="621128"/>
                </a:lnTo>
                <a:lnTo>
                  <a:pt x="70633" y="663718"/>
                </a:lnTo>
                <a:lnTo>
                  <a:pt x="71614" y="709263"/>
                </a:lnTo>
                <a:lnTo>
                  <a:pt x="71754" y="756284"/>
                </a:lnTo>
                <a:lnTo>
                  <a:pt x="71895" y="803306"/>
                </a:lnTo>
                <a:lnTo>
                  <a:pt x="72876" y="848851"/>
                </a:lnTo>
                <a:lnTo>
                  <a:pt x="75538" y="891441"/>
                </a:lnTo>
                <a:lnTo>
                  <a:pt x="80724" y="929600"/>
                </a:lnTo>
                <a:lnTo>
                  <a:pt x="102026" y="986715"/>
                </a:lnTo>
                <a:lnTo>
                  <a:pt x="119825" y="1002717"/>
                </a:lnTo>
                <a:lnTo>
                  <a:pt x="143510" y="1008379"/>
                </a:lnTo>
              </a:path>
            </a:pathLst>
          </a:custGeom>
          <a:ln w="3175">
            <a:solidFill>
              <a:srgbClr val="0083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5</a:t>
            </a:fld>
            <a:endParaRPr spc="50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72930" y="7145019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9" dirty="0">
                <a:solidFill>
                  <a:srgbClr val="7F7F7F"/>
                </a:solidFill>
                <a:latin typeface="Lucida Sans Unicode"/>
                <a:cs typeface="Lucida Sans Unicode"/>
              </a:rPr>
              <a:t>6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76090" y="384809"/>
            <a:ext cx="21374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Clas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1490" y="1258570"/>
            <a:ext cx="134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lang="fr-FR" sz="2400" dirty="0">
                <a:latin typeface="Lucida Sans Unicode"/>
                <a:cs typeface="Lucida Sans Unicode"/>
              </a:rPr>
              <a:t>t</a:t>
            </a:r>
            <a:r>
              <a:rPr sz="2400" dirty="0" err="1">
                <a:latin typeface="Lucida Sans Unicode"/>
                <a:cs typeface="Lucida Sans Unicode"/>
              </a:rPr>
              <a:t>tributs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9" y="267843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9188" y="1625599"/>
            <a:ext cx="8703311" cy="136271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Clr>
                <a:srgbClr val="000000"/>
              </a:buClr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Caractéristique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partagée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par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tous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les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objets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de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la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classe</a:t>
            </a:r>
            <a:endParaRPr lang="fr-FR" sz="2400" dirty="0">
              <a:latin typeface="Lucida Sans Unicode"/>
              <a:cs typeface="Lucida Sans Unicode"/>
            </a:endParaRPr>
          </a:p>
          <a:p>
            <a:pPr marL="228600" marR="5080">
              <a:lnSpc>
                <a:spcPct val="121900"/>
              </a:lnSpc>
            </a:pPr>
            <a:r>
              <a:rPr lang="fr-FR" sz="2400" spc="-15" dirty="0">
                <a:latin typeface="Lucida Sans Unicode"/>
                <a:cs typeface="Lucida Sans Unicode"/>
              </a:rPr>
              <a:t>Associe à chaque objet une 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valeur </a:t>
            </a:r>
            <a:r>
              <a:rPr lang="fr-FR" sz="2400" spc="-1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</a:p>
          <a:p>
            <a:pPr marL="228600" marR="5080">
              <a:lnSpc>
                <a:spcPct val="121900"/>
              </a:lnSpc>
            </a:pP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2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ype</a:t>
            </a: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as</a:t>
            </a: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2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ocié</a:t>
            </a:r>
            <a:r>
              <a:rPr lang="fr-FR"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simple</a:t>
            </a:r>
            <a:r>
              <a:rPr sz="2400" spc="20" dirty="0">
                <a:latin typeface="Lucida Sans Unicode"/>
                <a:cs typeface="Lucida Sans Unicode"/>
              </a:rPr>
              <a:t>(int,bol...),primitif(Date)o</a:t>
            </a:r>
            <a:r>
              <a:rPr lang="fr-FR" sz="2400" spc="20" dirty="0">
                <a:latin typeface="Lucida Sans Unicode"/>
                <a:cs typeface="Lucida Sans Unicode"/>
              </a:rPr>
              <a:t>u </a:t>
            </a:r>
            <a:r>
              <a:rPr sz="2400" spc="20" dirty="0" err="1">
                <a:latin typeface="Lucida Sans Unicode"/>
                <a:cs typeface="Lucida Sans Unicode"/>
              </a:rPr>
              <a:t>énuméré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490" y="3408679"/>
            <a:ext cx="9351010" cy="1356782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2400" spc="7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Valeur</a:t>
            </a:r>
            <a:r>
              <a:rPr lang="fr-FR" sz="2400" spc="7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des</a:t>
            </a:r>
            <a:r>
              <a:rPr lang="fr-FR" sz="2400" spc="7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atributs</a:t>
            </a:r>
            <a:r>
              <a:rPr sz="2400" spc="70" dirty="0">
                <a:latin typeface="Lucida Sans Unicode"/>
                <a:cs typeface="Lucida Sans Unicode"/>
              </a:rPr>
              <a:t>:</a:t>
            </a:r>
            <a:r>
              <a:rPr lang="fr-FR" sz="2400" spc="70" dirty="0"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569C1B"/>
                </a:solidFill>
                <a:latin typeface="Lucida Sans Unicode"/>
                <a:cs typeface="Lucida Sans Unicode"/>
              </a:rPr>
              <a:t>État</a:t>
            </a:r>
            <a:r>
              <a:rPr lang="fr-FR" sz="2400" spc="7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latin typeface="Lucida Sans Unicode"/>
                <a:cs typeface="Lucida Sans Unicode"/>
              </a:rPr>
              <a:t>de</a:t>
            </a:r>
            <a:r>
              <a:rPr lang="fr-FR" sz="2400" spc="70" dirty="0">
                <a:latin typeface="Lucida Sans Unicode"/>
                <a:cs typeface="Lucida Sans Unicode"/>
              </a:rPr>
              <a:t> </a:t>
            </a:r>
            <a:r>
              <a:rPr sz="2400" spc="70" dirty="0" err="1">
                <a:latin typeface="Lucida Sans Unicode"/>
                <a:cs typeface="Lucida Sans Unicode"/>
              </a:rPr>
              <a:t>l'objet</a:t>
            </a:r>
            <a:endParaRPr sz="2400" dirty="0">
              <a:latin typeface="Lucida Sans Unicode"/>
              <a:cs typeface="Lucida Sans Unicode"/>
            </a:endParaRPr>
          </a:p>
          <a:p>
            <a:pPr marL="901700" indent="-215900">
              <a:lnSpc>
                <a:spcPct val="100000"/>
              </a:lnSpc>
              <a:spcBef>
                <a:spcPts val="640"/>
              </a:spcBef>
              <a:buSzPct val="43750"/>
              <a:buFont typeface="Trebuchet MS"/>
              <a:buChar char="●"/>
              <a:tabLst>
                <a:tab pos="901700" algn="l"/>
              </a:tabLst>
            </a:pPr>
            <a:r>
              <a:rPr sz="2400" spc="-120" dirty="0" err="1">
                <a:latin typeface="Lucida Sans Unicode"/>
                <a:cs typeface="Lucida Sans Unicode"/>
              </a:rPr>
              <a:t>Objets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latin typeface="Lucida Sans Unicode"/>
                <a:cs typeface="Lucida Sans Unicode"/>
              </a:rPr>
              <a:t>différents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>
                <a:latin typeface="Lucida Sans Unicode"/>
                <a:cs typeface="Lucida Sans Unicode"/>
              </a:rPr>
              <a:t>(</a:t>
            </a:r>
            <a:r>
              <a:rPr sz="2400" spc="-120" dirty="0" err="1">
                <a:latin typeface="Lucida Sans Unicode"/>
                <a:cs typeface="Lucida Sans Unicode"/>
              </a:rPr>
              <a:t>identités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latin typeface="Lucida Sans Unicode"/>
                <a:cs typeface="Lucida Sans Unicode"/>
              </a:rPr>
              <a:t>différentes</a:t>
            </a:r>
            <a:r>
              <a:rPr sz="2400" spc="-120" dirty="0">
                <a:latin typeface="Lucida Sans Unicode"/>
                <a:cs typeface="Lucida Sans Unicode"/>
              </a:rPr>
              <a:t>)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latin typeface="Lucida Sans Unicode"/>
                <a:cs typeface="Lucida Sans Unicode"/>
              </a:rPr>
              <a:t>peuvent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latin typeface="Lucida Sans Unicode"/>
                <a:cs typeface="Lucida Sans Unicode"/>
              </a:rPr>
              <a:t>avoir</a:t>
            </a:r>
            <a:r>
              <a:rPr lang="fr-FR" sz="2400" spc="-120" dirty="0">
                <a:latin typeface="Lucida Sans Unicode"/>
                <a:cs typeface="Lucida Sans Unicode"/>
              </a:rPr>
              <a:t> </a:t>
            </a:r>
            <a:r>
              <a:rPr sz="2400" spc="-120" dirty="0" err="1">
                <a:latin typeface="Lucida Sans Unicode"/>
                <a:cs typeface="Lucida Sans Unicode"/>
              </a:rPr>
              <a:t>mêmes</a:t>
            </a:r>
            <a:endParaRPr sz="2400" dirty="0">
              <a:latin typeface="Lucida Sans Unicode"/>
              <a:cs typeface="Lucida Sans Unicode"/>
            </a:endParaRPr>
          </a:p>
          <a:p>
            <a:pPr marL="901700">
              <a:lnSpc>
                <a:spcPct val="100000"/>
              </a:lnSpc>
              <a:spcBef>
                <a:spcPts val="630"/>
              </a:spcBef>
            </a:pPr>
            <a:r>
              <a:rPr sz="2400" spc="120" dirty="0">
                <a:latin typeface="Lucida Sans Unicode"/>
                <a:cs typeface="Lucida Sans Unicode"/>
              </a:rPr>
              <a:t>atributs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9589" y="5040629"/>
            <a:ext cx="2556510" cy="4318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650"/>
              </a:spcBef>
            </a:pPr>
            <a:r>
              <a:rPr sz="1800" b="1" u="heavy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Jean1:Personne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9589" y="5472429"/>
            <a:ext cx="2556510" cy="1007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114" dirty="0">
                <a:latin typeface="Lucida Sans Unicode"/>
                <a:cs typeface="Lucida Sans Unicode"/>
              </a:rPr>
              <a:t>m</a:t>
            </a:r>
            <a:r>
              <a:rPr sz="1800" spc="-345" dirty="0">
                <a:latin typeface="Lucida Sans Unicode"/>
                <a:cs typeface="Lucida Sans Unicode"/>
              </a:rPr>
              <a:t> 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7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"</a:t>
            </a:r>
            <a:r>
              <a:rPr sz="1800" spc="-60" dirty="0">
                <a:latin typeface="Lucida Sans Unicode"/>
                <a:cs typeface="Lucida Sans Unicode"/>
              </a:rPr>
              <a:t>D</a:t>
            </a:r>
            <a:r>
              <a:rPr sz="1800" spc="-185" dirty="0">
                <a:latin typeface="Lucida Sans Unicode"/>
                <a:cs typeface="Lucida Sans Unicode"/>
              </a:rPr>
              <a:t>u</a:t>
            </a:r>
            <a:r>
              <a:rPr sz="1800" spc="-150" dirty="0">
                <a:latin typeface="Lucida Sans Unicode"/>
                <a:cs typeface="Lucida Sans Unicode"/>
              </a:rPr>
              <a:t>p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30" dirty="0">
                <a:latin typeface="Lucida Sans Unicode"/>
                <a:cs typeface="Lucida Sans Unicode"/>
              </a:rPr>
              <a:t>t</a:t>
            </a:r>
            <a:r>
              <a:rPr sz="1800" spc="1125" dirty="0">
                <a:latin typeface="Lucida Sans Unicode"/>
                <a:cs typeface="Lucida Sans Unicode"/>
              </a:rPr>
              <a:t>"</a:t>
            </a:r>
            <a:endParaRPr sz="1800">
              <a:latin typeface="Lucida Sans Unicode"/>
              <a:cs typeface="Lucida Sans Unicode"/>
            </a:endParaRPr>
          </a:p>
          <a:p>
            <a:pPr marL="90170" marR="95885">
              <a:lnSpc>
                <a:spcPct val="122700"/>
              </a:lnSpc>
              <a:spcBef>
                <a:spcPts val="10"/>
              </a:spcBef>
            </a:pPr>
            <a:r>
              <a:rPr sz="1800" spc="-254" dirty="0">
                <a:latin typeface="Lucida Sans Unicode"/>
                <a:cs typeface="Lucida Sans Unicode"/>
              </a:rPr>
              <a:t>p</a:t>
            </a:r>
            <a:r>
              <a:rPr sz="1800" spc="-130" dirty="0">
                <a:latin typeface="Lucida Sans Unicode"/>
                <a:cs typeface="Lucida Sans Unicode"/>
              </a:rPr>
              <a:t>r</a:t>
            </a:r>
            <a:r>
              <a:rPr sz="1800" spc="-200" dirty="0">
                <a:latin typeface="Lucida Sans Unicode"/>
                <a:cs typeface="Lucida Sans Unicode"/>
              </a:rPr>
              <a:t>é</a:t>
            </a: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114" dirty="0">
                <a:latin typeface="Lucida Sans Unicode"/>
                <a:cs typeface="Lucida Sans Unicode"/>
              </a:rPr>
              <a:t>m</a:t>
            </a:r>
            <a:r>
              <a:rPr sz="1800" spc="-345" dirty="0">
                <a:latin typeface="Lucida Sans Unicode"/>
                <a:cs typeface="Lucida Sans Unicode"/>
              </a:rPr>
              <a:t> 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7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"</a:t>
            </a:r>
            <a:r>
              <a:rPr sz="1800" spc="285" dirty="0">
                <a:latin typeface="Lucida Sans Unicode"/>
                <a:cs typeface="Lucida Sans Unicode"/>
              </a:rPr>
              <a:t>J</a:t>
            </a:r>
            <a:r>
              <a:rPr sz="1800" spc="-200" dirty="0">
                <a:latin typeface="Lucida Sans Unicode"/>
                <a:cs typeface="Lucida Sans Unicode"/>
              </a:rPr>
              <a:t>e</a:t>
            </a:r>
            <a:r>
              <a:rPr sz="1800" spc="-135" dirty="0">
                <a:latin typeface="Lucida Sans Unicode"/>
                <a:cs typeface="Lucida Sans Unicode"/>
              </a:rPr>
              <a:t>a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1010" dirty="0">
                <a:latin typeface="Lucida Sans Unicode"/>
                <a:cs typeface="Lucida Sans Unicode"/>
              </a:rPr>
              <a:t>"  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-135" dirty="0">
                <a:latin typeface="Lucida Sans Unicode"/>
                <a:cs typeface="Lucida Sans Unicode"/>
              </a:rPr>
              <a:t>a</a:t>
            </a:r>
            <a:r>
              <a:rPr sz="1800" spc="-95" dirty="0">
                <a:latin typeface="Lucida Sans Unicode"/>
                <a:cs typeface="Lucida Sans Unicode"/>
              </a:rPr>
              <a:t>i</a:t>
            </a:r>
            <a:r>
              <a:rPr sz="1800" spc="-235" dirty="0">
                <a:latin typeface="Lucida Sans Unicode"/>
                <a:cs typeface="Lucida Sans Unicode"/>
              </a:rPr>
              <a:t>s</a:t>
            </a:r>
            <a:r>
              <a:rPr sz="1800" spc="-240" dirty="0">
                <a:latin typeface="Lucida Sans Unicode"/>
                <a:cs typeface="Lucida Sans Unicode"/>
              </a:rPr>
              <a:t>s</a:t>
            </a:r>
            <a:r>
              <a:rPr sz="1800" spc="-130" dirty="0">
                <a:latin typeface="Lucida Sans Unicode"/>
                <a:cs typeface="Lucida Sans Unicode"/>
              </a:rPr>
              <a:t>a</a:t>
            </a: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120" dirty="0">
                <a:latin typeface="Lucida Sans Unicode"/>
                <a:cs typeface="Lucida Sans Unicode"/>
              </a:rPr>
              <a:t>c</a:t>
            </a:r>
            <a:r>
              <a:rPr sz="1800" spc="390" dirty="0">
                <a:latin typeface="Lucida Sans Unicode"/>
                <a:cs typeface="Lucida Sans Unicode"/>
              </a:rPr>
              <a:t>e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70" dirty="0">
                <a:latin typeface="Lucida Sans Unicode"/>
                <a:cs typeface="Lucida Sans Unicode"/>
              </a:rPr>
              <a:t> </a:t>
            </a:r>
            <a:r>
              <a:rPr sz="1800" spc="-200" dirty="0">
                <a:latin typeface="Lucida Sans Unicode"/>
                <a:cs typeface="Lucida Sans Unicode"/>
              </a:rPr>
              <a:t>10/07/1985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23890" y="5040629"/>
            <a:ext cx="2556510" cy="4318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650"/>
              </a:spcBef>
            </a:pPr>
            <a:r>
              <a:rPr sz="1800" b="1" u="heavy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Jean2:Personne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3890" y="5472429"/>
            <a:ext cx="2556510" cy="1007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204" dirty="0">
                <a:latin typeface="Lucida Sans Unicode"/>
                <a:cs typeface="Lucida Sans Unicode"/>
              </a:rPr>
              <a:t>o</a:t>
            </a:r>
            <a:r>
              <a:rPr sz="1800" spc="114" dirty="0">
                <a:latin typeface="Lucida Sans Unicode"/>
                <a:cs typeface="Lucida Sans Unicode"/>
              </a:rPr>
              <a:t>m</a:t>
            </a:r>
            <a:r>
              <a:rPr sz="1800" spc="-350" dirty="0">
                <a:latin typeface="Lucida Sans Unicode"/>
                <a:cs typeface="Lucida Sans Unicode"/>
              </a:rPr>
              <a:t> 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65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"</a:t>
            </a:r>
            <a:r>
              <a:rPr sz="1800" spc="-60" dirty="0">
                <a:latin typeface="Lucida Sans Unicode"/>
                <a:cs typeface="Lucida Sans Unicode"/>
              </a:rPr>
              <a:t>D</a:t>
            </a:r>
            <a:r>
              <a:rPr sz="1800" spc="-185" dirty="0">
                <a:latin typeface="Lucida Sans Unicode"/>
                <a:cs typeface="Lucida Sans Unicode"/>
              </a:rPr>
              <a:t>u</a:t>
            </a:r>
            <a:r>
              <a:rPr sz="1800" spc="-160" dirty="0">
                <a:latin typeface="Lucida Sans Unicode"/>
                <a:cs typeface="Lucida Sans Unicode"/>
              </a:rPr>
              <a:t>p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-30" dirty="0">
                <a:latin typeface="Lucida Sans Unicode"/>
                <a:cs typeface="Lucida Sans Unicode"/>
              </a:rPr>
              <a:t>t</a:t>
            </a:r>
            <a:r>
              <a:rPr sz="1800" spc="1125" dirty="0">
                <a:latin typeface="Lucida Sans Unicode"/>
                <a:cs typeface="Lucida Sans Unicode"/>
              </a:rPr>
              <a:t>"</a:t>
            </a:r>
            <a:endParaRPr sz="1800">
              <a:latin typeface="Lucida Sans Unicode"/>
              <a:cs typeface="Lucida Sans Unicode"/>
            </a:endParaRPr>
          </a:p>
          <a:p>
            <a:pPr marL="90170" marR="95885">
              <a:lnSpc>
                <a:spcPct val="122700"/>
              </a:lnSpc>
              <a:spcBef>
                <a:spcPts val="10"/>
              </a:spcBef>
            </a:pPr>
            <a:r>
              <a:rPr sz="1800" spc="-254" dirty="0">
                <a:latin typeface="Lucida Sans Unicode"/>
                <a:cs typeface="Lucida Sans Unicode"/>
              </a:rPr>
              <a:t>p</a:t>
            </a:r>
            <a:r>
              <a:rPr sz="1800" spc="-130" dirty="0">
                <a:latin typeface="Lucida Sans Unicode"/>
                <a:cs typeface="Lucida Sans Unicode"/>
              </a:rPr>
              <a:t>r</a:t>
            </a:r>
            <a:r>
              <a:rPr sz="1800" spc="-210" dirty="0">
                <a:latin typeface="Lucida Sans Unicode"/>
                <a:cs typeface="Lucida Sans Unicode"/>
              </a:rPr>
              <a:t>é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-210" dirty="0">
                <a:latin typeface="Lucida Sans Unicode"/>
                <a:cs typeface="Lucida Sans Unicode"/>
              </a:rPr>
              <a:t>o</a:t>
            </a:r>
            <a:r>
              <a:rPr sz="1800" spc="114" dirty="0">
                <a:latin typeface="Lucida Sans Unicode"/>
                <a:cs typeface="Lucida Sans Unicode"/>
              </a:rPr>
              <a:t>m</a:t>
            </a:r>
            <a:r>
              <a:rPr sz="1800" spc="-345" dirty="0">
                <a:latin typeface="Lucida Sans Unicode"/>
                <a:cs typeface="Lucida Sans Unicode"/>
              </a:rPr>
              <a:t> 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7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"</a:t>
            </a:r>
            <a:r>
              <a:rPr sz="1800" spc="285" dirty="0">
                <a:latin typeface="Lucida Sans Unicode"/>
                <a:cs typeface="Lucida Sans Unicode"/>
              </a:rPr>
              <a:t>J</a:t>
            </a:r>
            <a:r>
              <a:rPr sz="1800" spc="-200" dirty="0">
                <a:latin typeface="Lucida Sans Unicode"/>
                <a:cs typeface="Lucida Sans Unicode"/>
              </a:rPr>
              <a:t>e</a:t>
            </a:r>
            <a:r>
              <a:rPr sz="1800" spc="-135" dirty="0">
                <a:latin typeface="Lucida Sans Unicode"/>
                <a:cs typeface="Lucida Sans Unicode"/>
              </a:rPr>
              <a:t>a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1010" dirty="0">
                <a:latin typeface="Lucida Sans Unicode"/>
                <a:cs typeface="Lucida Sans Unicode"/>
              </a:rPr>
              <a:t>"  </a:t>
            </a:r>
            <a:r>
              <a:rPr sz="1800" spc="-190" dirty="0">
                <a:latin typeface="Lucida Sans Unicode"/>
                <a:cs typeface="Lucida Sans Unicode"/>
              </a:rPr>
              <a:t>n</a:t>
            </a:r>
            <a:r>
              <a:rPr sz="1800" spc="-130" dirty="0">
                <a:latin typeface="Lucida Sans Unicode"/>
                <a:cs typeface="Lucida Sans Unicode"/>
              </a:rPr>
              <a:t>a</a:t>
            </a:r>
            <a:r>
              <a:rPr sz="1800" spc="-95" dirty="0">
                <a:latin typeface="Lucida Sans Unicode"/>
                <a:cs typeface="Lucida Sans Unicode"/>
              </a:rPr>
              <a:t>i</a:t>
            </a:r>
            <a:r>
              <a:rPr sz="1800" spc="-235" dirty="0">
                <a:latin typeface="Lucida Sans Unicode"/>
                <a:cs typeface="Lucida Sans Unicode"/>
              </a:rPr>
              <a:t>s</a:t>
            </a:r>
            <a:r>
              <a:rPr sz="1800" spc="-240" dirty="0">
                <a:latin typeface="Lucida Sans Unicode"/>
                <a:cs typeface="Lucida Sans Unicode"/>
              </a:rPr>
              <a:t>s</a:t>
            </a:r>
            <a:r>
              <a:rPr sz="1800" spc="-135" dirty="0">
                <a:latin typeface="Lucida Sans Unicode"/>
                <a:cs typeface="Lucida Sans Unicode"/>
              </a:rPr>
              <a:t>a</a:t>
            </a:r>
            <a:r>
              <a:rPr sz="1800" spc="-185" dirty="0">
                <a:latin typeface="Lucida Sans Unicode"/>
                <a:cs typeface="Lucida Sans Unicode"/>
              </a:rPr>
              <a:t>n</a:t>
            </a:r>
            <a:r>
              <a:rPr sz="1800" spc="-204" dirty="0">
                <a:latin typeface="Lucida Sans Unicode"/>
                <a:cs typeface="Lucida Sans Unicode"/>
              </a:rPr>
              <a:t>c</a:t>
            </a:r>
            <a:r>
              <a:rPr sz="1800" spc="475" dirty="0">
                <a:latin typeface="Lucida Sans Unicode"/>
                <a:cs typeface="Lucida Sans Unicode"/>
              </a:rPr>
              <a:t>e</a:t>
            </a:r>
            <a:r>
              <a:rPr sz="1800" spc="365" dirty="0">
                <a:latin typeface="Lucida Sans Unicode"/>
                <a:cs typeface="Lucida Sans Unicode"/>
              </a:rPr>
              <a:t>=</a:t>
            </a:r>
            <a:r>
              <a:rPr sz="1800" spc="-370" dirty="0">
                <a:latin typeface="Lucida Sans Unicode"/>
                <a:cs typeface="Lucida Sans Unicode"/>
              </a:rPr>
              <a:t> </a:t>
            </a:r>
            <a:r>
              <a:rPr sz="1800" spc="-200" dirty="0">
                <a:latin typeface="Lucida Sans Unicode"/>
                <a:cs typeface="Lucida Sans Unicode"/>
              </a:rPr>
              <a:t>10/07/1985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4729" y="5267959"/>
            <a:ext cx="45148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940" dirty="0">
                <a:latin typeface="Lucida Console"/>
                <a:cs typeface="Lucida Console"/>
              </a:rPr>
              <a:t>≠</a:t>
            </a:r>
            <a:endParaRPr sz="4000" dirty="0">
              <a:latin typeface="Lucida Console"/>
              <a:cs typeface="Lucida Console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059429" y="6840219"/>
          <a:ext cx="3600447" cy="359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97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9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4391659" y="6120129"/>
            <a:ext cx="203835" cy="864235"/>
            <a:chOff x="4391659" y="6120129"/>
            <a:chExt cx="203835" cy="864235"/>
          </a:xfrm>
        </p:grpSpPr>
        <p:sp>
          <p:nvSpPr>
            <p:cNvPr id="17" name="object 17"/>
            <p:cNvSpPr/>
            <p:nvPr/>
          </p:nvSpPr>
          <p:spPr>
            <a:xfrm>
              <a:off x="4483099" y="6264909"/>
              <a:ext cx="111760" cy="718820"/>
            </a:xfrm>
            <a:custGeom>
              <a:avLst/>
              <a:gdLst/>
              <a:ahLst/>
              <a:cxnLst/>
              <a:rect l="l" t="t" r="r" b="b"/>
              <a:pathLst>
                <a:path w="111760" h="718820">
                  <a:moveTo>
                    <a:pt x="53339" y="718819"/>
                  </a:moveTo>
                  <a:lnTo>
                    <a:pt x="56395" y="706437"/>
                  </a:lnTo>
                  <a:lnTo>
                    <a:pt x="59689" y="694054"/>
                  </a:lnTo>
                  <a:lnTo>
                    <a:pt x="62984" y="681672"/>
                  </a:lnTo>
                  <a:lnTo>
                    <a:pt x="66039" y="669289"/>
                  </a:lnTo>
                </a:path>
                <a:path w="111760" h="718820">
                  <a:moveTo>
                    <a:pt x="76200" y="631189"/>
                  </a:moveTo>
                  <a:lnTo>
                    <a:pt x="78839" y="619779"/>
                  </a:lnTo>
                  <a:lnTo>
                    <a:pt x="81121" y="608488"/>
                  </a:lnTo>
                  <a:lnTo>
                    <a:pt x="83165" y="597435"/>
                  </a:lnTo>
                  <a:lnTo>
                    <a:pt x="85089" y="586739"/>
                  </a:lnTo>
                </a:path>
                <a:path w="111760" h="718820">
                  <a:moveTo>
                    <a:pt x="92710" y="547369"/>
                  </a:moveTo>
                  <a:lnTo>
                    <a:pt x="95349" y="535007"/>
                  </a:lnTo>
                  <a:lnTo>
                    <a:pt x="97631" y="522763"/>
                  </a:lnTo>
                  <a:lnTo>
                    <a:pt x="99675" y="510758"/>
                  </a:lnTo>
                  <a:lnTo>
                    <a:pt x="101600" y="499109"/>
                  </a:lnTo>
                </a:path>
                <a:path w="111760" h="718820">
                  <a:moveTo>
                    <a:pt x="105410" y="462279"/>
                  </a:moveTo>
                  <a:lnTo>
                    <a:pt x="107076" y="449163"/>
                  </a:lnTo>
                  <a:lnTo>
                    <a:pt x="108267" y="436403"/>
                  </a:lnTo>
                  <a:lnTo>
                    <a:pt x="108981" y="423882"/>
                  </a:lnTo>
                  <a:lnTo>
                    <a:pt x="109220" y="411479"/>
                  </a:lnTo>
                </a:path>
                <a:path w="111760" h="718820">
                  <a:moveTo>
                    <a:pt x="111760" y="374649"/>
                  </a:moveTo>
                  <a:lnTo>
                    <a:pt x="111740" y="361731"/>
                  </a:lnTo>
                  <a:lnTo>
                    <a:pt x="111601" y="349408"/>
                  </a:lnTo>
                  <a:lnTo>
                    <a:pt x="111224" y="337323"/>
                  </a:lnTo>
                  <a:lnTo>
                    <a:pt x="110489" y="325119"/>
                  </a:lnTo>
                </a:path>
                <a:path w="111760" h="718820">
                  <a:moveTo>
                    <a:pt x="107950" y="287019"/>
                  </a:moveTo>
                  <a:lnTo>
                    <a:pt x="106779" y="274657"/>
                  </a:lnTo>
                  <a:lnTo>
                    <a:pt x="105251" y="262413"/>
                  </a:lnTo>
                  <a:lnTo>
                    <a:pt x="103485" y="250408"/>
                  </a:lnTo>
                  <a:lnTo>
                    <a:pt x="101600" y="238759"/>
                  </a:lnTo>
                </a:path>
                <a:path w="111760" h="718820">
                  <a:moveTo>
                    <a:pt x="92710" y="201929"/>
                  </a:moveTo>
                  <a:lnTo>
                    <a:pt x="89832" y="189587"/>
                  </a:lnTo>
                  <a:lnTo>
                    <a:pt x="86836" y="177482"/>
                  </a:lnTo>
                  <a:lnTo>
                    <a:pt x="83601" y="165854"/>
                  </a:lnTo>
                  <a:lnTo>
                    <a:pt x="80010" y="154939"/>
                  </a:lnTo>
                </a:path>
                <a:path w="111760" h="718820">
                  <a:moveTo>
                    <a:pt x="66039" y="119379"/>
                  </a:moveTo>
                  <a:lnTo>
                    <a:pt x="60523" y="107434"/>
                  </a:lnTo>
                  <a:lnTo>
                    <a:pt x="55245" y="96202"/>
                  </a:lnTo>
                  <a:lnTo>
                    <a:pt x="49966" y="85447"/>
                  </a:lnTo>
                  <a:lnTo>
                    <a:pt x="44450" y="74929"/>
                  </a:lnTo>
                </a:path>
                <a:path w="111760" h="718820">
                  <a:moveTo>
                    <a:pt x="25400" y="40639"/>
                  </a:moveTo>
                  <a:lnTo>
                    <a:pt x="19466" y="30182"/>
                  </a:lnTo>
                  <a:lnTo>
                    <a:pt x="13176" y="19843"/>
                  </a:lnTo>
                  <a:lnTo>
                    <a:pt x="6647" y="974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1659" y="6120129"/>
              <a:ext cx="88900" cy="11239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244465" y="6120129"/>
            <a:ext cx="443865" cy="864235"/>
            <a:chOff x="5244465" y="6120129"/>
            <a:chExt cx="443865" cy="864235"/>
          </a:xfrm>
        </p:grpSpPr>
        <p:sp>
          <p:nvSpPr>
            <p:cNvPr id="20" name="object 20"/>
            <p:cNvSpPr/>
            <p:nvPr/>
          </p:nvSpPr>
          <p:spPr>
            <a:xfrm>
              <a:off x="5245100" y="6240779"/>
              <a:ext cx="274320" cy="742950"/>
            </a:xfrm>
            <a:custGeom>
              <a:avLst/>
              <a:gdLst/>
              <a:ahLst/>
              <a:cxnLst/>
              <a:rect l="l" t="t" r="r" b="b"/>
              <a:pathLst>
                <a:path w="274320" h="742950">
                  <a:moveTo>
                    <a:pt x="11429" y="742950"/>
                  </a:moveTo>
                  <a:lnTo>
                    <a:pt x="9544" y="730369"/>
                  </a:lnTo>
                  <a:lnTo>
                    <a:pt x="7778" y="717550"/>
                  </a:lnTo>
                  <a:lnTo>
                    <a:pt x="6250" y="704730"/>
                  </a:lnTo>
                  <a:lnTo>
                    <a:pt x="5079" y="692150"/>
                  </a:lnTo>
                </a:path>
                <a:path w="274320" h="742950">
                  <a:moveTo>
                    <a:pt x="2539" y="652780"/>
                  </a:moveTo>
                  <a:lnTo>
                    <a:pt x="1607" y="641151"/>
                  </a:lnTo>
                  <a:lnTo>
                    <a:pt x="793" y="629285"/>
                  </a:lnTo>
                  <a:lnTo>
                    <a:pt x="218" y="617418"/>
                  </a:lnTo>
                  <a:lnTo>
                    <a:pt x="0" y="605790"/>
                  </a:lnTo>
                </a:path>
                <a:path w="274320" h="742950">
                  <a:moveTo>
                    <a:pt x="0" y="567690"/>
                  </a:moveTo>
                  <a:lnTo>
                    <a:pt x="0" y="555307"/>
                  </a:lnTo>
                  <a:lnTo>
                    <a:pt x="0" y="542925"/>
                  </a:lnTo>
                  <a:lnTo>
                    <a:pt x="0" y="530542"/>
                  </a:lnTo>
                  <a:lnTo>
                    <a:pt x="0" y="518160"/>
                  </a:lnTo>
                </a:path>
                <a:path w="274320" h="742950">
                  <a:moveTo>
                    <a:pt x="2539" y="480060"/>
                  </a:moveTo>
                  <a:lnTo>
                    <a:pt x="3710" y="467717"/>
                  </a:lnTo>
                  <a:lnTo>
                    <a:pt x="5238" y="455612"/>
                  </a:lnTo>
                  <a:lnTo>
                    <a:pt x="7004" y="443984"/>
                  </a:lnTo>
                  <a:lnTo>
                    <a:pt x="8889" y="433070"/>
                  </a:lnTo>
                </a:path>
                <a:path w="274320" h="742950">
                  <a:moveTo>
                    <a:pt x="15239" y="393700"/>
                  </a:moveTo>
                  <a:lnTo>
                    <a:pt x="17363" y="381535"/>
                  </a:lnTo>
                  <a:lnTo>
                    <a:pt x="19843" y="369728"/>
                  </a:lnTo>
                  <a:lnTo>
                    <a:pt x="22562" y="358159"/>
                  </a:lnTo>
                  <a:lnTo>
                    <a:pt x="25400" y="346710"/>
                  </a:lnTo>
                </a:path>
                <a:path w="274320" h="742950">
                  <a:moveTo>
                    <a:pt x="36829" y="309880"/>
                  </a:moveTo>
                  <a:lnTo>
                    <a:pt x="40659" y="297735"/>
                  </a:lnTo>
                  <a:lnTo>
                    <a:pt x="44608" y="286067"/>
                  </a:lnTo>
                  <a:lnTo>
                    <a:pt x="48795" y="274875"/>
                  </a:lnTo>
                  <a:lnTo>
                    <a:pt x="53339" y="264160"/>
                  </a:lnTo>
                </a:path>
                <a:path w="274320" h="742950">
                  <a:moveTo>
                    <a:pt x="69850" y="228600"/>
                  </a:moveTo>
                  <a:lnTo>
                    <a:pt x="75029" y="217943"/>
                  </a:lnTo>
                  <a:lnTo>
                    <a:pt x="80803" y="207168"/>
                  </a:lnTo>
                  <a:lnTo>
                    <a:pt x="86816" y="196631"/>
                  </a:lnTo>
                  <a:lnTo>
                    <a:pt x="92710" y="186690"/>
                  </a:lnTo>
                </a:path>
                <a:path w="274320" h="742950">
                  <a:moveTo>
                    <a:pt x="114300" y="154940"/>
                  </a:moveTo>
                  <a:lnTo>
                    <a:pt x="121920" y="144680"/>
                  </a:lnTo>
                  <a:lnTo>
                    <a:pt x="129540" y="134778"/>
                  </a:lnTo>
                  <a:lnTo>
                    <a:pt x="137160" y="125114"/>
                  </a:lnTo>
                  <a:lnTo>
                    <a:pt x="144779" y="115570"/>
                  </a:lnTo>
                </a:path>
                <a:path w="274320" h="742950">
                  <a:moveTo>
                    <a:pt x="170179" y="87630"/>
                  </a:moveTo>
                  <a:lnTo>
                    <a:pt x="179486" y="79077"/>
                  </a:lnTo>
                  <a:lnTo>
                    <a:pt x="188436" y="70643"/>
                  </a:lnTo>
                  <a:lnTo>
                    <a:pt x="197147" y="62448"/>
                  </a:lnTo>
                  <a:lnTo>
                    <a:pt x="205739" y="54610"/>
                  </a:lnTo>
                </a:path>
                <a:path w="274320" h="742950">
                  <a:moveTo>
                    <a:pt x="236220" y="29210"/>
                  </a:moveTo>
                  <a:lnTo>
                    <a:pt x="245745" y="21609"/>
                  </a:lnTo>
                  <a:lnTo>
                    <a:pt x="255270" y="14128"/>
                  </a:lnTo>
                  <a:lnTo>
                    <a:pt x="264795" y="6885"/>
                  </a:lnTo>
                  <a:lnTo>
                    <a:pt x="2743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0535" y="6120129"/>
              <a:ext cx="137794" cy="984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753859" y="6845300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ucida Sans Unicode"/>
                <a:cs typeface="Lucida Sans Unicode"/>
              </a:rPr>
              <a:t>(mémoire)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6090" y="384809"/>
            <a:ext cx="20885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Clas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490" y="1258570"/>
            <a:ext cx="159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940D"/>
                </a:solidFill>
                <a:latin typeface="Lucida Sans Unicode"/>
                <a:cs typeface="Lucida Sans Unicode"/>
              </a:rPr>
              <a:t>Opérations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188" y="1625599"/>
            <a:ext cx="8703312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Clr>
                <a:srgbClr val="000000"/>
              </a:buClr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30" dirty="0">
                <a:solidFill>
                  <a:srgbClr val="569C1B"/>
                </a:solidFill>
                <a:latin typeface="Lucida Sans Unicode"/>
                <a:cs typeface="Lucida Sans Unicode"/>
              </a:rPr>
              <a:t>Service</a:t>
            </a:r>
            <a:r>
              <a:rPr lang="fr-FR" sz="2400" spc="3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latin typeface="Lucida Sans Unicode"/>
                <a:cs typeface="Lucida Sans Unicode"/>
              </a:rPr>
              <a:t>qui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 err="1">
                <a:latin typeface="Lucida Sans Unicode"/>
                <a:cs typeface="Lucida Sans Unicode"/>
              </a:rPr>
              <a:t>peut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 err="1">
                <a:latin typeface="Lucida Sans Unicode"/>
                <a:cs typeface="Lucida Sans Unicode"/>
              </a:rPr>
              <a:t>être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 err="1">
                <a:latin typeface="Lucida Sans Unicode"/>
                <a:cs typeface="Lucida Sans Unicode"/>
              </a:rPr>
              <a:t>demandé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>
                <a:latin typeface="Lucida Sans Unicode"/>
                <a:cs typeface="Lucida Sans Unicode"/>
              </a:rPr>
              <a:t>à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>
                <a:latin typeface="Lucida Sans Unicode"/>
                <a:cs typeface="Lucida Sans Unicode"/>
              </a:rPr>
              <a:t>tout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 err="1">
                <a:latin typeface="Lucida Sans Unicode"/>
                <a:cs typeface="Lucida Sans Unicode"/>
              </a:rPr>
              <a:t>objet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>
                <a:latin typeface="Lucida Sans Unicode"/>
                <a:cs typeface="Lucida Sans Unicode"/>
              </a:rPr>
              <a:t>de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>
                <a:latin typeface="Lucida Sans Unicode"/>
                <a:cs typeface="Lucida Sans Unicode"/>
              </a:rPr>
              <a:t>la</a:t>
            </a:r>
            <a:r>
              <a:rPr lang="fr-FR" sz="2400" spc="30" dirty="0">
                <a:latin typeface="Lucida Sans Unicode"/>
                <a:cs typeface="Lucida Sans Unicode"/>
              </a:rPr>
              <a:t> </a:t>
            </a:r>
            <a:r>
              <a:rPr sz="2400" spc="30" dirty="0" err="1">
                <a:latin typeface="Lucida Sans Unicode"/>
                <a:cs typeface="Lucida Sans Unicode"/>
              </a:rPr>
              <a:t>clas</a:t>
            </a:r>
            <a:r>
              <a:rPr lang="fr-FR" sz="2400" spc="30" dirty="0">
                <a:latin typeface="Lucida Sans Unicode"/>
                <a:cs typeface="Lucida Sans Unicode"/>
              </a:rPr>
              <a:t>s</a:t>
            </a:r>
            <a:r>
              <a:rPr sz="2400" spc="30" dirty="0">
                <a:latin typeface="Lucida Sans Unicode"/>
                <a:cs typeface="Lucida Sans Unicode"/>
              </a:rPr>
              <a:t>e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sz="24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Comportement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commun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à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tous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les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objets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de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la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clas</a:t>
            </a:r>
            <a:r>
              <a:rPr lang="fr-FR" sz="2400" spc="-15" dirty="0">
                <a:latin typeface="Lucida Sans Unicode"/>
                <a:cs typeface="Lucida Sans Unicode"/>
              </a:rPr>
              <a:t>s</a:t>
            </a:r>
            <a:r>
              <a:rPr sz="2400" spc="-15" dirty="0">
                <a:latin typeface="Lucida Sans Unicode"/>
                <a:cs typeface="Lucida Sans Unicode"/>
              </a:rPr>
              <a:t>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900" y="2840990"/>
            <a:ext cx="9753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15" dirty="0">
                <a:solidFill>
                  <a:srgbClr val="FF0000"/>
                </a:solidFill>
                <a:latin typeface="Yu Gothic UI"/>
                <a:cs typeface="Yu Gothic UI"/>
              </a:rPr>
              <a:t>⚠</a:t>
            </a:r>
            <a:r>
              <a:rPr sz="4000" b="1" spc="-700" dirty="0">
                <a:solidFill>
                  <a:srgbClr val="FF0000"/>
                </a:solidFill>
                <a:latin typeface="Yu Gothic UI"/>
                <a:cs typeface="Yu Gothic UI"/>
              </a:rPr>
              <a:t> </a:t>
            </a:r>
            <a:r>
              <a:rPr lang="fr-FR" sz="4000" b="1" spc="-700" dirty="0">
                <a:solidFill>
                  <a:srgbClr val="FF0000"/>
                </a:solidFill>
                <a:latin typeface="Yu Gothic UI"/>
                <a:cs typeface="Yu Gothic UI"/>
              </a:rPr>
              <a:t> </a:t>
            </a:r>
            <a:r>
              <a:rPr sz="2200" spc="-40" dirty="0">
                <a:latin typeface="Lucida Sans Unicode"/>
                <a:cs typeface="Lucida Sans Unicode"/>
              </a:rPr>
              <a:t>Ne</a:t>
            </a:r>
            <a:r>
              <a:rPr lang="fr-FR" sz="2200" spc="-40" dirty="0">
                <a:latin typeface="Lucida Sans Unicode"/>
                <a:cs typeface="Lucida Sans Unicode"/>
              </a:rPr>
              <a:t> </a:t>
            </a:r>
            <a:r>
              <a:rPr sz="2200" spc="-40" dirty="0">
                <a:latin typeface="Lucida Sans Unicode"/>
                <a:cs typeface="Lucida Sans Unicode"/>
              </a:rPr>
              <a:t>pas</a:t>
            </a:r>
            <a:r>
              <a:rPr lang="fr-FR" sz="2200" spc="-40" dirty="0">
                <a:latin typeface="Lucida Sans Unicode"/>
                <a:cs typeface="Lucida Sans Unicode"/>
              </a:rPr>
              <a:t> </a:t>
            </a:r>
            <a:r>
              <a:rPr sz="2200" spc="-40" dirty="0" err="1">
                <a:latin typeface="Lucida Sans Unicode"/>
                <a:cs typeface="Lucida Sans Unicode"/>
              </a:rPr>
              <a:t>confondre</a:t>
            </a:r>
            <a:r>
              <a:rPr lang="fr-FR" sz="2200" spc="-40" dirty="0">
                <a:latin typeface="Lucida Sans Unicode"/>
                <a:cs typeface="Lucida Sans Unicode"/>
              </a:rPr>
              <a:t> </a:t>
            </a:r>
            <a:r>
              <a:rPr sz="2200" spc="-40" dirty="0">
                <a:latin typeface="Lucida Sans Unicode"/>
                <a:cs typeface="Lucida Sans Unicode"/>
              </a:rPr>
              <a:t>avec</a:t>
            </a:r>
            <a:r>
              <a:rPr lang="fr-FR" sz="2200" spc="-40" dirty="0">
                <a:latin typeface="Lucida Sans Unicode"/>
                <a:cs typeface="Lucida Sans Unicode"/>
              </a:rPr>
              <a:t> </a:t>
            </a:r>
            <a:r>
              <a:rPr sz="2200" spc="-40" dirty="0" err="1">
                <a:latin typeface="Lucida Sans Unicode"/>
                <a:cs typeface="Lucida Sans Unicode"/>
              </a:rPr>
              <a:t>une</a:t>
            </a:r>
            <a:r>
              <a:rPr lang="fr-FR" sz="2200" spc="-40" dirty="0">
                <a:latin typeface="Lucida Sans Unicode"/>
                <a:cs typeface="Lucida Sans Unicode"/>
              </a:rPr>
              <a:t> </a:t>
            </a:r>
            <a:r>
              <a:rPr sz="2200" spc="-40" dirty="0" err="1">
                <a:latin typeface="Lucida Sans Unicode"/>
                <a:cs typeface="Lucida Sans Unicode"/>
              </a:rPr>
              <a:t>méthode</a:t>
            </a:r>
            <a:r>
              <a:rPr sz="2200" spc="-40" dirty="0">
                <a:latin typeface="Lucida Sans Unicode"/>
                <a:cs typeface="Lucida Sans Unicode"/>
              </a:rPr>
              <a:t>=</a:t>
            </a:r>
            <a:r>
              <a:rPr sz="2200" spc="-470" dirty="0">
                <a:latin typeface="Lucida Sans Unicode"/>
                <a:cs typeface="Lucida Sans Unicode"/>
              </a:rPr>
              <a:t> </a:t>
            </a:r>
            <a:r>
              <a:rPr sz="2200" spc="-75" dirty="0">
                <a:latin typeface="Lucida Sans Unicode"/>
                <a:cs typeface="Lucida Sans Unicode"/>
              </a:rPr>
              <a:t>implantation</a:t>
            </a:r>
            <a:r>
              <a:rPr lang="fr-FR" sz="2200" spc="-75" dirty="0">
                <a:latin typeface="Lucida Sans Unicode"/>
                <a:cs typeface="Lucida Sans Unicode"/>
              </a:rPr>
              <a:t> </a:t>
            </a:r>
            <a:r>
              <a:rPr sz="2200" spc="-75" dirty="0">
                <a:latin typeface="Lucida Sans Unicode"/>
                <a:cs typeface="Lucida Sans Unicode"/>
              </a:rPr>
              <a:t>de</a:t>
            </a:r>
            <a:r>
              <a:rPr lang="fr-FR" sz="2200" spc="-75" dirty="0">
                <a:latin typeface="Lucida Sans Unicode"/>
                <a:cs typeface="Lucida Sans Unicode"/>
              </a:rPr>
              <a:t> </a:t>
            </a:r>
            <a:r>
              <a:rPr sz="2200" spc="-75" dirty="0" err="1">
                <a:latin typeface="Lucida Sans Unicode"/>
                <a:cs typeface="Lucida Sans Unicode"/>
              </a:rPr>
              <a:t>l'opération</a:t>
            </a:r>
            <a:endParaRPr sz="2200" dirty="0">
              <a:latin typeface="Lucida Sans Unicode"/>
              <a:cs typeface="Lucida Sans Unicode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79652"/>
              </p:ext>
            </p:extLst>
          </p:nvPr>
        </p:nvGraphicFramePr>
        <p:xfrm>
          <a:off x="3779520" y="4391659"/>
          <a:ext cx="2585085" cy="2448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848994" marR="577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105" dirty="0">
                          <a:latin typeface="Arial"/>
                          <a:cs typeface="Arial"/>
                        </a:rPr>
                        <a:t>Compte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379">
                <a:tc>
                  <a:txBody>
                    <a:bodyPr/>
                    <a:lstStyle/>
                    <a:p>
                      <a:pPr marL="89535" marR="577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110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800" dirty="0">
                        <a:latin typeface="Lucida Sans Unicode"/>
                        <a:cs typeface="Lucida Sans Unicode"/>
                      </a:endParaRPr>
                    </a:p>
                    <a:p>
                      <a:pPr marL="89535" marR="922019">
                        <a:lnSpc>
                          <a:spcPct val="122700"/>
                        </a:lnSpc>
                        <a:spcBef>
                          <a:spcPts val="10"/>
                        </a:spcBef>
                      </a:pPr>
                      <a:r>
                        <a:rPr sz="1800" spc="0" baseline="0" dirty="0">
                          <a:latin typeface="Lucida Sans Unicode"/>
                          <a:cs typeface="Lucida Sans Unicode"/>
                        </a:rPr>
                        <a:t>devise:Devise  </a:t>
                      </a:r>
                      <a:r>
                        <a:rPr sz="18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8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6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800" dirty="0">
                        <a:latin typeface="Lucida Sans Unicode"/>
                        <a:cs typeface="Lucida Sans Unicode"/>
                      </a:endParaRPr>
                    </a:p>
                    <a:p>
                      <a:pPr marL="82550" marR="152400">
                        <a:lnSpc>
                          <a:spcPts val="2660"/>
                        </a:lnSpc>
                        <a:spcBef>
                          <a:spcPts val="80"/>
                        </a:spcBef>
                      </a:pPr>
                      <a:r>
                        <a:rPr sz="1800" spc="-40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800" spc="-3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8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503170" y="6160770"/>
            <a:ext cx="115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opérations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00450" y="5831840"/>
            <a:ext cx="143510" cy="1008380"/>
          </a:xfrm>
          <a:custGeom>
            <a:avLst/>
            <a:gdLst/>
            <a:ahLst/>
            <a:cxnLst/>
            <a:rect l="l" t="t" r="r" b="b"/>
            <a:pathLst>
              <a:path w="143510" h="1008379">
                <a:moveTo>
                  <a:pt x="143510" y="0"/>
                </a:moveTo>
                <a:lnTo>
                  <a:pt x="102026" y="21664"/>
                </a:lnTo>
                <a:lnTo>
                  <a:pt x="80724" y="78779"/>
                </a:lnTo>
                <a:lnTo>
                  <a:pt x="75538" y="116938"/>
                </a:lnTo>
                <a:lnTo>
                  <a:pt x="72876" y="159528"/>
                </a:lnTo>
                <a:lnTo>
                  <a:pt x="71895" y="205073"/>
                </a:lnTo>
                <a:lnTo>
                  <a:pt x="71755" y="252095"/>
                </a:lnTo>
                <a:lnTo>
                  <a:pt x="71614" y="299116"/>
                </a:lnTo>
                <a:lnTo>
                  <a:pt x="70633" y="344661"/>
                </a:lnTo>
                <a:lnTo>
                  <a:pt x="67971" y="387251"/>
                </a:lnTo>
                <a:lnTo>
                  <a:pt x="62785" y="425410"/>
                </a:lnTo>
                <a:lnTo>
                  <a:pt x="41483" y="482525"/>
                </a:lnTo>
                <a:lnTo>
                  <a:pt x="23684" y="498527"/>
                </a:lnTo>
                <a:lnTo>
                  <a:pt x="0" y="504190"/>
                </a:lnTo>
              </a:path>
              <a:path w="143510" h="1008379">
                <a:moveTo>
                  <a:pt x="0" y="504190"/>
                </a:moveTo>
                <a:lnTo>
                  <a:pt x="41483" y="525854"/>
                </a:lnTo>
                <a:lnTo>
                  <a:pt x="62785" y="582969"/>
                </a:lnTo>
                <a:lnTo>
                  <a:pt x="67971" y="621128"/>
                </a:lnTo>
                <a:lnTo>
                  <a:pt x="70633" y="663718"/>
                </a:lnTo>
                <a:lnTo>
                  <a:pt x="71614" y="709263"/>
                </a:lnTo>
                <a:lnTo>
                  <a:pt x="71754" y="756285"/>
                </a:lnTo>
                <a:lnTo>
                  <a:pt x="71895" y="803306"/>
                </a:lnTo>
                <a:lnTo>
                  <a:pt x="72876" y="848851"/>
                </a:lnTo>
                <a:lnTo>
                  <a:pt x="75538" y="891441"/>
                </a:lnTo>
                <a:lnTo>
                  <a:pt x="80724" y="929600"/>
                </a:lnTo>
                <a:lnTo>
                  <a:pt x="102026" y="986715"/>
                </a:lnTo>
                <a:lnTo>
                  <a:pt x="119825" y="1002717"/>
                </a:lnTo>
                <a:lnTo>
                  <a:pt x="143510" y="1008380"/>
                </a:lnTo>
              </a:path>
            </a:pathLst>
          </a:custGeom>
          <a:ln w="3175">
            <a:solidFill>
              <a:srgbClr val="0083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7</a:t>
            </a:fld>
            <a:endParaRPr spc="50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100" y="384809"/>
            <a:ext cx="5591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chemeClr val="tx1"/>
                </a:solidFill>
              </a:rPr>
              <a:t>Relations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entre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 err="1">
                <a:solidFill>
                  <a:schemeClr val="tx1"/>
                </a:solidFill>
              </a:rPr>
              <a:t>objets</a:t>
            </a:r>
            <a:endParaRPr spc="-6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992844"/>
              </p:ext>
            </p:extLst>
          </p:nvPr>
        </p:nvGraphicFramePr>
        <p:xfrm>
          <a:off x="1906270" y="4320540"/>
          <a:ext cx="6412229" cy="1719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10">
                <a:tc row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u="sng" spc="8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JeanDupont:Persone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0810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400" spc="60" dirty="0">
                          <a:latin typeface="Lucida Sans Unicode"/>
                          <a:cs typeface="Lucida Sans Unicode"/>
                        </a:rPr>
                        <a:t>posède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177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u="sng" spc="0" baseline="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MonLivretA</a:t>
                      </a:r>
                      <a:r>
                        <a:rPr sz="1200" b="1" spc="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u="sng" spc="0" baseline="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:Compte</a:t>
                      </a:r>
                      <a:endParaRPr sz="1200" spc="0" baseline="0" dirty="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rowSpan="4">
                  <a:txBody>
                    <a:bodyPr/>
                    <a:lstStyle/>
                    <a:p>
                      <a:pPr marL="89535" marR="226060">
                        <a:lnSpc>
                          <a:spcPct val="122500"/>
                        </a:lnSpc>
                        <a:spcBef>
                          <a:spcPts val="155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nom = "Dupont"  prénom = "Jean"  adresse= "Montrouge"  naissance= 20/08/1990</a:t>
                      </a:r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177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177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numéro= 123456</a:t>
                      </a:r>
                    </a:p>
                    <a:p>
                      <a:pPr marL="90170" marR="560070">
                        <a:lnSpc>
                          <a:spcPct val="122200"/>
                        </a:lnSpc>
                        <a:spcBef>
                          <a:spcPts val="10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devise= EUR  solde= 3509,43</a:t>
                      </a: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1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1490" y="1258570"/>
            <a:ext cx="27978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Lien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entre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objets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1625599"/>
            <a:ext cx="8562340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lang="fr-FR" sz="2400" spc="-30" dirty="0">
                <a:latin typeface="Lucida Sans Unicode"/>
                <a:cs typeface="Lucida Sans Unicode"/>
              </a:rPr>
              <a:t>R</a:t>
            </a:r>
            <a:r>
              <a:rPr sz="2400" spc="-30" dirty="0">
                <a:latin typeface="Lucida Sans Unicode"/>
                <a:cs typeface="Lucida Sans Unicode"/>
              </a:rPr>
              <a:t>elation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binaire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(engénéral)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lang="fr-FR" sz="2400" spc="5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u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plus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un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lien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entre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deux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objets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(pour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une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asociation</a:t>
            </a:r>
            <a:r>
              <a:rPr sz="2400" spc="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0729" y="4968240"/>
            <a:ext cx="290195" cy="575945"/>
            <a:chOff x="4570729" y="4968240"/>
            <a:chExt cx="290195" cy="575945"/>
          </a:xfrm>
        </p:grpSpPr>
        <p:sp>
          <p:nvSpPr>
            <p:cNvPr id="8" name="object 8"/>
            <p:cNvSpPr/>
            <p:nvPr/>
          </p:nvSpPr>
          <p:spPr>
            <a:xfrm>
              <a:off x="4606289" y="5071110"/>
              <a:ext cx="254000" cy="472440"/>
            </a:xfrm>
            <a:custGeom>
              <a:avLst/>
              <a:gdLst/>
              <a:ahLst/>
              <a:cxnLst/>
              <a:rect l="l" t="t" r="r" b="b"/>
              <a:pathLst>
                <a:path w="254000" h="472439">
                  <a:moveTo>
                    <a:pt x="0" y="0"/>
                  </a:moveTo>
                  <a:lnTo>
                    <a:pt x="46652" y="210978"/>
                  </a:lnTo>
                  <a:lnTo>
                    <a:pt x="133191" y="358140"/>
                  </a:lnTo>
                  <a:lnTo>
                    <a:pt x="216634" y="444341"/>
                  </a:lnTo>
                  <a:lnTo>
                    <a:pt x="254000" y="47243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0729" y="4968240"/>
              <a:ext cx="71120" cy="107950"/>
            </a:xfrm>
            <a:custGeom>
              <a:avLst/>
              <a:gdLst/>
              <a:ahLst/>
              <a:cxnLst/>
              <a:rect l="l" t="t" r="r" b="b"/>
              <a:pathLst>
                <a:path w="71120" h="107950">
                  <a:moveTo>
                    <a:pt x="36830" y="0"/>
                  </a:moveTo>
                  <a:lnTo>
                    <a:pt x="0" y="106680"/>
                  </a:lnTo>
                  <a:lnTo>
                    <a:pt x="71120" y="107950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00929" y="5405120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lien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8</a:t>
            </a:fld>
            <a:endParaRPr spc="50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300" y="384809"/>
            <a:ext cx="58959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chemeClr val="tx1"/>
                </a:solidFill>
              </a:rPr>
              <a:t>Relations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entre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 err="1">
                <a:solidFill>
                  <a:schemeClr val="tx1"/>
                </a:solidFill>
              </a:rPr>
              <a:t>objets</a:t>
            </a:r>
            <a:endParaRPr spc="-6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319" y="4464050"/>
            <a:ext cx="1694180" cy="2540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300"/>
              </a:spcBef>
            </a:pPr>
            <a:r>
              <a:rPr sz="1200" b="1" u="sng" spc="17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M</a:t>
            </a:r>
            <a:r>
              <a:rPr sz="1200" b="1" u="sng" spc="-7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on</a:t>
            </a:r>
            <a:r>
              <a:rPr sz="1200" b="1" u="sng" spc="-4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L</a:t>
            </a:r>
            <a:r>
              <a:rPr sz="1200" b="1" u="sng" spc="-3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i</a:t>
            </a:r>
            <a:r>
              <a:rPr sz="1200" b="1" u="sng" spc="-7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v</a:t>
            </a:r>
            <a:r>
              <a:rPr sz="1200" b="1" u="sng" spc="-2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r</a:t>
            </a:r>
            <a:r>
              <a:rPr sz="1200" b="1" u="sng" spc="-6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e</a:t>
            </a:r>
            <a:r>
              <a:rPr sz="1200" b="1" u="sng" spc="8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t</a:t>
            </a:r>
            <a:r>
              <a:rPr sz="1200" b="1" u="sng" spc="33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A</a:t>
            </a:r>
            <a:r>
              <a:rPr sz="1200" b="1" spc="-215" dirty="0">
                <a:solidFill>
                  <a:srgbClr val="569C1B"/>
                </a:solidFill>
                <a:latin typeface="Arial"/>
                <a:cs typeface="Arial"/>
              </a:rPr>
              <a:t> </a:t>
            </a:r>
            <a:r>
              <a:rPr sz="1200" b="1" u="sng" spc="41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:</a:t>
            </a:r>
            <a:r>
              <a:rPr sz="1200" b="1" u="sng" spc="-3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C</a:t>
            </a:r>
            <a:r>
              <a:rPr sz="1200" b="1" u="sng" spc="-7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o</a:t>
            </a:r>
            <a:r>
              <a:rPr sz="1200" b="1" u="sng" spc="-3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m</a:t>
            </a:r>
            <a:r>
              <a:rPr sz="1200" b="1" u="sng" spc="-7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p</a:t>
            </a:r>
            <a:r>
              <a:rPr sz="1200" b="1" u="sng" spc="8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t</a:t>
            </a:r>
            <a:r>
              <a:rPr sz="1200" b="1" u="sng" spc="53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4319" y="4718050"/>
            <a:ext cx="1694180" cy="87998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latin typeface="Lucida Sans Unicode"/>
                <a:cs typeface="Lucida Sans Unicode"/>
              </a:rPr>
              <a:t>numéro= 123456</a:t>
            </a:r>
          </a:p>
          <a:p>
            <a:pPr marL="90170" marR="560070">
              <a:lnSpc>
                <a:spcPct val="122200"/>
              </a:lnSpc>
              <a:spcBef>
                <a:spcPts val="10"/>
              </a:spcBef>
            </a:pPr>
            <a:r>
              <a:rPr sz="1200" dirty="0">
                <a:latin typeface="Lucida Sans Unicode"/>
                <a:cs typeface="Lucida Sans Unicode"/>
              </a:rPr>
              <a:t>devise= EUR  solde= 3509,43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24319" y="5904229"/>
            <a:ext cx="2303780" cy="25907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20"/>
              </a:spcBef>
            </a:pPr>
            <a:r>
              <a:rPr sz="1200" b="1" u="sng" spc="60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MonCompteSuise:Compte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4319" y="6163309"/>
            <a:ext cx="2303780" cy="90281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 marR="903605">
              <a:lnSpc>
                <a:spcPts val="1760"/>
              </a:lnSpc>
            </a:pPr>
            <a:r>
              <a:rPr sz="1200" dirty="0">
                <a:latin typeface="Lucida Sans Unicode"/>
                <a:cs typeface="Lucida Sans Unicode"/>
              </a:rPr>
              <a:t>numéro= 70054568  devise= CHF</a:t>
            </a:r>
          </a:p>
          <a:p>
            <a:pPr marL="90170">
              <a:lnSpc>
                <a:spcPct val="100000"/>
              </a:lnSpc>
              <a:spcBef>
                <a:spcPts val="220"/>
              </a:spcBef>
            </a:pPr>
            <a:r>
              <a:rPr sz="1200" dirty="0">
                <a:latin typeface="Lucida Sans Unicode"/>
                <a:cs typeface="Lucida Sans Unicode"/>
              </a:rPr>
              <a:t>solde= 121000</a:t>
            </a:r>
          </a:p>
        </p:txBody>
      </p:sp>
      <p:sp>
        <p:nvSpPr>
          <p:cNvPr id="7" name="object 7"/>
          <p:cNvSpPr/>
          <p:nvPr/>
        </p:nvSpPr>
        <p:spPr>
          <a:xfrm>
            <a:off x="3816350" y="3455670"/>
            <a:ext cx="2807970" cy="1296670"/>
          </a:xfrm>
          <a:custGeom>
            <a:avLst/>
            <a:gdLst/>
            <a:ahLst/>
            <a:cxnLst/>
            <a:rect l="l" t="t" r="r" b="b"/>
            <a:pathLst>
              <a:path w="2807970" h="1296670">
                <a:moveTo>
                  <a:pt x="0" y="1296669"/>
                </a:moveTo>
                <a:lnTo>
                  <a:pt x="280797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6350" y="4895850"/>
            <a:ext cx="2807970" cy="1512570"/>
          </a:xfrm>
          <a:custGeom>
            <a:avLst/>
            <a:gdLst/>
            <a:ahLst/>
            <a:cxnLst/>
            <a:rect l="l" t="t" r="r" b="b"/>
            <a:pathLst>
              <a:path w="2807970" h="1512570">
                <a:moveTo>
                  <a:pt x="0" y="0"/>
                </a:moveTo>
                <a:lnTo>
                  <a:pt x="2807970" y="0"/>
                </a:lnTo>
              </a:path>
              <a:path w="2807970" h="1512570">
                <a:moveTo>
                  <a:pt x="0" y="144780"/>
                </a:moveTo>
                <a:lnTo>
                  <a:pt x="2807970" y="15125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24779" y="6484620"/>
            <a:ext cx="1275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sesComptes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3301" y="4643120"/>
            <a:ext cx="82105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400" dirty="0">
                <a:latin typeface="Lucida Sans Unicode"/>
                <a:cs typeface="Lucida Sans Unicode"/>
              </a:rPr>
              <a:t>possède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13301" y="5363209"/>
            <a:ext cx="821053" cy="234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ucida Sans Unicode"/>
                <a:cs typeface="Lucida Sans Unicode"/>
              </a:rPr>
              <a:t>po</a:t>
            </a:r>
            <a:r>
              <a:rPr lang="fr-FR" sz="1400" dirty="0" err="1">
                <a:latin typeface="Lucida Sans Unicode"/>
                <a:cs typeface="Lucida Sans Unicode"/>
              </a:rPr>
              <a:t>ss</a:t>
            </a:r>
            <a:r>
              <a:rPr sz="1400" dirty="0" err="1">
                <a:latin typeface="Lucida Sans Unicode"/>
                <a:cs typeface="Lucida Sans Unicode"/>
              </a:rPr>
              <a:t>ède</a:t>
            </a:r>
            <a:endParaRPr sz="1400" dirty="0">
              <a:latin typeface="Lucida Sans Unicode"/>
              <a:cs typeface="Lucida Sans Unicode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24113"/>
              </p:ext>
            </p:extLst>
          </p:nvPr>
        </p:nvGraphicFramePr>
        <p:xfrm>
          <a:off x="1906269" y="2880360"/>
          <a:ext cx="7326631" cy="14467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1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10">
                <a:tc rowSpan="2"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u="sng" spc="9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MarieDupont:Persone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6525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400" spc="60" dirty="0">
                          <a:latin typeface="Lucida Sans Unicode"/>
                          <a:cs typeface="Lucida Sans Unicode"/>
                        </a:rPr>
                        <a:t>po</a:t>
                      </a:r>
                      <a:r>
                        <a:rPr lang="fr-FR" sz="1400" spc="60" dirty="0"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sz="1400" spc="60" dirty="0" err="1">
                          <a:latin typeface="Lucida Sans Unicode"/>
                          <a:cs typeface="Lucida Sans Unicode"/>
                        </a:rPr>
                        <a:t>sède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u="sng" spc="45" dirty="0">
                          <a:solidFill>
                            <a:srgbClr val="569C1B"/>
                          </a:solidFill>
                          <a:uFill>
                            <a:solidFill>
                              <a:srgbClr val="569C1B"/>
                            </a:solidFill>
                          </a:uFill>
                          <a:latin typeface="Arial"/>
                          <a:cs typeface="Arial"/>
                        </a:rPr>
                        <a:t>MonCompteJoint:Compte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rowSpan="4">
                  <a:txBody>
                    <a:bodyPr/>
                    <a:lstStyle/>
                    <a:p>
                      <a:pPr marL="89535" marR="226060">
                        <a:lnSpc>
                          <a:spcPct val="122500"/>
                        </a:lnSpc>
                        <a:spcBef>
                          <a:spcPts val="155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nom = "Dupont"  prénom = "Marie"  </a:t>
                      </a:r>
                      <a:r>
                        <a:rPr sz="1200" spc="0" baseline="0" dirty="0" err="1">
                          <a:latin typeface="Lucida Sans Unicode"/>
                          <a:cs typeface="Lucida Sans Unicode"/>
                        </a:rPr>
                        <a:t>adresse</a:t>
                      </a: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="Montrouge"  naissance=4/12/1992</a:t>
                      </a:r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numéro= 854126</a:t>
                      </a:r>
                    </a:p>
                    <a:p>
                      <a:pPr marL="90170" marR="1026160">
                        <a:lnSpc>
                          <a:spcPct val="122200"/>
                        </a:lnSpc>
                        <a:spcBef>
                          <a:spcPts val="10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devise= EUR  solde= 2215,03</a:t>
                      </a: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 marL="130810" algn="ctr">
                        <a:lnSpc>
                          <a:spcPts val="1510"/>
                        </a:lnSpc>
                      </a:pPr>
                      <a:r>
                        <a:rPr sz="1400" spc="60" dirty="0">
                          <a:latin typeface="Lucida Sans Unicode"/>
                          <a:cs typeface="Lucida Sans Unicode"/>
                        </a:rPr>
                        <a:t>po</a:t>
                      </a:r>
                      <a:r>
                        <a:rPr lang="fr-FR" sz="1400" spc="60" dirty="0"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sz="1400" spc="60" dirty="0" err="1">
                          <a:latin typeface="Lucida Sans Unicode"/>
                          <a:cs typeface="Lucida Sans Unicode"/>
                        </a:rPr>
                        <a:t>sède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57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91490" y="1258570"/>
            <a:ext cx="33248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Lien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entre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objets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9188" y="1625599"/>
            <a:ext cx="8703311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relation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binaire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(</a:t>
            </a:r>
            <a:r>
              <a:rPr sz="2400" spc="-30" dirty="0" err="1">
                <a:latin typeface="Lucida Sans Unicode"/>
                <a:cs typeface="Lucida Sans Unicode"/>
              </a:rPr>
              <a:t>en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général</a:t>
            </a:r>
            <a:r>
              <a:rPr sz="2400" spc="-30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lang="fr-FR" sz="2400" spc="5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u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plus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un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lien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entre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deux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objets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(pour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une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as</a:t>
            </a:r>
            <a:r>
              <a:rPr lang="fr-FR" sz="2400" spc="5" dirty="0">
                <a:latin typeface="Lucida Sans Unicode"/>
                <a:cs typeface="Lucida Sans Unicode"/>
              </a:rPr>
              <a:t>s</a:t>
            </a:r>
            <a:r>
              <a:rPr sz="2400" spc="5" dirty="0" err="1">
                <a:latin typeface="Lucida Sans Unicode"/>
                <a:cs typeface="Lucida Sans Unicode"/>
              </a:rPr>
              <a:t>ociation</a:t>
            </a:r>
            <a:r>
              <a:rPr sz="2400" spc="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6270" y="4578732"/>
            <a:ext cx="2041524" cy="22313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JeanDupont</a:t>
            </a:r>
            <a:r>
              <a:rPr sz="1200" b="1" u="sng" spc="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:Persone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6270" y="4768471"/>
            <a:ext cx="2041524" cy="114486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89535" marR="226060">
              <a:lnSpc>
                <a:spcPct val="122500"/>
              </a:lnSpc>
              <a:spcBef>
                <a:spcPts val="155"/>
              </a:spcBef>
            </a:pPr>
            <a:r>
              <a:rPr sz="1200" dirty="0">
                <a:latin typeface="Lucida Sans Unicode"/>
                <a:cs typeface="Lucida Sans Unicode"/>
              </a:rPr>
              <a:t>nom = "Dupont"  prénom = "Jean"  adresse= "Montrouge"  naissance= 20/08/1990</a:t>
            </a:r>
          </a:p>
        </p:txBody>
      </p:sp>
      <p:sp>
        <p:nvSpPr>
          <p:cNvPr id="18" name="object 18"/>
          <p:cNvSpPr/>
          <p:nvPr/>
        </p:nvSpPr>
        <p:spPr>
          <a:xfrm>
            <a:off x="5976620" y="3528059"/>
            <a:ext cx="85090" cy="163830"/>
          </a:xfrm>
          <a:custGeom>
            <a:avLst/>
            <a:gdLst/>
            <a:ahLst/>
            <a:cxnLst/>
            <a:rect l="l" t="t" r="r" b="b"/>
            <a:pathLst>
              <a:path w="85089" h="163829">
                <a:moveTo>
                  <a:pt x="0" y="0"/>
                </a:moveTo>
                <a:lnTo>
                  <a:pt x="22403" y="40957"/>
                </a:lnTo>
                <a:lnTo>
                  <a:pt x="43973" y="81914"/>
                </a:lnTo>
                <a:lnTo>
                  <a:pt x="64829" y="122872"/>
                </a:lnTo>
                <a:lnTo>
                  <a:pt x="85089" y="163829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06159" y="3789679"/>
            <a:ext cx="63500" cy="165100"/>
          </a:xfrm>
          <a:custGeom>
            <a:avLst/>
            <a:gdLst/>
            <a:ahLst/>
            <a:cxnLst/>
            <a:rect l="l" t="t" r="r" b="b"/>
            <a:pathLst>
              <a:path w="63500" h="165100">
                <a:moveTo>
                  <a:pt x="0" y="0"/>
                </a:moveTo>
                <a:lnTo>
                  <a:pt x="16887" y="40977"/>
                </a:lnTo>
                <a:lnTo>
                  <a:pt x="33178" y="82073"/>
                </a:lnTo>
                <a:lnTo>
                  <a:pt x="48756" y="123408"/>
                </a:lnTo>
                <a:lnTo>
                  <a:pt x="63500" y="165100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05220" y="4058920"/>
            <a:ext cx="120650" cy="742950"/>
          </a:xfrm>
          <a:custGeom>
            <a:avLst/>
            <a:gdLst/>
            <a:ahLst/>
            <a:cxnLst/>
            <a:rect l="l" t="t" r="r" b="b"/>
            <a:pathLst>
              <a:path w="120650" h="742950">
                <a:moveTo>
                  <a:pt x="0" y="0"/>
                </a:moveTo>
                <a:lnTo>
                  <a:pt x="12878" y="43795"/>
                </a:lnTo>
                <a:lnTo>
                  <a:pt x="24923" y="87471"/>
                </a:lnTo>
                <a:lnTo>
                  <a:pt x="36254" y="130909"/>
                </a:lnTo>
                <a:lnTo>
                  <a:pt x="46989" y="173989"/>
                </a:lnTo>
              </a:path>
              <a:path w="120650" h="742950">
                <a:moveTo>
                  <a:pt x="69850" y="278129"/>
                </a:moveTo>
                <a:lnTo>
                  <a:pt x="78144" y="323611"/>
                </a:lnTo>
                <a:lnTo>
                  <a:pt x="85725" y="368617"/>
                </a:lnTo>
                <a:lnTo>
                  <a:pt x="92352" y="413146"/>
                </a:lnTo>
                <a:lnTo>
                  <a:pt x="97789" y="457199"/>
                </a:lnTo>
              </a:path>
              <a:path w="120650" h="742950">
                <a:moveTo>
                  <a:pt x="110489" y="565149"/>
                </a:moveTo>
                <a:lnTo>
                  <a:pt x="114042" y="609897"/>
                </a:lnTo>
                <a:lnTo>
                  <a:pt x="116998" y="654526"/>
                </a:lnTo>
                <a:lnTo>
                  <a:pt x="119241" y="698916"/>
                </a:lnTo>
                <a:lnTo>
                  <a:pt x="120650" y="742949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75350" y="4912359"/>
            <a:ext cx="351790" cy="1496060"/>
          </a:xfrm>
          <a:custGeom>
            <a:avLst/>
            <a:gdLst/>
            <a:ahLst/>
            <a:cxnLst/>
            <a:rect l="l" t="t" r="r" b="b"/>
            <a:pathLst>
              <a:path w="351789" h="1496060">
                <a:moveTo>
                  <a:pt x="351789" y="0"/>
                </a:moveTo>
                <a:lnTo>
                  <a:pt x="351532" y="44926"/>
                </a:lnTo>
                <a:lnTo>
                  <a:pt x="350678" y="89852"/>
                </a:lnTo>
                <a:lnTo>
                  <a:pt x="349111" y="134302"/>
                </a:lnTo>
                <a:lnTo>
                  <a:pt x="346710" y="177800"/>
                </a:lnTo>
              </a:path>
              <a:path w="351789" h="1496060">
                <a:moveTo>
                  <a:pt x="337820" y="287019"/>
                </a:moveTo>
                <a:lnTo>
                  <a:pt x="333553" y="332700"/>
                </a:lnTo>
                <a:lnTo>
                  <a:pt x="328453" y="378142"/>
                </a:lnTo>
                <a:lnTo>
                  <a:pt x="322639" y="423108"/>
                </a:lnTo>
                <a:lnTo>
                  <a:pt x="316229" y="467359"/>
                </a:lnTo>
              </a:path>
              <a:path w="351789" h="1496060">
                <a:moveTo>
                  <a:pt x="299720" y="570229"/>
                </a:moveTo>
                <a:lnTo>
                  <a:pt x="290929" y="616624"/>
                </a:lnTo>
                <a:lnTo>
                  <a:pt x="281781" y="662305"/>
                </a:lnTo>
                <a:lnTo>
                  <a:pt x="272395" y="707032"/>
                </a:lnTo>
                <a:lnTo>
                  <a:pt x="262889" y="750569"/>
                </a:lnTo>
              </a:path>
              <a:path w="351789" h="1496060">
                <a:moveTo>
                  <a:pt x="237489" y="853439"/>
                </a:moveTo>
                <a:lnTo>
                  <a:pt x="224909" y="899596"/>
                </a:lnTo>
                <a:lnTo>
                  <a:pt x="212089" y="944562"/>
                </a:lnTo>
                <a:lnTo>
                  <a:pt x="199270" y="988099"/>
                </a:lnTo>
                <a:lnTo>
                  <a:pt x="186689" y="1029969"/>
                </a:lnTo>
              </a:path>
              <a:path w="351789" h="1496060">
                <a:moveTo>
                  <a:pt x="153670" y="1127759"/>
                </a:moveTo>
                <a:lnTo>
                  <a:pt x="136763" y="1175087"/>
                </a:lnTo>
                <a:lnTo>
                  <a:pt x="120332" y="1219676"/>
                </a:lnTo>
                <a:lnTo>
                  <a:pt x="104378" y="1261169"/>
                </a:lnTo>
                <a:lnTo>
                  <a:pt x="88900" y="1299209"/>
                </a:lnTo>
              </a:path>
              <a:path w="351789" h="1496060">
                <a:moveTo>
                  <a:pt x="44450" y="1403349"/>
                </a:moveTo>
                <a:lnTo>
                  <a:pt x="26253" y="1443017"/>
                </a:lnTo>
                <a:lnTo>
                  <a:pt x="12223" y="1472088"/>
                </a:lnTo>
                <a:lnTo>
                  <a:pt x="3194" y="1489967"/>
                </a:lnTo>
                <a:lnTo>
                  <a:pt x="0" y="1496059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9</a:t>
            </a:fld>
            <a:endParaRPr spc="50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7960" y="384809"/>
            <a:ext cx="57429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chemeClr val="tx1"/>
                </a:solidFill>
              </a:rPr>
              <a:t>Relations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entre</a:t>
            </a:r>
            <a:r>
              <a:rPr lang="fr-FR" spc="-60" dirty="0">
                <a:solidFill>
                  <a:schemeClr val="tx1"/>
                </a:solidFill>
              </a:rPr>
              <a:t> </a:t>
            </a:r>
            <a:r>
              <a:rPr spc="-60" dirty="0" err="1">
                <a:solidFill>
                  <a:schemeClr val="tx1"/>
                </a:solidFill>
              </a:rPr>
              <a:t>objets</a:t>
            </a:r>
            <a:endParaRPr spc="-6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319" y="4464050"/>
            <a:ext cx="1694180" cy="2540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300"/>
              </a:spcBef>
            </a:pPr>
            <a:r>
              <a:rPr sz="1200" b="1" u="sng" spc="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sz="12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2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200" b="1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200" b="1" u="sng" spc="3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1200" b="1" spc="-215" dirty="0">
                <a:latin typeface="Arial"/>
                <a:cs typeface="Arial"/>
              </a:rPr>
              <a:t> </a:t>
            </a:r>
            <a:r>
              <a:rPr sz="1200" b="1" u="sng" spc="4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2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1200" b="1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200" b="1" u="sng" spc="5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4319" y="4718050"/>
            <a:ext cx="1694180" cy="87998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latin typeface="Lucida Sans Unicode"/>
                <a:cs typeface="Lucida Sans Unicode"/>
              </a:rPr>
              <a:t>numéro= 123456</a:t>
            </a:r>
          </a:p>
          <a:p>
            <a:pPr marL="90170" marR="560070">
              <a:lnSpc>
                <a:spcPct val="122200"/>
              </a:lnSpc>
              <a:spcBef>
                <a:spcPts val="10"/>
              </a:spcBef>
            </a:pPr>
            <a:r>
              <a:rPr sz="1200" dirty="0">
                <a:latin typeface="Lucida Sans Unicode"/>
                <a:cs typeface="Lucida Sans Unicode"/>
              </a:rPr>
              <a:t>devise= EUR  solde= 3509,43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24319" y="5904229"/>
            <a:ext cx="2303780" cy="25907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20"/>
              </a:spcBef>
            </a:pPr>
            <a:r>
              <a:rPr sz="1200" b="1" u="sng" spc="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MonCompteSuise:Compte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4319" y="6163309"/>
            <a:ext cx="2303780" cy="90281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 marR="903605">
              <a:lnSpc>
                <a:spcPts val="1760"/>
              </a:lnSpc>
            </a:pPr>
            <a:r>
              <a:rPr sz="1200" dirty="0">
                <a:latin typeface="Lucida Sans Unicode"/>
                <a:cs typeface="Lucida Sans Unicode"/>
              </a:rPr>
              <a:t>numéro= 70054568  devise= CHF</a:t>
            </a:r>
          </a:p>
          <a:p>
            <a:pPr marL="90170">
              <a:lnSpc>
                <a:spcPct val="100000"/>
              </a:lnSpc>
              <a:spcBef>
                <a:spcPts val="220"/>
              </a:spcBef>
            </a:pPr>
            <a:r>
              <a:rPr sz="1200" dirty="0">
                <a:latin typeface="Lucida Sans Unicode"/>
                <a:cs typeface="Lucida Sans Unicode"/>
              </a:rPr>
              <a:t>solde= 121000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6270" y="4540250"/>
            <a:ext cx="1910080" cy="2540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00"/>
              </a:spcBef>
            </a:pPr>
            <a:r>
              <a:rPr sz="1200" b="1" u="sng" spc="85" dirty="0">
                <a:solidFill>
                  <a:srgbClr val="569C1B"/>
                </a:solidFill>
                <a:uFill>
                  <a:solidFill>
                    <a:srgbClr val="569C1B"/>
                  </a:solidFill>
                </a:uFill>
                <a:latin typeface="Arial"/>
                <a:cs typeface="Arial"/>
              </a:rPr>
              <a:t>JeanDupont:Persone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6350" y="4895850"/>
            <a:ext cx="2807970" cy="0"/>
          </a:xfrm>
          <a:custGeom>
            <a:avLst/>
            <a:gdLst/>
            <a:ahLst/>
            <a:cxnLst/>
            <a:rect l="l" t="t" r="r" b="b"/>
            <a:pathLst>
              <a:path w="2807970">
                <a:moveTo>
                  <a:pt x="0" y="0"/>
                </a:moveTo>
                <a:lnTo>
                  <a:pt x="280797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6350" y="5040629"/>
            <a:ext cx="2807970" cy="1367790"/>
          </a:xfrm>
          <a:custGeom>
            <a:avLst/>
            <a:gdLst/>
            <a:ahLst/>
            <a:cxnLst/>
            <a:rect l="l" t="t" r="r" b="b"/>
            <a:pathLst>
              <a:path w="2807970" h="1367789">
                <a:moveTo>
                  <a:pt x="0" y="0"/>
                </a:moveTo>
                <a:lnTo>
                  <a:pt x="2807970" y="136779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816350" y="3455670"/>
            <a:ext cx="2807970" cy="1296670"/>
            <a:chOff x="3816350" y="3455670"/>
            <a:chExt cx="2807970" cy="1296670"/>
          </a:xfrm>
        </p:grpSpPr>
        <p:sp>
          <p:nvSpPr>
            <p:cNvPr id="11" name="object 11"/>
            <p:cNvSpPr/>
            <p:nvPr/>
          </p:nvSpPr>
          <p:spPr>
            <a:xfrm>
              <a:off x="3816350" y="3455670"/>
              <a:ext cx="2807970" cy="1296670"/>
            </a:xfrm>
            <a:custGeom>
              <a:avLst/>
              <a:gdLst/>
              <a:ahLst/>
              <a:cxnLst/>
              <a:rect l="l" t="t" r="r" b="b"/>
              <a:pathLst>
                <a:path w="2807970" h="1296670">
                  <a:moveTo>
                    <a:pt x="0" y="1296669"/>
                  </a:moveTo>
                  <a:lnTo>
                    <a:pt x="28079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9559" y="3961130"/>
              <a:ext cx="220979" cy="718820"/>
            </a:xfrm>
            <a:custGeom>
              <a:avLst/>
              <a:gdLst/>
              <a:ahLst/>
              <a:cxnLst/>
              <a:rect l="l" t="t" r="r" b="b"/>
              <a:pathLst>
                <a:path w="220979" h="718820">
                  <a:moveTo>
                    <a:pt x="220979" y="718820"/>
                  </a:moveTo>
                  <a:lnTo>
                    <a:pt x="198278" y="676929"/>
                  </a:lnTo>
                  <a:lnTo>
                    <a:pt x="177482" y="635158"/>
                  </a:lnTo>
                  <a:lnTo>
                    <a:pt x="158114" y="593625"/>
                  </a:lnTo>
                  <a:lnTo>
                    <a:pt x="139700" y="552450"/>
                  </a:lnTo>
                </a:path>
                <a:path w="220979" h="718820">
                  <a:moveTo>
                    <a:pt x="100329" y="455930"/>
                  </a:moveTo>
                  <a:lnTo>
                    <a:pt x="84832" y="411420"/>
                  </a:lnTo>
                  <a:lnTo>
                    <a:pt x="70643" y="367506"/>
                  </a:lnTo>
                  <a:lnTo>
                    <a:pt x="57646" y="324306"/>
                  </a:lnTo>
                  <a:lnTo>
                    <a:pt x="45719" y="281940"/>
                  </a:lnTo>
                </a:path>
                <a:path w="220979" h="718820">
                  <a:moveTo>
                    <a:pt x="22860" y="179070"/>
                  </a:moveTo>
                  <a:lnTo>
                    <a:pt x="15001" y="132695"/>
                  </a:lnTo>
                  <a:lnTo>
                    <a:pt x="8572" y="87153"/>
                  </a:lnTo>
                  <a:lnTo>
                    <a:pt x="3571" y="42802"/>
                  </a:lnTo>
                  <a:lnTo>
                    <a:pt x="0" y="0"/>
                  </a:lnTo>
                </a:path>
              </a:pathLst>
            </a:custGeom>
            <a:ln w="35941">
              <a:solidFill>
                <a:srgbClr val="569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29379" y="2705100"/>
            <a:ext cx="1797051" cy="29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es</a:t>
            </a:r>
            <a:r>
              <a:rPr lang="fr-FR"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Propriétaires</a:t>
            </a:r>
            <a:r>
              <a:rPr lang="fr-FR" sz="18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490" y="1258570"/>
            <a:ext cx="32550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Lien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entre</a:t>
            </a:r>
            <a:r>
              <a:rPr lang="fr-FR" sz="2400" spc="1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objets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9188" y="1625599"/>
            <a:ext cx="8944612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lang="fr-FR" sz="2400" spc="-30" dirty="0">
                <a:latin typeface="Lucida Sans Unicode"/>
                <a:cs typeface="Lucida Sans Unicode"/>
              </a:rPr>
              <a:t>R</a:t>
            </a:r>
            <a:r>
              <a:rPr sz="2400" spc="-30" dirty="0">
                <a:latin typeface="Lucida Sans Unicode"/>
                <a:cs typeface="Lucida Sans Unicode"/>
              </a:rPr>
              <a:t>elation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binaire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(</a:t>
            </a:r>
            <a:r>
              <a:rPr sz="2400" spc="-30" dirty="0" err="1">
                <a:latin typeface="Lucida Sans Unicode"/>
                <a:cs typeface="Lucida Sans Unicode"/>
              </a:rPr>
              <a:t>en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général</a:t>
            </a:r>
            <a:r>
              <a:rPr sz="2400" spc="-30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lang="fr-FR" sz="2400" spc="5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u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plus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un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lien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entre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deux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objets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(pour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une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as</a:t>
            </a:r>
            <a:r>
              <a:rPr lang="fr-FR" sz="2400" spc="5" dirty="0">
                <a:latin typeface="Lucida Sans Unicode"/>
                <a:cs typeface="Lucida Sans Unicode"/>
              </a:rPr>
              <a:t>s</a:t>
            </a:r>
            <a:r>
              <a:rPr sz="2400" spc="5" dirty="0" err="1">
                <a:latin typeface="Lucida Sans Unicode"/>
                <a:cs typeface="Lucida Sans Unicode"/>
              </a:rPr>
              <a:t>ociation</a:t>
            </a:r>
            <a:r>
              <a:rPr sz="2400" spc="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95750" y="3671570"/>
            <a:ext cx="12700" cy="180340"/>
          </a:xfrm>
          <a:custGeom>
            <a:avLst/>
            <a:gdLst/>
            <a:ahLst/>
            <a:cxnLst/>
            <a:rect l="l" t="t" r="r" b="b"/>
            <a:pathLst>
              <a:path w="12700" h="180339">
                <a:moveTo>
                  <a:pt x="0" y="180339"/>
                </a:moveTo>
                <a:lnTo>
                  <a:pt x="1627" y="132695"/>
                </a:lnTo>
                <a:lnTo>
                  <a:pt x="4445" y="86836"/>
                </a:lnTo>
                <a:lnTo>
                  <a:pt x="8215" y="42644"/>
                </a:lnTo>
                <a:lnTo>
                  <a:pt x="12700" y="0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27500" y="3394709"/>
            <a:ext cx="52069" cy="172720"/>
          </a:xfrm>
          <a:custGeom>
            <a:avLst/>
            <a:gdLst/>
            <a:ahLst/>
            <a:cxnLst/>
            <a:rect l="l" t="t" r="r" b="b"/>
            <a:pathLst>
              <a:path w="52070" h="172720">
                <a:moveTo>
                  <a:pt x="0" y="172719"/>
                </a:moveTo>
                <a:lnTo>
                  <a:pt x="11886" y="125551"/>
                </a:lnTo>
                <a:lnTo>
                  <a:pt x="24606" y="81121"/>
                </a:lnTo>
                <a:lnTo>
                  <a:pt x="38040" y="39310"/>
                </a:lnTo>
                <a:lnTo>
                  <a:pt x="52070" y="0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21479" y="3136900"/>
            <a:ext cx="93980" cy="158750"/>
          </a:xfrm>
          <a:custGeom>
            <a:avLst/>
            <a:gdLst/>
            <a:ahLst/>
            <a:cxnLst/>
            <a:rect l="l" t="t" r="r" b="b"/>
            <a:pathLst>
              <a:path w="93979" h="158750">
                <a:moveTo>
                  <a:pt x="0" y="158750"/>
                </a:moveTo>
                <a:lnTo>
                  <a:pt x="31293" y="98762"/>
                </a:lnTo>
                <a:lnTo>
                  <a:pt x="58896" y="52228"/>
                </a:lnTo>
                <a:lnTo>
                  <a:pt x="80545" y="19268"/>
                </a:lnTo>
                <a:lnTo>
                  <a:pt x="93980" y="0"/>
                </a:lnTo>
              </a:path>
            </a:pathLst>
          </a:custGeom>
          <a:ln w="35941">
            <a:solidFill>
              <a:srgbClr val="569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37759" y="4643120"/>
            <a:ext cx="94234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ucida Sans Unicode"/>
                <a:cs typeface="Lucida Sans Unicode"/>
              </a:rPr>
              <a:t>pos</a:t>
            </a:r>
            <a:r>
              <a:rPr lang="fr-FR" sz="1400" dirty="0">
                <a:latin typeface="Lucida Sans Unicode"/>
                <a:cs typeface="Lucida Sans Unicode"/>
              </a:rPr>
              <a:t>s</a:t>
            </a:r>
            <a:r>
              <a:rPr sz="1400" dirty="0" err="1">
                <a:latin typeface="Lucida Sans Unicode"/>
                <a:cs typeface="Lucida Sans Unicode"/>
              </a:rPr>
              <a:t>ède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8928099" y="7117638"/>
            <a:ext cx="773430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4937759" y="5363209"/>
            <a:ext cx="78867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Lucida Sans Unicode"/>
                <a:cs typeface="Lucida Sans Unicode"/>
              </a:rPr>
              <a:t>pos</a:t>
            </a:r>
            <a:r>
              <a:rPr lang="fr-FR" sz="1400" dirty="0">
                <a:latin typeface="Lucida Sans Unicode"/>
                <a:cs typeface="Lucida Sans Unicode"/>
              </a:rPr>
              <a:t>s</a:t>
            </a:r>
            <a:r>
              <a:rPr sz="1400" dirty="0" err="1">
                <a:latin typeface="Lucida Sans Unicode"/>
                <a:cs typeface="Lucida Sans Unicode"/>
              </a:rPr>
              <a:t>ède</a:t>
            </a:r>
            <a:endParaRPr sz="1400" dirty="0">
              <a:latin typeface="Lucida Sans Unicode"/>
              <a:cs typeface="Lucida Sans Unicode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1534"/>
              </p:ext>
            </p:extLst>
          </p:nvPr>
        </p:nvGraphicFramePr>
        <p:xfrm>
          <a:off x="1906270" y="2840640"/>
          <a:ext cx="6878320" cy="164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10">
                <a:tc rowSpan="2"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u="sng" spc="90" dirty="0" err="1">
                          <a:solidFill>
                            <a:srgbClr val="569C1B"/>
                          </a:solidFill>
                          <a:uFill>
                            <a:solidFill>
                              <a:srgbClr val="569C1B"/>
                            </a:solidFill>
                          </a:uFill>
                          <a:latin typeface="Arial"/>
                          <a:cs typeface="Arial"/>
                        </a:rPr>
                        <a:t>MarieDupont:Persone</a:t>
                      </a:r>
                      <a:r>
                        <a:rPr lang="fr-FR" sz="1200" b="1" u="sng" spc="90" dirty="0">
                          <a:solidFill>
                            <a:srgbClr val="569C1B"/>
                          </a:solidFill>
                          <a:uFill>
                            <a:solidFill>
                              <a:srgbClr val="569C1B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6525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pos</a:t>
                      </a:r>
                      <a:r>
                        <a:rPr lang="fr-FR" sz="1400" spc="0" baseline="0" dirty="0"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sz="1400" spc="0" baseline="0" dirty="0" err="1">
                          <a:latin typeface="Lucida Sans Unicode"/>
                          <a:cs typeface="Lucida Sans Unicode"/>
                        </a:rPr>
                        <a:t>ède</a:t>
                      </a:r>
                      <a:endParaRPr sz="1400" spc="0" baseline="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u="sng" spc="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MonCompteJoint:Compte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rowSpan="4">
                  <a:txBody>
                    <a:bodyPr/>
                    <a:lstStyle/>
                    <a:p>
                      <a:pPr marL="89535" marR="226060">
                        <a:lnSpc>
                          <a:spcPct val="122500"/>
                        </a:lnSpc>
                        <a:spcBef>
                          <a:spcPts val="155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nom = "Dupont"  prénom = "Marie"  adresse= "Montrouge"  naissance= 4/12/1992</a:t>
                      </a:r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numéro= 854126</a:t>
                      </a:r>
                    </a:p>
                    <a:p>
                      <a:pPr marL="90170" marR="1026160">
                        <a:lnSpc>
                          <a:spcPct val="122200"/>
                        </a:lnSpc>
                        <a:spcBef>
                          <a:spcPts val="10"/>
                        </a:spcBef>
                      </a:pPr>
                      <a:r>
                        <a:rPr sz="1200" spc="0" baseline="0" dirty="0">
                          <a:latin typeface="Lucida Sans Unicode"/>
                          <a:cs typeface="Lucida Sans Unicode"/>
                        </a:rPr>
                        <a:t>devise= EUR  solde= 2215,03</a:t>
                      </a: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 marL="130810" algn="ctr">
                        <a:lnSpc>
                          <a:spcPts val="1510"/>
                        </a:lnSpc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pos</a:t>
                      </a:r>
                      <a:r>
                        <a:rPr lang="fr-FR" sz="1400" spc="0" baseline="0" dirty="0"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sz="1400" spc="0" baseline="0" dirty="0" err="1">
                          <a:latin typeface="Lucida Sans Unicode"/>
                          <a:cs typeface="Lucida Sans Unicode"/>
                        </a:rPr>
                        <a:t>ède</a:t>
                      </a:r>
                      <a:endParaRPr sz="1400" spc="0" baseline="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57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906270" y="4790440"/>
            <a:ext cx="1910080" cy="137197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89535" marR="226060">
              <a:lnSpc>
                <a:spcPct val="122500"/>
              </a:lnSpc>
              <a:spcBef>
                <a:spcPts val="155"/>
              </a:spcBef>
            </a:pPr>
            <a:r>
              <a:rPr sz="1200" dirty="0">
                <a:latin typeface="Lucida Sans Unicode"/>
                <a:cs typeface="Lucida Sans Unicode"/>
              </a:rPr>
              <a:t>nom = "Dupont"  prénom = "Jean"  adresse= "Montrouge"  naissance= 20/08/1990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51900" y="7145019"/>
            <a:ext cx="73405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F7F7F"/>
                </a:solidFill>
                <a:latin typeface="Lucida Sans Unicode"/>
                <a:cs typeface="Lucida Sans Unicode"/>
              </a:rPr>
              <a:t>1</a:t>
            </a:r>
            <a:r>
              <a:rPr lang="fr-FR" sz="1400" dirty="0">
                <a:solidFill>
                  <a:srgbClr val="7F7F7F"/>
                </a:solidFill>
                <a:latin typeface="Lucida Sans Unicode"/>
                <a:cs typeface="Lucida Sans Unicode"/>
              </a:rPr>
              <a:t>1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3900" y="384809"/>
            <a:ext cx="57384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Relations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entre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cla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 err="1">
                <a:solidFill>
                  <a:schemeClr val="tx1"/>
                </a:solidFill>
              </a:rPr>
              <a:t>ses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58489" y="6589235"/>
            <a:ext cx="3907154" cy="54181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400" spc="20" dirty="0">
                <a:solidFill>
                  <a:srgbClr val="569C1B"/>
                </a:solidFill>
                <a:latin typeface="Lucida Sans Unicode"/>
                <a:cs typeface="Lucida Sans Unicode"/>
              </a:rPr>
              <a:t>L</a:t>
            </a:r>
            <a:r>
              <a:rPr sz="2400" spc="-130" dirty="0">
                <a:solidFill>
                  <a:srgbClr val="569C1B"/>
                </a:solidFill>
                <a:latin typeface="Lucida Sans Unicode"/>
                <a:cs typeface="Lucida Sans Unicode"/>
              </a:rPr>
              <a:t>i</a:t>
            </a:r>
            <a:r>
              <a:rPr sz="2400" spc="-275" dirty="0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550" dirty="0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490" dirty="0">
                <a:solidFill>
                  <a:srgbClr val="569C1B"/>
                </a:solidFill>
                <a:latin typeface="Lucida Sans Unicode"/>
                <a:cs typeface="Lucida Sans Unicode"/>
              </a:rPr>
              <a:t>=</a:t>
            </a:r>
            <a:r>
              <a:rPr sz="2400" spc="-484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20" dirty="0">
                <a:solidFill>
                  <a:srgbClr val="569C1B"/>
                </a:solidFill>
                <a:latin typeface="Lucida Sans Unicode"/>
                <a:cs typeface="Lucida Sans Unicode"/>
              </a:rPr>
              <a:t>i</a:t>
            </a:r>
            <a:r>
              <a:rPr sz="2400" spc="-265" dirty="0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-30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185" dirty="0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-250" dirty="0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r>
              <a:rPr sz="2400" spc="-165" dirty="0">
                <a:solidFill>
                  <a:srgbClr val="569C1B"/>
                </a:solidFill>
                <a:latin typeface="Lucida Sans Unicode"/>
                <a:cs typeface="Lucida Sans Unicode"/>
              </a:rPr>
              <a:t>c</a:t>
            </a:r>
            <a:r>
              <a:rPr sz="2400" spc="525" dirty="0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sz="2400" spc="-290" dirty="0">
                <a:solidFill>
                  <a:srgbClr val="569C1B"/>
                </a:solidFill>
                <a:latin typeface="Lucida Sans Unicode"/>
                <a:cs typeface="Lucida Sans Unicode"/>
              </a:rPr>
              <a:t>d</a:t>
            </a:r>
            <a:r>
              <a:rPr sz="2400" spc="125" dirty="0">
                <a:solidFill>
                  <a:srgbClr val="569C1B"/>
                </a:solidFill>
                <a:latin typeface="Lucida Sans Unicode"/>
                <a:cs typeface="Lucida Sans Unicode"/>
              </a:rPr>
              <a:t>'</a:t>
            </a:r>
            <a:r>
              <a:rPr sz="2400" spc="-185" dirty="0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-31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30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229" dirty="0">
                <a:solidFill>
                  <a:srgbClr val="569C1B"/>
                </a:solidFill>
                <a:latin typeface="Lucida Sans Unicode"/>
                <a:cs typeface="Lucida Sans Unicode"/>
              </a:rPr>
              <a:t>o</a:t>
            </a:r>
            <a:r>
              <a:rPr sz="2400" spc="-165" dirty="0">
                <a:solidFill>
                  <a:srgbClr val="569C1B"/>
                </a:solidFill>
                <a:latin typeface="Lucida Sans Unicode"/>
                <a:cs typeface="Lucida Sans Unicode"/>
              </a:rPr>
              <a:t>c</a:t>
            </a:r>
            <a:r>
              <a:rPr sz="2400" spc="-120" dirty="0">
                <a:solidFill>
                  <a:srgbClr val="569C1B"/>
                </a:solidFill>
                <a:latin typeface="Lucida Sans Unicode"/>
                <a:cs typeface="Lucida Sans Unicode"/>
              </a:rPr>
              <a:t>i</a:t>
            </a:r>
            <a:r>
              <a:rPr sz="2400" spc="-185" dirty="0">
                <a:solidFill>
                  <a:srgbClr val="569C1B"/>
                </a:solidFill>
                <a:latin typeface="Lucida Sans Unicode"/>
                <a:cs typeface="Lucida Sans Unicode"/>
              </a:rPr>
              <a:t>a</a:t>
            </a: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130" dirty="0">
                <a:solidFill>
                  <a:srgbClr val="569C1B"/>
                </a:solidFill>
                <a:latin typeface="Lucida Sans Unicode"/>
                <a:cs typeface="Lucida Sans Unicode"/>
              </a:rPr>
              <a:t>i</a:t>
            </a:r>
            <a:r>
              <a:rPr sz="2400" spc="-275" dirty="0">
                <a:solidFill>
                  <a:srgbClr val="569C1B"/>
                </a:solidFill>
                <a:latin typeface="Lucida Sans Unicode"/>
                <a:cs typeface="Lucida Sans Unicode"/>
              </a:rPr>
              <a:t>o</a:t>
            </a:r>
            <a:r>
              <a:rPr sz="2400" spc="910" dirty="0">
                <a:solidFill>
                  <a:srgbClr val="569C1B"/>
                </a:solidFill>
                <a:latin typeface="Lucida Sans Unicode"/>
                <a:cs typeface="Lucida Sans Unicode"/>
              </a:rPr>
              <a:t>n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5100" y="1258570"/>
            <a:ext cx="9420859" cy="240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As</a:t>
            </a:r>
            <a:r>
              <a:rPr lang="fr-FR"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s</a:t>
            </a:r>
            <a:r>
              <a:rPr sz="2400" spc="-2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ociation</a:t>
            </a:r>
            <a:r>
              <a:rPr lang="fr-FR"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entre</a:t>
            </a:r>
            <a:r>
              <a:rPr lang="fr-FR"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classes</a:t>
            </a:r>
            <a:r>
              <a:rPr sz="2400" spc="-20" dirty="0">
                <a:latin typeface="Lucida Sans Unicode"/>
                <a:cs typeface="Lucida Sans Unicode"/>
              </a:rPr>
              <a:t>: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Relation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binaire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(</a:t>
            </a:r>
            <a:r>
              <a:rPr sz="2400" spc="-20" dirty="0" err="1">
                <a:latin typeface="Lucida Sans Unicode"/>
                <a:cs typeface="Lucida Sans Unicode"/>
              </a:rPr>
              <a:t>en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général</a:t>
            </a:r>
            <a:r>
              <a:rPr sz="2400" spc="-20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1900"/>
              </a:lnSpc>
              <a:spcBef>
                <a:spcPts val="2660"/>
              </a:spcBef>
            </a:pPr>
            <a:r>
              <a:rPr sz="2400" spc="-15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Rôle</a:t>
            </a:r>
            <a:r>
              <a:rPr sz="2400" spc="-15" dirty="0">
                <a:latin typeface="Lucida Sans Unicode"/>
                <a:cs typeface="Lucida Sans Unicode"/>
              </a:rPr>
              <a:t>: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Nomme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l'extrémité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d'une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asociation,permet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latin typeface="Lucida Sans Unicode"/>
                <a:cs typeface="Lucida Sans Unicode"/>
              </a:rPr>
              <a:t>d'acéder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aux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sz="2400" spc="45" dirty="0" err="1">
                <a:latin typeface="Lucida Sans Unicode"/>
                <a:cs typeface="Lucida Sans Unicode"/>
              </a:rPr>
              <a:t>objets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 err="1">
                <a:latin typeface="Lucida Sans Unicode"/>
                <a:cs typeface="Lucida Sans Unicode"/>
              </a:rPr>
              <a:t>liés</a:t>
            </a:r>
            <a:r>
              <a:rPr lang="fr-FR" sz="2400" spc="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latin typeface="Lucida Sans Unicode"/>
                <a:cs typeface="Lucida Sans Unicode"/>
              </a:rPr>
              <a:t>par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 err="1">
                <a:latin typeface="Lucida Sans Unicode"/>
                <a:cs typeface="Lucida Sans Unicode"/>
              </a:rPr>
              <a:t>l'as</a:t>
            </a:r>
            <a:r>
              <a:rPr lang="fr-FR" sz="2400" spc="45" dirty="0">
                <a:latin typeface="Lucida Sans Unicode"/>
                <a:cs typeface="Lucida Sans Unicode"/>
              </a:rPr>
              <a:t>s</a:t>
            </a:r>
            <a:r>
              <a:rPr sz="2400" spc="45" dirty="0" err="1">
                <a:latin typeface="Lucida Sans Unicode"/>
                <a:cs typeface="Lucida Sans Unicode"/>
              </a:rPr>
              <a:t>ociation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>
                <a:latin typeface="Lucida Sans Unicode"/>
                <a:cs typeface="Lucida Sans Unicode"/>
              </a:rPr>
              <a:t>à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>
                <a:latin typeface="Lucida Sans Unicode"/>
                <a:cs typeface="Lucida Sans Unicode"/>
              </a:rPr>
              <a:t>un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 err="1">
                <a:latin typeface="Lucida Sans Unicode"/>
                <a:cs typeface="Lucida Sans Unicode"/>
              </a:rPr>
              <a:t>objet</a:t>
            </a:r>
            <a:r>
              <a:rPr lang="fr-FR" sz="2400" spc="45" dirty="0">
                <a:latin typeface="Lucida Sans Unicode"/>
                <a:cs typeface="Lucida Sans Unicode"/>
              </a:rPr>
              <a:t> </a:t>
            </a:r>
            <a:r>
              <a:rPr sz="2400" spc="45" dirty="0">
                <a:latin typeface="Lucida Sans Unicode"/>
                <a:cs typeface="Lucida Sans Unicode"/>
              </a:rPr>
              <a:t>don</a:t>
            </a:r>
            <a:r>
              <a:rPr lang="fr-FR" sz="2400" spc="45" dirty="0">
                <a:latin typeface="Lucida Sans Unicode"/>
                <a:cs typeface="Lucida Sans Unicode"/>
              </a:rPr>
              <a:t>n</a:t>
            </a:r>
            <a:r>
              <a:rPr sz="2400" spc="45" dirty="0">
                <a:latin typeface="Lucida Sans Unicode"/>
                <a:cs typeface="Lucida Sans Unicode"/>
              </a:rPr>
              <a:t>é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spc="-5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Multiplicité</a:t>
            </a:r>
            <a:r>
              <a:rPr sz="2400" spc="-50" dirty="0">
                <a:latin typeface="Lucida Sans Unicode"/>
                <a:cs typeface="Lucida Sans Unicode"/>
              </a:rPr>
              <a:t>: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Contraint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le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nombre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d'objets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liés</a:t>
            </a:r>
            <a:r>
              <a:rPr lang="fr-FR" sz="24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par</a:t>
            </a:r>
            <a:r>
              <a:rPr lang="fr-FR" sz="2400" spc="-50" dirty="0">
                <a:latin typeface="Lucida Sans Unicode"/>
                <a:cs typeface="Lucida Sans Unicode"/>
              </a:rPr>
              <a:t> </a:t>
            </a:r>
            <a:r>
              <a:rPr sz="2400" spc="-50" dirty="0" err="1">
                <a:latin typeface="Lucida Sans Unicode"/>
                <a:cs typeface="Lucida Sans Unicode"/>
              </a:rPr>
              <a:t>l'association</a:t>
            </a:r>
            <a:endParaRPr sz="2400" dirty="0">
              <a:latin typeface="Lucida Sans Unicode"/>
              <a:cs typeface="Lucida Sans Unicode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19A80695-1380-4FC0-9B69-52E4517B5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5850"/>
            <a:ext cx="10083800" cy="30279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1769" y="5400040"/>
            <a:ext cx="433070" cy="431800"/>
            <a:chOff x="7811769" y="5400040"/>
            <a:chExt cx="433070" cy="431800"/>
          </a:xfrm>
        </p:grpSpPr>
        <p:sp>
          <p:nvSpPr>
            <p:cNvPr id="3" name="object 3"/>
            <p:cNvSpPr/>
            <p:nvPr/>
          </p:nvSpPr>
          <p:spPr>
            <a:xfrm>
              <a:off x="7811769" y="540004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248"/>
                  </a:lnTo>
                  <a:lnTo>
                    <a:pt x="21475" y="312020"/>
                  </a:lnTo>
                  <a:lnTo>
                    <a:pt x="46586" y="352060"/>
                  </a:lnTo>
                  <a:lnTo>
                    <a:pt x="79739" y="385213"/>
                  </a:lnTo>
                  <a:lnTo>
                    <a:pt x="119779" y="410324"/>
                  </a:lnTo>
                  <a:lnTo>
                    <a:pt x="165551" y="426238"/>
                  </a:lnTo>
                  <a:lnTo>
                    <a:pt x="215900" y="431800"/>
                  </a:lnTo>
                  <a:lnTo>
                    <a:pt x="266648" y="426238"/>
                  </a:lnTo>
                  <a:lnTo>
                    <a:pt x="312575" y="410324"/>
                  </a:lnTo>
                  <a:lnTo>
                    <a:pt x="352593" y="385213"/>
                  </a:lnTo>
                  <a:lnTo>
                    <a:pt x="359319" y="378460"/>
                  </a:lnTo>
                  <a:lnTo>
                    <a:pt x="210820" y="378460"/>
                  </a:lnTo>
                  <a:lnTo>
                    <a:pt x="201929" y="377190"/>
                  </a:lnTo>
                  <a:lnTo>
                    <a:pt x="171450" y="372110"/>
                  </a:lnTo>
                  <a:lnTo>
                    <a:pt x="162559" y="369570"/>
                  </a:lnTo>
                  <a:lnTo>
                    <a:pt x="154939" y="365760"/>
                  </a:lnTo>
                  <a:lnTo>
                    <a:pt x="148589" y="363220"/>
                  </a:lnTo>
                  <a:lnTo>
                    <a:pt x="133350" y="355600"/>
                  </a:lnTo>
                  <a:lnTo>
                    <a:pt x="127000" y="350520"/>
                  </a:lnTo>
                  <a:lnTo>
                    <a:pt x="120650" y="346710"/>
                  </a:lnTo>
                  <a:lnTo>
                    <a:pt x="86359" y="312420"/>
                  </a:lnTo>
                  <a:lnTo>
                    <a:pt x="77470" y="298450"/>
                  </a:lnTo>
                  <a:lnTo>
                    <a:pt x="72389" y="292100"/>
                  </a:lnTo>
                  <a:lnTo>
                    <a:pt x="69850" y="284480"/>
                  </a:lnTo>
                  <a:lnTo>
                    <a:pt x="66039" y="276860"/>
                  </a:lnTo>
                  <a:lnTo>
                    <a:pt x="58420" y="254000"/>
                  </a:lnTo>
                  <a:lnTo>
                    <a:pt x="57150" y="245110"/>
                  </a:lnTo>
                  <a:lnTo>
                    <a:pt x="54609" y="229870"/>
                  </a:lnTo>
                  <a:lnTo>
                    <a:pt x="54609" y="205740"/>
                  </a:lnTo>
                  <a:lnTo>
                    <a:pt x="55879" y="196850"/>
                  </a:lnTo>
                  <a:lnTo>
                    <a:pt x="55879" y="189230"/>
                  </a:lnTo>
                  <a:lnTo>
                    <a:pt x="58420" y="181610"/>
                  </a:lnTo>
                  <a:lnTo>
                    <a:pt x="59689" y="172720"/>
                  </a:lnTo>
                  <a:lnTo>
                    <a:pt x="64770" y="157480"/>
                  </a:lnTo>
                  <a:lnTo>
                    <a:pt x="68579" y="149860"/>
                  </a:lnTo>
                  <a:lnTo>
                    <a:pt x="71120" y="143510"/>
                  </a:lnTo>
                  <a:lnTo>
                    <a:pt x="74929" y="135890"/>
                  </a:lnTo>
                  <a:lnTo>
                    <a:pt x="80009" y="128270"/>
                  </a:lnTo>
                  <a:lnTo>
                    <a:pt x="83820" y="121920"/>
                  </a:lnTo>
                  <a:lnTo>
                    <a:pt x="160020" y="121920"/>
                  </a:lnTo>
                  <a:lnTo>
                    <a:pt x="121920" y="83820"/>
                  </a:lnTo>
                  <a:lnTo>
                    <a:pt x="129539" y="80010"/>
                  </a:lnTo>
                  <a:lnTo>
                    <a:pt x="135889" y="74930"/>
                  </a:lnTo>
                  <a:lnTo>
                    <a:pt x="143509" y="71120"/>
                  </a:lnTo>
                  <a:lnTo>
                    <a:pt x="149859" y="68580"/>
                  </a:lnTo>
                  <a:lnTo>
                    <a:pt x="157479" y="64770"/>
                  </a:lnTo>
                  <a:lnTo>
                    <a:pt x="166370" y="62230"/>
                  </a:lnTo>
                  <a:lnTo>
                    <a:pt x="173989" y="59690"/>
                  </a:lnTo>
                  <a:lnTo>
                    <a:pt x="181609" y="58420"/>
                  </a:lnTo>
                  <a:lnTo>
                    <a:pt x="189229" y="55880"/>
                  </a:lnTo>
                  <a:lnTo>
                    <a:pt x="198120" y="54610"/>
                  </a:lnTo>
                  <a:lnTo>
                    <a:pt x="205739" y="54610"/>
                  </a:lnTo>
                  <a:lnTo>
                    <a:pt x="213359" y="53340"/>
                  </a:lnTo>
                  <a:lnTo>
                    <a:pt x="359319" y="53340"/>
                  </a:lnTo>
                  <a:lnTo>
                    <a:pt x="352593" y="46586"/>
                  </a:lnTo>
                  <a:lnTo>
                    <a:pt x="312575" y="21475"/>
                  </a:lnTo>
                  <a:lnTo>
                    <a:pt x="266648" y="5561"/>
                  </a:lnTo>
                  <a:lnTo>
                    <a:pt x="215900" y="0"/>
                  </a:lnTo>
                  <a:close/>
                </a:path>
                <a:path w="431800" h="431800">
                  <a:moveTo>
                    <a:pt x="160020" y="121920"/>
                  </a:moveTo>
                  <a:lnTo>
                    <a:pt x="83820" y="121920"/>
                  </a:lnTo>
                  <a:lnTo>
                    <a:pt x="309879" y="347980"/>
                  </a:lnTo>
                  <a:lnTo>
                    <a:pt x="303529" y="351790"/>
                  </a:lnTo>
                  <a:lnTo>
                    <a:pt x="259079" y="372110"/>
                  </a:lnTo>
                  <a:lnTo>
                    <a:pt x="251459" y="373380"/>
                  </a:lnTo>
                  <a:lnTo>
                    <a:pt x="243839" y="375920"/>
                  </a:lnTo>
                  <a:lnTo>
                    <a:pt x="234950" y="377190"/>
                  </a:lnTo>
                  <a:lnTo>
                    <a:pt x="227329" y="377190"/>
                  </a:lnTo>
                  <a:lnTo>
                    <a:pt x="218439" y="378460"/>
                  </a:lnTo>
                  <a:lnTo>
                    <a:pt x="359319" y="378460"/>
                  </a:lnTo>
                  <a:lnTo>
                    <a:pt x="385613" y="352060"/>
                  </a:lnTo>
                  <a:lnTo>
                    <a:pt x="410546" y="312020"/>
                  </a:lnTo>
                  <a:lnTo>
                    <a:pt x="411283" y="309880"/>
                  </a:lnTo>
                  <a:lnTo>
                    <a:pt x="347979" y="309880"/>
                  </a:lnTo>
                  <a:lnTo>
                    <a:pt x="160020" y="121920"/>
                  </a:lnTo>
                  <a:close/>
                </a:path>
                <a:path w="431800" h="431800">
                  <a:moveTo>
                    <a:pt x="359319" y="53340"/>
                  </a:moveTo>
                  <a:lnTo>
                    <a:pt x="222250" y="53340"/>
                  </a:lnTo>
                  <a:lnTo>
                    <a:pt x="237489" y="55880"/>
                  </a:lnTo>
                  <a:lnTo>
                    <a:pt x="246379" y="57150"/>
                  </a:lnTo>
                  <a:lnTo>
                    <a:pt x="254000" y="58420"/>
                  </a:lnTo>
                  <a:lnTo>
                    <a:pt x="284479" y="68580"/>
                  </a:lnTo>
                  <a:lnTo>
                    <a:pt x="292100" y="72390"/>
                  </a:lnTo>
                  <a:lnTo>
                    <a:pt x="298450" y="76200"/>
                  </a:lnTo>
                  <a:lnTo>
                    <a:pt x="306070" y="81280"/>
                  </a:lnTo>
                  <a:lnTo>
                    <a:pt x="312420" y="85090"/>
                  </a:lnTo>
                  <a:lnTo>
                    <a:pt x="325120" y="95250"/>
                  </a:lnTo>
                  <a:lnTo>
                    <a:pt x="330200" y="101600"/>
                  </a:lnTo>
                  <a:lnTo>
                    <a:pt x="336550" y="106680"/>
                  </a:lnTo>
                  <a:lnTo>
                    <a:pt x="346709" y="119380"/>
                  </a:lnTo>
                  <a:lnTo>
                    <a:pt x="351789" y="127000"/>
                  </a:lnTo>
                  <a:lnTo>
                    <a:pt x="355600" y="133350"/>
                  </a:lnTo>
                  <a:lnTo>
                    <a:pt x="359409" y="140970"/>
                  </a:lnTo>
                  <a:lnTo>
                    <a:pt x="363220" y="147320"/>
                  </a:lnTo>
                  <a:lnTo>
                    <a:pt x="365759" y="154940"/>
                  </a:lnTo>
                  <a:lnTo>
                    <a:pt x="369570" y="162560"/>
                  </a:lnTo>
                  <a:lnTo>
                    <a:pt x="372109" y="170180"/>
                  </a:lnTo>
                  <a:lnTo>
                    <a:pt x="373379" y="179070"/>
                  </a:lnTo>
                  <a:lnTo>
                    <a:pt x="375920" y="186690"/>
                  </a:lnTo>
                  <a:lnTo>
                    <a:pt x="377189" y="194310"/>
                  </a:lnTo>
                  <a:lnTo>
                    <a:pt x="377189" y="201930"/>
                  </a:lnTo>
                  <a:lnTo>
                    <a:pt x="378459" y="210820"/>
                  </a:lnTo>
                  <a:lnTo>
                    <a:pt x="378459" y="227330"/>
                  </a:lnTo>
                  <a:lnTo>
                    <a:pt x="375920" y="242570"/>
                  </a:lnTo>
                  <a:lnTo>
                    <a:pt x="374650" y="251460"/>
                  </a:lnTo>
                  <a:lnTo>
                    <a:pt x="372109" y="259080"/>
                  </a:lnTo>
                  <a:lnTo>
                    <a:pt x="370839" y="266700"/>
                  </a:lnTo>
                  <a:lnTo>
                    <a:pt x="367029" y="274320"/>
                  </a:lnTo>
                  <a:lnTo>
                    <a:pt x="364489" y="281940"/>
                  </a:lnTo>
                  <a:lnTo>
                    <a:pt x="360679" y="289560"/>
                  </a:lnTo>
                  <a:lnTo>
                    <a:pt x="356870" y="295910"/>
                  </a:lnTo>
                  <a:lnTo>
                    <a:pt x="353059" y="303530"/>
                  </a:lnTo>
                  <a:lnTo>
                    <a:pt x="347979" y="309880"/>
                  </a:lnTo>
                  <a:lnTo>
                    <a:pt x="411283" y="309880"/>
                  </a:lnTo>
                  <a:lnTo>
                    <a:pt x="426305" y="266248"/>
                  </a:lnTo>
                  <a:lnTo>
                    <a:pt x="431800" y="215900"/>
                  </a:lnTo>
                  <a:lnTo>
                    <a:pt x="426305" y="165551"/>
                  </a:lnTo>
                  <a:lnTo>
                    <a:pt x="410546" y="119779"/>
                  </a:lnTo>
                  <a:lnTo>
                    <a:pt x="385613" y="79739"/>
                  </a:lnTo>
                  <a:lnTo>
                    <a:pt x="359319" y="5334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11769" y="5400040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215900" y="0"/>
                  </a:moveTo>
                  <a:lnTo>
                    <a:pt x="266648" y="5561"/>
                  </a:lnTo>
                  <a:lnTo>
                    <a:pt x="312575" y="21475"/>
                  </a:lnTo>
                  <a:lnTo>
                    <a:pt x="352593" y="46586"/>
                  </a:lnTo>
                  <a:lnTo>
                    <a:pt x="385613" y="79739"/>
                  </a:lnTo>
                  <a:lnTo>
                    <a:pt x="410546" y="119779"/>
                  </a:lnTo>
                  <a:lnTo>
                    <a:pt x="426305" y="165551"/>
                  </a:lnTo>
                  <a:lnTo>
                    <a:pt x="431800" y="215900"/>
                  </a:lnTo>
                  <a:lnTo>
                    <a:pt x="426305" y="266248"/>
                  </a:lnTo>
                  <a:lnTo>
                    <a:pt x="410546" y="312020"/>
                  </a:lnTo>
                  <a:lnTo>
                    <a:pt x="385613" y="352060"/>
                  </a:lnTo>
                  <a:lnTo>
                    <a:pt x="352593" y="385213"/>
                  </a:lnTo>
                  <a:lnTo>
                    <a:pt x="312575" y="410324"/>
                  </a:lnTo>
                  <a:lnTo>
                    <a:pt x="266648" y="426238"/>
                  </a:lnTo>
                  <a:lnTo>
                    <a:pt x="215900" y="431800"/>
                  </a:lnTo>
                  <a:lnTo>
                    <a:pt x="165551" y="426238"/>
                  </a:lnTo>
                  <a:lnTo>
                    <a:pt x="119779" y="410324"/>
                  </a:lnTo>
                  <a:lnTo>
                    <a:pt x="79739" y="385213"/>
                  </a:lnTo>
                  <a:lnTo>
                    <a:pt x="46586" y="352060"/>
                  </a:lnTo>
                  <a:lnTo>
                    <a:pt x="21475" y="312020"/>
                  </a:lnTo>
                  <a:lnTo>
                    <a:pt x="5561" y="26624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3070" h="431800">
                  <a:moveTo>
                    <a:pt x="83820" y="121920"/>
                  </a:moveTo>
                  <a:lnTo>
                    <a:pt x="80009" y="128270"/>
                  </a:lnTo>
                  <a:lnTo>
                    <a:pt x="74929" y="135890"/>
                  </a:lnTo>
                  <a:lnTo>
                    <a:pt x="71120" y="143510"/>
                  </a:lnTo>
                  <a:lnTo>
                    <a:pt x="68579" y="149860"/>
                  </a:lnTo>
                  <a:lnTo>
                    <a:pt x="64770" y="157480"/>
                  </a:lnTo>
                  <a:lnTo>
                    <a:pt x="62229" y="165100"/>
                  </a:lnTo>
                  <a:lnTo>
                    <a:pt x="59689" y="172720"/>
                  </a:lnTo>
                  <a:lnTo>
                    <a:pt x="58420" y="181610"/>
                  </a:lnTo>
                  <a:lnTo>
                    <a:pt x="55879" y="189230"/>
                  </a:lnTo>
                  <a:lnTo>
                    <a:pt x="55879" y="196850"/>
                  </a:lnTo>
                  <a:lnTo>
                    <a:pt x="54609" y="205740"/>
                  </a:lnTo>
                  <a:lnTo>
                    <a:pt x="54609" y="213360"/>
                  </a:lnTo>
                  <a:lnTo>
                    <a:pt x="54609" y="220980"/>
                  </a:lnTo>
                  <a:lnTo>
                    <a:pt x="54609" y="229870"/>
                  </a:lnTo>
                  <a:lnTo>
                    <a:pt x="55879" y="237490"/>
                  </a:lnTo>
                  <a:lnTo>
                    <a:pt x="57150" y="245110"/>
                  </a:lnTo>
                  <a:lnTo>
                    <a:pt x="58420" y="254000"/>
                  </a:lnTo>
                  <a:lnTo>
                    <a:pt x="60959" y="261620"/>
                  </a:lnTo>
                  <a:lnTo>
                    <a:pt x="63500" y="269240"/>
                  </a:lnTo>
                  <a:lnTo>
                    <a:pt x="66039" y="276860"/>
                  </a:lnTo>
                  <a:lnTo>
                    <a:pt x="69850" y="284480"/>
                  </a:lnTo>
                  <a:lnTo>
                    <a:pt x="72389" y="292100"/>
                  </a:lnTo>
                  <a:lnTo>
                    <a:pt x="77470" y="298450"/>
                  </a:lnTo>
                  <a:lnTo>
                    <a:pt x="81279" y="304800"/>
                  </a:lnTo>
                  <a:lnTo>
                    <a:pt x="86359" y="312420"/>
                  </a:lnTo>
                  <a:lnTo>
                    <a:pt x="91439" y="318770"/>
                  </a:lnTo>
                  <a:lnTo>
                    <a:pt x="96520" y="325120"/>
                  </a:lnTo>
                  <a:lnTo>
                    <a:pt x="101600" y="330200"/>
                  </a:lnTo>
                  <a:lnTo>
                    <a:pt x="107950" y="336550"/>
                  </a:lnTo>
                  <a:lnTo>
                    <a:pt x="113029" y="341630"/>
                  </a:lnTo>
                  <a:lnTo>
                    <a:pt x="120650" y="346710"/>
                  </a:lnTo>
                  <a:lnTo>
                    <a:pt x="127000" y="350520"/>
                  </a:lnTo>
                  <a:lnTo>
                    <a:pt x="133350" y="355600"/>
                  </a:lnTo>
                  <a:lnTo>
                    <a:pt x="140970" y="359410"/>
                  </a:lnTo>
                  <a:lnTo>
                    <a:pt x="148589" y="363220"/>
                  </a:lnTo>
                  <a:lnTo>
                    <a:pt x="154939" y="365760"/>
                  </a:lnTo>
                  <a:lnTo>
                    <a:pt x="162559" y="369570"/>
                  </a:lnTo>
                  <a:lnTo>
                    <a:pt x="171450" y="372110"/>
                  </a:lnTo>
                  <a:lnTo>
                    <a:pt x="179070" y="373380"/>
                  </a:lnTo>
                  <a:lnTo>
                    <a:pt x="186689" y="374650"/>
                  </a:lnTo>
                  <a:lnTo>
                    <a:pt x="194309" y="375920"/>
                  </a:lnTo>
                  <a:lnTo>
                    <a:pt x="201929" y="377190"/>
                  </a:lnTo>
                  <a:lnTo>
                    <a:pt x="210820" y="378460"/>
                  </a:lnTo>
                  <a:lnTo>
                    <a:pt x="218439" y="378460"/>
                  </a:lnTo>
                  <a:lnTo>
                    <a:pt x="227329" y="377190"/>
                  </a:lnTo>
                  <a:lnTo>
                    <a:pt x="234950" y="377190"/>
                  </a:lnTo>
                  <a:lnTo>
                    <a:pt x="243839" y="375920"/>
                  </a:lnTo>
                  <a:lnTo>
                    <a:pt x="251459" y="373380"/>
                  </a:lnTo>
                  <a:lnTo>
                    <a:pt x="259079" y="372110"/>
                  </a:lnTo>
                  <a:lnTo>
                    <a:pt x="295909" y="356870"/>
                  </a:lnTo>
                  <a:lnTo>
                    <a:pt x="303529" y="351790"/>
                  </a:lnTo>
                  <a:lnTo>
                    <a:pt x="309879" y="347980"/>
                  </a:lnTo>
                  <a:lnTo>
                    <a:pt x="83820" y="121920"/>
                  </a:lnTo>
                  <a:close/>
                </a:path>
                <a:path w="433070" h="431800">
                  <a:moveTo>
                    <a:pt x="347979" y="309880"/>
                  </a:moveTo>
                  <a:lnTo>
                    <a:pt x="353059" y="303530"/>
                  </a:lnTo>
                  <a:lnTo>
                    <a:pt x="356870" y="295910"/>
                  </a:lnTo>
                  <a:lnTo>
                    <a:pt x="360679" y="289560"/>
                  </a:lnTo>
                  <a:lnTo>
                    <a:pt x="364489" y="281940"/>
                  </a:lnTo>
                  <a:lnTo>
                    <a:pt x="367029" y="274320"/>
                  </a:lnTo>
                  <a:lnTo>
                    <a:pt x="370839" y="266700"/>
                  </a:lnTo>
                  <a:lnTo>
                    <a:pt x="372109" y="259080"/>
                  </a:lnTo>
                  <a:lnTo>
                    <a:pt x="374650" y="251460"/>
                  </a:lnTo>
                  <a:lnTo>
                    <a:pt x="375920" y="242570"/>
                  </a:lnTo>
                  <a:lnTo>
                    <a:pt x="377189" y="234950"/>
                  </a:lnTo>
                  <a:lnTo>
                    <a:pt x="378459" y="227330"/>
                  </a:lnTo>
                  <a:lnTo>
                    <a:pt x="378459" y="218440"/>
                  </a:lnTo>
                  <a:lnTo>
                    <a:pt x="378459" y="210820"/>
                  </a:lnTo>
                  <a:lnTo>
                    <a:pt x="377189" y="201930"/>
                  </a:lnTo>
                  <a:lnTo>
                    <a:pt x="377189" y="194310"/>
                  </a:lnTo>
                  <a:lnTo>
                    <a:pt x="375920" y="186690"/>
                  </a:lnTo>
                  <a:lnTo>
                    <a:pt x="373379" y="179070"/>
                  </a:lnTo>
                  <a:lnTo>
                    <a:pt x="372109" y="170180"/>
                  </a:lnTo>
                  <a:lnTo>
                    <a:pt x="369570" y="162560"/>
                  </a:lnTo>
                  <a:lnTo>
                    <a:pt x="365759" y="154940"/>
                  </a:lnTo>
                  <a:lnTo>
                    <a:pt x="363220" y="147320"/>
                  </a:lnTo>
                  <a:lnTo>
                    <a:pt x="359409" y="140970"/>
                  </a:lnTo>
                  <a:lnTo>
                    <a:pt x="355600" y="133350"/>
                  </a:lnTo>
                  <a:lnTo>
                    <a:pt x="351789" y="127000"/>
                  </a:lnTo>
                  <a:lnTo>
                    <a:pt x="346709" y="119380"/>
                  </a:lnTo>
                  <a:lnTo>
                    <a:pt x="341629" y="113030"/>
                  </a:lnTo>
                  <a:lnTo>
                    <a:pt x="336550" y="106680"/>
                  </a:lnTo>
                  <a:lnTo>
                    <a:pt x="330200" y="101600"/>
                  </a:lnTo>
                  <a:lnTo>
                    <a:pt x="325120" y="95250"/>
                  </a:lnTo>
                  <a:lnTo>
                    <a:pt x="318770" y="90170"/>
                  </a:lnTo>
                  <a:lnTo>
                    <a:pt x="312420" y="85090"/>
                  </a:lnTo>
                  <a:lnTo>
                    <a:pt x="306070" y="81280"/>
                  </a:lnTo>
                  <a:lnTo>
                    <a:pt x="298450" y="76200"/>
                  </a:lnTo>
                  <a:lnTo>
                    <a:pt x="292100" y="72390"/>
                  </a:lnTo>
                  <a:lnTo>
                    <a:pt x="284479" y="68580"/>
                  </a:lnTo>
                  <a:lnTo>
                    <a:pt x="276859" y="66040"/>
                  </a:lnTo>
                  <a:lnTo>
                    <a:pt x="269239" y="63500"/>
                  </a:lnTo>
                  <a:lnTo>
                    <a:pt x="261620" y="60960"/>
                  </a:lnTo>
                  <a:lnTo>
                    <a:pt x="254000" y="58420"/>
                  </a:lnTo>
                  <a:lnTo>
                    <a:pt x="246379" y="57150"/>
                  </a:lnTo>
                  <a:lnTo>
                    <a:pt x="237489" y="55880"/>
                  </a:lnTo>
                  <a:lnTo>
                    <a:pt x="229870" y="54610"/>
                  </a:lnTo>
                  <a:lnTo>
                    <a:pt x="222250" y="53340"/>
                  </a:lnTo>
                  <a:lnTo>
                    <a:pt x="213359" y="53340"/>
                  </a:lnTo>
                  <a:lnTo>
                    <a:pt x="205739" y="54610"/>
                  </a:lnTo>
                  <a:lnTo>
                    <a:pt x="198120" y="54610"/>
                  </a:lnTo>
                  <a:lnTo>
                    <a:pt x="189229" y="55880"/>
                  </a:lnTo>
                  <a:lnTo>
                    <a:pt x="181609" y="58420"/>
                  </a:lnTo>
                  <a:lnTo>
                    <a:pt x="173989" y="59690"/>
                  </a:lnTo>
                  <a:lnTo>
                    <a:pt x="166370" y="62230"/>
                  </a:lnTo>
                  <a:lnTo>
                    <a:pt x="157479" y="64770"/>
                  </a:lnTo>
                  <a:lnTo>
                    <a:pt x="149859" y="68580"/>
                  </a:lnTo>
                  <a:lnTo>
                    <a:pt x="143509" y="71120"/>
                  </a:lnTo>
                  <a:lnTo>
                    <a:pt x="135889" y="74930"/>
                  </a:lnTo>
                  <a:lnTo>
                    <a:pt x="129539" y="80010"/>
                  </a:lnTo>
                  <a:lnTo>
                    <a:pt x="121920" y="83820"/>
                  </a:lnTo>
                  <a:lnTo>
                    <a:pt x="347979" y="309880"/>
                  </a:lnTo>
                  <a:close/>
                </a:path>
                <a:path w="433070" h="431800">
                  <a:moveTo>
                    <a:pt x="0" y="0"/>
                  </a:moveTo>
                  <a:lnTo>
                    <a:pt x="0" y="0"/>
                  </a:lnTo>
                </a:path>
                <a:path w="433070" h="431800">
                  <a:moveTo>
                    <a:pt x="433070" y="431800"/>
                  </a:moveTo>
                  <a:lnTo>
                    <a:pt x="433070" y="431800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41501" y="384809"/>
            <a:ext cx="76200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Atribut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 err="1">
                <a:solidFill>
                  <a:schemeClr val="tx1"/>
                </a:solidFill>
              </a:rPr>
              <a:t>ociation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9156700" y="7117638"/>
            <a:ext cx="5448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88900" y="1258570"/>
            <a:ext cx="9906000" cy="15363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Rappel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Types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</a:t>
            </a:r>
            <a:r>
              <a:rPr lang="fr-FR" sz="2400" spc="-25" dirty="0">
                <a:latin typeface="Lucida Sans Unicode"/>
                <a:cs typeface="Lucida Sans Unicode"/>
              </a:rPr>
              <a:t> « </a:t>
            </a:r>
            <a:r>
              <a:rPr sz="2400" spc="-25" dirty="0" err="1">
                <a:latin typeface="Lucida Sans Unicode"/>
                <a:cs typeface="Lucida Sans Unicode"/>
              </a:rPr>
              <a:t>atributs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simple,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primitif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ou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énuméré</a:t>
            </a:r>
            <a:r>
              <a:rPr lang="fr-FR" sz="2400" spc="-25" dirty="0">
                <a:latin typeface="Lucida Sans Unicode"/>
                <a:cs typeface="Lucida Sans Unicode"/>
              </a:rPr>
              <a:t> »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27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spc="10" dirty="0" err="1">
                <a:latin typeface="Lucida Sans Unicode"/>
                <a:cs typeface="Lucida Sans Unicode"/>
              </a:rPr>
              <a:t>En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particulier,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pas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d'atribut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dont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le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type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est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une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cla</a:t>
            </a:r>
            <a:r>
              <a:rPr lang="fr-FR" sz="2400" spc="10" dirty="0">
                <a:latin typeface="Lucida Sans Unicode"/>
                <a:cs typeface="Lucida Sans Unicode"/>
              </a:rPr>
              <a:t>s</a:t>
            </a:r>
            <a:r>
              <a:rPr sz="2400" spc="10" dirty="0">
                <a:latin typeface="Lucida Sans Unicode"/>
                <a:cs typeface="Lucida Sans Unicode"/>
              </a:rPr>
              <a:t>se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du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diagramme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2100" y="3959859"/>
            <a:ext cx="3078480" cy="36163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064260">
              <a:lnSpc>
                <a:spcPct val="100000"/>
              </a:lnSpc>
              <a:spcBef>
                <a:spcPts val="660"/>
              </a:spcBef>
            </a:pPr>
            <a:r>
              <a:rPr sz="1800" b="1" spc="105" dirty="0">
                <a:latin typeface="Arial"/>
                <a:cs typeface="Arial"/>
              </a:rPr>
              <a:t>Compte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2100" y="5759450"/>
            <a:ext cx="3078480" cy="1008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80"/>
              </a:spcBef>
            </a:pPr>
            <a:r>
              <a:rPr sz="1800" spc="-60" dirty="0">
                <a:latin typeface="Lucida Sans Unicode"/>
                <a:cs typeface="Lucida Sans Unicode"/>
              </a:rPr>
              <a:t>déposer(montant:float)</a:t>
            </a:r>
            <a:endParaRPr sz="1800" dirty="0">
              <a:latin typeface="Lucida Sans Unicode"/>
              <a:cs typeface="Lucida Sans Unicode"/>
            </a:endParaRPr>
          </a:p>
          <a:p>
            <a:pPr marL="90170" marR="511809">
              <a:lnSpc>
                <a:spcPct val="122700"/>
              </a:lnSpc>
              <a:spcBef>
                <a:spcPts val="10"/>
              </a:spcBef>
            </a:pPr>
            <a:r>
              <a:rPr sz="1800" spc="-40" dirty="0">
                <a:latin typeface="Lucida Sans Unicode"/>
                <a:cs typeface="Lucida Sans Unicode"/>
              </a:rPr>
              <a:t>retirer(montant:float) 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10" dirty="0">
                <a:latin typeface="Lucida Sans Unicode"/>
                <a:cs typeface="Lucida Sans Unicode"/>
              </a:rPr>
              <a:t>solde():float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2100" y="4391659"/>
            <a:ext cx="3078480" cy="137409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0170" marR="1288415">
              <a:lnSpc>
                <a:spcPts val="2650"/>
              </a:lnSpc>
              <a:spcBef>
                <a:spcPts val="50"/>
              </a:spcBef>
            </a:pPr>
            <a:r>
              <a:rPr sz="1800" spc="110" dirty="0">
                <a:latin typeface="Lucida Sans Unicode"/>
                <a:cs typeface="Lucida Sans Unicode"/>
              </a:rPr>
              <a:t>numéro:int </a:t>
            </a:r>
            <a:r>
              <a:rPr sz="1800" spc="114" dirty="0">
                <a:latin typeface="Lucida Sans Unicode"/>
                <a:cs typeface="Lucida Sans Unicode"/>
              </a:rPr>
              <a:t> </a:t>
            </a:r>
            <a:r>
              <a:rPr sz="1800" spc="-200" dirty="0">
                <a:latin typeface="Lucida Sans Unicode"/>
                <a:cs typeface="Lucida Sans Unicode"/>
              </a:rPr>
              <a:t>d</a:t>
            </a:r>
            <a:r>
              <a:rPr sz="1800" spc="-210" dirty="0">
                <a:latin typeface="Lucida Sans Unicode"/>
                <a:cs typeface="Lucida Sans Unicode"/>
              </a:rPr>
              <a:t>e</a:t>
            </a:r>
            <a:r>
              <a:rPr sz="1800" spc="-110" dirty="0">
                <a:latin typeface="Lucida Sans Unicode"/>
                <a:cs typeface="Lucida Sans Unicode"/>
              </a:rPr>
              <a:t>v</a:t>
            </a:r>
            <a:r>
              <a:rPr sz="1800" spc="-95" dirty="0">
                <a:latin typeface="Lucida Sans Unicode"/>
                <a:cs typeface="Lucida Sans Unicode"/>
              </a:rPr>
              <a:t>i</a:t>
            </a:r>
            <a:r>
              <a:rPr sz="1800" spc="-235" dirty="0">
                <a:latin typeface="Lucida Sans Unicode"/>
                <a:cs typeface="Lucida Sans Unicode"/>
              </a:rPr>
              <a:t>s</a:t>
            </a:r>
            <a:r>
              <a:rPr sz="1800" spc="690" dirty="0">
                <a:latin typeface="Lucida Sans Unicode"/>
                <a:cs typeface="Lucida Sans Unicode"/>
              </a:rPr>
              <a:t>e</a:t>
            </a:r>
            <a:r>
              <a:rPr sz="1800" spc="525" dirty="0">
                <a:latin typeface="Lucida Sans Unicode"/>
                <a:cs typeface="Lucida Sans Unicode"/>
              </a:rPr>
              <a:t>:</a:t>
            </a:r>
            <a:r>
              <a:rPr sz="1800" spc="-55" dirty="0">
                <a:latin typeface="Lucida Sans Unicode"/>
                <a:cs typeface="Lucida Sans Unicode"/>
              </a:rPr>
              <a:t>D</a:t>
            </a:r>
            <a:r>
              <a:rPr sz="1800" spc="-210" dirty="0">
                <a:latin typeface="Lucida Sans Unicode"/>
                <a:cs typeface="Lucida Sans Unicode"/>
              </a:rPr>
              <a:t>e</a:t>
            </a:r>
            <a:r>
              <a:rPr sz="1800" spc="-110" dirty="0">
                <a:latin typeface="Lucida Sans Unicode"/>
                <a:cs typeface="Lucida Sans Unicode"/>
              </a:rPr>
              <a:t>v</a:t>
            </a:r>
            <a:r>
              <a:rPr sz="1800" spc="-95" dirty="0">
                <a:latin typeface="Lucida Sans Unicode"/>
                <a:cs typeface="Lucida Sans Unicode"/>
              </a:rPr>
              <a:t>i</a:t>
            </a:r>
            <a:r>
              <a:rPr sz="1800" spc="-235" dirty="0">
                <a:latin typeface="Lucida Sans Unicode"/>
                <a:cs typeface="Lucida Sans Unicode"/>
              </a:rPr>
              <a:t>s</a:t>
            </a:r>
            <a:r>
              <a:rPr sz="1800" spc="795" dirty="0">
                <a:latin typeface="Lucida Sans Unicode"/>
                <a:cs typeface="Lucida Sans Unicode"/>
              </a:rPr>
              <a:t>e</a:t>
            </a:r>
            <a:endParaRPr sz="1800" dirty="0">
              <a:latin typeface="Lucida Sans Unicode"/>
              <a:cs typeface="Lucida Sans Unicode"/>
            </a:endParaRPr>
          </a:p>
          <a:p>
            <a:pPr marL="90170" marR="577850">
              <a:lnSpc>
                <a:spcPts val="2650"/>
              </a:lnSpc>
              <a:spcBef>
                <a:spcPts val="10"/>
              </a:spcBef>
            </a:pPr>
            <a:r>
              <a:rPr sz="1800" spc="20" dirty="0">
                <a:latin typeface="Lucida Sans Unicode"/>
                <a:cs typeface="Lucida Sans Unicode"/>
              </a:rPr>
              <a:t>solde:float 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254" dirty="0" err="1">
                <a:latin typeface="Lucida Sans Unicode"/>
                <a:cs typeface="Lucida Sans Unicode"/>
              </a:rPr>
              <a:t>p</a:t>
            </a:r>
            <a:r>
              <a:rPr sz="1800" spc="-130" dirty="0" err="1">
                <a:latin typeface="Lucida Sans Unicode"/>
                <a:cs typeface="Lucida Sans Unicode"/>
              </a:rPr>
              <a:t>r</a:t>
            </a:r>
            <a:r>
              <a:rPr sz="1800" spc="-210" dirty="0" err="1">
                <a:latin typeface="Lucida Sans Unicode"/>
                <a:cs typeface="Lucida Sans Unicode"/>
              </a:rPr>
              <a:t>o</a:t>
            </a:r>
            <a:r>
              <a:rPr sz="1800" spc="-270" dirty="0" err="1">
                <a:latin typeface="Lucida Sans Unicode"/>
                <a:cs typeface="Lucida Sans Unicode"/>
              </a:rPr>
              <a:t>p</a:t>
            </a:r>
            <a:r>
              <a:rPr sz="1800" spc="-130" dirty="0" err="1">
                <a:latin typeface="Lucida Sans Unicode"/>
                <a:cs typeface="Lucida Sans Unicode"/>
              </a:rPr>
              <a:t>r</a:t>
            </a:r>
            <a:r>
              <a:rPr sz="1800" spc="-90" dirty="0" err="1">
                <a:latin typeface="Lucida Sans Unicode"/>
                <a:cs typeface="Lucida Sans Unicode"/>
              </a:rPr>
              <a:t>i</a:t>
            </a:r>
            <a:r>
              <a:rPr sz="1800" spc="-210" dirty="0" err="1">
                <a:latin typeface="Lucida Sans Unicode"/>
                <a:cs typeface="Lucida Sans Unicode"/>
              </a:rPr>
              <a:t>é</a:t>
            </a:r>
            <a:r>
              <a:rPr sz="1800" spc="-30" dirty="0" err="1">
                <a:latin typeface="Lucida Sans Unicode"/>
                <a:cs typeface="Lucida Sans Unicode"/>
              </a:rPr>
              <a:t>t</a:t>
            </a:r>
            <a:r>
              <a:rPr sz="1800" spc="-135" dirty="0" err="1">
                <a:latin typeface="Lucida Sans Unicode"/>
                <a:cs typeface="Lucida Sans Unicode"/>
              </a:rPr>
              <a:t>a</a:t>
            </a:r>
            <a:r>
              <a:rPr sz="1800" spc="-90" dirty="0" err="1">
                <a:latin typeface="Lucida Sans Unicode"/>
                <a:cs typeface="Lucida Sans Unicode"/>
              </a:rPr>
              <a:t>i</a:t>
            </a:r>
            <a:r>
              <a:rPr sz="1800" spc="-130" dirty="0" err="1">
                <a:latin typeface="Lucida Sans Unicode"/>
                <a:cs typeface="Lucida Sans Unicode"/>
              </a:rPr>
              <a:t>r</a:t>
            </a:r>
            <a:r>
              <a:rPr sz="1800" spc="390" dirty="0" err="1">
                <a:latin typeface="Lucida Sans Unicode"/>
                <a:cs typeface="Lucida Sans Unicode"/>
              </a:rPr>
              <a:t>e</a:t>
            </a:r>
            <a:r>
              <a:rPr sz="1800" spc="535" dirty="0" err="1">
                <a:latin typeface="Lucida Sans Unicode"/>
                <a:cs typeface="Lucida Sans Unicode"/>
              </a:rPr>
              <a:t>:</a:t>
            </a:r>
            <a:r>
              <a:rPr sz="1800" dirty="0" err="1">
                <a:latin typeface="Lucida Sans Unicode"/>
                <a:cs typeface="Lucida Sans Unicode"/>
              </a:rPr>
              <a:t>Perso</a:t>
            </a:r>
            <a:r>
              <a:rPr lang="fr-FR" dirty="0" err="1">
                <a:latin typeface="Lucida Sans Unicode"/>
                <a:cs typeface="Lucida Sans Unicode"/>
              </a:rPr>
              <a:t>nn</a:t>
            </a:r>
            <a:r>
              <a:rPr sz="1800" dirty="0">
                <a:latin typeface="Lucida Sans Unicode"/>
                <a:cs typeface="Lucida Sans Unicode"/>
              </a:rPr>
              <a:t>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928100" y="7117638"/>
            <a:ext cx="7734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301" y="384809"/>
            <a:ext cx="59061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 err="1">
                <a:solidFill>
                  <a:schemeClr val="tx1"/>
                </a:solidFill>
              </a:rPr>
              <a:t>Atribut</a:t>
            </a:r>
            <a:r>
              <a:rPr lang="fr-FR" spc="120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et</a:t>
            </a:r>
            <a:r>
              <a:rPr lang="fr-FR" spc="120" dirty="0">
                <a:solidFill>
                  <a:schemeClr val="tx1"/>
                </a:solidFill>
              </a:rPr>
              <a:t> </a:t>
            </a:r>
            <a:r>
              <a:rPr spc="120" dirty="0">
                <a:solidFill>
                  <a:schemeClr val="tx1"/>
                </a:solidFill>
              </a:rPr>
              <a:t>as</a:t>
            </a:r>
            <a:r>
              <a:rPr lang="fr-FR" spc="120" dirty="0">
                <a:solidFill>
                  <a:schemeClr val="tx1"/>
                </a:solidFill>
              </a:rPr>
              <a:t>s</a:t>
            </a:r>
            <a:r>
              <a:rPr spc="120" dirty="0" err="1">
                <a:solidFill>
                  <a:schemeClr val="tx1"/>
                </a:solidFill>
              </a:rPr>
              <a:t>ociation</a:t>
            </a:r>
            <a:endParaRPr spc="12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490" y="1258570"/>
            <a:ext cx="9205595" cy="1263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Rappel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Types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atributs</a:t>
            </a:r>
            <a:r>
              <a:rPr lang="fr-FR" sz="2400" spc="-25" dirty="0">
                <a:latin typeface="Lucida Sans Unicode"/>
                <a:cs typeface="Lucida Sans Unicode"/>
              </a:rPr>
              <a:t> « </a:t>
            </a:r>
            <a:r>
              <a:rPr sz="2400" spc="-25" dirty="0">
                <a:latin typeface="Lucida Sans Unicode"/>
                <a:cs typeface="Lucida Sans Unicode"/>
              </a:rPr>
              <a:t>simple,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primitif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ou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énuméré</a:t>
            </a:r>
            <a:r>
              <a:rPr lang="fr-FR" sz="2250" dirty="0">
                <a:latin typeface="Lucida Sans Unicode"/>
                <a:cs typeface="Lucida Sans Unicode"/>
              </a:rPr>
              <a:t>»</a:t>
            </a:r>
            <a:endParaRPr sz="22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1900"/>
              </a:lnSpc>
            </a:pPr>
            <a:r>
              <a:rPr sz="2400" spc="10" dirty="0" err="1">
                <a:latin typeface="Lucida Sans Unicode"/>
                <a:cs typeface="Lucida Sans Unicode"/>
              </a:rPr>
              <a:t>En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particulier,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pas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d'atribut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dont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le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type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est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une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clase</a:t>
            </a:r>
            <a:r>
              <a:rPr lang="fr-FR" sz="24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Lucida Sans Unicode"/>
                <a:cs typeface="Lucida Sans Unicode"/>
              </a:rPr>
              <a:t>du</a:t>
            </a:r>
            <a:r>
              <a:rPr lang="fr-FR" sz="2400" spc="10" dirty="0">
                <a:latin typeface="Lucida Sans Unicode"/>
                <a:cs typeface="Lucida Sans Unicode"/>
              </a:rPr>
              <a:t> </a:t>
            </a:r>
            <a:r>
              <a:rPr sz="2400" spc="10" dirty="0" err="1">
                <a:latin typeface="Lucida Sans Unicode"/>
                <a:cs typeface="Lucida Sans Unicode"/>
              </a:rPr>
              <a:t>diagramme</a:t>
            </a:r>
            <a:r>
              <a:rPr lang="fr-FR" sz="2400" spc="10" dirty="0">
                <a:latin typeface="Lucida Sans Unicode"/>
                <a:cs typeface="Lucida Sans Unicode"/>
              </a:rPr>
              <a:t>,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lang="fr-FR" sz="2400" spc="-15" dirty="0">
                <a:latin typeface="Lucida Sans Unicode"/>
                <a:cs typeface="Lucida Sans Unicode"/>
              </a:rPr>
              <a:t>m</a:t>
            </a:r>
            <a:r>
              <a:rPr sz="2400" spc="-15" dirty="0">
                <a:latin typeface="Lucida Sans Unicode"/>
                <a:cs typeface="Lucida Sans Unicode"/>
              </a:rPr>
              <a:t>ais</a:t>
            </a:r>
            <a:r>
              <a:rPr lang="fr-FR" sz="2400" spc="-1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association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vers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cet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t</a:t>
            </a:r>
            <a:r>
              <a:rPr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e</a:t>
            </a:r>
            <a:r>
              <a:rPr lang="fr-FR" sz="24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classe</a:t>
            </a:r>
            <a:endParaRPr sz="2400" dirty="0">
              <a:latin typeface="Lucida Sans Unicode"/>
              <a:cs typeface="Lucida Sans Unicode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55E4EA0-F961-4CF2-9B60-A33978C1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3934"/>
            <a:ext cx="9853470" cy="27675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9156700" y="7117638"/>
            <a:ext cx="5448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2529" y="384809"/>
            <a:ext cx="29235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chemeClr val="tx1"/>
                </a:solidFill>
              </a:rPr>
              <a:t>Multiplicités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00" y="1035050"/>
            <a:ext cx="999489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" dirty="0" err="1">
                <a:latin typeface="Lucida Sans Unicode"/>
                <a:cs typeface="Lucida Sans Unicode"/>
              </a:rPr>
              <a:t>Nombre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 err="1">
                <a:latin typeface="Lucida Sans Unicode"/>
                <a:cs typeface="Lucida Sans Unicode"/>
              </a:rPr>
              <a:t>d'objets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de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la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 err="1">
                <a:latin typeface="Lucida Sans Unicode"/>
                <a:cs typeface="Lucida Sans Unicode"/>
              </a:rPr>
              <a:t>classe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B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 err="1">
                <a:latin typeface="Lucida Sans Unicode"/>
                <a:cs typeface="Lucida Sans Unicode"/>
              </a:rPr>
              <a:t>associés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à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un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 err="1">
                <a:latin typeface="Lucida Sans Unicode"/>
                <a:cs typeface="Lucida Sans Unicode"/>
              </a:rPr>
              <a:t>objet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de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la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 err="1">
                <a:latin typeface="Lucida Sans Unicode"/>
                <a:cs typeface="Lucida Sans Unicode"/>
              </a:rPr>
              <a:t>cla</a:t>
            </a:r>
            <a:r>
              <a:rPr lang="fr-FR" sz="2400" spc="35" dirty="0">
                <a:latin typeface="Lucida Sans Unicode"/>
                <a:cs typeface="Lucida Sans Unicode"/>
              </a:rPr>
              <a:t>s</a:t>
            </a:r>
            <a:r>
              <a:rPr sz="2400" spc="35" dirty="0">
                <a:latin typeface="Lucida Sans Unicode"/>
                <a:cs typeface="Lucida Sans Unicode"/>
              </a:rPr>
              <a:t>se</a:t>
            </a:r>
            <a:r>
              <a:rPr lang="fr-FR" sz="2400" spc="35" dirty="0">
                <a:latin typeface="Lucida Sans Unicode"/>
                <a:cs typeface="Lucida Sans Unicode"/>
              </a:rPr>
              <a:t> </a:t>
            </a:r>
            <a:r>
              <a:rPr sz="2400" spc="35" dirty="0">
                <a:latin typeface="Lucida Sans Unicode"/>
                <a:cs typeface="Lucida Sans Unicode"/>
              </a:rPr>
              <a:t>A</a:t>
            </a:r>
            <a:endParaRPr sz="2750" dirty="0">
              <a:latin typeface="Lucida Sans Unicode"/>
              <a:cs typeface="Lucida Sans Unicode"/>
            </a:endParaRPr>
          </a:p>
          <a:p>
            <a:pPr marL="47625">
              <a:lnSpc>
                <a:spcPct val="100000"/>
              </a:lnSpc>
              <a:spcBef>
                <a:spcPts val="5"/>
              </a:spcBef>
              <a:tabLst>
                <a:tab pos="4902835" algn="l"/>
              </a:tabLst>
            </a:pPr>
            <a:r>
              <a:rPr sz="2400" i="1" spc="5" dirty="0">
                <a:latin typeface="Arial"/>
                <a:cs typeface="Arial"/>
              </a:rPr>
              <a:t>	</a:t>
            </a:r>
            <a:endParaRPr sz="2400" dirty="0">
              <a:latin typeface="Lucida Sans Unicode"/>
              <a:cs typeface="Lucida Sans Unicode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89F8C22-9B2C-47FE-9A0E-4BA978BE4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568450"/>
            <a:ext cx="9677400" cy="5267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278621" y="7117638"/>
            <a:ext cx="422908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0795" y="384809"/>
            <a:ext cx="6377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</a:t>
            </a:r>
            <a:r>
              <a:rPr lang="fr-FR" spc="20" dirty="0">
                <a:solidFill>
                  <a:schemeClr val="tx1"/>
                </a:solidFill>
              </a:rPr>
              <a:t>s</a:t>
            </a:r>
            <a:r>
              <a:rPr spc="20" dirty="0" err="1">
                <a:solidFill>
                  <a:schemeClr val="tx1"/>
                </a:solidFill>
              </a:rPr>
              <a:t>ses</a:t>
            </a:r>
            <a:endParaRPr spc="2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00" y="1177290"/>
            <a:ext cx="9753600" cy="2141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4375">
              <a:lnSpc>
                <a:spcPct val="122200"/>
              </a:lnSpc>
              <a:spcBef>
                <a:spcPts val="100"/>
              </a:spcBef>
            </a:pPr>
            <a:r>
              <a:rPr sz="2400" spc="-25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Principe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Regrouper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les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classes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partageant</a:t>
            </a:r>
            <a:r>
              <a:rPr lang="fr-FR" sz="2400" spc="-25" dirty="0">
                <a:latin typeface="Lucida Sans Unicode"/>
                <a:cs typeface="Lucida Sans Unicode"/>
              </a:rPr>
              <a:t> d</a:t>
            </a:r>
            <a:r>
              <a:rPr sz="2400" spc="-25" dirty="0">
                <a:latin typeface="Lucida Sans Unicode"/>
                <a:cs typeface="Lucida Sans Unicode"/>
              </a:rPr>
              <a:t>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atributs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et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latin typeface="Lucida Sans Unicode"/>
                <a:cs typeface="Lucida Sans Unicode"/>
              </a:rPr>
              <a:t>opérations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et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les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organiser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en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arborescence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2200"/>
              </a:lnSpc>
            </a:pPr>
            <a:r>
              <a:rPr sz="2400" spc="-8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Spécialisation</a:t>
            </a:r>
            <a:r>
              <a:rPr sz="2400" spc="-80" dirty="0">
                <a:latin typeface="Lucida Sans Unicode"/>
                <a:cs typeface="Lucida Sans Unicode"/>
              </a:rPr>
              <a:t>: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raffinement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d'une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classe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en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une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sous-</a:t>
            </a:r>
            <a:r>
              <a:rPr sz="2400" spc="-8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e </a:t>
            </a:r>
            <a:r>
              <a:rPr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5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Généralisation</a:t>
            </a:r>
            <a:r>
              <a:rPr sz="2400" spc="-95" dirty="0">
                <a:latin typeface="Lucida Sans Unicode"/>
                <a:cs typeface="Lucida Sans Unicode"/>
              </a:rPr>
              <a:t>: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abstraction</a:t>
            </a:r>
            <a:r>
              <a:rPr lang="fr-FR"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d'un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ensemble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de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classes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 err="1">
                <a:latin typeface="Lucida Sans Unicode"/>
                <a:cs typeface="Lucida Sans Unicode"/>
              </a:rPr>
              <a:t>en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super-</a:t>
            </a:r>
            <a:r>
              <a:rPr sz="2400" spc="-9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classe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03779" y="4752340"/>
          <a:ext cx="2035175" cy="2447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60680" marR="12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30" dirty="0">
                          <a:latin typeface="Arial"/>
                          <a:cs typeface="Arial"/>
                        </a:rPr>
                        <a:t>CompteCourant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89">
                <a:tc>
                  <a:txBody>
                    <a:bodyPr/>
                    <a:lstStyle/>
                    <a:p>
                      <a:pPr marL="89535">
                        <a:lnSpc>
                          <a:spcPct val="123700"/>
                        </a:lnSpc>
                        <a:spcBef>
                          <a:spcPts val="20"/>
                        </a:spcBef>
                      </a:pPr>
                      <a:r>
                        <a:rPr sz="1400" spc="8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numéro:int </a:t>
                      </a:r>
                      <a:r>
                        <a:rPr sz="1400" spc="9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devise:Devise </a:t>
                      </a:r>
                      <a:r>
                        <a:rPr sz="1400" spc="3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solde:float </a:t>
                      </a:r>
                      <a:r>
                        <a:rPr sz="1400" spc="2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60" dirty="0">
                          <a:latin typeface="Lucida Sans Unicode"/>
                          <a:cs typeface="Lucida Sans Unicode"/>
                        </a:rPr>
                        <a:t>découvertAutorisé:float </a:t>
                      </a:r>
                      <a:r>
                        <a:rPr sz="1400" spc="-5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40" dirty="0">
                          <a:latin typeface="Lucida Sans Unicode"/>
                          <a:cs typeface="Lucida Sans Unicode"/>
                        </a:rPr>
                        <a:t>fraisDécouvert:float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2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1760">
                        <a:lnSpc>
                          <a:spcPct val="123800"/>
                        </a:lnSpc>
                      </a:pPr>
                      <a:r>
                        <a:rPr sz="1400" spc="-3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2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35350"/>
              </p:ext>
            </p:extLst>
          </p:nvPr>
        </p:nvGraphicFramePr>
        <p:xfrm>
          <a:off x="5759450" y="4464050"/>
          <a:ext cx="2098675" cy="27355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89">
                <a:tc>
                  <a:txBody>
                    <a:bodyPr/>
                    <a:lstStyle/>
                    <a:p>
                      <a:pPr marL="394970" marR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CompteÉpargne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90">
                <a:tc>
                  <a:txBody>
                    <a:bodyPr/>
                    <a:lstStyle/>
                    <a:p>
                      <a:pPr marL="90170" marR="810895">
                        <a:lnSpc>
                          <a:spcPct val="123700"/>
                        </a:lnSpc>
                        <a:spcBef>
                          <a:spcPts val="20"/>
                        </a:spcBef>
                      </a:pPr>
                      <a:r>
                        <a:rPr sz="1400" spc="6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numéro:int </a:t>
                      </a:r>
                      <a:r>
                        <a:rPr sz="1400" spc="6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devis</a:t>
                      </a:r>
                      <a:r>
                        <a:rPr sz="1400" spc="0" baseline="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e:Devise  </a:t>
                      </a:r>
                      <a:r>
                        <a:rPr sz="1400" spc="-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solde:float </a:t>
                      </a:r>
                      <a:r>
                        <a:rPr sz="140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15" dirty="0">
                          <a:latin typeface="Lucida Sans Unicode"/>
                          <a:cs typeface="Lucida Sans Unicode"/>
                        </a:rPr>
                        <a:t>plafond:float </a:t>
                      </a:r>
                      <a:r>
                        <a:rPr sz="1400" spc="-1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taux:float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90170" marR="125095">
                        <a:lnSpc>
                          <a:spcPct val="123500"/>
                        </a:lnSpc>
                        <a:spcBef>
                          <a:spcPts val="5"/>
                        </a:spcBef>
                      </a:pPr>
                      <a:r>
                        <a:rPr sz="1400" spc="-3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3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solde():float </a:t>
                      </a:r>
                      <a:r>
                        <a:rPr sz="1400" spc="15" dirty="0">
                          <a:solidFill>
                            <a:srgbClr val="569C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35" dirty="0">
                          <a:latin typeface="Lucida Sans Unicode"/>
                          <a:cs typeface="Lucida Sans Unicode"/>
                        </a:rPr>
                        <a:t>calculerIntérêts():float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901" y="384809"/>
            <a:ext cx="592010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clases</a:t>
            </a:r>
            <a:endParaRPr spc="2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300" y="1177290"/>
            <a:ext cx="9677400" cy="2141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4375">
              <a:lnSpc>
                <a:spcPct val="122200"/>
              </a:lnSpc>
              <a:spcBef>
                <a:spcPts val="100"/>
              </a:spcBef>
            </a:pPr>
            <a:r>
              <a:rPr sz="2400" spc="-25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Principe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Regrouper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les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classes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partageant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atributs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et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latin typeface="Lucida Sans Unicode"/>
                <a:cs typeface="Lucida Sans Unicode"/>
              </a:rPr>
              <a:t>opérationset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les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organiser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en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arborescence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2200"/>
              </a:lnSpc>
            </a:pPr>
            <a:r>
              <a:rPr sz="2400" spc="-8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Spécialisation</a:t>
            </a:r>
            <a:r>
              <a:rPr sz="2400" spc="-80" dirty="0">
                <a:latin typeface="Lucida Sans Unicode"/>
                <a:cs typeface="Lucida Sans Unicode"/>
              </a:rPr>
              <a:t>: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raffinement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d'une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classe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en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latin typeface="Lucida Sans Unicode"/>
                <a:cs typeface="Lucida Sans Unicode"/>
              </a:rPr>
              <a:t>une</a:t>
            </a:r>
            <a:r>
              <a:rPr lang="fr-FR" sz="2400" spc="-80" dirty="0">
                <a:latin typeface="Lucida Sans Unicode"/>
                <a:cs typeface="Lucida Sans Unicode"/>
              </a:rPr>
              <a:t> </a:t>
            </a: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sous-</a:t>
            </a:r>
            <a:r>
              <a:rPr sz="2400" spc="-8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se </a:t>
            </a:r>
            <a:r>
              <a:rPr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5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Généralisation</a:t>
            </a:r>
            <a:r>
              <a:rPr sz="2400" spc="-95" dirty="0">
                <a:latin typeface="Lucida Sans Unicode"/>
                <a:cs typeface="Lucida Sans Unicode"/>
              </a:rPr>
              <a:t>: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abstraction</a:t>
            </a:r>
            <a:r>
              <a:rPr lang="fr-FR"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d'un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ensemble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de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Lucida Sans Unicode"/>
                <a:cs typeface="Lucida Sans Unicode"/>
              </a:rPr>
              <a:t>classes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 err="1">
                <a:latin typeface="Lucida Sans Unicode"/>
                <a:cs typeface="Lucida Sans Unicode"/>
              </a:rPr>
              <a:t>en</a:t>
            </a:r>
            <a:r>
              <a:rPr lang="fr-FR" sz="2400" spc="-95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solidFill>
                  <a:srgbClr val="569C1B"/>
                </a:solidFill>
                <a:latin typeface="Lucida Sans Unicode"/>
                <a:cs typeface="Lucida Sans Unicode"/>
              </a:rPr>
              <a:t>super-</a:t>
            </a:r>
            <a:r>
              <a:rPr sz="2400" spc="-9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classe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18120"/>
              </p:ext>
            </p:extLst>
          </p:nvPr>
        </p:nvGraphicFramePr>
        <p:xfrm>
          <a:off x="4032250" y="3600450"/>
          <a:ext cx="2033904" cy="1871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687705" marR="12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80" dirty="0">
                          <a:latin typeface="Arial"/>
                          <a:cs typeface="Arial"/>
                        </a:rPr>
                        <a:t>Compte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79">
                <a:tc>
                  <a:txBody>
                    <a:bodyPr/>
                    <a:lstStyle/>
                    <a:p>
                      <a:pPr marL="90170" marR="120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90170" marR="715645">
                        <a:lnSpc>
                          <a:spcPct val="123800"/>
                        </a:lnSpc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</a:t>
                      </a:r>
                      <a:r>
                        <a:rPr lang="fr-FR" sz="1400" spc="0" baseline="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</a:t>
                      </a:r>
                      <a:r>
                        <a:rPr lang="fr-FR" sz="1400" spc="0" baseline="0" dirty="0">
                          <a:latin typeface="Lucida Sans Unicode"/>
                          <a:cs typeface="Lucida Sans Unicode"/>
                        </a:rPr>
                        <a:t>vise</a:t>
                      </a: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 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0489">
                        <a:lnSpc>
                          <a:spcPts val="2080"/>
                        </a:lnSpc>
                        <a:spcBef>
                          <a:spcPts val="60"/>
                        </a:spcBef>
                      </a:pPr>
                      <a:r>
                        <a:rPr sz="1400" spc="-35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3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31389" y="62636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330"/>
              </a:spcBef>
            </a:pPr>
            <a:r>
              <a:rPr sz="1400" b="1" spc="30" dirty="0">
                <a:latin typeface="Arial"/>
                <a:cs typeface="Arial"/>
              </a:rPr>
              <a:t>CompteCourant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389" y="6551930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2705">
              <a:lnSpc>
                <a:spcPct val="123800"/>
              </a:lnSpc>
              <a:spcBef>
                <a:spcPts val="20"/>
              </a:spcBef>
            </a:pPr>
            <a:r>
              <a:rPr sz="1400" spc="-60" dirty="0">
                <a:latin typeface="Lucida Sans Unicode"/>
                <a:cs typeface="Lucida Sans Unicode"/>
              </a:rPr>
              <a:t>découvertAutorisé:float 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fraisDécouvert:float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1389" y="7128509"/>
            <a:ext cx="2089150" cy="71120"/>
          </a:xfrm>
          <a:custGeom>
            <a:avLst/>
            <a:gdLst/>
            <a:ahLst/>
            <a:cxnLst/>
            <a:rect l="l" t="t" r="r" b="b"/>
            <a:pathLst>
              <a:path w="2089150" h="71120">
                <a:moveTo>
                  <a:pt x="1045210" y="71120"/>
                </a:moveTo>
                <a:lnTo>
                  <a:pt x="0" y="71120"/>
                </a:lnTo>
                <a:lnTo>
                  <a:pt x="0" y="0"/>
                </a:lnTo>
                <a:lnTo>
                  <a:pt x="2089150" y="0"/>
                </a:lnTo>
                <a:lnTo>
                  <a:pt x="2089150" y="71120"/>
                </a:lnTo>
                <a:lnTo>
                  <a:pt x="1045210" y="7112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59450" y="6047740"/>
            <a:ext cx="2089150" cy="288290"/>
          </a:xfrm>
          <a:custGeom>
            <a:avLst/>
            <a:gdLst/>
            <a:ahLst/>
            <a:cxnLst/>
            <a:rect l="l" t="t" r="r" b="b"/>
            <a:pathLst>
              <a:path w="2089150" h="288289">
                <a:moveTo>
                  <a:pt x="1043940" y="288290"/>
                </a:moveTo>
                <a:lnTo>
                  <a:pt x="0" y="288290"/>
                </a:lnTo>
                <a:lnTo>
                  <a:pt x="0" y="0"/>
                </a:lnTo>
                <a:lnTo>
                  <a:pt x="2089150" y="0"/>
                </a:lnTo>
                <a:lnTo>
                  <a:pt x="2089150" y="288290"/>
                </a:lnTo>
                <a:lnTo>
                  <a:pt x="1043940" y="2882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9450" y="60477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Arial"/>
                <a:cs typeface="Arial"/>
              </a:rPr>
              <a:t>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9450" y="6336029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826135">
              <a:lnSpc>
                <a:spcPct val="123800"/>
              </a:lnSpc>
              <a:spcBef>
                <a:spcPts val="20"/>
              </a:spcBef>
            </a:pPr>
            <a:r>
              <a:rPr sz="1400" spc="-15" dirty="0">
                <a:latin typeface="Lucida Sans Unicode"/>
                <a:cs typeface="Lucida Sans Unicode"/>
              </a:rPr>
              <a:t>plafond:float 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20" dirty="0">
                <a:latin typeface="Lucida Sans Unicode"/>
                <a:cs typeface="Lucida Sans Unicode"/>
              </a:rPr>
              <a:t>taux:float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9450" y="6912609"/>
            <a:ext cx="2089150" cy="2870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400" spc="-35" dirty="0">
                <a:latin typeface="Lucida Sans Unicode"/>
                <a:cs typeface="Lucida Sans Unicode"/>
              </a:rPr>
              <a:t>calculerIntérêts():float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0700" y="3959859"/>
            <a:ext cx="162560" cy="2519680"/>
            <a:chOff x="1790700" y="3959859"/>
            <a:chExt cx="162560" cy="2519680"/>
          </a:xfrm>
        </p:grpSpPr>
        <p:sp>
          <p:nvSpPr>
            <p:cNvPr id="13" name="object 13"/>
            <p:cNvSpPr/>
            <p:nvPr/>
          </p:nvSpPr>
          <p:spPr>
            <a:xfrm>
              <a:off x="1871980" y="3959859"/>
              <a:ext cx="0" cy="2288540"/>
            </a:xfrm>
            <a:custGeom>
              <a:avLst/>
              <a:gdLst/>
              <a:ahLst/>
              <a:cxnLst/>
              <a:rect l="l" t="t" r="r" b="b"/>
              <a:pathLst>
                <a:path h="2288540">
                  <a:moveTo>
                    <a:pt x="0" y="0"/>
                  </a:moveTo>
                  <a:lnTo>
                    <a:pt x="0" y="2288540"/>
                  </a:lnTo>
                </a:path>
              </a:pathLst>
            </a:custGeom>
            <a:ln w="35941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0700" y="6236969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60" h="242570">
                  <a:moveTo>
                    <a:pt x="162560" y="0"/>
                  </a:moveTo>
                  <a:lnTo>
                    <a:pt x="0" y="0"/>
                  </a:lnTo>
                  <a:lnTo>
                    <a:pt x="81280" y="242569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126730" y="3959859"/>
            <a:ext cx="162560" cy="2519680"/>
            <a:chOff x="8126730" y="3959859"/>
            <a:chExt cx="162560" cy="2519680"/>
          </a:xfrm>
          <a:solidFill>
            <a:schemeClr val="tx1"/>
          </a:solidFill>
        </p:grpSpPr>
        <p:sp>
          <p:nvSpPr>
            <p:cNvPr id="16" name="object 16"/>
            <p:cNvSpPr/>
            <p:nvPr/>
          </p:nvSpPr>
          <p:spPr>
            <a:xfrm>
              <a:off x="8208010" y="4192269"/>
              <a:ext cx="0" cy="2287270"/>
            </a:xfrm>
            <a:custGeom>
              <a:avLst/>
              <a:gdLst/>
              <a:ahLst/>
              <a:cxnLst/>
              <a:rect l="l" t="t" r="r" b="b"/>
              <a:pathLst>
                <a:path h="2287270">
                  <a:moveTo>
                    <a:pt x="0" y="0"/>
                  </a:moveTo>
                  <a:lnTo>
                    <a:pt x="0" y="2287269"/>
                  </a:lnTo>
                </a:path>
              </a:pathLst>
            </a:custGeom>
            <a:grpFill/>
            <a:ln w="35941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26730" y="3959859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59" h="242570">
                  <a:moveTo>
                    <a:pt x="81279" y="0"/>
                  </a:moveTo>
                  <a:lnTo>
                    <a:pt x="0" y="242569"/>
                  </a:lnTo>
                  <a:lnTo>
                    <a:pt x="162560" y="242569"/>
                  </a:lnTo>
                  <a:lnTo>
                    <a:pt x="812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500" y="4893309"/>
            <a:ext cx="1391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Lucida Sans Unicode"/>
                <a:cs typeface="Lucida Sans Unicode"/>
              </a:rPr>
              <a:t>spécialisation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5480" y="4900929"/>
            <a:ext cx="143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Lucida Sans Unicode"/>
                <a:cs typeface="Lucida Sans Unicode"/>
              </a:rPr>
              <a:t>généralisation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39770" y="5904229"/>
            <a:ext cx="3600450" cy="359410"/>
          </a:xfrm>
          <a:custGeom>
            <a:avLst/>
            <a:gdLst/>
            <a:ahLst/>
            <a:cxnLst/>
            <a:rect l="l" t="t" r="r" b="b"/>
            <a:pathLst>
              <a:path w="3600450" h="359410">
                <a:moveTo>
                  <a:pt x="0" y="359410"/>
                </a:moveTo>
                <a:lnTo>
                  <a:pt x="0" y="0"/>
                </a:lnTo>
                <a:lnTo>
                  <a:pt x="3600450" y="0"/>
                </a:lnTo>
                <a:lnTo>
                  <a:pt x="3600450" y="1435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4391659" y="6389370"/>
            <a:ext cx="432434" cy="306705"/>
            <a:chOff x="4391659" y="6389370"/>
            <a:chExt cx="432434" cy="306705"/>
          </a:xfrm>
        </p:grpSpPr>
        <p:sp>
          <p:nvSpPr>
            <p:cNvPr id="22" name="object 22"/>
            <p:cNvSpPr/>
            <p:nvPr/>
          </p:nvSpPr>
          <p:spPr>
            <a:xfrm>
              <a:off x="4493259" y="6423660"/>
              <a:ext cx="330200" cy="271780"/>
            </a:xfrm>
            <a:custGeom>
              <a:avLst/>
              <a:gdLst/>
              <a:ahLst/>
              <a:cxnLst/>
              <a:rect l="l" t="t" r="r" b="b"/>
              <a:pathLst>
                <a:path w="330200" h="271779">
                  <a:moveTo>
                    <a:pt x="330200" y="271779"/>
                  </a:moveTo>
                  <a:lnTo>
                    <a:pt x="288687" y="195110"/>
                  </a:lnTo>
                  <a:lnTo>
                    <a:pt x="250017" y="135737"/>
                  </a:lnTo>
                  <a:lnTo>
                    <a:pt x="213831" y="91300"/>
                  </a:lnTo>
                  <a:lnTo>
                    <a:pt x="179771" y="59435"/>
                  </a:lnTo>
                  <a:lnTo>
                    <a:pt x="147478" y="37782"/>
                  </a:lnTo>
                  <a:lnTo>
                    <a:pt x="86765" y="15659"/>
                  </a:lnTo>
                  <a:lnTo>
                    <a:pt x="28825" y="603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91659" y="6389370"/>
              <a:ext cx="113030" cy="71120"/>
            </a:xfrm>
            <a:custGeom>
              <a:avLst/>
              <a:gdLst/>
              <a:ahLst/>
              <a:cxnLst/>
              <a:rect l="l" t="t" r="r" b="b"/>
              <a:pathLst>
                <a:path w="113029" h="71120">
                  <a:moveTo>
                    <a:pt x="113029" y="0"/>
                  </a:moveTo>
                  <a:lnTo>
                    <a:pt x="0" y="19049"/>
                  </a:lnTo>
                  <a:lnTo>
                    <a:pt x="101600" y="71119"/>
                  </a:lnTo>
                  <a:lnTo>
                    <a:pt x="11302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120129" y="3718559"/>
            <a:ext cx="432434" cy="530225"/>
            <a:chOff x="6120129" y="3718559"/>
            <a:chExt cx="432434" cy="530225"/>
          </a:xfrm>
        </p:grpSpPr>
        <p:sp>
          <p:nvSpPr>
            <p:cNvPr id="25" name="object 25"/>
            <p:cNvSpPr/>
            <p:nvPr/>
          </p:nvSpPr>
          <p:spPr>
            <a:xfrm>
              <a:off x="6224269" y="3752849"/>
              <a:ext cx="327660" cy="495300"/>
            </a:xfrm>
            <a:custGeom>
              <a:avLst/>
              <a:gdLst/>
              <a:ahLst/>
              <a:cxnLst/>
              <a:rect l="l" t="t" r="r" b="b"/>
              <a:pathLst>
                <a:path w="327659" h="495300">
                  <a:moveTo>
                    <a:pt x="0" y="0"/>
                  </a:moveTo>
                  <a:lnTo>
                    <a:pt x="189428" y="106858"/>
                  </a:lnTo>
                  <a:lnTo>
                    <a:pt x="286702" y="273843"/>
                  </a:lnTo>
                  <a:lnTo>
                    <a:pt x="322540" y="427732"/>
                  </a:lnTo>
                  <a:lnTo>
                    <a:pt x="327659" y="495300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20129" y="3718559"/>
              <a:ext cx="110489" cy="71120"/>
            </a:xfrm>
            <a:custGeom>
              <a:avLst/>
              <a:gdLst/>
              <a:ahLst/>
              <a:cxnLst/>
              <a:rect l="l" t="t" r="r" b="b"/>
              <a:pathLst>
                <a:path w="110489" h="71120">
                  <a:moveTo>
                    <a:pt x="110490" y="0"/>
                  </a:moveTo>
                  <a:lnTo>
                    <a:pt x="0" y="25400"/>
                  </a:lnTo>
                  <a:lnTo>
                    <a:pt x="104140" y="71119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69129" y="6657340"/>
            <a:ext cx="1279525" cy="299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30" dirty="0">
                <a:latin typeface="Arial"/>
                <a:cs typeface="Arial"/>
              </a:rPr>
              <a:t>sous-clases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30009" y="4216400"/>
            <a:ext cx="1696721" cy="289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super-classe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68240" y="5472429"/>
            <a:ext cx="720090" cy="1223645"/>
            <a:chOff x="4968240" y="5472429"/>
            <a:chExt cx="720090" cy="1223645"/>
          </a:xfrm>
        </p:grpSpPr>
        <p:sp>
          <p:nvSpPr>
            <p:cNvPr id="30" name="object 30"/>
            <p:cNvSpPr/>
            <p:nvPr/>
          </p:nvSpPr>
          <p:spPr>
            <a:xfrm>
              <a:off x="5327650" y="6304279"/>
              <a:ext cx="267970" cy="391160"/>
            </a:xfrm>
            <a:custGeom>
              <a:avLst/>
              <a:gdLst/>
              <a:ahLst/>
              <a:cxnLst/>
              <a:rect l="l" t="t" r="r" b="b"/>
              <a:pathLst>
                <a:path w="267970" h="391159">
                  <a:moveTo>
                    <a:pt x="0" y="391160"/>
                  </a:moveTo>
                  <a:lnTo>
                    <a:pt x="20496" y="302214"/>
                  </a:lnTo>
                  <a:lnTo>
                    <a:pt x="42367" y="230059"/>
                  </a:lnTo>
                  <a:lnTo>
                    <a:pt x="65411" y="172658"/>
                  </a:lnTo>
                  <a:lnTo>
                    <a:pt x="89428" y="127973"/>
                  </a:lnTo>
                  <a:lnTo>
                    <a:pt x="114218" y="93964"/>
                  </a:lnTo>
                  <a:lnTo>
                    <a:pt x="165316" y="49826"/>
                  </a:lnTo>
                  <a:lnTo>
                    <a:pt x="217101" y="23940"/>
                  </a:lnTo>
                  <a:lnTo>
                    <a:pt x="242750" y="12745"/>
                  </a:lnTo>
                  <a:lnTo>
                    <a:pt x="267970" y="0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74030" y="6263639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300" y="0"/>
                  </a:moveTo>
                  <a:lnTo>
                    <a:pt x="0" y="11430"/>
                  </a:lnTo>
                  <a:lnTo>
                    <a:pt x="29210" y="7747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8240" y="5472429"/>
              <a:ext cx="143510" cy="431800"/>
            </a:xfrm>
            <a:custGeom>
              <a:avLst/>
              <a:gdLst/>
              <a:ahLst/>
              <a:cxnLst/>
              <a:rect l="l" t="t" r="r" b="b"/>
              <a:pathLst>
                <a:path w="143510" h="431800">
                  <a:moveTo>
                    <a:pt x="72389" y="431800"/>
                  </a:moveTo>
                  <a:lnTo>
                    <a:pt x="72389" y="215900"/>
                  </a:lnTo>
                  <a:lnTo>
                    <a:pt x="143510" y="215900"/>
                  </a:lnTo>
                  <a:lnTo>
                    <a:pt x="72389" y="0"/>
                  </a:lnTo>
                  <a:lnTo>
                    <a:pt x="0" y="215900"/>
                  </a:lnTo>
                  <a:lnTo>
                    <a:pt x="72389" y="215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9287511" y="7117638"/>
            <a:ext cx="414018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501" y="384809"/>
            <a:ext cx="6400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clas</a:t>
            </a:r>
            <a:r>
              <a:rPr lang="fr-FR" spc="20" dirty="0">
                <a:solidFill>
                  <a:schemeClr val="tx1"/>
                </a:solidFill>
              </a:rPr>
              <a:t>s</a:t>
            </a:r>
            <a:r>
              <a:rPr spc="20" dirty="0">
                <a:solidFill>
                  <a:schemeClr val="tx1"/>
                </a:solidFill>
              </a:rPr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100" y="1177290"/>
            <a:ext cx="9842500" cy="2141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4525">
              <a:lnSpc>
                <a:spcPct val="122200"/>
              </a:lnSpc>
              <a:spcBef>
                <a:spcPts val="100"/>
              </a:spcBef>
            </a:pPr>
            <a:r>
              <a:rPr sz="2400" spc="-25" dirty="0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Principe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Regrouper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les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classes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partageant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atributs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et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 </a:t>
            </a:r>
            <a:r>
              <a:rPr sz="2400" spc="-745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latin typeface="Lucida Sans Unicode"/>
                <a:cs typeface="Lucida Sans Unicode"/>
              </a:rPr>
              <a:t>opérations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et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les</a:t>
            </a:r>
            <a:r>
              <a:rPr lang="fr-FR" sz="2400" spc="-90" dirty="0"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organiser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en</a:t>
            </a:r>
            <a:r>
              <a:rPr lang="fr-FR"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90" dirty="0">
                <a:solidFill>
                  <a:srgbClr val="569C1B"/>
                </a:solidFill>
                <a:latin typeface="Lucida Sans Unicode"/>
                <a:cs typeface="Lucida Sans Unicode"/>
              </a:rPr>
              <a:t>arborescence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2200"/>
              </a:lnSpc>
            </a:pPr>
            <a:r>
              <a:rPr sz="2400" spc="-20" dirty="0" err="1">
                <a:solidFill>
                  <a:schemeClr val="accent6">
                    <a:lumMod val="75000"/>
                  </a:schemeClr>
                </a:solidFill>
                <a:latin typeface="Lucida Sans Unicode"/>
                <a:cs typeface="Lucida Sans Unicode"/>
              </a:rPr>
              <a:t>Héritage</a:t>
            </a:r>
            <a:r>
              <a:rPr sz="2400" spc="-20" dirty="0">
                <a:latin typeface="Lucida Sans Unicode"/>
                <a:cs typeface="Lucida Sans Unicode"/>
              </a:rPr>
              <a:t>: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Construction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d'une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clas</a:t>
            </a:r>
            <a:r>
              <a:rPr lang="fr-FR" sz="2400" spc="-20" dirty="0">
                <a:latin typeface="Lucida Sans Unicode"/>
                <a:cs typeface="Lucida Sans Unicode"/>
              </a:rPr>
              <a:t>s</a:t>
            </a:r>
            <a:r>
              <a:rPr sz="2400" spc="-20" dirty="0">
                <a:latin typeface="Lucida Sans Unicode"/>
                <a:cs typeface="Lucida Sans Unicode"/>
              </a:rPr>
              <a:t>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à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partir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d'une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classe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plus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haute </a:t>
            </a:r>
            <a:r>
              <a:rPr sz="2400" spc="-60" dirty="0">
                <a:latin typeface="Lucida Sans Unicode"/>
                <a:cs typeface="Lucida Sans Unicode"/>
              </a:rPr>
              <a:t>dans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la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hiérarchie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(partage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des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atributs</a:t>
            </a:r>
            <a:r>
              <a:rPr sz="2400" spc="-60" dirty="0">
                <a:latin typeface="Lucida Sans Unicode"/>
                <a:cs typeface="Lucida Sans Unicode"/>
              </a:rPr>
              <a:t>,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opérations</a:t>
            </a:r>
            <a:r>
              <a:rPr sz="2400" spc="-60" dirty="0">
                <a:latin typeface="Lucida Sans Unicode"/>
                <a:cs typeface="Lucida Sans Unicode"/>
              </a:rPr>
              <a:t>,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contraintes</a:t>
            </a:r>
            <a:r>
              <a:rPr sz="2400" spc="-60" dirty="0">
                <a:latin typeface="Lucida Sans Unicode"/>
                <a:cs typeface="Lucida Sans Unicode"/>
              </a:rPr>
              <a:t>...)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9866"/>
              </p:ext>
            </p:extLst>
          </p:nvPr>
        </p:nvGraphicFramePr>
        <p:xfrm>
          <a:off x="4032250" y="3600450"/>
          <a:ext cx="2033904" cy="1871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687705" marR="12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80" dirty="0">
                          <a:latin typeface="Arial"/>
                          <a:cs typeface="Arial"/>
                        </a:rPr>
                        <a:t>Compte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79">
                <a:tc>
                  <a:txBody>
                    <a:bodyPr/>
                    <a:lstStyle/>
                    <a:p>
                      <a:pPr marL="90170" marR="120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90170" marR="715645">
                        <a:lnSpc>
                          <a:spcPct val="123800"/>
                        </a:lnSpc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devise:Devise 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0489">
                        <a:lnSpc>
                          <a:spcPts val="2080"/>
                        </a:lnSpc>
                        <a:spcBef>
                          <a:spcPts val="60"/>
                        </a:spcBef>
                      </a:pPr>
                      <a:r>
                        <a:rPr sz="1400" spc="-35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3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31389" y="62636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330"/>
              </a:spcBef>
            </a:pPr>
            <a:r>
              <a:rPr sz="1400" b="1" spc="30" dirty="0">
                <a:latin typeface="Arial"/>
                <a:cs typeface="Arial"/>
              </a:rPr>
              <a:t>CompteCourant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389" y="6551930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2705">
              <a:lnSpc>
                <a:spcPct val="123800"/>
              </a:lnSpc>
              <a:spcBef>
                <a:spcPts val="20"/>
              </a:spcBef>
            </a:pPr>
            <a:r>
              <a:rPr sz="1400" spc="-60" dirty="0">
                <a:latin typeface="Lucida Sans Unicode"/>
                <a:cs typeface="Lucida Sans Unicode"/>
              </a:rPr>
              <a:t>découvertAutorisé:float 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fraisDécouvert:float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1389" y="7128509"/>
            <a:ext cx="2089150" cy="71120"/>
          </a:xfrm>
          <a:custGeom>
            <a:avLst/>
            <a:gdLst/>
            <a:ahLst/>
            <a:cxnLst/>
            <a:rect l="l" t="t" r="r" b="b"/>
            <a:pathLst>
              <a:path w="2089150" h="71120">
                <a:moveTo>
                  <a:pt x="1045210" y="71120"/>
                </a:moveTo>
                <a:lnTo>
                  <a:pt x="0" y="71120"/>
                </a:lnTo>
                <a:lnTo>
                  <a:pt x="0" y="0"/>
                </a:lnTo>
                <a:lnTo>
                  <a:pt x="2089150" y="0"/>
                </a:lnTo>
                <a:lnTo>
                  <a:pt x="2089150" y="71120"/>
                </a:lnTo>
                <a:lnTo>
                  <a:pt x="1045210" y="7112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59450" y="6047740"/>
            <a:ext cx="2089150" cy="288290"/>
          </a:xfrm>
          <a:custGeom>
            <a:avLst/>
            <a:gdLst/>
            <a:ahLst/>
            <a:cxnLst/>
            <a:rect l="l" t="t" r="r" b="b"/>
            <a:pathLst>
              <a:path w="2089150" h="288289">
                <a:moveTo>
                  <a:pt x="1043940" y="288290"/>
                </a:moveTo>
                <a:lnTo>
                  <a:pt x="0" y="288290"/>
                </a:lnTo>
                <a:lnTo>
                  <a:pt x="0" y="0"/>
                </a:lnTo>
                <a:lnTo>
                  <a:pt x="2089150" y="0"/>
                </a:lnTo>
                <a:lnTo>
                  <a:pt x="2089150" y="288290"/>
                </a:lnTo>
                <a:lnTo>
                  <a:pt x="1043940" y="2882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9450" y="60477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Arial"/>
                <a:cs typeface="Arial"/>
              </a:rPr>
              <a:t>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9450" y="6336029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826135">
              <a:lnSpc>
                <a:spcPct val="123800"/>
              </a:lnSpc>
              <a:spcBef>
                <a:spcPts val="20"/>
              </a:spcBef>
            </a:pPr>
            <a:r>
              <a:rPr sz="1400" spc="-15" dirty="0">
                <a:latin typeface="Lucida Sans Unicode"/>
                <a:cs typeface="Lucida Sans Unicode"/>
              </a:rPr>
              <a:t>plafond:float 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20" dirty="0">
                <a:latin typeface="Lucida Sans Unicode"/>
                <a:cs typeface="Lucida Sans Unicode"/>
              </a:rPr>
              <a:t>taux:float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9450" y="6912609"/>
            <a:ext cx="2089150" cy="2870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400" spc="-35" dirty="0">
                <a:latin typeface="Lucida Sans Unicode"/>
                <a:cs typeface="Lucida Sans Unicode"/>
              </a:rPr>
              <a:t>calculerIntérêts():float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83814" y="5472429"/>
            <a:ext cx="4256405" cy="791210"/>
            <a:chOff x="2583814" y="5472429"/>
            <a:chExt cx="4256405" cy="791210"/>
          </a:xfrm>
        </p:grpSpPr>
        <p:sp>
          <p:nvSpPr>
            <p:cNvPr id="13" name="object 13"/>
            <p:cNvSpPr/>
            <p:nvPr/>
          </p:nvSpPr>
          <p:spPr>
            <a:xfrm>
              <a:off x="3239769" y="5472429"/>
              <a:ext cx="3600450" cy="791210"/>
            </a:xfrm>
            <a:custGeom>
              <a:avLst/>
              <a:gdLst/>
              <a:ahLst/>
              <a:cxnLst/>
              <a:rect l="l" t="t" r="r" b="b"/>
              <a:pathLst>
                <a:path w="3600450" h="791210">
                  <a:moveTo>
                    <a:pt x="0" y="791210"/>
                  </a:moveTo>
                  <a:lnTo>
                    <a:pt x="0" y="431800"/>
                  </a:lnTo>
                  <a:lnTo>
                    <a:pt x="3600450" y="431800"/>
                  </a:lnTo>
                  <a:lnTo>
                    <a:pt x="3600450" y="575310"/>
                  </a:lnTo>
                </a:path>
                <a:path w="3600450" h="791210">
                  <a:moveTo>
                    <a:pt x="1800859" y="431800"/>
                  </a:moveTo>
                  <a:lnTo>
                    <a:pt x="1800859" y="215900"/>
                  </a:lnTo>
                  <a:lnTo>
                    <a:pt x="1871980" y="215900"/>
                  </a:lnTo>
                  <a:lnTo>
                    <a:pt x="1800859" y="0"/>
                  </a:lnTo>
                  <a:lnTo>
                    <a:pt x="1728470" y="215900"/>
                  </a:lnTo>
                  <a:lnTo>
                    <a:pt x="1800859" y="215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84449" y="5759449"/>
              <a:ext cx="3016250" cy="473709"/>
            </a:xfrm>
            <a:custGeom>
              <a:avLst/>
              <a:gdLst/>
              <a:ahLst/>
              <a:cxnLst/>
              <a:rect l="l" t="t" r="r" b="b"/>
              <a:pathLst>
                <a:path w="3016250" h="473710">
                  <a:moveTo>
                    <a:pt x="0" y="0"/>
                  </a:moveTo>
                  <a:lnTo>
                    <a:pt x="87777" y="290"/>
                  </a:lnTo>
                  <a:lnTo>
                    <a:pt x="174108" y="1149"/>
                  </a:lnTo>
                  <a:lnTo>
                    <a:pt x="259000" y="2562"/>
                  </a:lnTo>
                  <a:lnTo>
                    <a:pt x="342461" y="4511"/>
                  </a:lnTo>
                  <a:lnTo>
                    <a:pt x="424501" y="6981"/>
                  </a:lnTo>
                  <a:lnTo>
                    <a:pt x="505128" y="9956"/>
                  </a:lnTo>
                  <a:lnTo>
                    <a:pt x="584351" y="13418"/>
                  </a:lnTo>
                  <a:lnTo>
                    <a:pt x="662179" y="17352"/>
                  </a:lnTo>
                  <a:lnTo>
                    <a:pt x="738619" y="21741"/>
                  </a:lnTo>
                  <a:lnTo>
                    <a:pt x="813681" y="26570"/>
                  </a:lnTo>
                  <a:lnTo>
                    <a:pt x="887373" y="31821"/>
                  </a:lnTo>
                  <a:lnTo>
                    <a:pt x="959705" y="37479"/>
                  </a:lnTo>
                  <a:lnTo>
                    <a:pt x="1030683" y="43528"/>
                  </a:lnTo>
                  <a:lnTo>
                    <a:pt x="1100318" y="49950"/>
                  </a:lnTo>
                  <a:lnTo>
                    <a:pt x="1168618" y="56730"/>
                  </a:lnTo>
                  <a:lnTo>
                    <a:pt x="1235591" y="63852"/>
                  </a:lnTo>
                  <a:lnTo>
                    <a:pt x="1301246" y="71298"/>
                  </a:lnTo>
                  <a:lnTo>
                    <a:pt x="1365591" y="79054"/>
                  </a:lnTo>
                  <a:lnTo>
                    <a:pt x="1428636" y="87102"/>
                  </a:lnTo>
                  <a:lnTo>
                    <a:pt x="1490389" y="95426"/>
                  </a:lnTo>
                  <a:lnTo>
                    <a:pt x="1550859" y="104011"/>
                  </a:lnTo>
                  <a:lnTo>
                    <a:pt x="1610053" y="112839"/>
                  </a:lnTo>
                  <a:lnTo>
                    <a:pt x="1667982" y="121895"/>
                  </a:lnTo>
                  <a:lnTo>
                    <a:pt x="1724653" y="131162"/>
                  </a:lnTo>
                  <a:lnTo>
                    <a:pt x="1780075" y="140624"/>
                  </a:lnTo>
                  <a:lnTo>
                    <a:pt x="1834256" y="150264"/>
                  </a:lnTo>
                  <a:lnTo>
                    <a:pt x="1887206" y="160067"/>
                  </a:lnTo>
                  <a:lnTo>
                    <a:pt x="1938933" y="170016"/>
                  </a:lnTo>
                  <a:lnTo>
                    <a:pt x="1989445" y="180095"/>
                  </a:lnTo>
                  <a:lnTo>
                    <a:pt x="2038752" y="190287"/>
                  </a:lnTo>
                  <a:lnTo>
                    <a:pt x="2086861" y="200577"/>
                  </a:lnTo>
                  <a:lnTo>
                    <a:pt x="2133782" y="210947"/>
                  </a:lnTo>
                  <a:lnTo>
                    <a:pt x="2179523" y="221382"/>
                  </a:lnTo>
                  <a:lnTo>
                    <a:pt x="2224093" y="231865"/>
                  </a:lnTo>
                  <a:lnTo>
                    <a:pt x="2267500" y="242381"/>
                  </a:lnTo>
                  <a:lnTo>
                    <a:pt x="2309753" y="252912"/>
                  </a:lnTo>
                  <a:lnTo>
                    <a:pt x="2350860" y="263443"/>
                  </a:lnTo>
                  <a:lnTo>
                    <a:pt x="2390831" y="273957"/>
                  </a:lnTo>
                  <a:lnTo>
                    <a:pt x="2429674" y="284438"/>
                  </a:lnTo>
                  <a:lnTo>
                    <a:pt x="2467397" y="294870"/>
                  </a:lnTo>
                  <a:lnTo>
                    <a:pt x="2539519" y="315520"/>
                  </a:lnTo>
                  <a:lnTo>
                    <a:pt x="2607266" y="335778"/>
                  </a:lnTo>
                  <a:lnTo>
                    <a:pt x="2670708" y="355513"/>
                  </a:lnTo>
                  <a:lnTo>
                    <a:pt x="2729913" y="374595"/>
                  </a:lnTo>
                  <a:lnTo>
                    <a:pt x="2784951" y="392893"/>
                  </a:lnTo>
                  <a:lnTo>
                    <a:pt x="2835891" y="410278"/>
                  </a:lnTo>
                  <a:lnTo>
                    <a:pt x="2882800" y="426619"/>
                  </a:lnTo>
                  <a:lnTo>
                    <a:pt x="2925750" y="441785"/>
                  </a:lnTo>
                  <a:lnTo>
                    <a:pt x="2945761" y="448887"/>
                  </a:lnTo>
                  <a:lnTo>
                    <a:pt x="2964808" y="455647"/>
                  </a:lnTo>
                  <a:lnTo>
                    <a:pt x="2982899" y="462048"/>
                  </a:lnTo>
                  <a:lnTo>
                    <a:pt x="3000044" y="468075"/>
                  </a:lnTo>
                  <a:lnTo>
                    <a:pt x="3016250" y="47370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74029" y="6193789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114300" h="69850">
                  <a:moveTo>
                    <a:pt x="24130" y="0"/>
                  </a:moveTo>
                  <a:lnTo>
                    <a:pt x="0" y="67310"/>
                  </a:lnTo>
                  <a:lnTo>
                    <a:pt x="114300" y="69850"/>
                  </a:lnTo>
                  <a:lnTo>
                    <a:pt x="2413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727835" y="5903595"/>
            <a:ext cx="432434" cy="575945"/>
            <a:chOff x="1727835" y="5903595"/>
            <a:chExt cx="432434" cy="575945"/>
          </a:xfrm>
        </p:grpSpPr>
        <p:sp>
          <p:nvSpPr>
            <p:cNvPr id="17" name="object 17"/>
            <p:cNvSpPr/>
            <p:nvPr/>
          </p:nvSpPr>
          <p:spPr>
            <a:xfrm>
              <a:off x="1728470" y="5904230"/>
              <a:ext cx="339090" cy="533400"/>
            </a:xfrm>
            <a:custGeom>
              <a:avLst/>
              <a:gdLst/>
              <a:ahLst/>
              <a:cxnLst/>
              <a:rect l="l" t="t" r="r" b="b"/>
              <a:pathLst>
                <a:path w="339089" h="533400">
                  <a:moveTo>
                    <a:pt x="0" y="0"/>
                  </a:moveTo>
                  <a:lnTo>
                    <a:pt x="2412" y="76381"/>
                  </a:lnTo>
                  <a:lnTo>
                    <a:pt x="9361" y="144028"/>
                  </a:lnTo>
                  <a:lnTo>
                    <a:pt x="20409" y="203582"/>
                  </a:lnTo>
                  <a:lnTo>
                    <a:pt x="35123" y="255686"/>
                  </a:lnTo>
                  <a:lnTo>
                    <a:pt x="53066" y="300981"/>
                  </a:lnTo>
                  <a:lnTo>
                    <a:pt x="73803" y="340109"/>
                  </a:lnTo>
                  <a:lnTo>
                    <a:pt x="96900" y="373712"/>
                  </a:lnTo>
                  <a:lnTo>
                    <a:pt x="148428" y="426908"/>
                  </a:lnTo>
                  <a:lnTo>
                    <a:pt x="204168" y="465706"/>
                  </a:lnTo>
                  <a:lnTo>
                    <a:pt x="260637" y="495239"/>
                  </a:lnTo>
                  <a:lnTo>
                    <a:pt x="288056" y="508136"/>
                  </a:lnTo>
                  <a:lnTo>
                    <a:pt x="314352" y="520642"/>
                  </a:lnTo>
                  <a:lnTo>
                    <a:pt x="339090" y="533400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7240" y="6402070"/>
              <a:ext cx="113030" cy="77470"/>
            </a:xfrm>
            <a:custGeom>
              <a:avLst/>
              <a:gdLst/>
              <a:ahLst/>
              <a:cxnLst/>
              <a:rect l="l" t="t" r="r" b="b"/>
              <a:pathLst>
                <a:path w="113030" h="77470">
                  <a:moveTo>
                    <a:pt x="30480" y="0"/>
                  </a:moveTo>
                  <a:lnTo>
                    <a:pt x="0" y="64769"/>
                  </a:lnTo>
                  <a:lnTo>
                    <a:pt x="113030" y="77469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659" y="5154929"/>
            <a:ext cx="2499359" cy="661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100"/>
              </a:spcBef>
            </a:pPr>
            <a:r>
              <a:rPr lang="fr-FR" sz="1800" i="1" dirty="0">
                <a:latin typeface="Arial"/>
                <a:cs typeface="Arial"/>
              </a:rPr>
              <a:t>C</a:t>
            </a:r>
            <a:r>
              <a:rPr sz="1800" i="1" dirty="0">
                <a:latin typeface="Arial"/>
                <a:cs typeface="Arial"/>
              </a:rPr>
              <a:t>las</a:t>
            </a:r>
            <a:r>
              <a:rPr lang="fr-FR" sz="1800" i="1" dirty="0">
                <a:latin typeface="Arial"/>
                <a:cs typeface="Arial"/>
              </a:rPr>
              <a:t>s</a:t>
            </a:r>
            <a:r>
              <a:rPr sz="1800" i="1" dirty="0">
                <a:latin typeface="Arial"/>
                <a:cs typeface="Arial"/>
              </a:rPr>
              <a:t>es</a:t>
            </a:r>
            <a:r>
              <a:rPr lang="fr-FR" sz="1800" i="1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héritant</a:t>
            </a:r>
            <a:r>
              <a:rPr sz="1800" i="1" dirty="0">
                <a:latin typeface="Arial"/>
                <a:cs typeface="Arial"/>
              </a:rPr>
              <a:t>  de</a:t>
            </a:r>
            <a:r>
              <a:rPr lang="fr-FR" sz="1800" i="1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</a:t>
            </a:r>
            <a:r>
              <a:rPr lang="fr-FR" sz="1800" i="1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classe</a:t>
            </a:r>
            <a:r>
              <a:rPr lang="fr-FR" sz="1800" i="1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Compte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9287511" y="7117638"/>
            <a:ext cx="414018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9156700" y="7117638"/>
            <a:ext cx="5448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91" y="384809"/>
            <a:ext cx="554291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clases</a:t>
            </a:r>
            <a:endParaRPr spc="2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64069" y="2635250"/>
            <a:ext cx="2231390" cy="2564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CC:CompteCourant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4069" y="2923541"/>
            <a:ext cx="2231390" cy="15924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6355" marR="42545">
              <a:lnSpc>
                <a:spcPct val="123700"/>
              </a:lnSpc>
              <a:spcBef>
                <a:spcPts val="20"/>
              </a:spcBef>
            </a:pPr>
            <a:r>
              <a:rPr sz="1400" dirty="0">
                <a:latin typeface="Lucida Sans Unicode"/>
                <a:cs typeface="Lucida Sans Unicode"/>
              </a:rPr>
              <a:t>numéro= 875421  devise= EUR      solde= 1290,30  découvertAutorisé= -200,0  fraisDécouvert= 2,30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62799" y="4585968"/>
            <a:ext cx="2232660" cy="2623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32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LivA:CompteÉpargne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2799" y="4853941"/>
            <a:ext cx="2232660" cy="13677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09270">
              <a:lnSpc>
                <a:spcPct val="123700"/>
              </a:lnSpc>
              <a:spcBef>
                <a:spcPts val="20"/>
              </a:spcBef>
            </a:pPr>
            <a:r>
              <a:rPr sz="1400" dirty="0">
                <a:latin typeface="Lucida Sans Unicode"/>
                <a:cs typeface="Lucida Sans Unicode"/>
              </a:rPr>
              <a:t>numéro=094435  devise= EUR  solde= 10542,0  plafond= 2950,0  taux= 0,75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99398"/>
              </p:ext>
            </p:extLst>
          </p:nvPr>
        </p:nvGraphicFramePr>
        <p:xfrm>
          <a:off x="539750" y="2994661"/>
          <a:ext cx="2232660" cy="24485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89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30" dirty="0">
                          <a:latin typeface="Arial"/>
                          <a:cs typeface="Arial"/>
                        </a:rPr>
                        <a:t>CompteCourant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89">
                <a:tc>
                  <a:txBody>
                    <a:bodyPr/>
                    <a:lstStyle/>
                    <a:p>
                      <a:pPr marL="90170" marR="196850">
                        <a:lnSpc>
                          <a:spcPct val="123700"/>
                        </a:lnSpc>
                        <a:spcBef>
                          <a:spcPts val="3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 </a:t>
                      </a:r>
                      <a:r>
                        <a:rPr sz="1400" spc="9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30" dirty="0">
                          <a:latin typeface="Lucida Sans Unicode"/>
                          <a:cs typeface="Lucida Sans Unicode"/>
                        </a:rPr>
                        <a:t>devise:Devise </a:t>
                      </a:r>
                      <a:r>
                        <a:rPr sz="1400" spc="3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5" dirty="0">
                          <a:latin typeface="Lucida Sans Unicode"/>
                          <a:cs typeface="Lucida Sans Unicode"/>
                        </a:rPr>
                        <a:t>solde:float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60" dirty="0">
                          <a:latin typeface="Lucida Sans Unicode"/>
                          <a:cs typeface="Lucida Sans Unicode"/>
                        </a:rPr>
                        <a:t>découvertAutorisé:float </a:t>
                      </a:r>
                      <a:r>
                        <a:rPr sz="1400" spc="-5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40" dirty="0">
                          <a:latin typeface="Lucida Sans Unicode"/>
                          <a:cs typeface="Lucida Sans Unicode"/>
                        </a:rPr>
                        <a:t>fraisDécouvert:float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</a:p>
                    <a:p>
                      <a:pPr marL="90170" marR="307975">
                        <a:lnSpc>
                          <a:spcPct val="123200"/>
                        </a:lnSpc>
                        <a:spcBef>
                          <a:spcPts val="10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retirer(montant:float)  solde():float</a:t>
                      </a: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616830"/>
              </p:ext>
            </p:extLst>
          </p:nvPr>
        </p:nvGraphicFramePr>
        <p:xfrm>
          <a:off x="3420109" y="2707641"/>
          <a:ext cx="2097405" cy="27355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7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394335" marR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CompteÉpargne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059">
                <a:tc>
                  <a:txBody>
                    <a:bodyPr/>
                    <a:lstStyle/>
                    <a:p>
                      <a:pPr marL="89535" marR="809625">
                        <a:lnSpc>
                          <a:spcPct val="123700"/>
                        </a:lnSpc>
                        <a:spcBef>
                          <a:spcPts val="30"/>
                        </a:spcBef>
                      </a:pPr>
                      <a:r>
                        <a:rPr sz="1400" spc="60" dirty="0">
                          <a:latin typeface="Lucida Sans Unicode"/>
                          <a:cs typeface="Lucida Sans Unicode"/>
                        </a:rPr>
                        <a:t>numéro:int </a:t>
                      </a:r>
                      <a:r>
                        <a:rPr sz="1400" spc="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devise:Devise  </a:t>
                      </a:r>
                      <a:r>
                        <a:rPr sz="1400" spc="-5" dirty="0">
                          <a:latin typeface="Lucida Sans Unicode"/>
                          <a:cs typeface="Lucida Sans Unicode"/>
                        </a:rPr>
                        <a:t>solde:float 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-15" dirty="0">
                          <a:latin typeface="Lucida Sans Unicode"/>
                          <a:cs typeface="Lucida Sans Unicode"/>
                        </a:rPr>
                        <a:t>plafond:float </a:t>
                      </a:r>
                      <a:r>
                        <a:rPr sz="1400" spc="-1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taux:float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89535">
                        <a:lnSpc>
                          <a:spcPts val="2080"/>
                        </a:lnSpc>
                        <a:spcBef>
                          <a:spcPts val="55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déposer(montant:float)  retirer(montant:float)  solde():float  calculerIntérêts():float</a:t>
                      </a:r>
                    </a:p>
                  </a:txBody>
                  <a:tcPr marL="0" marR="0" marT="69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91490" y="1258570"/>
            <a:ext cx="92417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62115" algn="l"/>
              </a:tabLst>
            </a:pPr>
            <a:r>
              <a:rPr sz="2400" spc="5" dirty="0" err="1">
                <a:latin typeface="Lucida Sans Unicode"/>
                <a:cs typeface="Lucida Sans Unicode"/>
              </a:rPr>
              <a:t>Diagramme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de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clas</a:t>
            </a:r>
            <a:r>
              <a:rPr lang="fr-FR" sz="2400" spc="5" dirty="0">
                <a:latin typeface="Lucida Sans Unicode"/>
                <a:cs typeface="Lucida Sans Unicode"/>
              </a:rPr>
              <a:t>s</a:t>
            </a:r>
            <a:r>
              <a:rPr sz="2400" spc="5" dirty="0">
                <a:latin typeface="Lucida Sans Unicode"/>
                <a:cs typeface="Lucida Sans Unicode"/>
              </a:rPr>
              <a:t>es</a:t>
            </a:r>
            <a:r>
              <a:rPr lang="fr-FR" sz="2400" spc="5" dirty="0">
                <a:latin typeface="Lucida Sans Unicode"/>
                <a:cs typeface="Lucida Sans Unicode"/>
              </a:rPr>
              <a:t>                              </a:t>
            </a:r>
            <a:r>
              <a:rPr sz="2400" spc="-65" dirty="0" err="1">
                <a:latin typeface="Lucida Sans Unicode"/>
                <a:cs typeface="Lucida Sans Unicode"/>
              </a:rPr>
              <a:t>Exemples</a:t>
            </a:r>
            <a:r>
              <a:rPr lang="fr-FR" sz="2400" spc="-65" dirty="0">
                <a:latin typeface="Lucida Sans Unicode"/>
                <a:cs typeface="Lucida Sans Unicode"/>
              </a:rPr>
              <a:t> </a:t>
            </a:r>
            <a:r>
              <a:rPr sz="2400" spc="-65" dirty="0" err="1">
                <a:latin typeface="Lucida Sans Unicode"/>
                <a:cs typeface="Lucida Sans Unicode"/>
              </a:rPr>
              <a:t>d'objets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91" y="384809"/>
            <a:ext cx="55429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clases</a:t>
            </a:r>
            <a:endParaRPr spc="2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490" y="1258570"/>
            <a:ext cx="9241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62115" algn="l"/>
              </a:tabLst>
            </a:pPr>
            <a:r>
              <a:rPr sz="2400" dirty="0" err="1">
                <a:latin typeface="Lucida Sans Unicode"/>
                <a:cs typeface="Lucida Sans Unicode"/>
              </a:rPr>
              <a:t>Diagramme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lang="fr-FR" sz="2400" dirty="0">
                <a:latin typeface="Lucida Sans Unicode"/>
                <a:cs typeface="Lucida Sans Unicode"/>
              </a:rPr>
              <a:t> </a:t>
            </a:r>
            <a:r>
              <a:rPr sz="2400" dirty="0" err="1">
                <a:latin typeface="Lucida Sans Unicode"/>
                <a:cs typeface="Lucida Sans Unicode"/>
              </a:rPr>
              <a:t>cla</a:t>
            </a:r>
            <a:r>
              <a:rPr lang="fr-FR" sz="2400" dirty="0">
                <a:latin typeface="Lucida Sans Unicode"/>
                <a:cs typeface="Lucida Sans Unicode"/>
              </a:rPr>
              <a:t>s</a:t>
            </a:r>
            <a:r>
              <a:rPr sz="2400" dirty="0" err="1">
                <a:latin typeface="Lucida Sans Unicode"/>
                <a:cs typeface="Lucida Sans Unicode"/>
              </a:rPr>
              <a:t>ses</a:t>
            </a:r>
            <a:r>
              <a:rPr lang="fr-FR" sz="2400" spc="5" dirty="0">
                <a:latin typeface="Lucida Sans Unicode"/>
                <a:cs typeface="Lucida Sans Unicode"/>
              </a:rPr>
              <a:t>                                 </a:t>
            </a:r>
            <a:r>
              <a:rPr sz="2400" spc="-65" dirty="0" err="1">
                <a:latin typeface="Lucida Sans Unicode"/>
                <a:cs typeface="Lucida Sans Unicode"/>
              </a:rPr>
              <a:t>Exemples</a:t>
            </a:r>
            <a:r>
              <a:rPr lang="fr-FR" sz="2400" spc="-65" dirty="0">
                <a:latin typeface="Lucida Sans Unicode"/>
                <a:cs typeface="Lucida Sans Unicode"/>
              </a:rPr>
              <a:t> </a:t>
            </a:r>
            <a:r>
              <a:rPr sz="2400" spc="-65" dirty="0" err="1">
                <a:latin typeface="Lucida Sans Unicode"/>
                <a:cs typeface="Lucida Sans Unicode"/>
              </a:rPr>
              <a:t>d'objets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41004"/>
              </p:ext>
            </p:extLst>
          </p:nvPr>
        </p:nvGraphicFramePr>
        <p:xfrm>
          <a:off x="1979929" y="2519679"/>
          <a:ext cx="2033904" cy="1871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687705" marR="120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80" dirty="0">
                          <a:latin typeface="Arial"/>
                          <a:cs typeface="Arial"/>
                        </a:rPr>
                        <a:t>Compte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79">
                <a:tc>
                  <a:txBody>
                    <a:bodyPr/>
                    <a:lstStyle/>
                    <a:p>
                      <a:pPr marL="89535" marR="120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9535" marR="715645">
                        <a:lnSpc>
                          <a:spcPts val="2080"/>
                        </a:lnSpc>
                        <a:spcBef>
                          <a:spcPts val="60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devise:Devise 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2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0489">
                        <a:lnSpc>
                          <a:spcPct val="123800"/>
                        </a:lnSpc>
                      </a:pPr>
                      <a:r>
                        <a:rPr sz="1400" spc="-30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2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9750" y="51841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320"/>
              </a:spcBef>
            </a:pPr>
            <a:r>
              <a:rPr sz="1400" b="1" spc="30" dirty="0">
                <a:latin typeface="Arial"/>
                <a:cs typeface="Arial"/>
              </a:rPr>
              <a:t>CompteCourant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750" y="5472429"/>
            <a:ext cx="2087880" cy="575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2069">
              <a:lnSpc>
                <a:spcPct val="123800"/>
              </a:lnSpc>
              <a:spcBef>
                <a:spcPts val="20"/>
              </a:spcBef>
            </a:pPr>
            <a:r>
              <a:rPr sz="1400" spc="-60" dirty="0">
                <a:latin typeface="Lucida Sans Unicode"/>
                <a:cs typeface="Lucida Sans Unicode"/>
              </a:rPr>
              <a:t>découvertAutorisé:float 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fraisDécouvert:float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9750" y="6047740"/>
            <a:ext cx="2087880" cy="72390"/>
          </a:xfrm>
          <a:custGeom>
            <a:avLst/>
            <a:gdLst/>
            <a:ahLst/>
            <a:cxnLst/>
            <a:rect l="l" t="t" r="r" b="b"/>
            <a:pathLst>
              <a:path w="2087880" h="72389">
                <a:moveTo>
                  <a:pt x="1043940" y="72390"/>
                </a:moveTo>
                <a:lnTo>
                  <a:pt x="0" y="72390"/>
                </a:lnTo>
                <a:lnTo>
                  <a:pt x="0" y="0"/>
                </a:lnTo>
                <a:lnTo>
                  <a:pt x="2087880" y="0"/>
                </a:lnTo>
                <a:lnTo>
                  <a:pt x="2087880" y="72390"/>
                </a:lnTo>
                <a:lnTo>
                  <a:pt x="1043940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0109" y="4968240"/>
            <a:ext cx="2087880" cy="288290"/>
          </a:xfrm>
          <a:custGeom>
            <a:avLst/>
            <a:gdLst/>
            <a:ahLst/>
            <a:cxnLst/>
            <a:rect l="l" t="t" r="r" b="b"/>
            <a:pathLst>
              <a:path w="2087879" h="288289">
                <a:moveTo>
                  <a:pt x="1043939" y="288290"/>
                </a:moveTo>
                <a:lnTo>
                  <a:pt x="0" y="288290"/>
                </a:lnTo>
                <a:lnTo>
                  <a:pt x="0" y="0"/>
                </a:lnTo>
                <a:lnTo>
                  <a:pt x="2087879" y="0"/>
                </a:lnTo>
                <a:lnTo>
                  <a:pt x="2087879" y="288290"/>
                </a:lnTo>
                <a:lnTo>
                  <a:pt x="1043939" y="2882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20109" y="49682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0109" y="5256529"/>
            <a:ext cx="2087880" cy="575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89535" marR="826135">
              <a:lnSpc>
                <a:spcPct val="123800"/>
              </a:lnSpc>
              <a:spcBef>
                <a:spcPts val="20"/>
              </a:spcBef>
            </a:pPr>
            <a:r>
              <a:rPr sz="1400" spc="-15" dirty="0">
                <a:latin typeface="Lucida Sans Unicode"/>
                <a:cs typeface="Lucida Sans Unicode"/>
              </a:rPr>
              <a:t>plafond:float 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20" dirty="0">
                <a:latin typeface="Lucida Sans Unicode"/>
                <a:cs typeface="Lucida Sans Unicode"/>
              </a:rPr>
              <a:t>taux:float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0109" y="58318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400" spc="-35" dirty="0">
                <a:latin typeface="Lucida Sans Unicode"/>
                <a:cs typeface="Lucida Sans Unicode"/>
              </a:rPr>
              <a:t>calculerIntérêts():float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48130" y="4391659"/>
            <a:ext cx="2988310" cy="792480"/>
          </a:xfrm>
          <a:custGeom>
            <a:avLst/>
            <a:gdLst/>
            <a:ahLst/>
            <a:cxnLst/>
            <a:rect l="l" t="t" r="r" b="b"/>
            <a:pathLst>
              <a:path w="2988310" h="792479">
                <a:moveTo>
                  <a:pt x="0" y="792479"/>
                </a:moveTo>
                <a:lnTo>
                  <a:pt x="0" y="431800"/>
                </a:lnTo>
                <a:lnTo>
                  <a:pt x="2988310" y="431800"/>
                </a:lnTo>
                <a:lnTo>
                  <a:pt x="2988310" y="576579"/>
                </a:lnTo>
              </a:path>
              <a:path w="2988310" h="792479">
                <a:moveTo>
                  <a:pt x="1440180" y="431800"/>
                </a:moveTo>
                <a:lnTo>
                  <a:pt x="1440180" y="215900"/>
                </a:lnTo>
                <a:lnTo>
                  <a:pt x="1511300" y="215900"/>
                </a:lnTo>
                <a:lnTo>
                  <a:pt x="1440180" y="0"/>
                </a:lnTo>
                <a:lnTo>
                  <a:pt x="1367789" y="215900"/>
                </a:lnTo>
                <a:lnTo>
                  <a:pt x="1440180" y="2159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64069" y="3312159"/>
            <a:ext cx="223139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b="1" u="heavy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CC:CompteCourant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9080500" y="7117638"/>
            <a:ext cx="6210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7164069" y="3600450"/>
            <a:ext cx="2231390" cy="13677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6355" marR="42545">
              <a:lnSpc>
                <a:spcPct val="123700"/>
              </a:lnSpc>
              <a:spcBef>
                <a:spcPts val="20"/>
              </a:spcBef>
            </a:pPr>
            <a:r>
              <a:rPr sz="1400" spc="-155" dirty="0">
                <a:latin typeface="Lucida Sans Unicode"/>
                <a:cs typeface="Lucida Sans Unicode"/>
              </a:rPr>
              <a:t>nu</a:t>
            </a:r>
            <a:r>
              <a:rPr sz="1400" spc="-200" dirty="0">
                <a:latin typeface="Lucida Sans Unicode"/>
                <a:cs typeface="Lucida Sans Unicode"/>
              </a:rPr>
              <a:t>m</a:t>
            </a:r>
            <a:r>
              <a:rPr sz="1400" spc="-155" dirty="0">
                <a:latin typeface="Lucida Sans Unicode"/>
                <a:cs typeface="Lucida Sans Unicode"/>
              </a:rPr>
              <a:t>é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305" dirty="0">
                <a:latin typeface="Lucida Sans Unicode"/>
                <a:cs typeface="Lucida Sans Unicode"/>
              </a:rPr>
              <a:t>o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875</a:t>
            </a:r>
            <a:r>
              <a:rPr sz="1400" spc="-190" dirty="0">
                <a:latin typeface="Lucida Sans Unicode"/>
                <a:cs typeface="Lucida Sans Unicode"/>
              </a:rPr>
              <a:t>4</a:t>
            </a:r>
            <a:r>
              <a:rPr sz="1400" spc="-185" dirty="0">
                <a:latin typeface="Lucida Sans Unicode"/>
                <a:cs typeface="Lucida Sans Unicode"/>
              </a:rPr>
              <a:t>2</a:t>
            </a:r>
            <a:r>
              <a:rPr sz="1400" spc="340" dirty="0">
                <a:latin typeface="Lucida Sans Unicode"/>
                <a:cs typeface="Lucida Sans Unicode"/>
              </a:rPr>
              <a:t>1  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60" dirty="0">
                <a:latin typeface="Lucida Sans Unicode"/>
                <a:cs typeface="Lucida Sans Unicode"/>
              </a:rPr>
              <a:t>e</a:t>
            </a:r>
            <a:r>
              <a:rPr sz="1400" spc="-80" dirty="0">
                <a:latin typeface="Lucida Sans Unicode"/>
                <a:cs typeface="Lucida Sans Unicode"/>
              </a:rPr>
              <a:t>v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54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75" dirty="0">
                <a:latin typeface="Lucida Sans Unicode"/>
                <a:cs typeface="Lucida Sans Unicode"/>
              </a:rPr>
              <a:t>E</a:t>
            </a:r>
            <a:r>
              <a:rPr sz="1400" spc="-5" dirty="0">
                <a:latin typeface="Lucida Sans Unicode"/>
                <a:cs typeface="Lucida Sans Unicode"/>
              </a:rPr>
              <a:t>U</a:t>
            </a:r>
            <a:r>
              <a:rPr sz="1400" spc="340" dirty="0">
                <a:latin typeface="Lucida Sans Unicode"/>
                <a:cs typeface="Lucida Sans Unicode"/>
              </a:rPr>
              <a:t>R  </a:t>
            </a:r>
            <a:r>
              <a:rPr sz="1400" spc="254" dirty="0">
                <a:latin typeface="Lucida Sans Unicode"/>
                <a:cs typeface="Lucida Sans Unicode"/>
              </a:rPr>
              <a:t>    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155" dirty="0">
                <a:latin typeface="Lucida Sans Unicode"/>
                <a:cs typeface="Lucida Sans Unicode"/>
              </a:rPr>
              <a:t>o</a:t>
            </a:r>
            <a:r>
              <a:rPr sz="1400" spc="-75" dirty="0">
                <a:latin typeface="Lucida Sans Unicode"/>
                <a:cs typeface="Lucida Sans Unicode"/>
              </a:rPr>
              <a:t>l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54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1290</a:t>
            </a:r>
            <a:r>
              <a:rPr sz="1400" spc="-60" dirty="0">
                <a:latin typeface="Lucida Sans Unicode"/>
                <a:cs typeface="Lucida Sans Unicode"/>
              </a:rPr>
              <a:t>,</a:t>
            </a:r>
            <a:r>
              <a:rPr sz="1400" spc="-185" dirty="0">
                <a:latin typeface="Lucida Sans Unicode"/>
                <a:cs typeface="Lucida Sans Unicode"/>
              </a:rPr>
              <a:t>3</a:t>
            </a:r>
            <a:r>
              <a:rPr sz="1400" spc="340" dirty="0">
                <a:latin typeface="Lucida Sans Unicode"/>
                <a:cs typeface="Lucida Sans Unicode"/>
              </a:rPr>
              <a:t>0  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60" dirty="0">
                <a:latin typeface="Lucida Sans Unicode"/>
                <a:cs typeface="Lucida Sans Unicode"/>
              </a:rPr>
              <a:t>é</a:t>
            </a:r>
            <a:r>
              <a:rPr sz="1400" spc="-95" dirty="0">
                <a:latin typeface="Lucida Sans Unicode"/>
                <a:cs typeface="Lucida Sans Unicode"/>
              </a:rPr>
              <a:t>c</a:t>
            </a:r>
            <a:r>
              <a:rPr sz="1400" spc="-160" dirty="0">
                <a:latin typeface="Lucida Sans Unicode"/>
                <a:cs typeface="Lucida Sans Unicode"/>
              </a:rPr>
              <a:t>o</a:t>
            </a:r>
            <a:r>
              <a:rPr sz="1400" spc="-155" dirty="0">
                <a:latin typeface="Lucida Sans Unicode"/>
                <a:cs typeface="Lucida Sans Unicode"/>
              </a:rPr>
              <a:t>u</a:t>
            </a:r>
            <a:r>
              <a:rPr sz="1400" spc="-80" dirty="0">
                <a:latin typeface="Lucida Sans Unicode"/>
                <a:cs typeface="Lucida Sans Unicode"/>
              </a:rPr>
              <a:t>v</a:t>
            </a:r>
            <a:r>
              <a:rPr sz="1400" spc="-155" dirty="0">
                <a:latin typeface="Lucida Sans Unicode"/>
                <a:cs typeface="Lucida Sans Unicode"/>
              </a:rPr>
              <a:t>e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80" dirty="0">
                <a:latin typeface="Lucida Sans Unicode"/>
                <a:cs typeface="Lucida Sans Unicode"/>
              </a:rPr>
              <a:t>A</a:t>
            </a:r>
            <a:r>
              <a:rPr sz="1400" spc="-155" dirty="0">
                <a:latin typeface="Lucida Sans Unicode"/>
                <a:cs typeface="Lucida Sans Unicode"/>
              </a:rPr>
              <a:t>u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204" dirty="0">
                <a:latin typeface="Lucida Sans Unicode"/>
                <a:cs typeface="Lucida Sans Unicode"/>
              </a:rPr>
              <a:t>o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305" dirty="0">
                <a:latin typeface="Lucida Sans Unicode"/>
                <a:cs typeface="Lucida Sans Unicode"/>
              </a:rPr>
              <a:t>é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-350" dirty="0">
                <a:latin typeface="Lucida Sans Unicode"/>
                <a:cs typeface="Lucida Sans Unicode"/>
              </a:rPr>
              <a:t>-</a:t>
            </a:r>
            <a:r>
              <a:rPr sz="1400" spc="-185" dirty="0">
                <a:latin typeface="Lucida Sans Unicode"/>
                <a:cs typeface="Lucida Sans Unicode"/>
              </a:rPr>
              <a:t>2</a:t>
            </a:r>
            <a:r>
              <a:rPr sz="1400" spc="-190" dirty="0">
                <a:latin typeface="Lucida Sans Unicode"/>
                <a:cs typeface="Lucida Sans Unicode"/>
              </a:rPr>
              <a:t>0</a:t>
            </a:r>
            <a:r>
              <a:rPr sz="1400" spc="-185" dirty="0">
                <a:latin typeface="Lucida Sans Unicode"/>
                <a:cs typeface="Lucida Sans Unicode"/>
              </a:rPr>
              <a:t>0</a:t>
            </a:r>
            <a:r>
              <a:rPr sz="1400" spc="-50" dirty="0">
                <a:latin typeface="Lucida Sans Unicode"/>
                <a:cs typeface="Lucida Sans Unicode"/>
              </a:rPr>
              <a:t>,</a:t>
            </a:r>
            <a:r>
              <a:rPr sz="1400" spc="340" dirty="0">
                <a:latin typeface="Lucida Sans Unicode"/>
                <a:cs typeface="Lucida Sans Unicode"/>
              </a:rPr>
              <a:t>0  </a:t>
            </a:r>
            <a:r>
              <a:rPr sz="1400" spc="-90" dirty="0">
                <a:latin typeface="Lucida Sans Unicode"/>
                <a:cs typeface="Lucida Sans Unicode"/>
              </a:rPr>
              <a:t>f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55" dirty="0">
                <a:latin typeface="Lucida Sans Unicode"/>
                <a:cs typeface="Lucida Sans Unicode"/>
              </a:rPr>
              <a:t>D</a:t>
            </a:r>
            <a:r>
              <a:rPr sz="1400" spc="-155" dirty="0">
                <a:latin typeface="Lucida Sans Unicode"/>
                <a:cs typeface="Lucida Sans Unicode"/>
              </a:rPr>
              <a:t>é</a:t>
            </a:r>
            <a:r>
              <a:rPr sz="1400" spc="-100" dirty="0">
                <a:latin typeface="Lucida Sans Unicode"/>
                <a:cs typeface="Lucida Sans Unicode"/>
              </a:rPr>
              <a:t>c</a:t>
            </a:r>
            <a:r>
              <a:rPr sz="1400" spc="-155" dirty="0">
                <a:latin typeface="Lucida Sans Unicode"/>
                <a:cs typeface="Lucida Sans Unicode"/>
              </a:rPr>
              <a:t>ou</a:t>
            </a:r>
            <a:r>
              <a:rPr sz="1400" spc="-80" dirty="0">
                <a:latin typeface="Lucida Sans Unicode"/>
                <a:cs typeface="Lucida Sans Unicode"/>
              </a:rPr>
              <a:t>v</a:t>
            </a:r>
            <a:r>
              <a:rPr sz="1400" spc="-160" dirty="0">
                <a:latin typeface="Lucida Sans Unicode"/>
                <a:cs typeface="Lucida Sans Unicode"/>
              </a:rPr>
              <a:t>e</a:t>
            </a:r>
            <a:r>
              <a:rPr sz="1400" spc="-90" dirty="0">
                <a:latin typeface="Lucida Sans Unicode"/>
                <a:cs typeface="Lucida Sans Unicode"/>
              </a:rPr>
              <a:t>r</a:t>
            </a:r>
            <a:r>
              <a:rPr sz="1400" spc="434" dirty="0">
                <a:latin typeface="Lucida Sans Unicode"/>
                <a:cs typeface="Lucida Sans Unicode"/>
              </a:rPr>
              <a:t>t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7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2</a:t>
            </a:r>
            <a:r>
              <a:rPr sz="1400" spc="-60" dirty="0">
                <a:latin typeface="Lucida Sans Unicode"/>
                <a:cs typeface="Lucida Sans Unicode"/>
              </a:rPr>
              <a:t>,</a:t>
            </a:r>
            <a:r>
              <a:rPr sz="1400" spc="-185" dirty="0">
                <a:latin typeface="Lucida Sans Unicode"/>
                <a:cs typeface="Lucida Sans Unicode"/>
              </a:rPr>
              <a:t>3</a:t>
            </a:r>
            <a:r>
              <a:rPr sz="1400" spc="509" dirty="0">
                <a:latin typeface="Lucida Sans Unicode"/>
                <a:cs typeface="Lucida Sans Unicode"/>
              </a:rPr>
              <a:t>0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36459" y="51841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32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LivA:CompteÉpargne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36459" y="5472429"/>
            <a:ext cx="2087880" cy="13677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09270">
              <a:lnSpc>
                <a:spcPct val="123700"/>
              </a:lnSpc>
              <a:spcBef>
                <a:spcPts val="20"/>
              </a:spcBef>
            </a:pPr>
            <a:r>
              <a:rPr sz="1400" spc="-70" dirty="0">
                <a:latin typeface="Lucida Sans Unicode"/>
                <a:cs typeface="Lucida Sans Unicode"/>
              </a:rPr>
              <a:t>numéro=094435 </a:t>
            </a:r>
            <a:r>
              <a:rPr sz="1400" spc="-65" dirty="0">
                <a:latin typeface="Lucida Sans Unicode"/>
                <a:cs typeface="Lucida Sans Unicode"/>
              </a:rPr>
              <a:t> 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60" dirty="0">
                <a:latin typeface="Lucida Sans Unicode"/>
                <a:cs typeface="Lucida Sans Unicode"/>
              </a:rPr>
              <a:t>e</a:t>
            </a:r>
            <a:r>
              <a:rPr sz="1400" spc="-80" dirty="0">
                <a:latin typeface="Lucida Sans Unicode"/>
                <a:cs typeface="Lucida Sans Unicode"/>
              </a:rPr>
              <a:t>v</a:t>
            </a:r>
            <a:r>
              <a:rPr sz="1400" spc="-75" dirty="0">
                <a:latin typeface="Lucida Sans Unicode"/>
                <a:cs typeface="Lucida Sans Unicode"/>
              </a:rPr>
              <a:t>i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31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95" dirty="0">
                <a:latin typeface="Lucida Sans Unicode"/>
                <a:cs typeface="Lucida Sans Unicode"/>
              </a:rPr>
              <a:t> </a:t>
            </a:r>
            <a:r>
              <a:rPr sz="1400" spc="85" dirty="0">
                <a:latin typeface="Lucida Sans Unicode"/>
                <a:cs typeface="Lucida Sans Unicode"/>
              </a:rPr>
              <a:t>E</a:t>
            </a:r>
            <a:r>
              <a:rPr sz="1400" spc="-5" dirty="0">
                <a:latin typeface="Lucida Sans Unicode"/>
                <a:cs typeface="Lucida Sans Unicode"/>
              </a:rPr>
              <a:t>U</a:t>
            </a:r>
            <a:r>
              <a:rPr sz="1400" spc="340" dirty="0">
                <a:latin typeface="Lucida Sans Unicode"/>
                <a:cs typeface="Lucida Sans Unicode"/>
              </a:rPr>
              <a:t>R  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160" dirty="0">
                <a:latin typeface="Lucida Sans Unicode"/>
                <a:cs typeface="Lucida Sans Unicode"/>
              </a:rPr>
              <a:t>o</a:t>
            </a:r>
            <a:r>
              <a:rPr sz="1400" spc="-70" dirty="0">
                <a:latin typeface="Lucida Sans Unicode"/>
                <a:cs typeface="Lucida Sans Unicode"/>
              </a:rPr>
              <a:t>l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30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105</a:t>
            </a:r>
            <a:r>
              <a:rPr sz="1400" spc="-190" dirty="0">
                <a:latin typeface="Lucida Sans Unicode"/>
                <a:cs typeface="Lucida Sans Unicode"/>
              </a:rPr>
              <a:t>4</a:t>
            </a:r>
            <a:r>
              <a:rPr sz="1400" spc="-185" dirty="0">
                <a:latin typeface="Lucida Sans Unicode"/>
                <a:cs typeface="Lucida Sans Unicode"/>
              </a:rPr>
              <a:t>2</a:t>
            </a:r>
            <a:r>
              <a:rPr sz="1400" spc="-50" dirty="0">
                <a:latin typeface="Lucida Sans Unicode"/>
                <a:cs typeface="Lucida Sans Unicode"/>
              </a:rPr>
              <a:t>,</a:t>
            </a:r>
            <a:r>
              <a:rPr sz="1400" spc="340" dirty="0">
                <a:latin typeface="Lucida Sans Unicode"/>
                <a:cs typeface="Lucida Sans Unicode"/>
              </a:rPr>
              <a:t>0  </a:t>
            </a:r>
            <a:r>
              <a:rPr sz="1400" spc="-170" dirty="0">
                <a:latin typeface="Lucida Sans Unicode"/>
                <a:cs typeface="Lucida Sans Unicode"/>
              </a:rPr>
              <a:t>p</a:t>
            </a:r>
            <a:r>
              <a:rPr sz="1400" spc="-75" dirty="0">
                <a:latin typeface="Lucida Sans Unicode"/>
                <a:cs typeface="Lucida Sans Unicode"/>
              </a:rPr>
              <a:t>l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80" dirty="0">
                <a:latin typeface="Lucida Sans Unicode"/>
                <a:cs typeface="Lucida Sans Unicode"/>
              </a:rPr>
              <a:t>f</a:t>
            </a:r>
            <a:r>
              <a:rPr sz="1400" spc="-160" dirty="0">
                <a:latin typeface="Lucida Sans Unicode"/>
                <a:cs typeface="Lucida Sans Unicode"/>
              </a:rPr>
              <a:t>o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300" dirty="0">
                <a:latin typeface="Lucida Sans Unicode"/>
                <a:cs typeface="Lucida Sans Unicode"/>
              </a:rPr>
              <a:t>d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525" dirty="0">
                <a:latin typeface="Lucida Sans Unicode"/>
                <a:cs typeface="Lucida Sans Unicode"/>
              </a:rPr>
              <a:t>2</a:t>
            </a:r>
            <a:r>
              <a:rPr sz="1400" spc="-185" dirty="0">
                <a:latin typeface="Lucida Sans Unicode"/>
                <a:cs typeface="Lucida Sans Unicode"/>
              </a:rPr>
              <a:t>9</a:t>
            </a:r>
            <a:r>
              <a:rPr sz="1400" spc="-190" dirty="0">
                <a:latin typeface="Lucida Sans Unicode"/>
                <a:cs typeface="Lucida Sans Unicode"/>
              </a:rPr>
              <a:t>5</a:t>
            </a:r>
            <a:r>
              <a:rPr sz="1400" spc="-185" dirty="0">
                <a:latin typeface="Lucida Sans Unicode"/>
                <a:cs typeface="Lucida Sans Unicode"/>
              </a:rPr>
              <a:t>0</a:t>
            </a:r>
            <a:r>
              <a:rPr sz="1400" spc="-50" dirty="0">
                <a:latin typeface="Lucida Sans Unicode"/>
                <a:cs typeface="Lucida Sans Unicode"/>
              </a:rPr>
              <a:t>,</a:t>
            </a:r>
            <a:r>
              <a:rPr sz="1400" spc="340" dirty="0">
                <a:latin typeface="Lucida Sans Unicode"/>
                <a:cs typeface="Lucida Sans Unicode"/>
              </a:rPr>
              <a:t>0  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155" dirty="0">
                <a:latin typeface="Lucida Sans Unicode"/>
                <a:cs typeface="Lucida Sans Unicode"/>
              </a:rPr>
              <a:t>u</a:t>
            </a:r>
            <a:r>
              <a:rPr sz="1400" spc="254" dirty="0">
                <a:latin typeface="Lucida Sans Unicode"/>
                <a:cs typeface="Lucida Sans Unicode"/>
              </a:rPr>
              <a:t>x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0</a:t>
            </a:r>
            <a:r>
              <a:rPr sz="1400" spc="-60" dirty="0">
                <a:latin typeface="Lucida Sans Unicode"/>
                <a:cs typeface="Lucida Sans Unicode"/>
              </a:rPr>
              <a:t>,</a:t>
            </a:r>
            <a:r>
              <a:rPr sz="1400" spc="-185" dirty="0">
                <a:latin typeface="Lucida Sans Unicode"/>
                <a:cs typeface="Lucida Sans Unicode"/>
              </a:rPr>
              <a:t>7</a:t>
            </a:r>
            <a:r>
              <a:rPr sz="1400" spc="509" dirty="0">
                <a:latin typeface="Lucida Sans Unicode"/>
                <a:cs typeface="Lucida Sans Unicode"/>
              </a:rPr>
              <a:t>5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72019" y="2015489"/>
            <a:ext cx="2015489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330"/>
              </a:spcBef>
            </a:pPr>
            <a:r>
              <a:rPr sz="1400" b="1" u="heavy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C1:Compte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72019" y="2303779"/>
            <a:ext cx="2015489" cy="7924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0"/>
              </a:spcBef>
            </a:pPr>
            <a:r>
              <a:rPr sz="1400" spc="-155" dirty="0">
                <a:latin typeface="Lucida Sans Unicode"/>
                <a:cs typeface="Lucida Sans Unicode"/>
              </a:rPr>
              <a:t>nu</a:t>
            </a:r>
            <a:r>
              <a:rPr sz="1400" spc="-195" dirty="0">
                <a:latin typeface="Lucida Sans Unicode"/>
                <a:cs typeface="Lucida Sans Unicode"/>
              </a:rPr>
              <a:t>m</a:t>
            </a:r>
            <a:r>
              <a:rPr sz="1400" spc="-160" dirty="0">
                <a:latin typeface="Lucida Sans Unicode"/>
                <a:cs typeface="Lucida Sans Unicode"/>
              </a:rPr>
              <a:t>é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555" dirty="0">
                <a:latin typeface="Lucida Sans Unicode"/>
                <a:cs typeface="Lucida Sans Unicode"/>
              </a:rPr>
              <a:t>o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9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4635</a:t>
            </a:r>
            <a:r>
              <a:rPr sz="1400" spc="-190" dirty="0">
                <a:latin typeface="Lucida Sans Unicode"/>
                <a:cs typeface="Lucida Sans Unicode"/>
              </a:rPr>
              <a:t>27</a:t>
            </a:r>
            <a:endParaRPr sz="1400" dirty="0">
              <a:latin typeface="Lucida Sans Unicode"/>
              <a:cs typeface="Lucida Sans Unicode"/>
            </a:endParaRPr>
          </a:p>
          <a:p>
            <a:pPr marL="90170" marR="671830">
              <a:lnSpc>
                <a:spcPct val="123200"/>
              </a:lnSpc>
              <a:spcBef>
                <a:spcPts val="10"/>
              </a:spcBef>
            </a:pP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60" dirty="0">
                <a:latin typeface="Lucida Sans Unicode"/>
                <a:cs typeface="Lucida Sans Unicode"/>
              </a:rPr>
              <a:t>e</a:t>
            </a:r>
            <a:r>
              <a:rPr sz="1400" spc="-80" dirty="0">
                <a:latin typeface="Lucida Sans Unicode"/>
                <a:cs typeface="Lucida Sans Unicode"/>
              </a:rPr>
              <a:t>v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54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85" dirty="0">
                <a:latin typeface="Lucida Sans Unicode"/>
                <a:cs typeface="Lucida Sans Unicode"/>
              </a:rPr>
              <a:t> </a:t>
            </a:r>
            <a:r>
              <a:rPr sz="1400" spc="75" dirty="0">
                <a:latin typeface="Lucida Sans Unicode"/>
                <a:cs typeface="Lucida Sans Unicode"/>
              </a:rPr>
              <a:t>E</a:t>
            </a:r>
            <a:r>
              <a:rPr sz="1400" spc="-5" dirty="0">
                <a:latin typeface="Lucida Sans Unicode"/>
                <a:cs typeface="Lucida Sans Unicode"/>
              </a:rPr>
              <a:t>U</a:t>
            </a:r>
            <a:r>
              <a:rPr sz="1400" spc="340" dirty="0">
                <a:latin typeface="Lucida Sans Unicode"/>
                <a:cs typeface="Lucida Sans Unicode"/>
              </a:rPr>
              <a:t>R  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155" dirty="0">
                <a:latin typeface="Lucida Sans Unicode"/>
                <a:cs typeface="Lucida Sans Unicode"/>
              </a:rPr>
              <a:t>o</a:t>
            </a:r>
            <a:r>
              <a:rPr sz="1400" spc="-75" dirty="0">
                <a:latin typeface="Lucida Sans Unicode"/>
                <a:cs typeface="Lucida Sans Unicode"/>
              </a:rPr>
              <a:t>l</a:t>
            </a: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555" dirty="0">
                <a:latin typeface="Lucida Sans Unicode"/>
                <a:cs typeface="Lucida Sans Unicode"/>
              </a:rPr>
              <a:t>e</a:t>
            </a:r>
            <a:r>
              <a:rPr sz="1400" spc="285" dirty="0">
                <a:latin typeface="Lucida Sans Unicode"/>
                <a:cs typeface="Lucida Sans Unicode"/>
              </a:rPr>
              <a:t>=</a:t>
            </a:r>
            <a:r>
              <a:rPr sz="1400" spc="-295" dirty="0">
                <a:latin typeface="Lucida Sans Unicode"/>
                <a:cs typeface="Lucida Sans Unicode"/>
              </a:rPr>
              <a:t> </a:t>
            </a:r>
            <a:r>
              <a:rPr sz="1400" spc="-185" dirty="0">
                <a:latin typeface="Lucida Sans Unicode"/>
                <a:cs typeface="Lucida Sans Unicode"/>
              </a:rPr>
              <a:t>213</a:t>
            </a:r>
            <a:r>
              <a:rPr sz="1400" spc="-60" dirty="0">
                <a:latin typeface="Lucida Sans Unicode"/>
                <a:cs typeface="Lucida Sans Unicode"/>
              </a:rPr>
              <a:t>,</a:t>
            </a:r>
            <a:r>
              <a:rPr sz="1400" spc="-185" dirty="0">
                <a:latin typeface="Lucida Sans Unicode"/>
                <a:cs typeface="Lucida Sans Unicode"/>
              </a:rPr>
              <a:t>5</a:t>
            </a:r>
            <a:r>
              <a:rPr sz="1400" spc="509" dirty="0">
                <a:latin typeface="Lucida Sans Unicode"/>
                <a:cs typeface="Lucida Sans Unicode"/>
              </a:rPr>
              <a:t>0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390" y="384809"/>
            <a:ext cx="41821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Clas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abstraite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00" y="1258570"/>
            <a:ext cx="975360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Clasesans</a:t>
            </a:r>
            <a:r>
              <a:rPr lang="fr-FR"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569C1B"/>
                </a:solidFill>
                <a:latin typeface="Lucida Sans Unicode"/>
                <a:cs typeface="Lucida Sans Unicode"/>
              </a:rPr>
              <a:t>instance</a:t>
            </a:r>
            <a:r>
              <a:rPr sz="2400" spc="-60" dirty="0">
                <a:latin typeface="Lucida Sans Unicode"/>
                <a:cs typeface="Lucida Sans Unicode"/>
              </a:rPr>
              <a:t>,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seulement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une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base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pour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classes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héritées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27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569C1B"/>
                </a:solidFill>
                <a:latin typeface="Lucida Sans Unicode"/>
                <a:cs typeface="Lucida Sans Unicode"/>
              </a:rPr>
              <a:t>Notation</a:t>
            </a:r>
            <a:r>
              <a:rPr sz="2400" spc="-10" dirty="0">
                <a:latin typeface="Lucida Sans Unicode"/>
                <a:cs typeface="Lucida Sans Unicode"/>
              </a:rPr>
              <a:t>:</a:t>
            </a:r>
            <a:r>
              <a:rPr lang="fr-FR" sz="2400" spc="-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nom</a:t>
            </a:r>
            <a:r>
              <a:rPr sz="2400" spc="-434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de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la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classe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en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italique</a:t>
            </a:r>
            <a:r>
              <a:rPr lang="fr-FR" sz="2400" spc="-30" dirty="0">
                <a:latin typeface="Lucida Sans Unicode"/>
                <a:cs typeface="Lucida Sans Unicode"/>
              </a:rPr>
              <a:t> (</a:t>
            </a:r>
            <a:r>
              <a:rPr sz="2400" spc="-30" dirty="0" err="1">
                <a:latin typeface="Lucida Sans Unicode"/>
                <a:cs typeface="Lucida Sans Unicode"/>
              </a:rPr>
              <a:t>ou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 err="1">
                <a:latin typeface="Lucida Sans Unicode"/>
                <a:cs typeface="Lucida Sans Unicode"/>
              </a:rPr>
              <a:t>stéréotype</a:t>
            </a:r>
            <a:r>
              <a:rPr lang="fr-FR" sz="2400" spc="-3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Console"/>
                <a:cs typeface="Lucida Console"/>
              </a:rPr>
              <a:t>«</a:t>
            </a:r>
            <a:r>
              <a:rPr sz="2400" spc="105" dirty="0">
                <a:latin typeface="Lucida Sans Unicode"/>
                <a:cs typeface="Lucida Sans Unicode"/>
              </a:rPr>
              <a:t>abstract</a:t>
            </a:r>
            <a:r>
              <a:rPr sz="2400" spc="105" dirty="0">
                <a:latin typeface="Lucida Console"/>
                <a:cs typeface="Lucida Console"/>
              </a:rPr>
              <a:t>»</a:t>
            </a:r>
            <a:r>
              <a:rPr sz="2400" spc="105" dirty="0">
                <a:latin typeface="Lucida Sans Unicode"/>
                <a:cs typeface="Lucida Sans Unicode"/>
              </a:rPr>
              <a:t>)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442845"/>
              </p:ext>
            </p:extLst>
          </p:nvPr>
        </p:nvGraphicFramePr>
        <p:xfrm>
          <a:off x="4032250" y="3397250"/>
          <a:ext cx="2033904" cy="1871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687705" marR="12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80" dirty="0">
                          <a:latin typeface="Arial"/>
                          <a:cs typeface="Arial"/>
                        </a:rPr>
                        <a:t>Compte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79">
                <a:tc>
                  <a:txBody>
                    <a:bodyPr/>
                    <a:lstStyle/>
                    <a:p>
                      <a:pPr marL="90170" marR="120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90170" marR="715645">
                        <a:lnSpc>
                          <a:spcPct val="123800"/>
                        </a:lnSpc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devise:Devise 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0489">
                        <a:lnSpc>
                          <a:spcPts val="2080"/>
                        </a:lnSpc>
                        <a:spcBef>
                          <a:spcPts val="60"/>
                        </a:spcBef>
                      </a:pPr>
                      <a:r>
                        <a:rPr sz="1400" spc="-35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3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31389" y="60604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330"/>
              </a:spcBef>
            </a:pPr>
            <a:r>
              <a:rPr sz="1400" b="1" spc="30" dirty="0">
                <a:latin typeface="Arial"/>
                <a:cs typeface="Arial"/>
              </a:rPr>
              <a:t>CompteCourant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389" y="6348730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2705">
              <a:lnSpc>
                <a:spcPct val="123800"/>
              </a:lnSpc>
              <a:spcBef>
                <a:spcPts val="20"/>
              </a:spcBef>
            </a:pPr>
            <a:r>
              <a:rPr sz="1400" spc="-60" dirty="0">
                <a:latin typeface="Lucida Sans Unicode"/>
                <a:cs typeface="Lucida Sans Unicode"/>
              </a:rPr>
              <a:t>découvertAutorisé:float 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fraisDécouvert:float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1389" y="6925309"/>
            <a:ext cx="2089150" cy="71120"/>
          </a:xfrm>
          <a:custGeom>
            <a:avLst/>
            <a:gdLst/>
            <a:ahLst/>
            <a:cxnLst/>
            <a:rect l="l" t="t" r="r" b="b"/>
            <a:pathLst>
              <a:path w="2089150" h="71120">
                <a:moveTo>
                  <a:pt x="1045210" y="71120"/>
                </a:moveTo>
                <a:lnTo>
                  <a:pt x="0" y="71120"/>
                </a:lnTo>
                <a:lnTo>
                  <a:pt x="0" y="0"/>
                </a:lnTo>
                <a:lnTo>
                  <a:pt x="2089150" y="0"/>
                </a:lnTo>
                <a:lnTo>
                  <a:pt x="2089150" y="71120"/>
                </a:lnTo>
                <a:lnTo>
                  <a:pt x="1045210" y="7112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59450" y="5844540"/>
            <a:ext cx="2089150" cy="288290"/>
          </a:xfrm>
          <a:custGeom>
            <a:avLst/>
            <a:gdLst/>
            <a:ahLst/>
            <a:cxnLst/>
            <a:rect l="l" t="t" r="r" b="b"/>
            <a:pathLst>
              <a:path w="2089150" h="288289">
                <a:moveTo>
                  <a:pt x="1043940" y="288290"/>
                </a:moveTo>
                <a:lnTo>
                  <a:pt x="0" y="288290"/>
                </a:lnTo>
                <a:lnTo>
                  <a:pt x="0" y="0"/>
                </a:lnTo>
                <a:lnTo>
                  <a:pt x="2089150" y="0"/>
                </a:lnTo>
                <a:lnTo>
                  <a:pt x="2089150" y="288290"/>
                </a:lnTo>
                <a:lnTo>
                  <a:pt x="1043940" y="2882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9450" y="5844540"/>
            <a:ext cx="208915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Arial"/>
                <a:cs typeface="Arial"/>
              </a:rPr>
              <a:t>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9450" y="6132829"/>
            <a:ext cx="2089150" cy="5765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826135">
              <a:lnSpc>
                <a:spcPct val="123800"/>
              </a:lnSpc>
              <a:spcBef>
                <a:spcPts val="20"/>
              </a:spcBef>
            </a:pPr>
            <a:r>
              <a:rPr sz="1400" spc="-15" dirty="0">
                <a:latin typeface="Lucida Sans Unicode"/>
                <a:cs typeface="Lucida Sans Unicode"/>
              </a:rPr>
              <a:t>plafond:float 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20" dirty="0">
                <a:latin typeface="Lucida Sans Unicode"/>
                <a:cs typeface="Lucida Sans Unicode"/>
              </a:rPr>
              <a:t>taux:float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9450" y="6709409"/>
            <a:ext cx="2089150" cy="2870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400" spc="-35" dirty="0">
                <a:latin typeface="Lucida Sans Unicode"/>
                <a:cs typeface="Lucida Sans Unicode"/>
              </a:rPr>
              <a:t>calculerIntérêts():float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39770" y="5269229"/>
            <a:ext cx="3600450" cy="791210"/>
          </a:xfrm>
          <a:custGeom>
            <a:avLst/>
            <a:gdLst/>
            <a:ahLst/>
            <a:cxnLst/>
            <a:rect l="l" t="t" r="r" b="b"/>
            <a:pathLst>
              <a:path w="3600450" h="791210">
                <a:moveTo>
                  <a:pt x="0" y="791210"/>
                </a:moveTo>
                <a:lnTo>
                  <a:pt x="0" y="431800"/>
                </a:lnTo>
                <a:lnTo>
                  <a:pt x="3600450" y="431800"/>
                </a:lnTo>
                <a:lnTo>
                  <a:pt x="3600450" y="575310"/>
                </a:lnTo>
              </a:path>
              <a:path w="3600450" h="791210">
                <a:moveTo>
                  <a:pt x="1800859" y="431800"/>
                </a:moveTo>
                <a:lnTo>
                  <a:pt x="1800859" y="287020"/>
                </a:lnTo>
                <a:lnTo>
                  <a:pt x="1944370" y="287020"/>
                </a:lnTo>
                <a:lnTo>
                  <a:pt x="1800859" y="0"/>
                </a:lnTo>
                <a:lnTo>
                  <a:pt x="1656080" y="287020"/>
                </a:lnTo>
                <a:lnTo>
                  <a:pt x="1800859" y="2870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2950845" y="4004492"/>
            <a:ext cx="973455" cy="184150"/>
            <a:chOff x="2950845" y="4207692"/>
            <a:chExt cx="973455" cy="184150"/>
          </a:xfrm>
        </p:grpSpPr>
        <p:sp>
          <p:nvSpPr>
            <p:cNvPr id="14" name="object 14"/>
            <p:cNvSpPr/>
            <p:nvPr/>
          </p:nvSpPr>
          <p:spPr>
            <a:xfrm>
              <a:off x="2951480" y="4208327"/>
              <a:ext cx="882650" cy="137795"/>
            </a:xfrm>
            <a:custGeom>
              <a:avLst/>
              <a:gdLst/>
              <a:ahLst/>
              <a:cxnLst/>
              <a:rect l="l" t="t" r="r" b="b"/>
              <a:pathLst>
                <a:path w="882650" h="137795">
                  <a:moveTo>
                    <a:pt x="0" y="39822"/>
                  </a:moveTo>
                  <a:lnTo>
                    <a:pt x="87615" y="24779"/>
                  </a:lnTo>
                  <a:lnTo>
                    <a:pt x="168625" y="13553"/>
                  </a:lnTo>
                  <a:lnTo>
                    <a:pt x="243386" y="5866"/>
                  </a:lnTo>
                  <a:lnTo>
                    <a:pt x="312258" y="1441"/>
                  </a:lnTo>
                  <a:lnTo>
                    <a:pt x="375599" y="0"/>
                  </a:lnTo>
                  <a:lnTo>
                    <a:pt x="433770" y="1265"/>
                  </a:lnTo>
                  <a:lnTo>
                    <a:pt x="487127" y="4958"/>
                  </a:lnTo>
                  <a:lnTo>
                    <a:pt x="536031" y="10803"/>
                  </a:lnTo>
                  <a:lnTo>
                    <a:pt x="580840" y="18521"/>
                  </a:lnTo>
                  <a:lnTo>
                    <a:pt x="621913" y="27833"/>
                  </a:lnTo>
                  <a:lnTo>
                    <a:pt x="659608" y="38464"/>
                  </a:lnTo>
                  <a:lnTo>
                    <a:pt x="726302" y="62567"/>
                  </a:lnTo>
                  <a:lnTo>
                    <a:pt x="783794" y="88607"/>
                  </a:lnTo>
                  <a:lnTo>
                    <a:pt x="834952" y="114363"/>
                  </a:lnTo>
                  <a:lnTo>
                    <a:pt x="859054" y="126440"/>
                  </a:lnTo>
                  <a:lnTo>
                    <a:pt x="882649" y="137612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11270" y="4310379"/>
              <a:ext cx="113030" cy="81280"/>
            </a:xfrm>
            <a:custGeom>
              <a:avLst/>
              <a:gdLst/>
              <a:ahLst/>
              <a:cxnLst/>
              <a:rect l="l" t="t" r="r" b="b"/>
              <a:pathLst>
                <a:path w="113029" h="81279">
                  <a:moveTo>
                    <a:pt x="33019" y="0"/>
                  </a:moveTo>
                  <a:lnTo>
                    <a:pt x="0" y="64770"/>
                  </a:lnTo>
                  <a:lnTo>
                    <a:pt x="113029" y="81280"/>
                  </a:lnTo>
                  <a:lnTo>
                    <a:pt x="3301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7100" y="3835400"/>
            <a:ext cx="2331084" cy="1036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95"/>
              </a:spcBef>
            </a:pP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C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la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s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se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abstraite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  car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un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compte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  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n'existe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pas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en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soi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9287511" y="7117638"/>
            <a:ext cx="414018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8600" y="2123439"/>
            <a:ext cx="863600" cy="864869"/>
          </a:xfrm>
          <a:custGeom>
            <a:avLst/>
            <a:gdLst/>
            <a:ahLst/>
            <a:cxnLst/>
            <a:rect l="l" t="t" r="r" b="b"/>
            <a:pathLst>
              <a:path w="863600" h="864869">
                <a:moveTo>
                  <a:pt x="431800" y="0"/>
                </a:moveTo>
                <a:lnTo>
                  <a:pt x="383594" y="2467"/>
                </a:lnTo>
                <a:lnTo>
                  <a:pt x="337175" y="9714"/>
                </a:lnTo>
                <a:lnTo>
                  <a:pt x="292770" y="21508"/>
                </a:lnTo>
                <a:lnTo>
                  <a:pt x="250607" y="37617"/>
                </a:lnTo>
                <a:lnTo>
                  <a:pt x="210914" y="57808"/>
                </a:lnTo>
                <a:lnTo>
                  <a:pt x="173918" y="81848"/>
                </a:lnTo>
                <a:lnTo>
                  <a:pt x="139849" y="109506"/>
                </a:lnTo>
                <a:lnTo>
                  <a:pt x="108934" y="140548"/>
                </a:lnTo>
                <a:lnTo>
                  <a:pt x="81401" y="174741"/>
                </a:lnTo>
                <a:lnTo>
                  <a:pt x="57479" y="211854"/>
                </a:lnTo>
                <a:lnTo>
                  <a:pt x="37394" y="251654"/>
                </a:lnTo>
                <a:lnTo>
                  <a:pt x="21376" y="293908"/>
                </a:lnTo>
                <a:lnTo>
                  <a:pt x="9652" y="338384"/>
                </a:lnTo>
                <a:lnTo>
                  <a:pt x="2451" y="384848"/>
                </a:lnTo>
                <a:lnTo>
                  <a:pt x="0" y="433070"/>
                </a:lnTo>
                <a:lnTo>
                  <a:pt x="2451" y="481053"/>
                </a:lnTo>
                <a:lnTo>
                  <a:pt x="9652" y="527312"/>
                </a:lnTo>
                <a:lnTo>
                  <a:pt x="21376" y="571611"/>
                </a:lnTo>
                <a:lnTo>
                  <a:pt x="37394" y="613716"/>
                </a:lnTo>
                <a:lnTo>
                  <a:pt x="57479" y="653391"/>
                </a:lnTo>
                <a:lnTo>
                  <a:pt x="81401" y="690402"/>
                </a:lnTo>
                <a:lnTo>
                  <a:pt x="108934" y="724514"/>
                </a:lnTo>
                <a:lnTo>
                  <a:pt x="139849" y="755492"/>
                </a:lnTo>
                <a:lnTo>
                  <a:pt x="173918" y="783102"/>
                </a:lnTo>
                <a:lnTo>
                  <a:pt x="210914" y="807108"/>
                </a:lnTo>
                <a:lnTo>
                  <a:pt x="250607" y="827276"/>
                </a:lnTo>
                <a:lnTo>
                  <a:pt x="292770" y="843371"/>
                </a:lnTo>
                <a:lnTo>
                  <a:pt x="337175" y="855158"/>
                </a:lnTo>
                <a:lnTo>
                  <a:pt x="383594" y="862403"/>
                </a:lnTo>
                <a:lnTo>
                  <a:pt x="431800" y="864870"/>
                </a:lnTo>
                <a:lnTo>
                  <a:pt x="479783" y="862403"/>
                </a:lnTo>
                <a:lnTo>
                  <a:pt x="526042" y="855158"/>
                </a:lnTo>
                <a:lnTo>
                  <a:pt x="570341" y="843371"/>
                </a:lnTo>
                <a:lnTo>
                  <a:pt x="612446" y="827276"/>
                </a:lnTo>
                <a:lnTo>
                  <a:pt x="652121" y="807108"/>
                </a:lnTo>
                <a:lnTo>
                  <a:pt x="689132" y="783102"/>
                </a:lnTo>
                <a:lnTo>
                  <a:pt x="721481" y="756920"/>
                </a:lnTo>
                <a:lnTo>
                  <a:pt x="436879" y="756920"/>
                </a:lnTo>
                <a:lnTo>
                  <a:pt x="420370" y="755650"/>
                </a:lnTo>
                <a:lnTo>
                  <a:pt x="403859" y="755650"/>
                </a:lnTo>
                <a:lnTo>
                  <a:pt x="388620" y="753110"/>
                </a:lnTo>
                <a:lnTo>
                  <a:pt x="355600" y="748030"/>
                </a:lnTo>
                <a:lnTo>
                  <a:pt x="294640" y="726439"/>
                </a:lnTo>
                <a:lnTo>
                  <a:pt x="238759" y="693420"/>
                </a:lnTo>
                <a:lnTo>
                  <a:pt x="201929" y="661670"/>
                </a:lnTo>
                <a:lnTo>
                  <a:pt x="191770" y="650239"/>
                </a:lnTo>
                <a:lnTo>
                  <a:pt x="180340" y="637539"/>
                </a:lnTo>
                <a:lnTo>
                  <a:pt x="170179" y="624839"/>
                </a:lnTo>
                <a:lnTo>
                  <a:pt x="161290" y="610870"/>
                </a:lnTo>
                <a:lnTo>
                  <a:pt x="152400" y="598170"/>
                </a:lnTo>
                <a:lnTo>
                  <a:pt x="144779" y="582930"/>
                </a:lnTo>
                <a:lnTo>
                  <a:pt x="137159" y="568960"/>
                </a:lnTo>
                <a:lnTo>
                  <a:pt x="130809" y="553720"/>
                </a:lnTo>
                <a:lnTo>
                  <a:pt x="116840" y="508000"/>
                </a:lnTo>
                <a:lnTo>
                  <a:pt x="107950" y="459739"/>
                </a:lnTo>
                <a:lnTo>
                  <a:pt x="107950" y="411480"/>
                </a:lnTo>
                <a:lnTo>
                  <a:pt x="109220" y="394970"/>
                </a:lnTo>
                <a:lnTo>
                  <a:pt x="111759" y="378460"/>
                </a:lnTo>
                <a:lnTo>
                  <a:pt x="115570" y="363220"/>
                </a:lnTo>
                <a:lnTo>
                  <a:pt x="119379" y="346710"/>
                </a:lnTo>
                <a:lnTo>
                  <a:pt x="123190" y="331470"/>
                </a:lnTo>
                <a:lnTo>
                  <a:pt x="129540" y="316230"/>
                </a:lnTo>
                <a:lnTo>
                  <a:pt x="134620" y="300989"/>
                </a:lnTo>
                <a:lnTo>
                  <a:pt x="142240" y="287020"/>
                </a:lnTo>
                <a:lnTo>
                  <a:pt x="149859" y="271780"/>
                </a:lnTo>
                <a:lnTo>
                  <a:pt x="158750" y="257810"/>
                </a:lnTo>
                <a:lnTo>
                  <a:pt x="167640" y="245110"/>
                </a:lnTo>
                <a:lnTo>
                  <a:pt x="319825" y="245110"/>
                </a:lnTo>
                <a:lnTo>
                  <a:pt x="243840" y="168910"/>
                </a:lnTo>
                <a:lnTo>
                  <a:pt x="256540" y="158750"/>
                </a:lnTo>
                <a:lnTo>
                  <a:pt x="270509" y="151130"/>
                </a:lnTo>
                <a:lnTo>
                  <a:pt x="285750" y="143510"/>
                </a:lnTo>
                <a:lnTo>
                  <a:pt x="299720" y="135889"/>
                </a:lnTo>
                <a:lnTo>
                  <a:pt x="314959" y="129539"/>
                </a:lnTo>
                <a:lnTo>
                  <a:pt x="330200" y="124460"/>
                </a:lnTo>
                <a:lnTo>
                  <a:pt x="345440" y="120650"/>
                </a:lnTo>
                <a:lnTo>
                  <a:pt x="361950" y="115570"/>
                </a:lnTo>
                <a:lnTo>
                  <a:pt x="377190" y="113030"/>
                </a:lnTo>
                <a:lnTo>
                  <a:pt x="393700" y="110489"/>
                </a:lnTo>
                <a:lnTo>
                  <a:pt x="425450" y="107950"/>
                </a:lnTo>
                <a:lnTo>
                  <a:pt x="721324" y="107950"/>
                </a:lnTo>
                <a:lnTo>
                  <a:pt x="689132" y="81848"/>
                </a:lnTo>
                <a:lnTo>
                  <a:pt x="652121" y="57808"/>
                </a:lnTo>
                <a:lnTo>
                  <a:pt x="612446" y="37617"/>
                </a:lnTo>
                <a:lnTo>
                  <a:pt x="570341" y="21508"/>
                </a:lnTo>
                <a:lnTo>
                  <a:pt x="526042" y="9714"/>
                </a:lnTo>
                <a:lnTo>
                  <a:pt x="479783" y="2467"/>
                </a:lnTo>
                <a:lnTo>
                  <a:pt x="431800" y="0"/>
                </a:lnTo>
                <a:close/>
              </a:path>
              <a:path w="863600" h="864869">
                <a:moveTo>
                  <a:pt x="319825" y="245110"/>
                </a:moveTo>
                <a:lnTo>
                  <a:pt x="167640" y="245110"/>
                </a:lnTo>
                <a:lnTo>
                  <a:pt x="619759" y="695960"/>
                </a:lnTo>
                <a:lnTo>
                  <a:pt x="605790" y="706120"/>
                </a:lnTo>
                <a:lnTo>
                  <a:pt x="562609" y="728980"/>
                </a:lnTo>
                <a:lnTo>
                  <a:pt x="516890" y="745489"/>
                </a:lnTo>
                <a:lnTo>
                  <a:pt x="468629" y="754380"/>
                </a:lnTo>
                <a:lnTo>
                  <a:pt x="436879" y="756920"/>
                </a:lnTo>
                <a:lnTo>
                  <a:pt x="721481" y="756920"/>
                </a:lnTo>
                <a:lnTo>
                  <a:pt x="754222" y="724514"/>
                </a:lnTo>
                <a:lnTo>
                  <a:pt x="781832" y="690402"/>
                </a:lnTo>
                <a:lnTo>
                  <a:pt x="805838" y="653391"/>
                </a:lnTo>
                <a:lnTo>
                  <a:pt x="822288" y="621030"/>
                </a:lnTo>
                <a:lnTo>
                  <a:pt x="694690" y="621030"/>
                </a:lnTo>
                <a:lnTo>
                  <a:pt x="319825" y="245110"/>
                </a:lnTo>
                <a:close/>
              </a:path>
              <a:path w="863600" h="864869">
                <a:moveTo>
                  <a:pt x="721324" y="107950"/>
                </a:moveTo>
                <a:lnTo>
                  <a:pt x="425450" y="107950"/>
                </a:lnTo>
                <a:lnTo>
                  <a:pt x="441959" y="109220"/>
                </a:lnTo>
                <a:lnTo>
                  <a:pt x="458470" y="109220"/>
                </a:lnTo>
                <a:lnTo>
                  <a:pt x="474979" y="111760"/>
                </a:lnTo>
                <a:lnTo>
                  <a:pt x="521970" y="121920"/>
                </a:lnTo>
                <a:lnTo>
                  <a:pt x="567690" y="138430"/>
                </a:lnTo>
                <a:lnTo>
                  <a:pt x="581659" y="146050"/>
                </a:lnTo>
                <a:lnTo>
                  <a:pt x="596900" y="153670"/>
                </a:lnTo>
                <a:lnTo>
                  <a:pt x="610870" y="162560"/>
                </a:lnTo>
                <a:lnTo>
                  <a:pt x="623570" y="171450"/>
                </a:lnTo>
                <a:lnTo>
                  <a:pt x="636270" y="181610"/>
                </a:lnTo>
                <a:lnTo>
                  <a:pt x="648970" y="193039"/>
                </a:lnTo>
                <a:lnTo>
                  <a:pt x="660400" y="203200"/>
                </a:lnTo>
                <a:lnTo>
                  <a:pt x="671829" y="214630"/>
                </a:lnTo>
                <a:lnTo>
                  <a:pt x="692150" y="240030"/>
                </a:lnTo>
                <a:lnTo>
                  <a:pt x="701040" y="254000"/>
                </a:lnTo>
                <a:lnTo>
                  <a:pt x="709929" y="266700"/>
                </a:lnTo>
                <a:lnTo>
                  <a:pt x="717550" y="281939"/>
                </a:lnTo>
                <a:lnTo>
                  <a:pt x="725170" y="295910"/>
                </a:lnTo>
                <a:lnTo>
                  <a:pt x="737870" y="326389"/>
                </a:lnTo>
                <a:lnTo>
                  <a:pt x="750570" y="373380"/>
                </a:lnTo>
                <a:lnTo>
                  <a:pt x="755650" y="421639"/>
                </a:lnTo>
                <a:lnTo>
                  <a:pt x="755650" y="438150"/>
                </a:lnTo>
                <a:lnTo>
                  <a:pt x="748029" y="502920"/>
                </a:lnTo>
                <a:lnTo>
                  <a:pt x="734059" y="548639"/>
                </a:lnTo>
                <a:lnTo>
                  <a:pt x="704850" y="607060"/>
                </a:lnTo>
                <a:lnTo>
                  <a:pt x="694690" y="621030"/>
                </a:lnTo>
                <a:lnTo>
                  <a:pt x="822288" y="621030"/>
                </a:lnTo>
                <a:lnTo>
                  <a:pt x="842101" y="571611"/>
                </a:lnTo>
                <a:lnTo>
                  <a:pt x="853888" y="527312"/>
                </a:lnTo>
                <a:lnTo>
                  <a:pt x="861133" y="481053"/>
                </a:lnTo>
                <a:lnTo>
                  <a:pt x="863600" y="433070"/>
                </a:lnTo>
                <a:lnTo>
                  <a:pt x="861133" y="384848"/>
                </a:lnTo>
                <a:lnTo>
                  <a:pt x="853888" y="338384"/>
                </a:lnTo>
                <a:lnTo>
                  <a:pt x="842101" y="293908"/>
                </a:lnTo>
                <a:lnTo>
                  <a:pt x="826006" y="251654"/>
                </a:lnTo>
                <a:lnTo>
                  <a:pt x="805838" y="211854"/>
                </a:lnTo>
                <a:lnTo>
                  <a:pt x="781832" y="174741"/>
                </a:lnTo>
                <a:lnTo>
                  <a:pt x="754222" y="140548"/>
                </a:lnTo>
                <a:lnTo>
                  <a:pt x="723244" y="109506"/>
                </a:lnTo>
                <a:lnTo>
                  <a:pt x="721324" y="107950"/>
                </a:lnTo>
                <a:close/>
              </a:path>
            </a:pathLst>
          </a:custGeom>
          <a:solidFill>
            <a:srgbClr val="FF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9929" y="384809"/>
            <a:ext cx="55530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pc="20" dirty="0" err="1">
                <a:solidFill>
                  <a:schemeClr val="tx1"/>
                </a:solidFill>
              </a:rPr>
              <a:t>Hiérarchie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>
                <a:solidFill>
                  <a:schemeClr val="tx1"/>
                </a:solidFill>
              </a:rPr>
              <a:t>de</a:t>
            </a:r>
            <a:r>
              <a:rPr lang="fr-FR" spc="20" dirty="0">
                <a:solidFill>
                  <a:schemeClr val="tx1"/>
                </a:solidFill>
              </a:rPr>
              <a:t> </a:t>
            </a:r>
            <a:r>
              <a:rPr spc="20" dirty="0" err="1">
                <a:solidFill>
                  <a:schemeClr val="tx1"/>
                </a:solidFill>
              </a:rPr>
              <a:t>cla</a:t>
            </a:r>
            <a:r>
              <a:rPr lang="fr-FR" spc="20" dirty="0">
                <a:solidFill>
                  <a:schemeClr val="tx1"/>
                </a:solidFill>
              </a:rPr>
              <a:t>s</a:t>
            </a:r>
            <a:r>
              <a:rPr spc="20" dirty="0" err="1">
                <a:solidFill>
                  <a:schemeClr val="tx1"/>
                </a:solidFill>
              </a:rPr>
              <a:t>ses</a:t>
            </a:r>
            <a:endParaRPr spc="2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490" y="1258570"/>
            <a:ext cx="92417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62115" algn="l"/>
              </a:tabLst>
            </a:pPr>
            <a:r>
              <a:rPr sz="2400" spc="5" dirty="0" err="1">
                <a:latin typeface="Lucida Sans Unicode"/>
                <a:cs typeface="Lucida Sans Unicode"/>
              </a:rPr>
              <a:t>Diagramme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>
                <a:latin typeface="Lucida Sans Unicode"/>
                <a:cs typeface="Lucida Sans Unicode"/>
              </a:rPr>
              <a:t>de</a:t>
            </a:r>
            <a:r>
              <a:rPr lang="fr-FR" sz="2400" spc="5" dirty="0">
                <a:latin typeface="Lucida Sans Unicode"/>
                <a:cs typeface="Lucida Sans Unicode"/>
              </a:rPr>
              <a:t> </a:t>
            </a:r>
            <a:r>
              <a:rPr sz="2400" spc="5" dirty="0" err="1">
                <a:latin typeface="Lucida Sans Unicode"/>
                <a:cs typeface="Lucida Sans Unicode"/>
              </a:rPr>
              <a:t>cla</a:t>
            </a:r>
            <a:r>
              <a:rPr lang="fr-FR" sz="2400" spc="5" dirty="0">
                <a:latin typeface="Lucida Sans Unicode"/>
                <a:cs typeface="Lucida Sans Unicode"/>
              </a:rPr>
              <a:t>s</a:t>
            </a:r>
            <a:r>
              <a:rPr sz="2400" spc="5" dirty="0" err="1">
                <a:latin typeface="Lucida Sans Unicode"/>
                <a:cs typeface="Lucida Sans Unicode"/>
              </a:rPr>
              <a:t>ses</a:t>
            </a:r>
            <a:r>
              <a:rPr lang="fr-FR" sz="2400" spc="5" dirty="0">
                <a:latin typeface="Lucida Sans Unicode"/>
                <a:cs typeface="Lucida Sans Unicode"/>
              </a:rPr>
              <a:t>                                </a:t>
            </a:r>
            <a:r>
              <a:rPr sz="2400" spc="-65" dirty="0" err="1">
                <a:latin typeface="Lucida Sans Unicode"/>
                <a:cs typeface="Lucida Sans Unicode"/>
              </a:rPr>
              <a:t>Exemples</a:t>
            </a:r>
            <a:r>
              <a:rPr lang="fr-FR" sz="2400" spc="-65" dirty="0">
                <a:latin typeface="Lucida Sans Unicode"/>
                <a:cs typeface="Lucida Sans Unicode"/>
              </a:rPr>
              <a:t> </a:t>
            </a:r>
            <a:r>
              <a:rPr sz="2400" spc="-65" dirty="0" err="1">
                <a:latin typeface="Lucida Sans Unicode"/>
                <a:cs typeface="Lucida Sans Unicode"/>
              </a:rPr>
              <a:t>d'objets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5989"/>
              </p:ext>
            </p:extLst>
          </p:nvPr>
        </p:nvGraphicFramePr>
        <p:xfrm>
          <a:off x="1979929" y="2519679"/>
          <a:ext cx="2033904" cy="1871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687705" marR="120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i="1" spc="80" dirty="0">
                          <a:latin typeface="Arial"/>
                          <a:cs typeface="Arial"/>
                        </a:rPr>
                        <a:t>Compte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79">
                <a:tc>
                  <a:txBody>
                    <a:bodyPr/>
                    <a:lstStyle/>
                    <a:p>
                      <a:pPr marL="89535" marR="120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85" dirty="0">
                          <a:latin typeface="Lucida Sans Unicode"/>
                          <a:cs typeface="Lucida Sans Unicode"/>
                        </a:rPr>
                        <a:t>numéro:int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9535" marR="715645">
                        <a:lnSpc>
                          <a:spcPts val="2080"/>
                        </a:lnSpc>
                        <a:spcBef>
                          <a:spcPts val="60"/>
                        </a:spcBef>
                      </a:pPr>
                      <a:r>
                        <a:rPr sz="1400" spc="0" baseline="0" dirty="0">
                          <a:latin typeface="Lucida Sans Unicode"/>
                          <a:cs typeface="Lucida Sans Unicode"/>
                        </a:rPr>
                        <a:t>devise:Devise  </a:t>
                      </a:r>
                      <a:r>
                        <a:rPr sz="1400" spc="20" dirty="0">
                          <a:latin typeface="Lucida Sans Unicode"/>
                          <a:cs typeface="Lucida Sans Unicode"/>
                        </a:rPr>
                        <a:t>solde:float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4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21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déposer(montant:float)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  <a:p>
                      <a:pPr marL="88900" marR="110489">
                        <a:lnSpc>
                          <a:spcPct val="123800"/>
                        </a:lnSpc>
                      </a:pPr>
                      <a:r>
                        <a:rPr sz="1400" spc="-30" dirty="0">
                          <a:latin typeface="Lucida Sans Unicode"/>
                          <a:cs typeface="Lucida Sans Unicode"/>
                        </a:rPr>
                        <a:t>retirer(montant:float) </a:t>
                      </a:r>
                      <a:r>
                        <a:rPr sz="1400" spc="-2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400" spc="10" dirty="0">
                          <a:latin typeface="Lucida Sans Unicode"/>
                          <a:cs typeface="Lucida Sans Unicode"/>
                        </a:rPr>
                        <a:t>solde():float</a:t>
                      </a:r>
                      <a:endParaRPr sz="14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2920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9750" y="51841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320"/>
              </a:spcBef>
            </a:pPr>
            <a:r>
              <a:rPr sz="1400" b="1" spc="30" dirty="0">
                <a:latin typeface="Arial"/>
                <a:cs typeface="Arial"/>
              </a:rPr>
              <a:t>CompteCourant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750" y="5472429"/>
            <a:ext cx="2087880" cy="575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2069">
              <a:lnSpc>
                <a:spcPct val="123800"/>
              </a:lnSpc>
              <a:spcBef>
                <a:spcPts val="20"/>
              </a:spcBef>
            </a:pPr>
            <a:r>
              <a:rPr sz="1400" spc="-60" dirty="0">
                <a:latin typeface="Lucida Sans Unicode"/>
                <a:cs typeface="Lucida Sans Unicode"/>
              </a:rPr>
              <a:t>découvertAutorisé:float 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fraisDécouvert:float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9750" y="6047740"/>
            <a:ext cx="2087880" cy="72390"/>
          </a:xfrm>
          <a:custGeom>
            <a:avLst/>
            <a:gdLst/>
            <a:ahLst/>
            <a:cxnLst/>
            <a:rect l="l" t="t" r="r" b="b"/>
            <a:pathLst>
              <a:path w="2087880" h="72389">
                <a:moveTo>
                  <a:pt x="1043940" y="72390"/>
                </a:moveTo>
                <a:lnTo>
                  <a:pt x="0" y="72390"/>
                </a:lnTo>
                <a:lnTo>
                  <a:pt x="0" y="0"/>
                </a:lnTo>
                <a:lnTo>
                  <a:pt x="2087880" y="0"/>
                </a:lnTo>
                <a:lnTo>
                  <a:pt x="2087880" y="72390"/>
                </a:lnTo>
                <a:lnTo>
                  <a:pt x="1043940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0109" y="4968240"/>
            <a:ext cx="2087880" cy="288290"/>
          </a:xfrm>
          <a:custGeom>
            <a:avLst/>
            <a:gdLst/>
            <a:ahLst/>
            <a:cxnLst/>
            <a:rect l="l" t="t" r="r" b="b"/>
            <a:pathLst>
              <a:path w="2087879" h="288289">
                <a:moveTo>
                  <a:pt x="1043939" y="288290"/>
                </a:moveTo>
                <a:lnTo>
                  <a:pt x="0" y="288290"/>
                </a:lnTo>
                <a:lnTo>
                  <a:pt x="0" y="0"/>
                </a:lnTo>
                <a:lnTo>
                  <a:pt x="2087879" y="0"/>
                </a:lnTo>
                <a:lnTo>
                  <a:pt x="2087879" y="288290"/>
                </a:lnTo>
                <a:lnTo>
                  <a:pt x="1043939" y="2882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20109" y="49682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0109" y="5256529"/>
            <a:ext cx="2087880" cy="575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89535" marR="826135">
              <a:lnSpc>
                <a:spcPct val="123800"/>
              </a:lnSpc>
              <a:spcBef>
                <a:spcPts val="20"/>
              </a:spcBef>
            </a:pPr>
            <a:r>
              <a:rPr sz="1400" spc="-15" dirty="0">
                <a:latin typeface="Lucida Sans Unicode"/>
                <a:cs typeface="Lucida Sans Unicode"/>
              </a:rPr>
              <a:t>plafond:float 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20" dirty="0">
                <a:latin typeface="Lucida Sans Unicode"/>
                <a:cs typeface="Lucida Sans Unicode"/>
              </a:rPr>
              <a:t>taux:float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20109" y="58318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400" spc="-35" dirty="0">
                <a:latin typeface="Lucida Sans Unicode"/>
                <a:cs typeface="Lucida Sans Unicode"/>
              </a:rPr>
              <a:t>calculerIntérêts():float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8130" y="4391659"/>
            <a:ext cx="2988310" cy="792480"/>
          </a:xfrm>
          <a:custGeom>
            <a:avLst/>
            <a:gdLst/>
            <a:ahLst/>
            <a:cxnLst/>
            <a:rect l="l" t="t" r="r" b="b"/>
            <a:pathLst>
              <a:path w="2988310" h="792479">
                <a:moveTo>
                  <a:pt x="0" y="792479"/>
                </a:moveTo>
                <a:lnTo>
                  <a:pt x="0" y="431800"/>
                </a:lnTo>
                <a:lnTo>
                  <a:pt x="2988310" y="431800"/>
                </a:lnTo>
                <a:lnTo>
                  <a:pt x="2988310" y="576579"/>
                </a:lnTo>
              </a:path>
              <a:path w="2988310" h="792479">
                <a:moveTo>
                  <a:pt x="1440180" y="431800"/>
                </a:moveTo>
                <a:lnTo>
                  <a:pt x="1440180" y="215900"/>
                </a:lnTo>
                <a:lnTo>
                  <a:pt x="1511300" y="215900"/>
                </a:lnTo>
                <a:lnTo>
                  <a:pt x="1440180" y="0"/>
                </a:lnTo>
                <a:lnTo>
                  <a:pt x="1367789" y="215900"/>
                </a:lnTo>
                <a:lnTo>
                  <a:pt x="1440180" y="2159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64069" y="3312159"/>
            <a:ext cx="223139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320"/>
              </a:spcBef>
            </a:pPr>
            <a:r>
              <a:rPr sz="1400" b="1" u="heavy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CC:CompteCourant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64069" y="3600450"/>
            <a:ext cx="2231390" cy="15924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46355" marR="42545">
              <a:lnSpc>
                <a:spcPct val="123700"/>
              </a:lnSpc>
              <a:spcBef>
                <a:spcPts val="20"/>
              </a:spcBef>
            </a:pPr>
            <a:r>
              <a:rPr sz="1400" dirty="0">
                <a:latin typeface="Lucida Sans Unicode"/>
                <a:cs typeface="Lucida Sans Unicode"/>
              </a:rPr>
              <a:t>numéro= 875421  devise= EUR      solde= 1290,30  découvertAutorisé= -200,0  fraisDécouvert= 2,30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36459" y="5184140"/>
            <a:ext cx="2087880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320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LivA:CompteÉpargne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36459" y="5472429"/>
            <a:ext cx="2087880" cy="13677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0170" marR="509270">
              <a:lnSpc>
                <a:spcPct val="123700"/>
              </a:lnSpc>
              <a:spcBef>
                <a:spcPts val="20"/>
              </a:spcBef>
            </a:pPr>
            <a:r>
              <a:rPr sz="1400" dirty="0">
                <a:latin typeface="Lucida Sans Unicode"/>
                <a:cs typeface="Lucida Sans Unicode"/>
              </a:rPr>
              <a:t>numéro=094435  devise= EUR  solde= 10542,0  plafond= 2950,0  taux= 0,75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272019" y="2015489"/>
            <a:ext cx="2015489" cy="28829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330"/>
              </a:spcBef>
            </a:pPr>
            <a:r>
              <a:rPr sz="1400" b="1" u="heavy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C1:Compte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2019" y="2303779"/>
            <a:ext cx="2015489" cy="102887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0"/>
              </a:spcBef>
            </a:pPr>
            <a:r>
              <a:rPr sz="1400" dirty="0">
                <a:latin typeface="Lucida Sans Unicode"/>
                <a:cs typeface="Lucida Sans Unicode"/>
              </a:rPr>
              <a:t>numéro= 463527</a:t>
            </a:r>
          </a:p>
          <a:p>
            <a:pPr marL="90170" marR="671830">
              <a:lnSpc>
                <a:spcPct val="123200"/>
              </a:lnSpc>
              <a:spcBef>
                <a:spcPts val="10"/>
              </a:spcBef>
            </a:pPr>
            <a:r>
              <a:rPr sz="1400" dirty="0">
                <a:latin typeface="Lucida Sans Unicode"/>
                <a:cs typeface="Lucida Sans Unicode"/>
              </a:rPr>
              <a:t>devise= EUR  solde= 213,50</a:t>
            </a:r>
          </a:p>
        </p:txBody>
      </p:sp>
      <p:sp>
        <p:nvSpPr>
          <p:cNvPr id="20" name="object 20"/>
          <p:cNvSpPr/>
          <p:nvPr/>
        </p:nvSpPr>
        <p:spPr>
          <a:xfrm>
            <a:off x="1871979" y="2417827"/>
            <a:ext cx="631190" cy="125095"/>
          </a:xfrm>
          <a:custGeom>
            <a:avLst/>
            <a:gdLst/>
            <a:ahLst/>
            <a:cxnLst/>
            <a:rect l="l" t="t" r="r" b="b"/>
            <a:pathLst>
              <a:path w="631189" h="125094">
                <a:moveTo>
                  <a:pt x="0" y="4062"/>
                </a:moveTo>
                <a:lnTo>
                  <a:pt x="93621" y="184"/>
                </a:lnTo>
                <a:lnTo>
                  <a:pt x="175890" y="0"/>
                </a:lnTo>
                <a:lnTo>
                  <a:pt x="247854" y="3100"/>
                </a:lnTo>
                <a:lnTo>
                  <a:pt x="310562" y="9075"/>
                </a:lnTo>
                <a:lnTo>
                  <a:pt x="365059" y="17516"/>
                </a:lnTo>
                <a:lnTo>
                  <a:pt x="412395" y="28015"/>
                </a:lnTo>
                <a:lnTo>
                  <a:pt x="453616" y="40160"/>
                </a:lnTo>
                <a:lnTo>
                  <a:pt x="489770" y="53544"/>
                </a:lnTo>
                <a:lnTo>
                  <a:pt x="551065" y="82389"/>
                </a:lnTo>
                <a:lnTo>
                  <a:pt x="604661" y="111276"/>
                </a:lnTo>
                <a:lnTo>
                  <a:pt x="631189" y="124712"/>
                </a:lnTo>
              </a:path>
            </a:pathLst>
          </a:custGeom>
          <a:ln w="3175">
            <a:solidFill>
              <a:srgbClr val="0083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0310" y="2508250"/>
            <a:ext cx="111760" cy="83820"/>
          </a:xfrm>
          <a:custGeom>
            <a:avLst/>
            <a:gdLst/>
            <a:ahLst/>
            <a:cxnLst/>
            <a:rect l="l" t="t" r="r" b="b"/>
            <a:pathLst>
              <a:path w="111760" h="83819">
                <a:moveTo>
                  <a:pt x="34289" y="0"/>
                </a:moveTo>
                <a:lnTo>
                  <a:pt x="0" y="63500"/>
                </a:lnTo>
                <a:lnTo>
                  <a:pt x="111759" y="83820"/>
                </a:lnTo>
                <a:lnTo>
                  <a:pt x="34289" y="0"/>
                </a:lnTo>
                <a:close/>
              </a:path>
            </a:pathLst>
          </a:custGeom>
          <a:solidFill>
            <a:srgbClr val="0083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5101" y="2301240"/>
            <a:ext cx="17583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i="1" spc="20" dirty="0">
                <a:solidFill>
                  <a:srgbClr val="0083D0"/>
                </a:solidFill>
                <a:latin typeface="Arial"/>
                <a:cs typeface="Arial"/>
              </a:rPr>
              <a:t>C</a:t>
            </a:r>
            <a:r>
              <a:rPr sz="1800" i="1" spc="20" dirty="0" err="1">
                <a:solidFill>
                  <a:srgbClr val="0083D0"/>
                </a:solidFill>
                <a:latin typeface="Arial"/>
                <a:cs typeface="Arial"/>
              </a:rPr>
              <a:t>lasse</a:t>
            </a:r>
            <a:r>
              <a:rPr lang="fr-FR" sz="1800" i="1" spc="20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spc="20" dirty="0" err="1">
                <a:solidFill>
                  <a:srgbClr val="0083D0"/>
                </a:solidFill>
                <a:latin typeface="Arial"/>
                <a:cs typeface="Arial"/>
              </a:rPr>
              <a:t>abstraite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9287508" y="7117638"/>
            <a:ext cx="414021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21</a:t>
            </a:fld>
            <a:endParaRPr spc="50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820" y="384809"/>
            <a:ext cx="46532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>
                <a:solidFill>
                  <a:schemeClr val="tx1"/>
                </a:solidFill>
              </a:rPr>
              <a:t>Clas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e-as</a:t>
            </a:r>
            <a:r>
              <a:rPr lang="fr-FR" dirty="0">
                <a:solidFill>
                  <a:schemeClr val="tx1"/>
                </a:solidFill>
              </a:rPr>
              <a:t>s</a:t>
            </a:r>
            <a:r>
              <a:rPr dirty="0" err="1">
                <a:solidFill>
                  <a:schemeClr val="tx1"/>
                </a:solidFill>
              </a:rPr>
              <a:t>ociation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00" y="1035050"/>
            <a:ext cx="9906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 err="1">
                <a:latin typeface="Lucida Sans Unicode"/>
                <a:cs typeface="Lucida Sans Unicode"/>
              </a:rPr>
              <a:t>Permet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de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paramétrer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une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as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s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ociation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entre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deux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classes</a:t>
            </a:r>
            <a:r>
              <a:rPr lang="fr-FR" sz="2400" spc="-4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par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une</a:t>
            </a:r>
            <a:r>
              <a:rPr lang="fr-FR" sz="2400" spc="-4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classe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800" y="3937000"/>
            <a:ext cx="9906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Instance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unique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Lucida Sans Unicode"/>
                <a:cs typeface="Lucida Sans Unicode"/>
              </a:rPr>
              <a:t>de</a:t>
            </a:r>
            <a:r>
              <a:rPr lang="fr-FR" sz="2400" spc="-35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Lucida Sans Unicode"/>
                <a:cs typeface="Lucida Sans Unicode"/>
              </a:rPr>
              <a:t>la</a:t>
            </a:r>
            <a:r>
              <a:rPr lang="fr-FR" sz="2400" spc="-35" dirty="0">
                <a:latin typeface="Lucida Sans Unicode"/>
                <a:cs typeface="Lucida Sans Unicode"/>
              </a:rPr>
              <a:t> </a:t>
            </a:r>
            <a:r>
              <a:rPr sz="2400" spc="-35" dirty="0" err="1">
                <a:latin typeface="Lucida Sans Unicode"/>
                <a:cs typeface="Lucida Sans Unicode"/>
              </a:rPr>
              <a:t>cla</a:t>
            </a:r>
            <a:r>
              <a:rPr lang="fr-FR" sz="2400" spc="-35" dirty="0">
                <a:latin typeface="Lucida Sans Unicode"/>
                <a:cs typeface="Lucida Sans Unicode"/>
              </a:rPr>
              <a:t>s</a:t>
            </a:r>
            <a:r>
              <a:rPr sz="2400" spc="-35" dirty="0">
                <a:latin typeface="Lucida Sans Unicode"/>
                <a:cs typeface="Lucida Sans Unicode"/>
              </a:rPr>
              <a:t>se-as</a:t>
            </a:r>
            <a:r>
              <a:rPr lang="fr-FR" sz="2400" spc="-35" dirty="0">
                <a:latin typeface="Lucida Sans Unicode"/>
                <a:cs typeface="Lucida Sans Unicode"/>
              </a:rPr>
              <a:t>s</a:t>
            </a:r>
            <a:r>
              <a:rPr sz="2400" spc="-35" dirty="0" err="1">
                <a:latin typeface="Lucida Sans Unicode"/>
                <a:cs typeface="Lucida Sans Unicode"/>
              </a:rPr>
              <a:t>ociation</a:t>
            </a:r>
            <a:r>
              <a:rPr lang="fr-FR" sz="2400" spc="-35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pour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chaque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lien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Lucida Sans Unicode"/>
                <a:cs typeface="Lucida Sans Unicode"/>
              </a:rPr>
              <a:t>entre</a:t>
            </a:r>
            <a:r>
              <a:rPr lang="fr-FR" sz="2400" spc="-35" dirty="0">
                <a:latin typeface="Lucida Sans Unicode"/>
                <a:cs typeface="Lucida Sans Unicode"/>
              </a:rPr>
              <a:t> </a:t>
            </a:r>
            <a:r>
              <a:rPr sz="2400" spc="-35" dirty="0" err="1">
                <a:latin typeface="Lucida Sans Unicode"/>
                <a:cs typeface="Lucida Sans Unicode"/>
              </a:rPr>
              <a:t>objets</a:t>
            </a:r>
            <a:endParaRPr sz="27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spc="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Équivalence</a:t>
            </a:r>
            <a:r>
              <a:rPr lang="fr-FR" sz="2400" spc="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15" dirty="0" err="1">
                <a:latin typeface="Lucida Sans Unicode"/>
                <a:cs typeface="Lucida Sans Unicode"/>
              </a:rPr>
              <a:t>en</a:t>
            </a:r>
            <a:r>
              <a:rPr lang="fr-FR" sz="2400" spc="15" dirty="0">
                <a:latin typeface="Lucida Sans Unicode"/>
                <a:cs typeface="Lucida Sans Unicode"/>
              </a:rPr>
              <a:t> </a:t>
            </a:r>
            <a:r>
              <a:rPr sz="2400" spc="15" dirty="0" err="1">
                <a:latin typeface="Lucida Sans Unicode"/>
                <a:cs typeface="Lucida Sans Unicode"/>
              </a:rPr>
              <a:t>termes</a:t>
            </a:r>
            <a:r>
              <a:rPr lang="fr-FR" sz="2400" spc="15" dirty="0">
                <a:latin typeface="Lucida Sans Unicode"/>
                <a:cs typeface="Lucida Sans Unicode"/>
              </a:rPr>
              <a:t> </a:t>
            </a:r>
            <a:r>
              <a:rPr sz="2400" spc="15" dirty="0">
                <a:latin typeface="Lucida Sans Unicode"/>
                <a:cs typeface="Lucida Sans Unicode"/>
              </a:rPr>
              <a:t>de</a:t>
            </a:r>
            <a:r>
              <a:rPr lang="fr-FR" sz="2400" spc="15" dirty="0">
                <a:latin typeface="Lucida Sans Unicode"/>
                <a:cs typeface="Lucida Sans Unicode"/>
              </a:rPr>
              <a:t> </a:t>
            </a:r>
            <a:r>
              <a:rPr sz="2400" spc="15" dirty="0" err="1">
                <a:latin typeface="Lucida Sans Unicode"/>
                <a:cs typeface="Lucida Sans Unicode"/>
              </a:rPr>
              <a:t>cla</a:t>
            </a:r>
            <a:r>
              <a:rPr lang="fr-FR" sz="2400" spc="15" dirty="0">
                <a:latin typeface="Lucida Sans Unicode"/>
                <a:cs typeface="Lucida Sans Unicode"/>
              </a:rPr>
              <a:t>s</a:t>
            </a:r>
            <a:r>
              <a:rPr sz="2400" spc="15" dirty="0" err="1">
                <a:latin typeface="Lucida Sans Unicode"/>
                <a:cs typeface="Lucida Sans Unicode"/>
              </a:rPr>
              <a:t>ses</a:t>
            </a:r>
            <a:r>
              <a:rPr lang="fr-FR" sz="2400" spc="15" dirty="0">
                <a:latin typeface="Lucida Sans Unicode"/>
                <a:cs typeface="Lucida Sans Unicode"/>
              </a:rPr>
              <a:t> </a:t>
            </a:r>
            <a:r>
              <a:rPr sz="2400" spc="15" dirty="0">
                <a:latin typeface="Lucida Sans Unicode"/>
                <a:cs typeface="Lucida Sans Unicode"/>
              </a:rPr>
              <a:t>et</a:t>
            </a:r>
            <a:r>
              <a:rPr lang="fr-FR" sz="2400" spc="15" dirty="0">
                <a:latin typeface="Lucida Sans Unicode"/>
                <a:cs typeface="Lucida Sans Unicode"/>
              </a:rPr>
              <a:t> </a:t>
            </a:r>
            <a:r>
              <a:rPr sz="2400" spc="15" dirty="0">
                <a:latin typeface="Lucida Sans Unicode"/>
                <a:cs typeface="Lucida Sans Unicode"/>
              </a:rPr>
              <a:t>associations: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0180" y="1799589"/>
            <a:ext cx="1440180" cy="360680"/>
          </a:xfrm>
          <a:custGeom>
            <a:avLst/>
            <a:gdLst/>
            <a:ahLst/>
            <a:cxnLst/>
            <a:rect l="l" t="t" r="r" b="b"/>
            <a:pathLst>
              <a:path w="1440180" h="360680">
                <a:moveTo>
                  <a:pt x="720089" y="360680"/>
                </a:moveTo>
                <a:lnTo>
                  <a:pt x="0" y="360680"/>
                </a:lnTo>
                <a:lnTo>
                  <a:pt x="0" y="0"/>
                </a:lnTo>
                <a:lnTo>
                  <a:pt x="1440180" y="0"/>
                </a:lnTo>
                <a:lnTo>
                  <a:pt x="1440180" y="360680"/>
                </a:lnTo>
                <a:lnTo>
                  <a:pt x="720089" y="3606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40180" y="1799589"/>
            <a:ext cx="1440180" cy="3663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610"/>
              </a:spcBef>
            </a:pPr>
            <a:r>
              <a:rPr sz="1400" b="1" spc="-10" dirty="0">
                <a:latin typeface="Arial"/>
                <a:cs typeface="Arial"/>
              </a:rPr>
              <a:t>P</a:t>
            </a:r>
            <a:r>
              <a:rPr sz="1400" b="1" spc="-65" dirty="0">
                <a:latin typeface="Arial"/>
                <a:cs typeface="Arial"/>
              </a:rPr>
              <a:t>e</a:t>
            </a:r>
            <a:r>
              <a:rPr sz="1400" b="1" spc="-20" dirty="0">
                <a:latin typeface="Arial"/>
                <a:cs typeface="Arial"/>
              </a:rPr>
              <a:t>r</a:t>
            </a:r>
            <a:r>
              <a:rPr sz="1400" b="1" spc="-195" dirty="0">
                <a:latin typeface="Arial"/>
                <a:cs typeface="Arial"/>
              </a:rPr>
              <a:t>s</a:t>
            </a:r>
            <a:r>
              <a:rPr sz="1400" b="1" spc="-90" dirty="0">
                <a:latin typeface="Arial"/>
                <a:cs typeface="Arial"/>
              </a:rPr>
              <a:t>o</a:t>
            </a:r>
            <a:r>
              <a:rPr sz="1400" b="1" spc="540" dirty="0">
                <a:latin typeface="Arial"/>
                <a:cs typeface="Arial"/>
              </a:rPr>
              <a:t>n</a:t>
            </a:r>
            <a:r>
              <a:rPr sz="1400" b="1" spc="-215" dirty="0">
                <a:latin typeface="Arial"/>
                <a:cs typeface="Arial"/>
              </a:rPr>
              <a:t> </a:t>
            </a:r>
            <a:r>
              <a:rPr sz="1400" b="1" spc="62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0180" y="2160270"/>
            <a:ext cx="1440180" cy="791210"/>
          </a:xfrm>
          <a:custGeom>
            <a:avLst/>
            <a:gdLst/>
            <a:ahLst/>
            <a:cxnLst/>
            <a:rect l="l" t="t" r="r" b="b"/>
            <a:pathLst>
              <a:path w="1440180" h="791210">
                <a:moveTo>
                  <a:pt x="720089" y="791209"/>
                </a:moveTo>
                <a:lnTo>
                  <a:pt x="0" y="791209"/>
                </a:lnTo>
                <a:lnTo>
                  <a:pt x="0" y="0"/>
                </a:lnTo>
                <a:lnTo>
                  <a:pt x="1440180" y="0"/>
                </a:lnTo>
                <a:lnTo>
                  <a:pt x="1440180" y="791209"/>
                </a:lnTo>
                <a:lnTo>
                  <a:pt x="720089" y="79120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40180" y="2165985"/>
            <a:ext cx="1440180" cy="7854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85"/>
              </a:spcBef>
            </a:pP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409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2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5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525" dirty="0">
                <a:latin typeface="Lucida Sans Unicode"/>
                <a:cs typeface="Lucida Sans Unicode"/>
              </a:rPr>
              <a:t>g</a:t>
            </a:r>
            <a:endParaRPr sz="1400">
              <a:latin typeface="Lucida Sans Unicode"/>
              <a:cs typeface="Lucida Sans Unicode"/>
            </a:endParaRPr>
          </a:p>
          <a:p>
            <a:pPr marL="89535">
              <a:lnSpc>
                <a:spcPct val="123800"/>
              </a:lnSpc>
            </a:pPr>
            <a:r>
              <a:rPr sz="1400" spc="-215" dirty="0">
                <a:latin typeface="Lucida Sans Unicode"/>
                <a:cs typeface="Lucida Sans Unicode"/>
              </a:rPr>
              <a:t>p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160" dirty="0">
                <a:latin typeface="Lucida Sans Unicode"/>
                <a:cs typeface="Lucida Sans Unicode"/>
              </a:rPr>
              <a:t>é</a:t>
            </a: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409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350" dirty="0">
                <a:latin typeface="Lucida Sans Unicode"/>
                <a:cs typeface="Lucida Sans Unicode"/>
              </a:rPr>
              <a:t>g  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360" dirty="0">
                <a:latin typeface="Lucida Sans Unicode"/>
                <a:cs typeface="Lucida Sans Unicode"/>
              </a:rPr>
              <a:t>s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-100" dirty="0">
                <a:latin typeface="Lucida Sans Unicode"/>
                <a:cs typeface="Lucida Sans Unicode"/>
              </a:rPr>
              <a:t>c</a:t>
            </a:r>
            <a:r>
              <a:rPr sz="1400" spc="545" dirty="0">
                <a:latin typeface="Lucida Sans Unicode"/>
                <a:cs typeface="Lucida Sans Unicode"/>
              </a:rPr>
              <a:t>e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55" dirty="0">
                <a:latin typeface="Lucida Sans Unicode"/>
                <a:cs typeface="Lucida Sans Unicode"/>
              </a:rPr>
              <a:t>D</a:t>
            </a:r>
            <a:r>
              <a:rPr sz="1400" spc="-100" dirty="0">
                <a:latin typeface="Lucida Sans Unicode"/>
                <a:cs typeface="Lucida Sans Unicode"/>
              </a:rPr>
              <a:t>a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620" dirty="0">
                <a:latin typeface="Lucida Sans Unicode"/>
                <a:cs typeface="Lucida Sans Unicode"/>
              </a:rPr>
              <a:t>e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0180" y="2376170"/>
            <a:ext cx="5759450" cy="647700"/>
          </a:xfrm>
          <a:custGeom>
            <a:avLst/>
            <a:gdLst/>
            <a:ahLst/>
            <a:cxnLst/>
            <a:rect l="l" t="t" r="r" b="b"/>
            <a:pathLst>
              <a:path w="5759450" h="647700">
                <a:moveTo>
                  <a:pt x="720089" y="647700"/>
                </a:moveTo>
                <a:lnTo>
                  <a:pt x="0" y="647700"/>
                </a:lnTo>
                <a:lnTo>
                  <a:pt x="0" y="575309"/>
                </a:lnTo>
                <a:lnTo>
                  <a:pt x="1440180" y="575309"/>
                </a:lnTo>
                <a:lnTo>
                  <a:pt x="1440180" y="647700"/>
                </a:lnTo>
                <a:lnTo>
                  <a:pt x="720089" y="647700"/>
                </a:lnTo>
                <a:close/>
              </a:path>
              <a:path w="5759450" h="647700">
                <a:moveTo>
                  <a:pt x="1440180" y="0"/>
                </a:moveTo>
                <a:lnTo>
                  <a:pt x="57594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20540" y="2663189"/>
            <a:ext cx="1438910" cy="36703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440055">
              <a:lnSpc>
                <a:spcPct val="100000"/>
              </a:lnSpc>
              <a:spcBef>
                <a:spcPts val="660"/>
              </a:spcBef>
            </a:pPr>
            <a:r>
              <a:rPr sz="1400" b="1" spc="120" dirty="0">
                <a:latin typeface="Arial"/>
                <a:cs typeface="Arial"/>
              </a:rPr>
              <a:t>Emploi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0540" y="3030220"/>
            <a:ext cx="1438910" cy="78613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29"/>
              </a:spcBef>
            </a:pPr>
            <a:r>
              <a:rPr sz="1400" spc="10" dirty="0">
                <a:latin typeface="Lucida Sans Unicode"/>
                <a:cs typeface="Lucida Sans Unicode"/>
              </a:rPr>
              <a:t>intitulé:string</a:t>
            </a:r>
            <a:endParaRPr sz="1400">
              <a:latin typeface="Lucida Sans Unicode"/>
              <a:cs typeface="Lucida Sans Unicode"/>
            </a:endParaRPr>
          </a:p>
          <a:p>
            <a:pPr marL="88900" marR="269875">
              <a:lnSpc>
                <a:spcPct val="123800"/>
              </a:lnSpc>
            </a:pP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55" dirty="0">
                <a:latin typeface="Lucida Sans Unicode"/>
                <a:cs typeface="Lucida Sans Unicode"/>
              </a:rPr>
              <a:t>é</a:t>
            </a:r>
            <a:r>
              <a:rPr sz="1400" spc="-170" dirty="0">
                <a:latin typeface="Lucida Sans Unicode"/>
                <a:cs typeface="Lucida Sans Unicode"/>
              </a:rPr>
              <a:t>b</a:t>
            </a:r>
            <a:r>
              <a:rPr sz="1400" spc="-155" dirty="0">
                <a:latin typeface="Lucida Sans Unicode"/>
                <a:cs typeface="Lucida Sans Unicode"/>
              </a:rPr>
              <a:t>u</a:t>
            </a:r>
            <a:r>
              <a:rPr sz="1400" spc="680" dirty="0">
                <a:latin typeface="Lucida Sans Unicode"/>
                <a:cs typeface="Lucida Sans Unicode"/>
              </a:rPr>
              <a:t>t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55" dirty="0">
                <a:latin typeface="Lucida Sans Unicode"/>
                <a:cs typeface="Lucida Sans Unicode"/>
              </a:rPr>
              <a:t>D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20" dirty="0">
                <a:latin typeface="Lucida Sans Unicode"/>
                <a:cs typeface="Lucida Sans Unicode"/>
              </a:rPr>
              <a:t>t</a:t>
            </a:r>
            <a:r>
              <a:rPr sz="1400" spc="440" dirty="0">
                <a:latin typeface="Lucida Sans Unicode"/>
                <a:cs typeface="Lucida Sans Unicode"/>
              </a:rPr>
              <a:t>e  </a:t>
            </a:r>
            <a:r>
              <a:rPr sz="1400" spc="75" dirty="0">
                <a:latin typeface="Lucida Sans Unicode"/>
                <a:cs typeface="Lucida Sans Unicode"/>
              </a:rPr>
              <a:t>fin:Date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20540" y="3816350"/>
            <a:ext cx="1438910" cy="71120"/>
          </a:xfrm>
          <a:custGeom>
            <a:avLst/>
            <a:gdLst/>
            <a:ahLst/>
            <a:cxnLst/>
            <a:rect l="l" t="t" r="r" b="b"/>
            <a:pathLst>
              <a:path w="1438910" h="71120">
                <a:moveTo>
                  <a:pt x="720089" y="71120"/>
                </a:moveTo>
                <a:lnTo>
                  <a:pt x="0" y="7112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1120"/>
                </a:lnTo>
                <a:lnTo>
                  <a:pt x="720089" y="7112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40629" y="2376170"/>
            <a:ext cx="0" cy="288290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8289"/>
                </a:lnTo>
              </a:path>
            </a:pathLst>
          </a:custGeom>
          <a:ln w="31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57829" y="2113279"/>
            <a:ext cx="393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204" dirty="0">
                <a:latin typeface="Lucida Sans Unicode"/>
                <a:cs typeface="Lucida Sans Unicode"/>
              </a:rPr>
              <a:t>1</a:t>
            </a:r>
            <a:r>
              <a:rPr sz="1400" spc="-50" dirty="0">
                <a:latin typeface="Lucida Sans Unicode"/>
                <a:cs typeface="Lucida Sans Unicode"/>
              </a:rPr>
              <a:t>.</a:t>
            </a:r>
            <a:r>
              <a:rPr sz="1400" spc="725" dirty="0">
                <a:latin typeface="Lucida Sans Unicode"/>
                <a:cs typeface="Lucida Sans Unicode"/>
              </a:rPr>
              <a:t>*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88809" y="2113279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25" dirty="0">
                <a:latin typeface="Lucida Sans Unicode"/>
                <a:cs typeface="Lucida Sans Unicode"/>
              </a:rPr>
              <a:t>*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7829" y="564134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9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5279" y="564134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25" dirty="0">
                <a:latin typeface="Lucida Sans Unicode"/>
                <a:cs typeface="Lucida Sans Unicode"/>
              </a:rPr>
              <a:t>*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73182" y="5525452"/>
            <a:ext cx="2441575" cy="469265"/>
            <a:chOff x="3873182" y="5525452"/>
            <a:chExt cx="2441575" cy="469265"/>
          </a:xfrm>
        </p:grpSpPr>
        <p:sp>
          <p:nvSpPr>
            <p:cNvPr id="19" name="object 19"/>
            <p:cNvSpPr/>
            <p:nvPr/>
          </p:nvSpPr>
          <p:spPr>
            <a:xfrm>
              <a:off x="5688330" y="5543550"/>
              <a:ext cx="608330" cy="433070"/>
            </a:xfrm>
            <a:custGeom>
              <a:avLst/>
              <a:gdLst/>
              <a:ahLst/>
              <a:cxnLst/>
              <a:rect l="l" t="t" r="r" b="b"/>
              <a:pathLst>
                <a:path w="608329" h="433070">
                  <a:moveTo>
                    <a:pt x="304800" y="0"/>
                  </a:moveTo>
                  <a:lnTo>
                    <a:pt x="360364" y="3390"/>
                  </a:lnTo>
                  <a:lnTo>
                    <a:pt x="412250" y="13198"/>
                  </a:lnTo>
                  <a:lnTo>
                    <a:pt x="459692" y="28880"/>
                  </a:lnTo>
                  <a:lnTo>
                    <a:pt x="501930" y="49894"/>
                  </a:lnTo>
                  <a:lnTo>
                    <a:pt x="538199" y="75694"/>
                  </a:lnTo>
                  <a:lnTo>
                    <a:pt x="567737" y="105739"/>
                  </a:lnTo>
                  <a:lnTo>
                    <a:pt x="589779" y="139483"/>
                  </a:lnTo>
                  <a:lnTo>
                    <a:pt x="603565" y="176385"/>
                  </a:lnTo>
                  <a:lnTo>
                    <a:pt x="608330" y="215900"/>
                  </a:lnTo>
                  <a:lnTo>
                    <a:pt x="603565" y="255792"/>
                  </a:lnTo>
                  <a:lnTo>
                    <a:pt x="589779" y="292988"/>
                  </a:lnTo>
                  <a:lnTo>
                    <a:pt x="567737" y="326954"/>
                  </a:lnTo>
                  <a:lnTo>
                    <a:pt x="538199" y="357157"/>
                  </a:lnTo>
                  <a:lnTo>
                    <a:pt x="501930" y="383064"/>
                  </a:lnTo>
                  <a:lnTo>
                    <a:pt x="459692" y="404142"/>
                  </a:lnTo>
                  <a:lnTo>
                    <a:pt x="412250" y="419857"/>
                  </a:lnTo>
                  <a:lnTo>
                    <a:pt x="360364" y="429678"/>
                  </a:lnTo>
                  <a:lnTo>
                    <a:pt x="304800" y="433069"/>
                  </a:lnTo>
                  <a:lnTo>
                    <a:pt x="248857" y="429678"/>
                  </a:lnTo>
                  <a:lnTo>
                    <a:pt x="196677" y="419857"/>
                  </a:lnTo>
                  <a:lnTo>
                    <a:pt x="149013" y="404142"/>
                  </a:lnTo>
                  <a:lnTo>
                    <a:pt x="106617" y="383064"/>
                  </a:lnTo>
                  <a:lnTo>
                    <a:pt x="70241" y="357157"/>
                  </a:lnTo>
                  <a:lnTo>
                    <a:pt x="40640" y="326954"/>
                  </a:lnTo>
                  <a:lnTo>
                    <a:pt x="18563" y="292988"/>
                  </a:lnTo>
                  <a:lnTo>
                    <a:pt x="4766" y="255792"/>
                  </a:lnTo>
                  <a:lnTo>
                    <a:pt x="0" y="215900"/>
                  </a:lnTo>
                  <a:lnTo>
                    <a:pt x="4766" y="176385"/>
                  </a:lnTo>
                  <a:lnTo>
                    <a:pt x="18563" y="139483"/>
                  </a:lnTo>
                  <a:lnTo>
                    <a:pt x="40640" y="105739"/>
                  </a:lnTo>
                  <a:lnTo>
                    <a:pt x="70241" y="75694"/>
                  </a:lnTo>
                  <a:lnTo>
                    <a:pt x="106617" y="49894"/>
                  </a:lnTo>
                  <a:lnTo>
                    <a:pt x="149013" y="28880"/>
                  </a:lnTo>
                  <a:lnTo>
                    <a:pt x="196677" y="13198"/>
                  </a:lnTo>
                  <a:lnTo>
                    <a:pt x="248857" y="3390"/>
                  </a:lnTo>
                  <a:lnTo>
                    <a:pt x="304800" y="0"/>
                  </a:lnTo>
                  <a:close/>
                </a:path>
                <a:path w="608329" h="433070">
                  <a:moveTo>
                    <a:pt x="0" y="0"/>
                  </a:moveTo>
                  <a:lnTo>
                    <a:pt x="0" y="0"/>
                  </a:lnTo>
                </a:path>
                <a:path w="608329" h="433070">
                  <a:moveTo>
                    <a:pt x="608330" y="433069"/>
                  </a:moveTo>
                  <a:lnTo>
                    <a:pt x="608330" y="433069"/>
                  </a:lnTo>
                </a:path>
              </a:pathLst>
            </a:custGeom>
            <a:ln w="35941">
              <a:solidFill>
                <a:srgbClr val="569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91280" y="5543550"/>
              <a:ext cx="609600" cy="433070"/>
            </a:xfrm>
            <a:custGeom>
              <a:avLst/>
              <a:gdLst/>
              <a:ahLst/>
              <a:cxnLst/>
              <a:rect l="l" t="t" r="r" b="b"/>
              <a:pathLst>
                <a:path w="609600" h="433070">
                  <a:moveTo>
                    <a:pt x="304800" y="0"/>
                  </a:moveTo>
                  <a:lnTo>
                    <a:pt x="360699" y="3390"/>
                  </a:lnTo>
                  <a:lnTo>
                    <a:pt x="412762" y="13198"/>
                  </a:lnTo>
                  <a:lnTo>
                    <a:pt x="460257" y="28880"/>
                  </a:lnTo>
                  <a:lnTo>
                    <a:pt x="502453" y="49894"/>
                  </a:lnTo>
                  <a:lnTo>
                    <a:pt x="538617" y="75694"/>
                  </a:lnTo>
                  <a:lnTo>
                    <a:pt x="568019" y="105739"/>
                  </a:lnTo>
                  <a:lnTo>
                    <a:pt x="589926" y="139483"/>
                  </a:lnTo>
                  <a:lnTo>
                    <a:pt x="603607" y="176385"/>
                  </a:lnTo>
                  <a:lnTo>
                    <a:pt x="608330" y="215900"/>
                  </a:lnTo>
                  <a:lnTo>
                    <a:pt x="603607" y="255792"/>
                  </a:lnTo>
                  <a:lnTo>
                    <a:pt x="589926" y="292988"/>
                  </a:lnTo>
                  <a:lnTo>
                    <a:pt x="568019" y="326954"/>
                  </a:lnTo>
                  <a:lnTo>
                    <a:pt x="538617" y="357157"/>
                  </a:lnTo>
                  <a:lnTo>
                    <a:pt x="502453" y="383064"/>
                  </a:lnTo>
                  <a:lnTo>
                    <a:pt x="460257" y="404142"/>
                  </a:lnTo>
                  <a:lnTo>
                    <a:pt x="412762" y="419857"/>
                  </a:lnTo>
                  <a:lnTo>
                    <a:pt x="360699" y="429678"/>
                  </a:lnTo>
                  <a:lnTo>
                    <a:pt x="304800" y="433069"/>
                  </a:lnTo>
                  <a:lnTo>
                    <a:pt x="248857" y="429678"/>
                  </a:lnTo>
                  <a:lnTo>
                    <a:pt x="196677" y="419857"/>
                  </a:lnTo>
                  <a:lnTo>
                    <a:pt x="149013" y="404142"/>
                  </a:lnTo>
                  <a:lnTo>
                    <a:pt x="106617" y="383064"/>
                  </a:lnTo>
                  <a:lnTo>
                    <a:pt x="70241" y="357157"/>
                  </a:lnTo>
                  <a:lnTo>
                    <a:pt x="40640" y="326954"/>
                  </a:lnTo>
                  <a:lnTo>
                    <a:pt x="18563" y="292988"/>
                  </a:lnTo>
                  <a:lnTo>
                    <a:pt x="4766" y="255792"/>
                  </a:lnTo>
                  <a:lnTo>
                    <a:pt x="0" y="215900"/>
                  </a:lnTo>
                  <a:lnTo>
                    <a:pt x="4766" y="176385"/>
                  </a:lnTo>
                  <a:lnTo>
                    <a:pt x="18563" y="139483"/>
                  </a:lnTo>
                  <a:lnTo>
                    <a:pt x="40640" y="105739"/>
                  </a:lnTo>
                  <a:lnTo>
                    <a:pt x="70241" y="75694"/>
                  </a:lnTo>
                  <a:lnTo>
                    <a:pt x="106617" y="49894"/>
                  </a:lnTo>
                  <a:lnTo>
                    <a:pt x="149013" y="28880"/>
                  </a:lnTo>
                  <a:lnTo>
                    <a:pt x="196677" y="13198"/>
                  </a:lnTo>
                  <a:lnTo>
                    <a:pt x="248857" y="3390"/>
                  </a:lnTo>
                  <a:lnTo>
                    <a:pt x="304800" y="0"/>
                  </a:lnTo>
                  <a:close/>
                </a:path>
                <a:path w="609600" h="433070">
                  <a:moveTo>
                    <a:pt x="0" y="0"/>
                  </a:moveTo>
                  <a:lnTo>
                    <a:pt x="0" y="0"/>
                  </a:lnTo>
                </a:path>
                <a:path w="609600" h="433070">
                  <a:moveTo>
                    <a:pt x="609600" y="433069"/>
                  </a:moveTo>
                  <a:lnTo>
                    <a:pt x="609600" y="433069"/>
                  </a:lnTo>
                </a:path>
              </a:pathLst>
            </a:custGeom>
            <a:ln w="35941">
              <a:solidFill>
                <a:srgbClr val="FF94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789872" y="1799589"/>
            <a:ext cx="5850255" cy="667385"/>
            <a:chOff x="2789872" y="1799589"/>
            <a:chExt cx="5850255" cy="667385"/>
          </a:xfrm>
        </p:grpSpPr>
        <p:sp>
          <p:nvSpPr>
            <p:cNvPr id="22" name="object 22"/>
            <p:cNvSpPr/>
            <p:nvPr/>
          </p:nvSpPr>
          <p:spPr>
            <a:xfrm>
              <a:off x="2807970" y="2007869"/>
              <a:ext cx="608330" cy="433070"/>
            </a:xfrm>
            <a:custGeom>
              <a:avLst/>
              <a:gdLst/>
              <a:ahLst/>
              <a:cxnLst/>
              <a:rect l="l" t="t" r="r" b="b"/>
              <a:pathLst>
                <a:path w="608329" h="433069">
                  <a:moveTo>
                    <a:pt x="304800" y="0"/>
                  </a:moveTo>
                  <a:lnTo>
                    <a:pt x="360364" y="3390"/>
                  </a:lnTo>
                  <a:lnTo>
                    <a:pt x="412250" y="13198"/>
                  </a:lnTo>
                  <a:lnTo>
                    <a:pt x="459692" y="28880"/>
                  </a:lnTo>
                  <a:lnTo>
                    <a:pt x="501930" y="49894"/>
                  </a:lnTo>
                  <a:lnTo>
                    <a:pt x="538199" y="75694"/>
                  </a:lnTo>
                  <a:lnTo>
                    <a:pt x="567737" y="105739"/>
                  </a:lnTo>
                  <a:lnTo>
                    <a:pt x="589779" y="139483"/>
                  </a:lnTo>
                  <a:lnTo>
                    <a:pt x="603565" y="176385"/>
                  </a:lnTo>
                  <a:lnTo>
                    <a:pt x="608330" y="215900"/>
                  </a:lnTo>
                  <a:lnTo>
                    <a:pt x="603565" y="255749"/>
                  </a:lnTo>
                  <a:lnTo>
                    <a:pt x="589779" y="292828"/>
                  </a:lnTo>
                  <a:lnTo>
                    <a:pt x="567737" y="326625"/>
                  </a:lnTo>
                  <a:lnTo>
                    <a:pt x="538199" y="356627"/>
                  </a:lnTo>
                  <a:lnTo>
                    <a:pt x="501930" y="382324"/>
                  </a:lnTo>
                  <a:lnTo>
                    <a:pt x="459692" y="403201"/>
                  </a:lnTo>
                  <a:lnTo>
                    <a:pt x="412250" y="418748"/>
                  </a:lnTo>
                  <a:lnTo>
                    <a:pt x="360364" y="428451"/>
                  </a:lnTo>
                  <a:lnTo>
                    <a:pt x="304800" y="431800"/>
                  </a:lnTo>
                  <a:lnTo>
                    <a:pt x="248857" y="428451"/>
                  </a:lnTo>
                  <a:lnTo>
                    <a:pt x="196677" y="418748"/>
                  </a:lnTo>
                  <a:lnTo>
                    <a:pt x="149013" y="403201"/>
                  </a:lnTo>
                  <a:lnTo>
                    <a:pt x="106617" y="382324"/>
                  </a:lnTo>
                  <a:lnTo>
                    <a:pt x="70241" y="356627"/>
                  </a:lnTo>
                  <a:lnTo>
                    <a:pt x="40639" y="326625"/>
                  </a:lnTo>
                  <a:lnTo>
                    <a:pt x="18563" y="292828"/>
                  </a:lnTo>
                  <a:lnTo>
                    <a:pt x="4766" y="255749"/>
                  </a:lnTo>
                  <a:lnTo>
                    <a:pt x="0" y="215900"/>
                  </a:lnTo>
                  <a:lnTo>
                    <a:pt x="4766" y="176385"/>
                  </a:lnTo>
                  <a:lnTo>
                    <a:pt x="18563" y="139483"/>
                  </a:lnTo>
                  <a:lnTo>
                    <a:pt x="40639" y="105739"/>
                  </a:lnTo>
                  <a:lnTo>
                    <a:pt x="70241" y="75694"/>
                  </a:lnTo>
                  <a:lnTo>
                    <a:pt x="106617" y="49894"/>
                  </a:lnTo>
                  <a:lnTo>
                    <a:pt x="149013" y="28880"/>
                  </a:lnTo>
                  <a:lnTo>
                    <a:pt x="196677" y="13198"/>
                  </a:lnTo>
                  <a:lnTo>
                    <a:pt x="248857" y="3390"/>
                  </a:lnTo>
                  <a:lnTo>
                    <a:pt x="304800" y="0"/>
                  </a:lnTo>
                  <a:close/>
                </a:path>
                <a:path w="608329" h="433069">
                  <a:moveTo>
                    <a:pt x="0" y="0"/>
                  </a:moveTo>
                  <a:lnTo>
                    <a:pt x="0" y="0"/>
                  </a:lnTo>
                </a:path>
                <a:path w="608329" h="433069">
                  <a:moveTo>
                    <a:pt x="608330" y="433069"/>
                  </a:moveTo>
                  <a:lnTo>
                    <a:pt x="608330" y="433069"/>
                  </a:lnTo>
                </a:path>
              </a:pathLst>
            </a:custGeom>
            <a:ln w="35941">
              <a:solidFill>
                <a:srgbClr val="569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67830" y="2015489"/>
              <a:ext cx="608330" cy="433070"/>
            </a:xfrm>
            <a:custGeom>
              <a:avLst/>
              <a:gdLst/>
              <a:ahLst/>
              <a:cxnLst/>
              <a:rect l="l" t="t" r="r" b="b"/>
              <a:pathLst>
                <a:path w="608329" h="433069">
                  <a:moveTo>
                    <a:pt x="304800" y="0"/>
                  </a:moveTo>
                  <a:lnTo>
                    <a:pt x="360364" y="3390"/>
                  </a:lnTo>
                  <a:lnTo>
                    <a:pt x="412250" y="13198"/>
                  </a:lnTo>
                  <a:lnTo>
                    <a:pt x="459692" y="28880"/>
                  </a:lnTo>
                  <a:lnTo>
                    <a:pt x="501930" y="49894"/>
                  </a:lnTo>
                  <a:lnTo>
                    <a:pt x="538199" y="75694"/>
                  </a:lnTo>
                  <a:lnTo>
                    <a:pt x="567737" y="105739"/>
                  </a:lnTo>
                  <a:lnTo>
                    <a:pt x="589779" y="139483"/>
                  </a:lnTo>
                  <a:lnTo>
                    <a:pt x="603565" y="176385"/>
                  </a:lnTo>
                  <a:lnTo>
                    <a:pt x="608329" y="215900"/>
                  </a:lnTo>
                  <a:lnTo>
                    <a:pt x="603565" y="255792"/>
                  </a:lnTo>
                  <a:lnTo>
                    <a:pt x="589779" y="292988"/>
                  </a:lnTo>
                  <a:lnTo>
                    <a:pt x="567737" y="326954"/>
                  </a:lnTo>
                  <a:lnTo>
                    <a:pt x="538199" y="357157"/>
                  </a:lnTo>
                  <a:lnTo>
                    <a:pt x="501930" y="383064"/>
                  </a:lnTo>
                  <a:lnTo>
                    <a:pt x="459692" y="404142"/>
                  </a:lnTo>
                  <a:lnTo>
                    <a:pt x="412250" y="419857"/>
                  </a:lnTo>
                  <a:lnTo>
                    <a:pt x="360364" y="429678"/>
                  </a:lnTo>
                  <a:lnTo>
                    <a:pt x="304800" y="433070"/>
                  </a:lnTo>
                  <a:lnTo>
                    <a:pt x="248857" y="429678"/>
                  </a:lnTo>
                  <a:lnTo>
                    <a:pt x="196677" y="419857"/>
                  </a:lnTo>
                  <a:lnTo>
                    <a:pt x="149013" y="404142"/>
                  </a:lnTo>
                  <a:lnTo>
                    <a:pt x="106617" y="383064"/>
                  </a:lnTo>
                  <a:lnTo>
                    <a:pt x="70241" y="357157"/>
                  </a:lnTo>
                  <a:lnTo>
                    <a:pt x="40639" y="326954"/>
                  </a:lnTo>
                  <a:lnTo>
                    <a:pt x="18563" y="292988"/>
                  </a:lnTo>
                  <a:lnTo>
                    <a:pt x="4766" y="255792"/>
                  </a:lnTo>
                  <a:lnTo>
                    <a:pt x="0" y="215900"/>
                  </a:lnTo>
                  <a:lnTo>
                    <a:pt x="4766" y="176385"/>
                  </a:lnTo>
                  <a:lnTo>
                    <a:pt x="18563" y="139483"/>
                  </a:lnTo>
                  <a:lnTo>
                    <a:pt x="40639" y="105739"/>
                  </a:lnTo>
                  <a:lnTo>
                    <a:pt x="70241" y="75694"/>
                  </a:lnTo>
                  <a:lnTo>
                    <a:pt x="106617" y="49894"/>
                  </a:lnTo>
                  <a:lnTo>
                    <a:pt x="149013" y="28880"/>
                  </a:lnTo>
                  <a:lnTo>
                    <a:pt x="196677" y="13198"/>
                  </a:lnTo>
                  <a:lnTo>
                    <a:pt x="248857" y="3390"/>
                  </a:lnTo>
                  <a:lnTo>
                    <a:pt x="304800" y="0"/>
                  </a:lnTo>
                  <a:close/>
                </a:path>
                <a:path w="608329" h="433069">
                  <a:moveTo>
                    <a:pt x="0" y="0"/>
                  </a:moveTo>
                  <a:lnTo>
                    <a:pt x="0" y="0"/>
                  </a:lnTo>
                </a:path>
                <a:path w="608329" h="433069">
                  <a:moveTo>
                    <a:pt x="608329" y="433070"/>
                  </a:moveTo>
                  <a:lnTo>
                    <a:pt x="608329" y="433070"/>
                  </a:lnTo>
                </a:path>
              </a:pathLst>
            </a:custGeom>
            <a:ln w="35941">
              <a:solidFill>
                <a:srgbClr val="FF94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99630" y="1799589"/>
              <a:ext cx="1440180" cy="372110"/>
            </a:xfrm>
            <a:custGeom>
              <a:avLst/>
              <a:gdLst/>
              <a:ahLst/>
              <a:cxnLst/>
              <a:rect l="l" t="t" r="r" b="b"/>
              <a:pathLst>
                <a:path w="1440179" h="372110">
                  <a:moveTo>
                    <a:pt x="720090" y="372110"/>
                  </a:moveTo>
                  <a:lnTo>
                    <a:pt x="0" y="372110"/>
                  </a:lnTo>
                  <a:lnTo>
                    <a:pt x="0" y="0"/>
                  </a:lnTo>
                  <a:lnTo>
                    <a:pt x="1440179" y="0"/>
                  </a:lnTo>
                  <a:lnTo>
                    <a:pt x="1440179" y="372110"/>
                  </a:lnTo>
                  <a:lnTo>
                    <a:pt x="720090" y="3721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831840" y="3239770"/>
            <a:ext cx="648335" cy="156210"/>
            <a:chOff x="5831840" y="3239770"/>
            <a:chExt cx="648335" cy="156210"/>
          </a:xfrm>
        </p:grpSpPr>
        <p:sp>
          <p:nvSpPr>
            <p:cNvPr id="26" name="object 26"/>
            <p:cNvSpPr/>
            <p:nvPr/>
          </p:nvSpPr>
          <p:spPr>
            <a:xfrm>
              <a:off x="5927090" y="3284220"/>
              <a:ext cx="552450" cy="111125"/>
            </a:xfrm>
            <a:custGeom>
              <a:avLst/>
              <a:gdLst/>
              <a:ahLst/>
              <a:cxnLst/>
              <a:rect l="l" t="t" r="r" b="b"/>
              <a:pathLst>
                <a:path w="552450" h="111125">
                  <a:moveTo>
                    <a:pt x="0" y="0"/>
                  </a:moveTo>
                  <a:lnTo>
                    <a:pt x="241696" y="83720"/>
                  </a:lnTo>
                  <a:lnTo>
                    <a:pt x="414337" y="110648"/>
                  </a:lnTo>
                  <a:lnTo>
                    <a:pt x="517921" y="107334"/>
                  </a:lnTo>
                  <a:lnTo>
                    <a:pt x="552450" y="1003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1840" y="3239770"/>
              <a:ext cx="113030" cy="78740"/>
            </a:xfrm>
            <a:custGeom>
              <a:avLst/>
              <a:gdLst/>
              <a:ahLst/>
              <a:cxnLst/>
              <a:rect l="l" t="t" r="r" b="b"/>
              <a:pathLst>
                <a:path w="113029" h="78739">
                  <a:moveTo>
                    <a:pt x="0" y="0"/>
                  </a:moveTo>
                  <a:lnTo>
                    <a:pt x="82550" y="78739"/>
                  </a:lnTo>
                  <a:lnTo>
                    <a:pt x="113030" y="1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85890" y="3129279"/>
            <a:ext cx="179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83D0"/>
                </a:solidFill>
                <a:latin typeface="Arial"/>
                <a:cs typeface="Arial"/>
              </a:rPr>
              <a:t>clase-association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9630" y="1799589"/>
            <a:ext cx="1440180" cy="3663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660"/>
              </a:spcBef>
            </a:pPr>
            <a:r>
              <a:rPr sz="1400" b="1" spc="15" dirty="0">
                <a:latin typeface="Arial"/>
                <a:cs typeface="Arial"/>
              </a:rPr>
              <a:t>Entreprise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99630" y="2171700"/>
            <a:ext cx="1440180" cy="563880"/>
          </a:xfrm>
          <a:custGeom>
            <a:avLst/>
            <a:gdLst/>
            <a:ahLst/>
            <a:cxnLst/>
            <a:rect l="l" t="t" r="r" b="b"/>
            <a:pathLst>
              <a:path w="1440179" h="563880">
                <a:moveTo>
                  <a:pt x="720090" y="563879"/>
                </a:moveTo>
                <a:lnTo>
                  <a:pt x="0" y="563879"/>
                </a:lnTo>
                <a:lnTo>
                  <a:pt x="0" y="0"/>
                </a:lnTo>
                <a:lnTo>
                  <a:pt x="1440179" y="0"/>
                </a:lnTo>
                <a:lnTo>
                  <a:pt x="1440179" y="563879"/>
                </a:lnTo>
                <a:lnTo>
                  <a:pt x="720090" y="56387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99630" y="2165985"/>
            <a:ext cx="1440180" cy="5695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90170" marR="314325">
              <a:lnSpc>
                <a:spcPct val="123800"/>
              </a:lnSpc>
              <a:spcBef>
                <a:spcPts val="25"/>
              </a:spcBef>
            </a:pP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350" dirty="0">
                <a:latin typeface="Lucida Sans Unicode"/>
                <a:cs typeface="Lucida Sans Unicode"/>
              </a:rPr>
              <a:t>g  </a:t>
            </a:r>
            <a:r>
              <a:rPr sz="1400" spc="75" dirty="0">
                <a:latin typeface="Lucida Sans Unicode"/>
                <a:cs typeface="Lucida Sans Unicode"/>
              </a:rPr>
              <a:t>vile:string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99630" y="2735579"/>
            <a:ext cx="1440180" cy="72390"/>
          </a:xfrm>
          <a:custGeom>
            <a:avLst/>
            <a:gdLst/>
            <a:ahLst/>
            <a:cxnLst/>
            <a:rect l="l" t="t" r="r" b="b"/>
            <a:pathLst>
              <a:path w="1440179" h="72389">
                <a:moveTo>
                  <a:pt x="720090" y="72390"/>
                </a:moveTo>
                <a:lnTo>
                  <a:pt x="0" y="72390"/>
                </a:lnTo>
                <a:lnTo>
                  <a:pt x="0" y="0"/>
                </a:lnTo>
                <a:lnTo>
                  <a:pt x="1440179" y="0"/>
                </a:lnTo>
                <a:lnTo>
                  <a:pt x="1440179" y="72390"/>
                </a:lnTo>
                <a:lnTo>
                  <a:pt x="720090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440180" y="5400040"/>
            <a:ext cx="1440180" cy="2936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610"/>
              </a:spcBef>
            </a:pPr>
            <a:r>
              <a:rPr sz="1400" b="1" dirty="0">
                <a:latin typeface="Arial"/>
                <a:cs typeface="Arial"/>
              </a:rPr>
              <a:t>Perso</a:t>
            </a:r>
            <a:r>
              <a:rPr lang="fr-FR" sz="1400" b="1" dirty="0" err="1">
                <a:latin typeface="Arial"/>
                <a:cs typeface="Arial"/>
              </a:rPr>
              <a:t>nn</a:t>
            </a:r>
            <a:r>
              <a:rPr sz="1400" b="1" dirty="0">
                <a:latin typeface="Arial"/>
                <a:cs typeface="Arial"/>
              </a:rPr>
              <a:t>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40180" y="5765800"/>
            <a:ext cx="1440180" cy="78613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90"/>
              </a:spcBef>
            </a:pP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409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2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5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525" dirty="0">
                <a:latin typeface="Lucida Sans Unicode"/>
                <a:cs typeface="Lucida Sans Unicode"/>
              </a:rPr>
              <a:t>g</a:t>
            </a:r>
            <a:endParaRPr sz="1400">
              <a:latin typeface="Lucida Sans Unicode"/>
              <a:cs typeface="Lucida Sans Unicode"/>
            </a:endParaRPr>
          </a:p>
          <a:p>
            <a:pPr marL="89535">
              <a:lnSpc>
                <a:spcPct val="123800"/>
              </a:lnSpc>
            </a:pPr>
            <a:r>
              <a:rPr sz="1400" spc="-215" dirty="0">
                <a:latin typeface="Lucida Sans Unicode"/>
                <a:cs typeface="Lucida Sans Unicode"/>
              </a:rPr>
              <a:t>p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160" dirty="0">
                <a:latin typeface="Lucida Sans Unicode"/>
                <a:cs typeface="Lucida Sans Unicode"/>
              </a:rPr>
              <a:t>é</a:t>
            </a: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409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350" dirty="0">
                <a:latin typeface="Lucida Sans Unicode"/>
                <a:cs typeface="Lucida Sans Unicode"/>
              </a:rPr>
              <a:t>g  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360" dirty="0">
                <a:latin typeface="Lucida Sans Unicode"/>
                <a:cs typeface="Lucida Sans Unicode"/>
              </a:rPr>
              <a:t>s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-100" dirty="0">
                <a:latin typeface="Lucida Sans Unicode"/>
                <a:cs typeface="Lucida Sans Unicode"/>
              </a:rPr>
              <a:t>c</a:t>
            </a:r>
            <a:r>
              <a:rPr sz="1400" spc="545" dirty="0">
                <a:latin typeface="Lucida Sans Unicode"/>
                <a:cs typeface="Lucida Sans Unicode"/>
              </a:rPr>
              <a:t>e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55" dirty="0">
                <a:latin typeface="Lucida Sans Unicode"/>
                <a:cs typeface="Lucida Sans Unicode"/>
              </a:rPr>
              <a:t>D</a:t>
            </a:r>
            <a:r>
              <a:rPr sz="1400" spc="-100" dirty="0">
                <a:latin typeface="Lucida Sans Unicode"/>
                <a:cs typeface="Lucida Sans Unicode"/>
              </a:rPr>
              <a:t>a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620" dirty="0">
                <a:latin typeface="Lucida Sans Unicode"/>
                <a:cs typeface="Lucida Sans Unicode"/>
              </a:rPr>
              <a:t>e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40180" y="6551930"/>
            <a:ext cx="1440180" cy="72390"/>
          </a:xfrm>
          <a:custGeom>
            <a:avLst/>
            <a:gdLst/>
            <a:ahLst/>
            <a:cxnLst/>
            <a:rect l="l" t="t" r="r" b="b"/>
            <a:pathLst>
              <a:path w="1440180" h="72390">
                <a:moveTo>
                  <a:pt x="720089" y="72390"/>
                </a:moveTo>
                <a:lnTo>
                  <a:pt x="0" y="72390"/>
                </a:lnTo>
                <a:lnTo>
                  <a:pt x="0" y="0"/>
                </a:lnTo>
                <a:lnTo>
                  <a:pt x="1440180" y="0"/>
                </a:lnTo>
                <a:lnTo>
                  <a:pt x="1440180" y="72390"/>
                </a:lnTo>
                <a:lnTo>
                  <a:pt x="720089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20540" y="5400040"/>
            <a:ext cx="1438910" cy="372110"/>
          </a:xfrm>
          <a:custGeom>
            <a:avLst/>
            <a:gdLst/>
            <a:ahLst/>
            <a:cxnLst/>
            <a:rect l="l" t="t" r="r" b="b"/>
            <a:pathLst>
              <a:path w="1438910" h="372110">
                <a:moveTo>
                  <a:pt x="720089" y="372110"/>
                </a:moveTo>
                <a:lnTo>
                  <a:pt x="0" y="372110"/>
                </a:lnTo>
                <a:lnTo>
                  <a:pt x="0" y="0"/>
                </a:lnTo>
                <a:lnTo>
                  <a:pt x="1438910" y="0"/>
                </a:lnTo>
                <a:lnTo>
                  <a:pt x="1438910" y="372110"/>
                </a:lnTo>
                <a:lnTo>
                  <a:pt x="720089" y="37211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48529" y="5469890"/>
            <a:ext cx="714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latin typeface="Arial"/>
                <a:cs typeface="Arial"/>
              </a:rPr>
              <a:t>Em</a:t>
            </a:r>
            <a:r>
              <a:rPr sz="1400" b="1" spc="-75" dirty="0">
                <a:latin typeface="Arial"/>
                <a:cs typeface="Arial"/>
              </a:rPr>
              <a:t>p</a:t>
            </a:r>
            <a:r>
              <a:rPr sz="1400" b="1" spc="-35" dirty="0">
                <a:latin typeface="Arial"/>
                <a:cs typeface="Arial"/>
              </a:rPr>
              <a:t>l</a:t>
            </a:r>
            <a:r>
              <a:rPr sz="1400" b="1" spc="-90" dirty="0">
                <a:latin typeface="Arial"/>
                <a:cs typeface="Arial"/>
              </a:rPr>
              <a:t>o</a:t>
            </a:r>
            <a:r>
              <a:rPr sz="1400" b="1" spc="1010" dirty="0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20540" y="5772150"/>
            <a:ext cx="1438910" cy="779780"/>
          </a:xfrm>
          <a:custGeom>
            <a:avLst/>
            <a:gdLst/>
            <a:ahLst/>
            <a:cxnLst/>
            <a:rect l="l" t="t" r="r" b="b"/>
            <a:pathLst>
              <a:path w="1438910" h="779779">
                <a:moveTo>
                  <a:pt x="720089" y="779780"/>
                </a:moveTo>
                <a:lnTo>
                  <a:pt x="0" y="77978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79780"/>
                </a:lnTo>
                <a:lnTo>
                  <a:pt x="720089" y="7797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320540" y="5768975"/>
            <a:ext cx="1438910" cy="7829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15"/>
              </a:spcBef>
            </a:pPr>
            <a:r>
              <a:rPr sz="1400" spc="10" dirty="0">
                <a:latin typeface="Lucida Sans Unicode"/>
                <a:cs typeface="Lucida Sans Unicode"/>
              </a:rPr>
              <a:t>intitulé:string</a:t>
            </a:r>
            <a:endParaRPr sz="1400">
              <a:latin typeface="Lucida Sans Unicode"/>
              <a:cs typeface="Lucida Sans Unicode"/>
            </a:endParaRPr>
          </a:p>
          <a:p>
            <a:pPr marL="88900" marR="269875">
              <a:lnSpc>
                <a:spcPts val="2080"/>
              </a:lnSpc>
              <a:spcBef>
                <a:spcPts val="110"/>
              </a:spcBef>
            </a:pPr>
            <a:r>
              <a:rPr sz="1400" spc="-170" dirty="0">
                <a:latin typeface="Lucida Sans Unicode"/>
                <a:cs typeface="Lucida Sans Unicode"/>
              </a:rPr>
              <a:t>d</a:t>
            </a:r>
            <a:r>
              <a:rPr sz="1400" spc="-155" dirty="0">
                <a:latin typeface="Lucida Sans Unicode"/>
                <a:cs typeface="Lucida Sans Unicode"/>
              </a:rPr>
              <a:t>é</a:t>
            </a:r>
            <a:r>
              <a:rPr sz="1400" spc="-170" dirty="0">
                <a:latin typeface="Lucida Sans Unicode"/>
                <a:cs typeface="Lucida Sans Unicode"/>
              </a:rPr>
              <a:t>b</a:t>
            </a:r>
            <a:r>
              <a:rPr sz="1400" spc="-155" dirty="0">
                <a:latin typeface="Lucida Sans Unicode"/>
                <a:cs typeface="Lucida Sans Unicode"/>
              </a:rPr>
              <a:t>u</a:t>
            </a:r>
            <a:r>
              <a:rPr sz="1400" spc="680" dirty="0">
                <a:latin typeface="Lucida Sans Unicode"/>
                <a:cs typeface="Lucida Sans Unicode"/>
              </a:rPr>
              <a:t>t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55" dirty="0">
                <a:latin typeface="Lucida Sans Unicode"/>
                <a:cs typeface="Lucida Sans Unicode"/>
              </a:rPr>
              <a:t>D</a:t>
            </a:r>
            <a:r>
              <a:rPr sz="1400" spc="-105" dirty="0">
                <a:latin typeface="Lucida Sans Unicode"/>
                <a:cs typeface="Lucida Sans Unicode"/>
              </a:rPr>
              <a:t>a</a:t>
            </a:r>
            <a:r>
              <a:rPr sz="1400" spc="-20" dirty="0">
                <a:latin typeface="Lucida Sans Unicode"/>
                <a:cs typeface="Lucida Sans Unicode"/>
              </a:rPr>
              <a:t>t</a:t>
            </a:r>
            <a:r>
              <a:rPr sz="1400" spc="440" dirty="0">
                <a:latin typeface="Lucida Sans Unicode"/>
                <a:cs typeface="Lucida Sans Unicode"/>
              </a:rPr>
              <a:t>e  </a:t>
            </a:r>
            <a:r>
              <a:rPr sz="1400" spc="75" dirty="0">
                <a:latin typeface="Lucida Sans Unicode"/>
                <a:cs typeface="Lucida Sans Unicode"/>
              </a:rPr>
              <a:t>fin:Date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20540" y="6551930"/>
            <a:ext cx="1438910" cy="72390"/>
          </a:xfrm>
          <a:custGeom>
            <a:avLst/>
            <a:gdLst/>
            <a:ahLst/>
            <a:cxnLst/>
            <a:rect l="l" t="t" r="r" b="b"/>
            <a:pathLst>
              <a:path w="1438910" h="72390">
                <a:moveTo>
                  <a:pt x="720089" y="72390"/>
                </a:moveTo>
                <a:lnTo>
                  <a:pt x="0" y="7239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2390"/>
                </a:lnTo>
                <a:lnTo>
                  <a:pt x="720089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99630" y="5400040"/>
            <a:ext cx="1440180" cy="372110"/>
          </a:xfrm>
          <a:custGeom>
            <a:avLst/>
            <a:gdLst/>
            <a:ahLst/>
            <a:cxnLst/>
            <a:rect l="l" t="t" r="r" b="b"/>
            <a:pathLst>
              <a:path w="1440179" h="372110">
                <a:moveTo>
                  <a:pt x="720090" y="372110"/>
                </a:moveTo>
                <a:lnTo>
                  <a:pt x="0" y="372110"/>
                </a:lnTo>
                <a:lnTo>
                  <a:pt x="0" y="0"/>
                </a:lnTo>
                <a:lnTo>
                  <a:pt x="1440179" y="0"/>
                </a:lnTo>
                <a:lnTo>
                  <a:pt x="1440179" y="372110"/>
                </a:lnTo>
                <a:lnTo>
                  <a:pt x="720090" y="37211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498080" y="5469890"/>
            <a:ext cx="930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Entreprise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99630" y="5768975"/>
            <a:ext cx="1440180" cy="5670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90170" marR="314325">
              <a:lnSpc>
                <a:spcPct val="123200"/>
              </a:lnSpc>
              <a:spcBef>
                <a:spcPts val="15"/>
              </a:spcBef>
            </a:pPr>
            <a:r>
              <a:rPr sz="1400" spc="-155" dirty="0">
                <a:latin typeface="Lucida Sans Unicode"/>
                <a:cs typeface="Lucida Sans Unicode"/>
              </a:rPr>
              <a:t>no</a:t>
            </a:r>
            <a:r>
              <a:rPr sz="1400" spc="90" dirty="0">
                <a:latin typeface="Lucida Sans Unicode"/>
                <a:cs typeface="Lucida Sans Unicode"/>
              </a:rPr>
              <a:t>m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420" dirty="0">
                <a:latin typeface="Lucida Sans Unicode"/>
                <a:cs typeface="Lucida Sans Unicode"/>
              </a:rPr>
              <a:t>:</a:t>
            </a:r>
            <a:r>
              <a:rPr sz="1400" spc="-180" dirty="0">
                <a:latin typeface="Lucida Sans Unicode"/>
                <a:cs typeface="Lucida Sans Unicode"/>
              </a:rPr>
              <a:t>s</a:t>
            </a:r>
            <a:r>
              <a:rPr sz="1400" spc="-30" dirty="0">
                <a:latin typeface="Lucida Sans Unicode"/>
                <a:cs typeface="Lucida Sans Unicode"/>
              </a:rPr>
              <a:t>t</a:t>
            </a:r>
            <a:r>
              <a:rPr sz="1400" spc="-100" dirty="0">
                <a:latin typeface="Lucida Sans Unicode"/>
                <a:cs typeface="Lucida Sans Unicode"/>
              </a:rPr>
              <a:t>r</a:t>
            </a:r>
            <a:r>
              <a:rPr sz="1400" spc="-70" dirty="0">
                <a:latin typeface="Lucida Sans Unicode"/>
                <a:cs typeface="Lucida Sans Unicode"/>
              </a:rPr>
              <a:t>i</a:t>
            </a:r>
            <a:r>
              <a:rPr sz="1400" spc="-155" dirty="0">
                <a:latin typeface="Lucida Sans Unicode"/>
                <a:cs typeface="Lucida Sans Unicode"/>
              </a:rPr>
              <a:t>n</a:t>
            </a:r>
            <a:r>
              <a:rPr sz="1400" spc="350" dirty="0">
                <a:latin typeface="Lucida Sans Unicode"/>
                <a:cs typeface="Lucida Sans Unicode"/>
              </a:rPr>
              <a:t>g  </a:t>
            </a:r>
            <a:r>
              <a:rPr sz="1400" spc="75" dirty="0">
                <a:latin typeface="Lucida Sans Unicode"/>
                <a:cs typeface="Lucida Sans Unicode"/>
              </a:rPr>
              <a:t>vile:string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199630" y="6336029"/>
            <a:ext cx="1440180" cy="72390"/>
          </a:xfrm>
          <a:custGeom>
            <a:avLst/>
            <a:gdLst/>
            <a:ahLst/>
            <a:cxnLst/>
            <a:rect l="l" t="t" r="r" b="b"/>
            <a:pathLst>
              <a:path w="1440179" h="72389">
                <a:moveTo>
                  <a:pt x="720090" y="72390"/>
                </a:moveTo>
                <a:lnTo>
                  <a:pt x="0" y="72390"/>
                </a:lnTo>
                <a:lnTo>
                  <a:pt x="0" y="0"/>
                </a:lnTo>
                <a:lnTo>
                  <a:pt x="1440179" y="0"/>
                </a:lnTo>
                <a:lnTo>
                  <a:pt x="1440179" y="72390"/>
                </a:lnTo>
                <a:lnTo>
                  <a:pt x="720090" y="723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880360" y="5904229"/>
            <a:ext cx="4319270" cy="0"/>
          </a:xfrm>
          <a:custGeom>
            <a:avLst/>
            <a:gdLst/>
            <a:ahLst/>
            <a:cxnLst/>
            <a:rect l="l" t="t" r="r" b="b"/>
            <a:pathLst>
              <a:path w="4319270">
                <a:moveTo>
                  <a:pt x="0" y="0"/>
                </a:moveTo>
                <a:lnTo>
                  <a:pt x="1440179" y="0"/>
                </a:lnTo>
              </a:path>
              <a:path w="4319270">
                <a:moveTo>
                  <a:pt x="2879090" y="0"/>
                </a:moveTo>
                <a:lnTo>
                  <a:pt x="431927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025640" y="5642609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9" dirty="0"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9232900" y="7117638"/>
            <a:ext cx="4686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spc="509" dirty="0"/>
              <a:t>22</a:t>
            </a:fld>
            <a:endParaRPr spc="509" dirty="0"/>
          </a:p>
        </p:txBody>
      </p:sp>
      <p:sp>
        <p:nvSpPr>
          <p:cNvPr id="47" name="object 47"/>
          <p:cNvSpPr txBox="1"/>
          <p:nvPr/>
        </p:nvSpPr>
        <p:spPr>
          <a:xfrm>
            <a:off x="5838190" y="5642609"/>
            <a:ext cx="3937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5" dirty="0">
                <a:latin typeface="Lucida Sans Unicode"/>
                <a:cs typeface="Lucida Sans Unicode"/>
              </a:rPr>
              <a:t>1</a:t>
            </a:r>
            <a:r>
              <a:rPr sz="1400" spc="-60" dirty="0">
                <a:latin typeface="Lucida Sans Unicode"/>
                <a:cs typeface="Lucida Sans Unicode"/>
              </a:rPr>
              <a:t>.</a:t>
            </a:r>
            <a:r>
              <a:rPr sz="1400" spc="-50" dirty="0">
                <a:latin typeface="Lucida Sans Unicode"/>
                <a:cs typeface="Lucida Sans Unicode"/>
              </a:rPr>
              <a:t>.</a:t>
            </a:r>
            <a:r>
              <a:rPr sz="1400" spc="725" dirty="0">
                <a:latin typeface="Lucida Sans Unicode"/>
                <a:cs typeface="Lucida Sans Unicode"/>
              </a:rPr>
              <a:t>*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1735" y="384809"/>
            <a:ext cx="56381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1"/>
                </a:solidFill>
              </a:rPr>
              <a:t>As</a:t>
            </a:r>
            <a:r>
              <a:rPr lang="fr-FR" spc="-10" dirty="0">
                <a:solidFill>
                  <a:schemeClr val="tx1"/>
                </a:solidFill>
              </a:rPr>
              <a:t>s</a:t>
            </a:r>
            <a:r>
              <a:rPr spc="-10" dirty="0" err="1">
                <a:solidFill>
                  <a:schemeClr val="tx1"/>
                </a:solidFill>
              </a:rPr>
              <a:t>ociation</a:t>
            </a:r>
            <a:r>
              <a:rPr lang="fr-FR" spc="-10" dirty="0">
                <a:solidFill>
                  <a:schemeClr val="tx1"/>
                </a:solidFill>
              </a:rPr>
              <a:t> </a:t>
            </a:r>
            <a:r>
              <a:rPr i="1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pc="-10" dirty="0">
                <a:solidFill>
                  <a:schemeClr val="tx1"/>
                </a:solidFill>
              </a:rPr>
              <a:t>-</a:t>
            </a:r>
            <a:r>
              <a:rPr spc="-10" dirty="0" err="1">
                <a:solidFill>
                  <a:schemeClr val="tx1"/>
                </a:solidFill>
              </a:rPr>
              <a:t>aire</a:t>
            </a:r>
            <a:endParaRPr spc="-1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490" y="1258569"/>
            <a:ext cx="7099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Lucida Sans Unicode"/>
                <a:cs typeface="Lucida Sans Unicode"/>
              </a:rPr>
              <a:t>As</a:t>
            </a:r>
            <a:r>
              <a:rPr lang="fr-FR" sz="2400" spc="-25" dirty="0">
                <a:latin typeface="Lucida Sans Unicode"/>
                <a:cs typeface="Lucida Sans Unicode"/>
              </a:rPr>
              <a:t>s</a:t>
            </a:r>
            <a:r>
              <a:rPr sz="2400" spc="-25" dirty="0" err="1">
                <a:latin typeface="Lucida Sans Unicode"/>
                <a:cs typeface="Lucida Sans Unicode"/>
              </a:rPr>
              <a:t>ociation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reliant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plus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de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deux</a:t>
            </a:r>
            <a:r>
              <a:rPr lang="fr-FR"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569C1B"/>
                </a:solidFill>
                <a:latin typeface="Lucida Sans Unicode"/>
                <a:cs typeface="Lucida Sans Unicode"/>
              </a:rPr>
              <a:t>classes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0270" y="1946910"/>
            <a:ext cx="216027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420"/>
              </a:spcBef>
            </a:pPr>
            <a:r>
              <a:rPr sz="1800" b="1" spc="30" dirty="0">
                <a:latin typeface="Arial"/>
                <a:cs typeface="Arial"/>
              </a:rPr>
              <a:t>Enseignant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60270" y="2319020"/>
            <a:ext cx="2160270" cy="144780"/>
          </a:xfrm>
          <a:custGeom>
            <a:avLst/>
            <a:gdLst/>
            <a:ahLst/>
            <a:cxnLst/>
            <a:rect l="l" t="t" r="r" b="b"/>
            <a:pathLst>
              <a:path w="2160270" h="144780">
                <a:moveTo>
                  <a:pt x="1079500" y="72389"/>
                </a:moveTo>
                <a:lnTo>
                  <a:pt x="0" y="72389"/>
                </a:lnTo>
                <a:lnTo>
                  <a:pt x="0" y="0"/>
                </a:lnTo>
                <a:lnTo>
                  <a:pt x="2160270" y="0"/>
                </a:lnTo>
                <a:lnTo>
                  <a:pt x="2160270" y="72389"/>
                </a:lnTo>
                <a:lnTo>
                  <a:pt x="1079500" y="72389"/>
                </a:lnTo>
                <a:close/>
              </a:path>
              <a:path w="2160270" h="144780">
                <a:moveTo>
                  <a:pt x="1079500" y="144779"/>
                </a:moveTo>
                <a:lnTo>
                  <a:pt x="0" y="144779"/>
                </a:lnTo>
                <a:lnTo>
                  <a:pt x="0" y="72389"/>
                </a:lnTo>
                <a:lnTo>
                  <a:pt x="2160270" y="72389"/>
                </a:lnTo>
                <a:lnTo>
                  <a:pt x="2160270" y="144779"/>
                </a:lnTo>
                <a:lnTo>
                  <a:pt x="1079500" y="14477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59450" y="1945639"/>
            <a:ext cx="216027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33095">
              <a:lnSpc>
                <a:spcPct val="100000"/>
              </a:lnSpc>
              <a:spcBef>
                <a:spcPts val="420"/>
              </a:spcBef>
            </a:pPr>
            <a:r>
              <a:rPr sz="1800" b="1" spc="110" dirty="0">
                <a:latin typeface="Arial"/>
                <a:cs typeface="Arial"/>
              </a:rPr>
              <a:t>Étudiant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9770" y="2317750"/>
            <a:ext cx="4679950" cy="886460"/>
          </a:xfrm>
          <a:custGeom>
            <a:avLst/>
            <a:gdLst/>
            <a:ahLst/>
            <a:cxnLst/>
            <a:rect l="l" t="t" r="r" b="b"/>
            <a:pathLst>
              <a:path w="4679950" h="886460">
                <a:moveTo>
                  <a:pt x="1800859" y="454660"/>
                </a:moveTo>
                <a:lnTo>
                  <a:pt x="2016759" y="670560"/>
                </a:lnTo>
                <a:lnTo>
                  <a:pt x="1800859" y="886460"/>
                </a:lnTo>
                <a:lnTo>
                  <a:pt x="1583690" y="670560"/>
                </a:lnTo>
                <a:lnTo>
                  <a:pt x="1800859" y="454660"/>
                </a:lnTo>
                <a:close/>
              </a:path>
              <a:path w="4679950" h="886460">
                <a:moveTo>
                  <a:pt x="1583690" y="454660"/>
                </a:moveTo>
                <a:lnTo>
                  <a:pt x="1583690" y="454660"/>
                </a:lnTo>
              </a:path>
              <a:path w="4679950" h="886460">
                <a:moveTo>
                  <a:pt x="0" y="146050"/>
                </a:moveTo>
                <a:lnTo>
                  <a:pt x="0" y="670560"/>
                </a:lnTo>
                <a:lnTo>
                  <a:pt x="1583690" y="670560"/>
                </a:lnTo>
              </a:path>
              <a:path w="4679950" h="886460">
                <a:moveTo>
                  <a:pt x="3600450" y="72389"/>
                </a:moveTo>
                <a:lnTo>
                  <a:pt x="2519680" y="72389"/>
                </a:lnTo>
                <a:lnTo>
                  <a:pt x="2519680" y="0"/>
                </a:lnTo>
                <a:lnTo>
                  <a:pt x="4679950" y="0"/>
                </a:lnTo>
                <a:lnTo>
                  <a:pt x="4679950" y="72389"/>
                </a:lnTo>
                <a:lnTo>
                  <a:pt x="3600450" y="72389"/>
                </a:lnTo>
                <a:close/>
              </a:path>
              <a:path w="4679950" h="886460">
                <a:moveTo>
                  <a:pt x="3600450" y="144779"/>
                </a:moveTo>
                <a:lnTo>
                  <a:pt x="2519680" y="144779"/>
                </a:lnTo>
                <a:lnTo>
                  <a:pt x="2519680" y="72389"/>
                </a:lnTo>
                <a:lnTo>
                  <a:pt x="4679950" y="72389"/>
                </a:lnTo>
                <a:lnTo>
                  <a:pt x="4679950" y="144779"/>
                </a:lnTo>
                <a:lnTo>
                  <a:pt x="3600450" y="144779"/>
                </a:lnTo>
                <a:close/>
              </a:path>
              <a:path w="4679950" h="886460">
                <a:moveTo>
                  <a:pt x="3600450" y="144779"/>
                </a:moveTo>
                <a:lnTo>
                  <a:pt x="3600450" y="670560"/>
                </a:lnTo>
                <a:lnTo>
                  <a:pt x="2016759" y="6705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28950" y="248157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60" dirty="0"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7690" y="2481579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Lucida Sans Unicode"/>
                <a:cs typeface="Lucida Sans Unicode"/>
              </a:rPr>
              <a:t>1</a:t>
            </a:r>
            <a:r>
              <a:rPr sz="1800" spc="-70" dirty="0">
                <a:latin typeface="Lucida Sans Unicode"/>
                <a:cs typeface="Lucida Sans Unicode"/>
              </a:rPr>
              <a:t>..</a:t>
            </a: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959859" y="3204210"/>
          <a:ext cx="2288540" cy="1153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269"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i="1" spc="-195" dirty="0">
                          <a:solidFill>
                            <a:srgbClr val="0083D0"/>
                          </a:solidFill>
                          <a:latin typeface="Arial"/>
                          <a:cs typeface="Arial"/>
                        </a:rPr>
                        <a:t>ass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 gridSpan="2">
                  <a:txBody>
                    <a:bodyPr/>
                    <a:lstStyle/>
                    <a:p>
                      <a:pPr marL="781685" marR="850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b="1" spc="105" dirty="0">
                          <a:latin typeface="Arial"/>
                          <a:cs typeface="Arial"/>
                        </a:rPr>
                        <a:t>Cours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9">
                <a:tc grid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">
                <a:tc grid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5292090" y="3131820"/>
            <a:ext cx="575945" cy="288925"/>
            <a:chOff x="5292090" y="3131820"/>
            <a:chExt cx="575945" cy="288925"/>
          </a:xfrm>
        </p:grpSpPr>
        <p:sp>
          <p:nvSpPr>
            <p:cNvPr id="13" name="object 13"/>
            <p:cNvSpPr/>
            <p:nvPr/>
          </p:nvSpPr>
          <p:spPr>
            <a:xfrm>
              <a:off x="5360670" y="3209290"/>
              <a:ext cx="506730" cy="210820"/>
            </a:xfrm>
            <a:custGeom>
              <a:avLst/>
              <a:gdLst/>
              <a:ahLst/>
              <a:cxnLst/>
              <a:rect l="l" t="t" r="r" b="b"/>
              <a:pathLst>
                <a:path w="506729" h="210820">
                  <a:moveTo>
                    <a:pt x="0" y="0"/>
                  </a:moveTo>
                  <a:lnTo>
                    <a:pt x="170259" y="121880"/>
                  </a:lnTo>
                  <a:lnTo>
                    <a:pt x="334327" y="184467"/>
                  </a:lnTo>
                  <a:lnTo>
                    <a:pt x="457914" y="207525"/>
                  </a:lnTo>
                  <a:lnTo>
                    <a:pt x="506729" y="210820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92090" y="3131820"/>
              <a:ext cx="99060" cy="105410"/>
            </a:xfrm>
            <a:custGeom>
              <a:avLst/>
              <a:gdLst/>
              <a:ahLst/>
              <a:cxnLst/>
              <a:rect l="l" t="t" r="r" b="b"/>
              <a:pathLst>
                <a:path w="99060" h="105410">
                  <a:moveTo>
                    <a:pt x="0" y="0"/>
                  </a:moveTo>
                  <a:lnTo>
                    <a:pt x="44450" y="105409"/>
                  </a:lnTo>
                  <a:lnTo>
                    <a:pt x="9906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92545" y="3237229"/>
            <a:ext cx="171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55" dirty="0">
                <a:solidFill>
                  <a:srgbClr val="0083D0"/>
                </a:solidFill>
                <a:latin typeface="Arial"/>
                <a:cs typeface="Arial"/>
              </a:rPr>
              <a:t>ociationternaire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9232900" y="7117638"/>
            <a:ext cx="468629" cy="2558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82759" y="7145019"/>
            <a:ext cx="293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5" dirty="0">
                <a:solidFill>
                  <a:srgbClr val="7F7F7F"/>
                </a:solidFill>
                <a:latin typeface="Lucida Sans Unicode"/>
                <a:cs typeface="Lucida Sans Unicode"/>
              </a:rPr>
              <a:t>3</a:t>
            </a:r>
            <a:r>
              <a:rPr sz="1400" spc="509" dirty="0">
                <a:solidFill>
                  <a:srgbClr val="7F7F7F"/>
                </a:solidFill>
                <a:latin typeface="Lucida Sans Unicode"/>
                <a:cs typeface="Lucida Sans Unicode"/>
              </a:rPr>
              <a:t>0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70959" y="384809"/>
            <a:ext cx="25819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solidFill>
                  <a:schemeClr val="tx1"/>
                </a:solidFill>
              </a:rPr>
              <a:t>A</a:t>
            </a:r>
            <a:r>
              <a:rPr spc="-495" dirty="0">
                <a:solidFill>
                  <a:schemeClr val="tx1"/>
                </a:solidFill>
              </a:rPr>
              <a:t>g</a:t>
            </a:r>
            <a:r>
              <a:rPr spc="-275" dirty="0">
                <a:solidFill>
                  <a:schemeClr val="tx1"/>
                </a:solidFill>
              </a:rPr>
              <a:t>r</a:t>
            </a:r>
            <a:r>
              <a:rPr spc="-455" dirty="0">
                <a:solidFill>
                  <a:schemeClr val="tx1"/>
                </a:solidFill>
              </a:rPr>
              <a:t>é</a:t>
            </a:r>
            <a:r>
              <a:rPr spc="-495" dirty="0">
                <a:solidFill>
                  <a:schemeClr val="tx1"/>
                </a:solidFill>
              </a:rPr>
              <a:t>g</a:t>
            </a:r>
            <a:r>
              <a:rPr spc="-290" dirty="0">
                <a:solidFill>
                  <a:schemeClr val="tx1"/>
                </a:solidFill>
              </a:rPr>
              <a:t>a</a:t>
            </a:r>
            <a:r>
              <a:rPr spc="-60" dirty="0">
                <a:solidFill>
                  <a:schemeClr val="tx1"/>
                </a:solidFill>
              </a:rPr>
              <a:t>t</a:t>
            </a:r>
            <a:r>
              <a:rPr spc="-204" dirty="0">
                <a:solidFill>
                  <a:schemeClr val="tx1"/>
                </a:solidFill>
              </a:rPr>
              <a:t>i</a:t>
            </a:r>
            <a:r>
              <a:rPr spc="-459" dirty="0">
                <a:solidFill>
                  <a:schemeClr val="tx1"/>
                </a:solidFill>
              </a:rPr>
              <a:t>o</a:t>
            </a:r>
            <a:r>
              <a:rPr spc="1515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1490" y="1258570"/>
            <a:ext cx="64554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Lucida Sans Unicode"/>
                <a:cs typeface="Lucida Sans Unicode"/>
              </a:rPr>
              <a:t>As</a:t>
            </a:r>
            <a:r>
              <a:rPr lang="fr-FR" sz="2400" spc="-20" dirty="0">
                <a:latin typeface="Lucida Sans Unicode"/>
                <a:cs typeface="Lucida Sans Unicode"/>
              </a:rPr>
              <a:t>s</a:t>
            </a:r>
            <a:r>
              <a:rPr sz="2400" spc="-20" dirty="0" err="1">
                <a:latin typeface="Lucida Sans Unicode"/>
                <a:cs typeface="Lucida Sans Unicode"/>
              </a:rPr>
              <a:t>ociation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particulière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entre</a:t>
            </a:r>
            <a:r>
              <a:rPr lang="fr-FR" sz="2400" spc="-20" dirty="0">
                <a:latin typeface="Lucida Sans Unicode"/>
                <a:cs typeface="Lucida Sans Unicode"/>
              </a:rPr>
              <a:t> </a:t>
            </a:r>
            <a:r>
              <a:rPr sz="2400" spc="-20" dirty="0" err="1">
                <a:latin typeface="Lucida Sans Unicode"/>
                <a:cs typeface="Lucida Sans Unicode"/>
              </a:rPr>
              <a:t>clas</a:t>
            </a:r>
            <a:r>
              <a:rPr lang="fr-FR" sz="2400" spc="-20" dirty="0">
                <a:latin typeface="Lucida Sans Unicode"/>
                <a:cs typeface="Lucida Sans Unicode"/>
              </a:rPr>
              <a:t>s</a:t>
            </a:r>
            <a:r>
              <a:rPr sz="2400" spc="-20" dirty="0">
                <a:latin typeface="Lucida Sans Unicode"/>
                <a:cs typeface="Lucida Sans Unicode"/>
              </a:rPr>
              <a:t>es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8" y="1625599"/>
            <a:ext cx="7985761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Clr>
                <a:srgbClr val="000000"/>
              </a:buClr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7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Dissymétrique</a:t>
            </a:r>
            <a:r>
              <a:rPr sz="2400" spc="-75" dirty="0">
                <a:latin typeface="Lucida Sans Unicode"/>
                <a:cs typeface="Lucida Sans Unicode"/>
              </a:rPr>
              <a:t>:</a:t>
            </a:r>
            <a:r>
              <a:rPr lang="fr-FR" sz="2400" spc="-75" dirty="0">
                <a:latin typeface="Lucida Sans Unicode"/>
                <a:cs typeface="Lucida Sans Unicode"/>
              </a:rPr>
              <a:t> </a:t>
            </a:r>
            <a:r>
              <a:rPr sz="2400" spc="-75" dirty="0" err="1">
                <a:latin typeface="Lucida Sans Unicode"/>
                <a:cs typeface="Lucida Sans Unicode"/>
              </a:rPr>
              <a:t>une</a:t>
            </a:r>
            <a:r>
              <a:rPr lang="fr-FR" sz="2400" spc="-75" dirty="0">
                <a:latin typeface="Lucida Sans Unicode"/>
                <a:cs typeface="Lucida Sans Unicode"/>
              </a:rPr>
              <a:t> </a:t>
            </a:r>
            <a:r>
              <a:rPr sz="2400" spc="-75" dirty="0" err="1">
                <a:latin typeface="Lucida Sans Unicode"/>
                <a:cs typeface="Lucida Sans Unicode"/>
              </a:rPr>
              <a:t>classe</a:t>
            </a:r>
            <a:r>
              <a:rPr lang="fr-FR" sz="2400" spc="-75" dirty="0">
                <a:latin typeface="Lucida Sans Unicode"/>
                <a:cs typeface="Lucida Sans Unicode"/>
              </a:rPr>
              <a:t> </a:t>
            </a:r>
            <a:r>
              <a:rPr sz="2400" spc="-75" dirty="0" err="1">
                <a:latin typeface="Lucida Sans Unicode"/>
                <a:cs typeface="Lucida Sans Unicode"/>
              </a:rPr>
              <a:t>prédominante</a:t>
            </a:r>
            <a:r>
              <a:rPr lang="fr-FR" sz="2400" spc="-75" dirty="0">
                <a:latin typeface="Lucida Sans Unicode"/>
                <a:cs typeface="Lucida Sans Unicode"/>
              </a:rPr>
              <a:t> </a:t>
            </a:r>
            <a:r>
              <a:rPr sz="2400" spc="-75" dirty="0">
                <a:latin typeface="Lucida Sans Unicode"/>
                <a:cs typeface="Lucida Sans Unicode"/>
              </a:rPr>
              <a:t>sur</a:t>
            </a:r>
            <a:r>
              <a:rPr lang="fr-FR" sz="2400" spc="-75" dirty="0">
                <a:latin typeface="Lucida Sans Unicode"/>
                <a:cs typeface="Lucida Sans Unicode"/>
              </a:rPr>
              <a:t> </a:t>
            </a:r>
            <a:r>
              <a:rPr sz="2400" spc="-75" dirty="0" err="1">
                <a:latin typeface="Lucida Sans Unicode"/>
                <a:cs typeface="Lucida Sans Unicode"/>
              </a:rPr>
              <a:t>l'autre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30"/>
              </a:spcBef>
            </a:pPr>
            <a:r>
              <a:rPr sz="2400" spc="-105" dirty="0">
                <a:latin typeface="Lucida Sans Unicode"/>
                <a:cs typeface="Lucida Sans Unicode"/>
              </a:rPr>
              <a:t>Relation</a:t>
            </a:r>
            <a:r>
              <a:rPr lang="fr-FR" sz="2400" spc="-105" dirty="0">
                <a:latin typeface="Lucida Sans Unicode"/>
                <a:cs typeface="Lucida Sans Unicode"/>
              </a:rPr>
              <a:t> </a:t>
            </a:r>
            <a:r>
              <a:rPr sz="2400" spc="-105" dirty="0">
                <a:latin typeface="Lucida Sans Unicode"/>
                <a:cs typeface="Lucida Sans Unicode"/>
              </a:rPr>
              <a:t>de</a:t>
            </a:r>
            <a:r>
              <a:rPr lang="fr-FR" sz="2400" spc="-105" dirty="0">
                <a:latin typeface="Lucida Sans Unicode"/>
                <a:cs typeface="Lucida Sans Unicode"/>
              </a:rPr>
              <a:t> </a:t>
            </a:r>
            <a:r>
              <a:rPr sz="2400" spc="-105" dirty="0">
                <a:latin typeface="Lucida Sans Unicode"/>
                <a:cs typeface="Lucida Sans Unicode"/>
              </a:rPr>
              <a:t>type</a:t>
            </a:r>
            <a:r>
              <a:rPr lang="fr-FR" sz="2400" spc="-105" dirty="0">
                <a:latin typeface="Lucida Sans Unicode"/>
                <a:cs typeface="Lucida Sans Unicode"/>
              </a:rPr>
              <a:t> </a:t>
            </a:r>
            <a:r>
              <a:rPr sz="2400" spc="-10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composant</a:t>
            </a:r>
            <a:r>
              <a:rPr sz="2400" spc="-105" dirty="0">
                <a:solidFill>
                  <a:srgbClr val="569C1B"/>
                </a:solidFill>
                <a:latin typeface="Lucida Sans Unicode"/>
                <a:cs typeface="Lucida Sans Unicode"/>
              </a:rPr>
              <a:t>-composite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490" y="3044190"/>
            <a:ext cx="371220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Deux</a:t>
            </a:r>
            <a:r>
              <a:rPr lang="fr-FR"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types</a:t>
            </a:r>
            <a:r>
              <a:rPr lang="fr-FR" sz="2400" spc="-7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7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d'agrégation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9189" y="401701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188" y="3408679"/>
            <a:ext cx="3064511" cy="91050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4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400" spc="-60" dirty="0">
                <a:latin typeface="Lucida Sans Unicode"/>
                <a:cs typeface="Lucida Sans Unicode"/>
              </a:rPr>
              <a:t>Agrégation</a:t>
            </a:r>
            <a:r>
              <a:rPr lang="fr-FR" sz="2400" spc="-60" dirty="0">
                <a:latin typeface="Lucida Sans Unicode"/>
                <a:cs typeface="Lucida Sans Unicode"/>
              </a:rPr>
              <a:t> </a:t>
            </a:r>
            <a:r>
              <a:rPr sz="2400" spc="-60" dirty="0" err="1">
                <a:latin typeface="Lucida Sans Unicode"/>
                <a:cs typeface="Lucida Sans Unicode"/>
              </a:rPr>
              <a:t>faible</a:t>
            </a:r>
            <a:endParaRPr sz="24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sz="2400" spc="-110" dirty="0">
                <a:latin typeface="Lucida Sans Unicode"/>
                <a:cs typeface="Lucida Sans Unicode"/>
              </a:rPr>
              <a:t>Composition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100" y="4592636"/>
            <a:ext cx="9677400" cy="90922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400" u="sng" spc="-30" dirty="0">
                <a:latin typeface="Lucida Sans Unicode"/>
                <a:cs typeface="Lucida Sans Unicode"/>
              </a:rPr>
              <a:t>Exemple</a:t>
            </a:r>
            <a:endParaRPr sz="2400" u="sng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400" spc="-25" dirty="0" err="1">
                <a:latin typeface="Lucida Sans Unicode"/>
                <a:cs typeface="Lucida Sans Unicode"/>
              </a:rPr>
              <a:t>Lecteur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contenu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audio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permetant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créer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 err="1">
                <a:latin typeface="Lucida Sans Unicode"/>
                <a:cs typeface="Lucida Sans Unicode"/>
              </a:rPr>
              <a:t>listes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</a:t>
            </a:r>
            <a:r>
              <a:rPr lang="fr-FR" sz="2400" spc="-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lecture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800" y="6120129"/>
            <a:ext cx="180467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420"/>
              </a:spcBef>
            </a:pPr>
            <a:r>
              <a:rPr sz="1800" b="1" spc="95" dirty="0">
                <a:latin typeface="Arial"/>
                <a:cs typeface="Arial"/>
              </a:rPr>
              <a:t>Listedelecture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800" y="6492240"/>
            <a:ext cx="1728470" cy="144780"/>
          </a:xfrm>
          <a:custGeom>
            <a:avLst/>
            <a:gdLst/>
            <a:ahLst/>
            <a:cxnLst/>
            <a:rect l="l" t="t" r="r" b="b"/>
            <a:pathLst>
              <a:path w="1728470" h="144779">
                <a:moveTo>
                  <a:pt x="863600" y="72390"/>
                </a:moveTo>
                <a:lnTo>
                  <a:pt x="0" y="72390"/>
                </a:lnTo>
                <a:lnTo>
                  <a:pt x="0" y="0"/>
                </a:lnTo>
                <a:lnTo>
                  <a:pt x="1728470" y="0"/>
                </a:lnTo>
                <a:lnTo>
                  <a:pt x="1728470" y="72390"/>
                </a:lnTo>
                <a:lnTo>
                  <a:pt x="863600" y="72390"/>
                </a:lnTo>
                <a:close/>
              </a:path>
              <a:path w="1728470" h="144779">
                <a:moveTo>
                  <a:pt x="863600" y="144780"/>
                </a:moveTo>
                <a:lnTo>
                  <a:pt x="0" y="144780"/>
                </a:lnTo>
                <a:lnTo>
                  <a:pt x="0" y="72390"/>
                </a:lnTo>
                <a:lnTo>
                  <a:pt x="1728470" y="72390"/>
                </a:lnTo>
                <a:lnTo>
                  <a:pt x="1728470" y="144780"/>
                </a:lnTo>
                <a:lnTo>
                  <a:pt x="863600" y="1447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20540" y="6120129"/>
            <a:ext cx="143891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420"/>
              </a:spcBef>
            </a:pPr>
            <a:r>
              <a:rPr sz="1800" b="1" spc="70" dirty="0">
                <a:latin typeface="Arial"/>
                <a:cs typeface="Arial"/>
              </a:rPr>
              <a:t>Morceau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20540" y="6492240"/>
            <a:ext cx="1438910" cy="144780"/>
          </a:xfrm>
          <a:custGeom>
            <a:avLst/>
            <a:gdLst/>
            <a:ahLst/>
            <a:cxnLst/>
            <a:rect l="l" t="t" r="r" b="b"/>
            <a:pathLst>
              <a:path w="1438910" h="144779">
                <a:moveTo>
                  <a:pt x="720089" y="72390"/>
                </a:moveTo>
                <a:lnTo>
                  <a:pt x="0" y="7239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2390"/>
                </a:lnTo>
                <a:lnTo>
                  <a:pt x="720089" y="72390"/>
                </a:lnTo>
                <a:close/>
              </a:path>
              <a:path w="1438910" h="144779">
                <a:moveTo>
                  <a:pt x="720089" y="144780"/>
                </a:moveTo>
                <a:lnTo>
                  <a:pt x="0" y="144780"/>
                </a:lnTo>
                <a:lnTo>
                  <a:pt x="0" y="72390"/>
                </a:lnTo>
                <a:lnTo>
                  <a:pt x="1438910" y="72390"/>
                </a:lnTo>
                <a:lnTo>
                  <a:pt x="1438910" y="144780"/>
                </a:lnTo>
                <a:lnTo>
                  <a:pt x="720089" y="1447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919719" y="6120129"/>
            <a:ext cx="144018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420"/>
              </a:spcBef>
            </a:pPr>
            <a:r>
              <a:rPr sz="1800" b="1" spc="-5" dirty="0">
                <a:latin typeface="Arial"/>
                <a:cs typeface="Arial"/>
              </a:rPr>
              <a:t>Album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60270" y="6263640"/>
            <a:ext cx="2160270" cy="288290"/>
            <a:chOff x="2160270" y="6263640"/>
            <a:chExt cx="2160270" cy="288290"/>
          </a:xfrm>
        </p:grpSpPr>
        <p:sp>
          <p:nvSpPr>
            <p:cNvPr id="18" name="object 18"/>
            <p:cNvSpPr/>
            <p:nvPr/>
          </p:nvSpPr>
          <p:spPr>
            <a:xfrm>
              <a:off x="2160270" y="6263640"/>
              <a:ext cx="431800" cy="288290"/>
            </a:xfrm>
            <a:custGeom>
              <a:avLst/>
              <a:gdLst/>
              <a:ahLst/>
              <a:cxnLst/>
              <a:rect l="l" t="t" r="r" b="b"/>
              <a:pathLst>
                <a:path w="431800" h="288290">
                  <a:moveTo>
                    <a:pt x="215900" y="0"/>
                  </a:moveTo>
                  <a:lnTo>
                    <a:pt x="0" y="144780"/>
                  </a:lnTo>
                  <a:lnTo>
                    <a:pt x="215900" y="288290"/>
                  </a:lnTo>
                  <a:lnTo>
                    <a:pt x="431800" y="14478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60270" y="6263640"/>
              <a:ext cx="2160270" cy="288290"/>
            </a:xfrm>
            <a:custGeom>
              <a:avLst/>
              <a:gdLst/>
              <a:ahLst/>
              <a:cxnLst/>
              <a:rect l="l" t="t" r="r" b="b"/>
              <a:pathLst>
                <a:path w="2160270" h="288290">
                  <a:moveTo>
                    <a:pt x="215900" y="0"/>
                  </a:moveTo>
                  <a:lnTo>
                    <a:pt x="431800" y="144780"/>
                  </a:lnTo>
                  <a:lnTo>
                    <a:pt x="215900" y="288290"/>
                  </a:lnTo>
                  <a:lnTo>
                    <a:pt x="0" y="144780"/>
                  </a:lnTo>
                  <a:lnTo>
                    <a:pt x="215900" y="0"/>
                  </a:lnTo>
                  <a:close/>
                </a:path>
                <a:path w="2160270" h="288290">
                  <a:moveTo>
                    <a:pt x="0" y="0"/>
                  </a:moveTo>
                  <a:lnTo>
                    <a:pt x="0" y="0"/>
                  </a:lnTo>
                </a:path>
                <a:path w="2160270" h="288290">
                  <a:moveTo>
                    <a:pt x="431800" y="288290"/>
                  </a:moveTo>
                  <a:lnTo>
                    <a:pt x="431800" y="288290"/>
                  </a:lnTo>
                </a:path>
                <a:path w="2160270" h="288290">
                  <a:moveTo>
                    <a:pt x="431800" y="144780"/>
                  </a:moveTo>
                  <a:lnTo>
                    <a:pt x="2160270" y="1447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759450" y="6263640"/>
            <a:ext cx="3600450" cy="373380"/>
            <a:chOff x="5759450" y="6263640"/>
            <a:chExt cx="3600450" cy="373380"/>
          </a:xfrm>
        </p:grpSpPr>
        <p:sp>
          <p:nvSpPr>
            <p:cNvPr id="21" name="object 21"/>
            <p:cNvSpPr/>
            <p:nvPr/>
          </p:nvSpPr>
          <p:spPr>
            <a:xfrm>
              <a:off x="7919720" y="6492240"/>
              <a:ext cx="1440180" cy="144780"/>
            </a:xfrm>
            <a:custGeom>
              <a:avLst/>
              <a:gdLst/>
              <a:ahLst/>
              <a:cxnLst/>
              <a:rect l="l" t="t" r="r" b="b"/>
              <a:pathLst>
                <a:path w="1440179" h="144779">
                  <a:moveTo>
                    <a:pt x="720089" y="72390"/>
                  </a:moveTo>
                  <a:lnTo>
                    <a:pt x="0" y="72390"/>
                  </a:lnTo>
                  <a:lnTo>
                    <a:pt x="0" y="0"/>
                  </a:lnTo>
                  <a:lnTo>
                    <a:pt x="1440179" y="0"/>
                  </a:lnTo>
                  <a:lnTo>
                    <a:pt x="1440179" y="72390"/>
                  </a:lnTo>
                  <a:lnTo>
                    <a:pt x="720089" y="72390"/>
                  </a:lnTo>
                  <a:close/>
                </a:path>
                <a:path w="1440179" h="144779">
                  <a:moveTo>
                    <a:pt x="720089" y="144780"/>
                  </a:moveTo>
                  <a:lnTo>
                    <a:pt x="0" y="144780"/>
                  </a:lnTo>
                  <a:lnTo>
                    <a:pt x="0" y="72390"/>
                  </a:lnTo>
                  <a:lnTo>
                    <a:pt x="1440179" y="72390"/>
                  </a:lnTo>
                  <a:lnTo>
                    <a:pt x="1440179" y="144780"/>
                  </a:lnTo>
                  <a:lnTo>
                    <a:pt x="720089" y="1447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87920" y="6263640"/>
              <a:ext cx="433070" cy="288290"/>
            </a:xfrm>
            <a:custGeom>
              <a:avLst/>
              <a:gdLst/>
              <a:ahLst/>
              <a:cxnLst/>
              <a:rect l="l" t="t" r="r" b="b"/>
              <a:pathLst>
                <a:path w="433070" h="288290">
                  <a:moveTo>
                    <a:pt x="215900" y="0"/>
                  </a:moveTo>
                  <a:lnTo>
                    <a:pt x="0" y="144780"/>
                  </a:lnTo>
                  <a:lnTo>
                    <a:pt x="215900" y="288290"/>
                  </a:lnTo>
                  <a:lnTo>
                    <a:pt x="433070" y="14478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59450" y="6263640"/>
              <a:ext cx="2161540" cy="288290"/>
            </a:xfrm>
            <a:custGeom>
              <a:avLst/>
              <a:gdLst/>
              <a:ahLst/>
              <a:cxnLst/>
              <a:rect l="l" t="t" r="r" b="b"/>
              <a:pathLst>
                <a:path w="2161540" h="288290">
                  <a:moveTo>
                    <a:pt x="1944370" y="0"/>
                  </a:moveTo>
                  <a:lnTo>
                    <a:pt x="2161540" y="144780"/>
                  </a:lnTo>
                  <a:lnTo>
                    <a:pt x="1944370" y="288290"/>
                  </a:lnTo>
                  <a:lnTo>
                    <a:pt x="1728470" y="144780"/>
                  </a:lnTo>
                  <a:lnTo>
                    <a:pt x="1944370" y="0"/>
                  </a:lnTo>
                  <a:close/>
                </a:path>
                <a:path w="2161540" h="288290">
                  <a:moveTo>
                    <a:pt x="1728470" y="0"/>
                  </a:moveTo>
                  <a:lnTo>
                    <a:pt x="1728470" y="0"/>
                  </a:lnTo>
                </a:path>
                <a:path w="2161540" h="288290">
                  <a:moveTo>
                    <a:pt x="2161540" y="288290"/>
                  </a:moveTo>
                  <a:lnTo>
                    <a:pt x="2161540" y="288290"/>
                  </a:lnTo>
                </a:path>
                <a:path w="2161540" h="288290">
                  <a:moveTo>
                    <a:pt x="0" y="144780"/>
                  </a:moveTo>
                  <a:lnTo>
                    <a:pt x="1728470" y="1447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893820" y="6080759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Lucida Sans Unicode"/>
                <a:cs typeface="Lucida Sans Unicode"/>
              </a:rPr>
              <a:t>1</a:t>
            </a:r>
            <a:r>
              <a:rPr sz="1800" spc="-70" dirty="0">
                <a:latin typeface="Lucida Sans Unicode"/>
                <a:cs typeface="Lucida Sans Unicode"/>
              </a:rPr>
              <a:t>..</a:t>
            </a: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85050" y="608075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60" dirty="0"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4760" y="608075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0570" y="6088379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Lucida Sans Unicode"/>
                <a:cs typeface="Lucida Sans Unicode"/>
              </a:rPr>
              <a:t>1</a:t>
            </a:r>
            <a:r>
              <a:rPr sz="1800" spc="-70" dirty="0">
                <a:latin typeface="Lucida Sans Unicode"/>
                <a:cs typeface="Lucida Sans Unicode"/>
              </a:rPr>
              <a:t>.</a:t>
            </a:r>
            <a:r>
              <a:rPr sz="1800" spc="-65" dirty="0">
                <a:latin typeface="Lucida Sans Unicode"/>
                <a:cs typeface="Lucida Sans Unicode"/>
              </a:rPr>
              <a:t>.</a:t>
            </a: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21889" y="6624319"/>
            <a:ext cx="314325" cy="432434"/>
            <a:chOff x="2421889" y="6624319"/>
            <a:chExt cx="314325" cy="432434"/>
          </a:xfrm>
        </p:grpSpPr>
        <p:sp>
          <p:nvSpPr>
            <p:cNvPr id="29" name="object 29"/>
            <p:cNvSpPr/>
            <p:nvPr/>
          </p:nvSpPr>
          <p:spPr>
            <a:xfrm>
              <a:off x="2456179" y="6727189"/>
              <a:ext cx="279400" cy="328930"/>
            </a:xfrm>
            <a:custGeom>
              <a:avLst/>
              <a:gdLst/>
              <a:ahLst/>
              <a:cxnLst/>
              <a:rect l="l" t="t" r="r" b="b"/>
              <a:pathLst>
                <a:path w="279400" h="328929">
                  <a:moveTo>
                    <a:pt x="0" y="0"/>
                  </a:moveTo>
                  <a:lnTo>
                    <a:pt x="64015" y="165516"/>
                  </a:lnTo>
                  <a:lnTo>
                    <a:pt x="157797" y="265906"/>
                  </a:lnTo>
                  <a:lnTo>
                    <a:pt x="242530" y="315575"/>
                  </a:lnTo>
                  <a:lnTo>
                    <a:pt x="279400" y="3289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21889" y="6624319"/>
              <a:ext cx="71120" cy="110489"/>
            </a:xfrm>
            <a:custGeom>
              <a:avLst/>
              <a:gdLst/>
              <a:ahLst/>
              <a:cxnLst/>
              <a:rect l="l" t="t" r="r" b="b"/>
              <a:pathLst>
                <a:path w="71119" h="110490">
                  <a:moveTo>
                    <a:pt x="26670" y="0"/>
                  </a:moveTo>
                  <a:lnTo>
                    <a:pt x="0" y="110489"/>
                  </a:lnTo>
                  <a:lnTo>
                    <a:pt x="71120" y="104139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559675" y="6624319"/>
            <a:ext cx="210185" cy="432434"/>
            <a:chOff x="7559675" y="6624319"/>
            <a:chExt cx="210185" cy="432434"/>
          </a:xfrm>
        </p:grpSpPr>
        <p:sp>
          <p:nvSpPr>
            <p:cNvPr id="32" name="object 32"/>
            <p:cNvSpPr/>
            <p:nvPr/>
          </p:nvSpPr>
          <p:spPr>
            <a:xfrm>
              <a:off x="7560310" y="6727189"/>
              <a:ext cx="173990" cy="328930"/>
            </a:xfrm>
            <a:custGeom>
              <a:avLst/>
              <a:gdLst/>
              <a:ahLst/>
              <a:cxnLst/>
              <a:rect l="l" t="t" r="r" b="b"/>
              <a:pathLst>
                <a:path w="173990" h="328929">
                  <a:moveTo>
                    <a:pt x="173990" y="0"/>
                  </a:moveTo>
                  <a:lnTo>
                    <a:pt x="133945" y="165516"/>
                  </a:lnTo>
                  <a:lnTo>
                    <a:pt x="75564" y="265906"/>
                  </a:lnTo>
                  <a:lnTo>
                    <a:pt x="22899" y="315575"/>
                  </a:lnTo>
                  <a:lnTo>
                    <a:pt x="0" y="3289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97470" y="6624319"/>
              <a:ext cx="72390" cy="109220"/>
            </a:xfrm>
            <a:custGeom>
              <a:avLst/>
              <a:gdLst/>
              <a:ahLst/>
              <a:cxnLst/>
              <a:rect l="l" t="t" r="r" b="b"/>
              <a:pathLst>
                <a:path w="72390" h="109220">
                  <a:moveTo>
                    <a:pt x="41909" y="0"/>
                  </a:moveTo>
                  <a:lnTo>
                    <a:pt x="0" y="105409"/>
                  </a:lnTo>
                  <a:lnTo>
                    <a:pt x="72389" y="109219"/>
                  </a:lnTo>
                  <a:lnTo>
                    <a:pt x="4190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741929" y="6910069"/>
            <a:ext cx="173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35" dirty="0">
                <a:solidFill>
                  <a:srgbClr val="0083D0"/>
                </a:solidFill>
                <a:latin typeface="Arial"/>
                <a:cs typeface="Arial"/>
              </a:rPr>
              <a:t>agrégationfaible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41109" y="6916419"/>
            <a:ext cx="1283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95" dirty="0">
                <a:solidFill>
                  <a:srgbClr val="0083D0"/>
                </a:solidFill>
                <a:latin typeface="Arial"/>
                <a:cs typeface="Arial"/>
              </a:rPr>
              <a:t>c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-80" dirty="0">
                <a:solidFill>
                  <a:srgbClr val="0083D0"/>
                </a:solidFill>
                <a:latin typeface="Arial"/>
                <a:cs typeface="Arial"/>
              </a:rPr>
              <a:t>m</a:t>
            </a:r>
            <a:r>
              <a:rPr sz="1800" i="1" spc="-20" dirty="0">
                <a:solidFill>
                  <a:srgbClr val="0083D0"/>
                </a:solidFill>
                <a:latin typeface="Arial"/>
                <a:cs typeface="Arial"/>
              </a:rPr>
              <a:t>p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-220" dirty="0">
                <a:solidFill>
                  <a:srgbClr val="0083D0"/>
                </a:solidFill>
                <a:latin typeface="Arial"/>
                <a:cs typeface="Arial"/>
              </a:rPr>
              <a:t>s</a:t>
            </a:r>
            <a:r>
              <a:rPr sz="1800" i="1" spc="30" dirty="0">
                <a:solidFill>
                  <a:srgbClr val="0083D0"/>
                </a:solidFill>
                <a:latin typeface="Arial"/>
                <a:cs typeface="Arial"/>
              </a:rPr>
              <a:t>i</a:t>
            </a:r>
            <a:r>
              <a:rPr sz="1800" i="1" spc="140" dirty="0">
                <a:solidFill>
                  <a:srgbClr val="0083D0"/>
                </a:solidFill>
                <a:latin typeface="Arial"/>
                <a:cs typeface="Arial"/>
              </a:rPr>
              <a:t>t</a:t>
            </a:r>
            <a:r>
              <a:rPr sz="1800" i="1" spc="30" dirty="0">
                <a:solidFill>
                  <a:srgbClr val="0083D0"/>
                </a:solidFill>
                <a:latin typeface="Arial"/>
                <a:cs typeface="Arial"/>
              </a:rPr>
              <a:t>i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795" dirty="0">
                <a:solidFill>
                  <a:srgbClr val="0083D0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82759" y="7145019"/>
            <a:ext cx="293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5" dirty="0">
                <a:solidFill>
                  <a:srgbClr val="7F7F7F"/>
                </a:solidFill>
                <a:latin typeface="Lucida Sans Unicode"/>
                <a:cs typeface="Lucida Sans Unicode"/>
              </a:rPr>
              <a:t>3</a:t>
            </a:r>
            <a:r>
              <a:rPr sz="1400" spc="509" dirty="0">
                <a:solidFill>
                  <a:srgbClr val="7F7F7F"/>
                </a:solidFill>
                <a:latin typeface="Lucida Sans Unicode"/>
                <a:cs typeface="Lucida Sans Unicode"/>
              </a:rPr>
              <a:t>1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20720" y="384809"/>
            <a:ext cx="4640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>
                <a:solidFill>
                  <a:schemeClr val="tx1"/>
                </a:solidFill>
              </a:rPr>
              <a:t>Agrégation</a:t>
            </a:r>
            <a:r>
              <a:rPr lang="fr-FR" spc="-100" dirty="0">
                <a:solidFill>
                  <a:schemeClr val="tx1"/>
                </a:solidFill>
              </a:rPr>
              <a:t> </a:t>
            </a:r>
            <a:r>
              <a:rPr spc="-100" dirty="0" err="1">
                <a:solidFill>
                  <a:schemeClr val="tx1"/>
                </a:solidFill>
              </a:rPr>
              <a:t>faible</a:t>
            </a:r>
            <a:endParaRPr spc="-100" dirty="0">
              <a:solidFill>
                <a:schemeClr val="tx1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490" y="1258570"/>
            <a:ext cx="38982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Agrégation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par</a:t>
            </a:r>
            <a:r>
              <a:rPr lang="fr-FR" sz="2400" spc="-8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référence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9" y="312419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9189" y="1625599"/>
            <a:ext cx="8517890" cy="167379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200" spc="-50" dirty="0">
                <a:latin typeface="Lucida Sans Unicode"/>
                <a:cs typeface="Lucida Sans Unicode"/>
              </a:rPr>
              <a:t>Le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composite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fait</a:t>
            </a:r>
            <a:r>
              <a:rPr lang="fr-FR"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r</a:t>
            </a:r>
            <a:r>
              <a:rPr lang="fr-FR"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é</a:t>
            </a:r>
            <a:r>
              <a:rPr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f</a:t>
            </a:r>
            <a:r>
              <a:rPr lang="fr-FR"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é</a:t>
            </a:r>
            <a:r>
              <a:rPr sz="22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rence</a:t>
            </a:r>
            <a:r>
              <a:rPr lang="fr-FR"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à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latin typeface="Lucida Sans Unicode"/>
                <a:cs typeface="Lucida Sans Unicode"/>
              </a:rPr>
              <a:t>ses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latin typeface="Lucida Sans Unicode"/>
                <a:cs typeface="Lucida Sans Unicode"/>
              </a:rPr>
              <a:t>composants</a:t>
            </a:r>
            <a:endParaRPr sz="2200" dirty="0">
              <a:latin typeface="Lucida Sans Unicode"/>
              <a:cs typeface="Lucida Sans Unicode"/>
            </a:endParaRPr>
          </a:p>
          <a:p>
            <a:pPr marL="228600" marR="5080">
              <a:lnSpc>
                <a:spcPct val="121900"/>
              </a:lnSpc>
            </a:pPr>
            <a:r>
              <a:rPr sz="2200" spc="-50" dirty="0">
                <a:latin typeface="Lucida Sans Unicode"/>
                <a:cs typeface="Lucida Sans Unicode"/>
              </a:rPr>
              <a:t>La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latin typeface="Lucida Sans Unicode"/>
                <a:cs typeface="Lucida Sans Unicode"/>
              </a:rPr>
              <a:t>création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latin typeface="Lucida Sans Unicode"/>
                <a:cs typeface="Lucida Sans Unicode"/>
              </a:rPr>
              <a:t>ou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destruction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du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composite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latin typeface="Lucida Sans Unicode"/>
                <a:cs typeface="Lucida Sans Unicode"/>
              </a:rPr>
              <a:t>est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indépendante</a:t>
            </a:r>
            <a:r>
              <a:rPr lang="fr-FR" sz="2200" spc="-50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de</a:t>
            </a:r>
            <a:r>
              <a:rPr lang="fr-FR" sz="2200" spc="-5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la </a:t>
            </a:r>
            <a:r>
              <a:rPr sz="2200" spc="-745" dirty="0">
                <a:latin typeface="Lucida Sans Unicode"/>
                <a:cs typeface="Lucida Sans Unicode"/>
              </a:rPr>
              <a:t> </a:t>
            </a:r>
            <a:r>
              <a:rPr sz="2200" spc="-70" dirty="0" err="1">
                <a:latin typeface="Lucida Sans Unicode"/>
                <a:cs typeface="Lucida Sans Unicode"/>
              </a:rPr>
              <a:t>création</a:t>
            </a:r>
            <a:r>
              <a:rPr lang="fr-FR" sz="2200" spc="-70" dirty="0">
                <a:latin typeface="Lucida Sans Unicode"/>
                <a:cs typeface="Lucida Sans Unicode"/>
              </a:rPr>
              <a:t> </a:t>
            </a:r>
            <a:r>
              <a:rPr sz="2200" spc="-70" dirty="0" err="1">
                <a:latin typeface="Lucida Sans Unicode"/>
                <a:cs typeface="Lucida Sans Unicode"/>
              </a:rPr>
              <a:t>ou</a:t>
            </a:r>
            <a:r>
              <a:rPr lang="fr-FR" sz="2200" spc="-70" dirty="0">
                <a:latin typeface="Lucida Sans Unicode"/>
                <a:cs typeface="Lucida Sans Unicode"/>
              </a:rPr>
              <a:t> </a:t>
            </a:r>
            <a:r>
              <a:rPr sz="2200" spc="-70" dirty="0">
                <a:latin typeface="Lucida Sans Unicode"/>
                <a:cs typeface="Lucida Sans Unicode"/>
              </a:rPr>
              <a:t>destruction</a:t>
            </a:r>
            <a:r>
              <a:rPr lang="fr-FR" sz="2200" spc="-70" dirty="0">
                <a:latin typeface="Lucida Sans Unicode"/>
                <a:cs typeface="Lucida Sans Unicode"/>
              </a:rPr>
              <a:t> </a:t>
            </a:r>
            <a:r>
              <a:rPr sz="2200" spc="-70" dirty="0">
                <a:latin typeface="Lucida Sans Unicode"/>
                <a:cs typeface="Lucida Sans Unicode"/>
              </a:rPr>
              <a:t>de</a:t>
            </a:r>
            <a:r>
              <a:rPr lang="fr-FR" sz="2200" spc="-70" dirty="0">
                <a:latin typeface="Lucida Sans Unicode"/>
                <a:cs typeface="Lucida Sans Unicode"/>
              </a:rPr>
              <a:t> </a:t>
            </a:r>
            <a:r>
              <a:rPr sz="2200" spc="-70" dirty="0" err="1">
                <a:latin typeface="Lucida Sans Unicode"/>
                <a:cs typeface="Lucida Sans Unicode"/>
              </a:rPr>
              <a:t>ses</a:t>
            </a:r>
            <a:r>
              <a:rPr lang="fr-FR" sz="2200" spc="-70" dirty="0">
                <a:latin typeface="Lucida Sans Unicode"/>
                <a:cs typeface="Lucida Sans Unicode"/>
              </a:rPr>
              <a:t> </a:t>
            </a:r>
            <a:r>
              <a:rPr sz="2200" spc="-70" dirty="0" err="1">
                <a:latin typeface="Lucida Sans Unicode"/>
                <a:cs typeface="Lucida Sans Unicode"/>
              </a:rPr>
              <a:t>composants</a:t>
            </a:r>
            <a:endParaRPr sz="2200" dirty="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sz="2200" spc="-15" dirty="0">
                <a:latin typeface="Lucida Sans Unicode"/>
                <a:cs typeface="Lucida Sans Unicode"/>
              </a:rPr>
              <a:t>Un</a:t>
            </a:r>
            <a:r>
              <a:rPr lang="fr-FR" sz="2200" spc="-15" dirty="0">
                <a:latin typeface="Lucida Sans Unicode"/>
                <a:cs typeface="Lucida Sans Unicode"/>
              </a:rPr>
              <a:t> </a:t>
            </a:r>
            <a:r>
              <a:rPr sz="2200" spc="-15" dirty="0" err="1">
                <a:latin typeface="Lucida Sans Unicode"/>
                <a:cs typeface="Lucida Sans Unicode"/>
              </a:rPr>
              <a:t>objet</a:t>
            </a:r>
            <a:r>
              <a:rPr lang="fr-FR" sz="2200" spc="-15" dirty="0">
                <a:latin typeface="Lucida Sans Unicode"/>
                <a:cs typeface="Lucida Sans Unicode"/>
              </a:rPr>
              <a:t> </a:t>
            </a:r>
            <a:r>
              <a:rPr sz="2200" spc="-15" dirty="0" err="1">
                <a:latin typeface="Lucida Sans Unicode"/>
                <a:cs typeface="Lucida Sans Unicode"/>
              </a:rPr>
              <a:t>peut</a:t>
            </a:r>
            <a:r>
              <a:rPr lang="fr-FR" sz="2200" spc="-15" dirty="0">
                <a:latin typeface="Lucida Sans Unicode"/>
                <a:cs typeface="Lucida Sans Unicode"/>
              </a:rPr>
              <a:t> </a:t>
            </a:r>
            <a:r>
              <a:rPr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faire</a:t>
            </a:r>
            <a:r>
              <a:rPr lang="fr-FR"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partie</a:t>
            </a:r>
            <a:r>
              <a:rPr lang="fr-FR"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de</a:t>
            </a:r>
            <a:r>
              <a:rPr lang="fr-FR"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plusieurs</a:t>
            </a:r>
            <a:r>
              <a:rPr lang="fr-FR"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composites</a:t>
            </a:r>
            <a:r>
              <a:rPr lang="fr-FR" sz="2200" spc="-1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200" spc="-15" dirty="0">
                <a:latin typeface="Lucida Sans Unicode"/>
                <a:cs typeface="Lucida Sans Unicode"/>
              </a:rPr>
              <a:t>à</a:t>
            </a:r>
            <a:r>
              <a:rPr lang="fr-FR" sz="2200" spc="-15" dirty="0">
                <a:latin typeface="Lucida Sans Unicode"/>
                <a:cs typeface="Lucida Sans Unicode"/>
              </a:rPr>
              <a:t> </a:t>
            </a:r>
            <a:r>
              <a:rPr sz="2200" spc="-15" dirty="0">
                <a:latin typeface="Lucida Sans Unicode"/>
                <a:cs typeface="Lucida Sans Unicode"/>
              </a:rPr>
              <a:t>la</a:t>
            </a:r>
            <a:r>
              <a:rPr lang="fr-FR" sz="2200" spc="-15" dirty="0">
                <a:latin typeface="Lucida Sans Unicode"/>
                <a:cs typeface="Lucida Sans Unicode"/>
              </a:rPr>
              <a:t> </a:t>
            </a:r>
            <a:r>
              <a:rPr sz="2200" spc="-15" dirty="0" err="1">
                <a:latin typeface="Lucida Sans Unicode"/>
                <a:cs typeface="Lucida Sans Unicode"/>
              </a:rPr>
              <a:t>fois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490" y="3937000"/>
            <a:ext cx="1259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125" dirty="0">
                <a:latin typeface="Lucida Sans Unicode"/>
                <a:cs typeface="Lucida Sans Unicode"/>
              </a:rPr>
              <a:t>E</a:t>
            </a:r>
            <a:r>
              <a:rPr sz="2400" u="sng" spc="-380" dirty="0">
                <a:latin typeface="Lucida Sans Unicode"/>
                <a:cs typeface="Lucida Sans Unicode"/>
              </a:rPr>
              <a:t>x</a:t>
            </a:r>
            <a:r>
              <a:rPr sz="2400" u="sng" spc="-275" dirty="0">
                <a:latin typeface="Lucida Sans Unicode"/>
                <a:cs typeface="Lucida Sans Unicode"/>
              </a:rPr>
              <a:t>e</a:t>
            </a:r>
            <a:r>
              <a:rPr sz="2400" u="sng" spc="-340" dirty="0">
                <a:latin typeface="Lucida Sans Unicode"/>
                <a:cs typeface="Lucida Sans Unicode"/>
              </a:rPr>
              <a:t>m</a:t>
            </a:r>
            <a:r>
              <a:rPr sz="2400" u="sng" spc="-290" dirty="0">
                <a:latin typeface="Lucida Sans Unicode"/>
                <a:cs typeface="Lucida Sans Unicode"/>
              </a:rPr>
              <a:t>p</a:t>
            </a:r>
            <a:r>
              <a:rPr sz="2400" u="sng" spc="-120" dirty="0">
                <a:latin typeface="Lucida Sans Unicode"/>
                <a:cs typeface="Lucida Sans Unicode"/>
              </a:rPr>
              <a:t>l</a:t>
            </a:r>
            <a:r>
              <a:rPr sz="2400" u="sng" spc="1060" dirty="0">
                <a:latin typeface="Lucida Sans Unicode"/>
                <a:cs typeface="Lucida Sans Unicode"/>
              </a:rPr>
              <a:t>e</a:t>
            </a:r>
            <a:endParaRPr sz="2400" u="sng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189" y="490982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9189" y="535686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6489" y="4301490"/>
            <a:ext cx="8944611" cy="124098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4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200" spc="-60" dirty="0">
                <a:latin typeface="Lucida Sans Unicode"/>
                <a:cs typeface="Lucida Sans Unicode"/>
              </a:rPr>
              <a:t>Une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liste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de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lecture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est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composée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d'un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ensemble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de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morceaux</a:t>
            </a:r>
            <a:endParaRPr sz="2200" dirty="0">
              <a:latin typeface="Lucida Sans Unicode"/>
              <a:cs typeface="Lucida Sans Unicode"/>
            </a:endParaRPr>
          </a:p>
          <a:p>
            <a:pPr marL="228600" marR="777240">
              <a:lnSpc>
                <a:spcPct val="121900"/>
              </a:lnSpc>
              <a:spcBef>
                <a:spcPts val="10"/>
              </a:spcBef>
            </a:pPr>
            <a:r>
              <a:rPr sz="2200" spc="-20" dirty="0">
                <a:latin typeface="Lucida Sans Unicode"/>
                <a:cs typeface="Lucida Sans Unicode"/>
              </a:rPr>
              <a:t>Un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morceau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 err="1">
                <a:latin typeface="Lucida Sans Unicode"/>
                <a:cs typeface="Lucida Sans Unicode"/>
              </a:rPr>
              <a:t>peut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 err="1">
                <a:latin typeface="Lucida Sans Unicode"/>
                <a:cs typeface="Lucida Sans Unicode"/>
              </a:rPr>
              <a:t>apartenir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à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 err="1">
                <a:latin typeface="Lucida Sans Unicode"/>
                <a:cs typeface="Lucida Sans Unicode"/>
              </a:rPr>
              <a:t>plusieurs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 err="1">
                <a:latin typeface="Lucida Sans Unicode"/>
                <a:cs typeface="Lucida Sans Unicode"/>
              </a:rPr>
              <a:t>listes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de</a:t>
            </a:r>
            <a:r>
              <a:rPr lang="fr-FR" sz="2200" spc="-2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lecture </a:t>
            </a:r>
            <a:r>
              <a:rPr sz="2200" spc="-745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Supprimer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la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liste</a:t>
            </a:r>
            <a:r>
              <a:rPr lang="fr-FR" sz="2200" spc="-60" dirty="0">
                <a:latin typeface="Lucida Sans Unicode"/>
                <a:cs typeface="Lucida Sans Unicode"/>
              </a:rPr>
              <a:t>  </a:t>
            </a:r>
            <a:r>
              <a:rPr sz="2200" spc="-60" dirty="0">
                <a:latin typeface="Lucida Sans Unicode"/>
                <a:cs typeface="Lucida Sans Unicode"/>
              </a:rPr>
              <a:t>ne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 err="1">
                <a:latin typeface="Lucida Sans Unicode"/>
                <a:cs typeface="Lucida Sans Unicode"/>
              </a:rPr>
              <a:t>supprime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pas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les</a:t>
            </a:r>
            <a:r>
              <a:rPr lang="fr-FR" sz="2200" spc="-60" dirty="0">
                <a:latin typeface="Lucida Sans Unicode"/>
                <a:cs typeface="Lucida Sans Unicode"/>
              </a:rPr>
              <a:t> </a:t>
            </a:r>
            <a:r>
              <a:rPr sz="2200" spc="-60" dirty="0">
                <a:latin typeface="Lucida Sans Unicode"/>
                <a:cs typeface="Lucida Sans Unicode"/>
              </a:rPr>
              <a:t>morceaux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0540" y="6120129"/>
            <a:ext cx="143891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420"/>
              </a:spcBef>
            </a:pPr>
            <a:r>
              <a:rPr sz="1800" b="1" spc="70" dirty="0">
                <a:latin typeface="Arial"/>
                <a:cs typeface="Arial"/>
              </a:rPr>
              <a:t>Morceau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20540" y="6492240"/>
            <a:ext cx="1438910" cy="144780"/>
          </a:xfrm>
          <a:custGeom>
            <a:avLst/>
            <a:gdLst/>
            <a:ahLst/>
            <a:cxnLst/>
            <a:rect l="l" t="t" r="r" b="b"/>
            <a:pathLst>
              <a:path w="1438910" h="144779">
                <a:moveTo>
                  <a:pt x="720089" y="72390"/>
                </a:moveTo>
                <a:lnTo>
                  <a:pt x="0" y="7239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2390"/>
                </a:lnTo>
                <a:lnTo>
                  <a:pt x="720089" y="72390"/>
                </a:lnTo>
                <a:close/>
              </a:path>
              <a:path w="1438910" h="144779">
                <a:moveTo>
                  <a:pt x="720089" y="144780"/>
                </a:moveTo>
                <a:lnTo>
                  <a:pt x="0" y="144780"/>
                </a:lnTo>
                <a:lnTo>
                  <a:pt x="0" y="72390"/>
                </a:lnTo>
                <a:lnTo>
                  <a:pt x="1438910" y="72390"/>
                </a:lnTo>
                <a:lnTo>
                  <a:pt x="1438910" y="144780"/>
                </a:lnTo>
                <a:lnTo>
                  <a:pt x="720089" y="1447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60270" y="6263640"/>
            <a:ext cx="2160270" cy="288290"/>
          </a:xfrm>
          <a:custGeom>
            <a:avLst/>
            <a:gdLst/>
            <a:ahLst/>
            <a:cxnLst/>
            <a:rect l="l" t="t" r="r" b="b"/>
            <a:pathLst>
              <a:path w="2160270" h="288290">
                <a:moveTo>
                  <a:pt x="215900" y="0"/>
                </a:moveTo>
                <a:lnTo>
                  <a:pt x="431800" y="144780"/>
                </a:lnTo>
                <a:lnTo>
                  <a:pt x="215900" y="288290"/>
                </a:lnTo>
                <a:lnTo>
                  <a:pt x="0" y="144780"/>
                </a:lnTo>
                <a:lnTo>
                  <a:pt x="215900" y="0"/>
                </a:lnTo>
                <a:close/>
              </a:path>
              <a:path w="2160270" h="288290">
                <a:moveTo>
                  <a:pt x="0" y="0"/>
                </a:moveTo>
                <a:lnTo>
                  <a:pt x="0" y="0"/>
                </a:lnTo>
              </a:path>
              <a:path w="2160270" h="288290">
                <a:moveTo>
                  <a:pt x="431800" y="288290"/>
                </a:moveTo>
                <a:lnTo>
                  <a:pt x="431800" y="288290"/>
                </a:lnTo>
              </a:path>
              <a:path w="2160270" h="288290">
                <a:moveTo>
                  <a:pt x="431800" y="144780"/>
                </a:moveTo>
                <a:lnTo>
                  <a:pt x="2160270" y="14478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93820" y="6080759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Lucida Sans Unicode"/>
                <a:cs typeface="Lucida Sans Unicode"/>
              </a:rPr>
              <a:t>1</a:t>
            </a:r>
            <a:r>
              <a:rPr sz="1800" spc="-70" dirty="0">
                <a:latin typeface="Lucida Sans Unicode"/>
                <a:cs typeface="Lucida Sans Unicode"/>
              </a:rPr>
              <a:t>..</a:t>
            </a: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24760" y="608075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21889" y="6624319"/>
            <a:ext cx="314325" cy="432434"/>
            <a:chOff x="2421889" y="6624319"/>
            <a:chExt cx="314325" cy="432434"/>
          </a:xfrm>
        </p:grpSpPr>
        <p:sp>
          <p:nvSpPr>
            <p:cNvPr id="19" name="object 19"/>
            <p:cNvSpPr/>
            <p:nvPr/>
          </p:nvSpPr>
          <p:spPr>
            <a:xfrm>
              <a:off x="2456179" y="6727189"/>
              <a:ext cx="279400" cy="328930"/>
            </a:xfrm>
            <a:custGeom>
              <a:avLst/>
              <a:gdLst/>
              <a:ahLst/>
              <a:cxnLst/>
              <a:rect l="l" t="t" r="r" b="b"/>
              <a:pathLst>
                <a:path w="279400" h="328929">
                  <a:moveTo>
                    <a:pt x="0" y="0"/>
                  </a:moveTo>
                  <a:lnTo>
                    <a:pt x="64015" y="165516"/>
                  </a:lnTo>
                  <a:lnTo>
                    <a:pt x="157797" y="265906"/>
                  </a:lnTo>
                  <a:lnTo>
                    <a:pt x="242530" y="315575"/>
                  </a:lnTo>
                  <a:lnTo>
                    <a:pt x="279400" y="3289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21889" y="6624319"/>
              <a:ext cx="71120" cy="110489"/>
            </a:xfrm>
            <a:custGeom>
              <a:avLst/>
              <a:gdLst/>
              <a:ahLst/>
              <a:cxnLst/>
              <a:rect l="l" t="t" r="r" b="b"/>
              <a:pathLst>
                <a:path w="71119" h="110490">
                  <a:moveTo>
                    <a:pt x="26670" y="0"/>
                  </a:moveTo>
                  <a:lnTo>
                    <a:pt x="0" y="110489"/>
                  </a:lnTo>
                  <a:lnTo>
                    <a:pt x="71120" y="104139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41929" y="6910069"/>
            <a:ext cx="2160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A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grégation</a:t>
            </a:r>
            <a:r>
              <a:rPr lang="fr-FR" sz="1800" i="1" dirty="0">
                <a:solidFill>
                  <a:srgbClr val="0083D0"/>
                </a:solidFill>
                <a:latin typeface="Arial"/>
                <a:cs typeface="Arial"/>
              </a:rPr>
              <a:t> </a:t>
            </a:r>
            <a:r>
              <a:rPr sz="1800" i="1" dirty="0" err="1">
                <a:solidFill>
                  <a:srgbClr val="0083D0"/>
                </a:solidFill>
                <a:latin typeface="Arial"/>
                <a:cs typeface="Arial"/>
              </a:rPr>
              <a:t>faible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800" y="6120129"/>
            <a:ext cx="1804670" cy="373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420"/>
              </a:spcBef>
            </a:pPr>
            <a:r>
              <a:rPr sz="1800" b="1" spc="95" dirty="0">
                <a:latin typeface="Arial"/>
                <a:cs typeface="Arial"/>
              </a:rPr>
              <a:t>Listedelecture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1800" y="6493509"/>
            <a:ext cx="1728470" cy="143510"/>
          </a:xfrm>
          <a:custGeom>
            <a:avLst/>
            <a:gdLst/>
            <a:ahLst/>
            <a:cxnLst/>
            <a:rect l="l" t="t" r="r" b="b"/>
            <a:pathLst>
              <a:path w="1728470" h="143509">
                <a:moveTo>
                  <a:pt x="863600" y="71119"/>
                </a:moveTo>
                <a:lnTo>
                  <a:pt x="0" y="71119"/>
                </a:lnTo>
                <a:lnTo>
                  <a:pt x="0" y="0"/>
                </a:lnTo>
                <a:lnTo>
                  <a:pt x="1728470" y="0"/>
                </a:lnTo>
                <a:lnTo>
                  <a:pt x="1728470" y="71119"/>
                </a:lnTo>
                <a:lnTo>
                  <a:pt x="863600" y="71119"/>
                </a:lnTo>
                <a:close/>
              </a:path>
              <a:path w="1728470" h="143509">
                <a:moveTo>
                  <a:pt x="863600" y="143509"/>
                </a:moveTo>
                <a:lnTo>
                  <a:pt x="0" y="143509"/>
                </a:lnTo>
                <a:lnTo>
                  <a:pt x="0" y="71119"/>
                </a:lnTo>
                <a:lnTo>
                  <a:pt x="1728470" y="71119"/>
                </a:lnTo>
                <a:lnTo>
                  <a:pt x="1728470" y="143509"/>
                </a:lnTo>
                <a:lnTo>
                  <a:pt x="863600" y="14350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82759" y="7145019"/>
            <a:ext cx="293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85" dirty="0">
                <a:solidFill>
                  <a:srgbClr val="7F7F7F"/>
                </a:solidFill>
                <a:latin typeface="Lucida Sans Unicode"/>
                <a:cs typeface="Lucida Sans Unicode"/>
              </a:rPr>
              <a:t>3</a:t>
            </a:r>
            <a:r>
              <a:rPr sz="1400" spc="509" dirty="0">
                <a:solidFill>
                  <a:srgbClr val="7F7F7F"/>
                </a:solidFill>
                <a:latin typeface="Lucida Sans Unicode"/>
                <a:cs typeface="Lucida Sans Unicode"/>
              </a:rPr>
              <a:t>2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02050" y="384809"/>
            <a:ext cx="29197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>
                <a:solidFill>
                  <a:schemeClr val="tx1"/>
                </a:solidFill>
              </a:rPr>
              <a:t>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1490" y="1258569"/>
            <a:ext cx="40932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Agrégation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par</a:t>
            </a:r>
            <a:r>
              <a:rPr lang="fr-FR" sz="2400" spc="-35" dirty="0">
                <a:solidFill>
                  <a:srgbClr val="569C1B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 err="1">
                <a:solidFill>
                  <a:srgbClr val="569C1B"/>
                </a:solidFill>
                <a:latin typeface="Lucida Sans Unicode"/>
                <a:cs typeface="Lucida Sans Unicode"/>
              </a:rPr>
              <a:t>valeur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189" y="223138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9" y="312419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139189" y="1625599"/>
            <a:ext cx="8507095" cy="167379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3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200" spc="-70" dirty="0"/>
              <a:t>Le</a:t>
            </a:r>
            <a:r>
              <a:rPr lang="fr-FR" sz="2200" spc="-70" dirty="0"/>
              <a:t> </a:t>
            </a:r>
            <a:r>
              <a:rPr sz="2200" spc="-70" dirty="0"/>
              <a:t>composite</a:t>
            </a:r>
            <a:r>
              <a:rPr lang="fr-FR" sz="2200" spc="-70" dirty="0"/>
              <a:t> </a:t>
            </a:r>
            <a:r>
              <a:rPr sz="2200" spc="-70" dirty="0" err="1">
                <a:solidFill>
                  <a:srgbClr val="569C1B"/>
                </a:solidFill>
              </a:rPr>
              <a:t>contient</a:t>
            </a:r>
            <a:r>
              <a:rPr lang="fr-FR" sz="2200" spc="-70" dirty="0">
                <a:solidFill>
                  <a:srgbClr val="569C1B"/>
                </a:solidFill>
              </a:rPr>
              <a:t> </a:t>
            </a:r>
            <a:r>
              <a:rPr sz="2200" spc="-70" dirty="0" err="1"/>
              <a:t>ses</a:t>
            </a:r>
            <a:r>
              <a:rPr lang="fr-FR" sz="2200" spc="-70" dirty="0"/>
              <a:t> </a:t>
            </a:r>
            <a:r>
              <a:rPr sz="2200" spc="-70" dirty="0" err="1"/>
              <a:t>composants</a:t>
            </a:r>
            <a:endParaRPr sz="2200" dirty="0"/>
          </a:p>
          <a:p>
            <a:pPr marL="228600" marR="5080">
              <a:lnSpc>
                <a:spcPct val="121900"/>
              </a:lnSpc>
            </a:pPr>
            <a:r>
              <a:rPr sz="2200" spc="-45" dirty="0"/>
              <a:t>La</a:t>
            </a:r>
            <a:r>
              <a:rPr lang="fr-FR" sz="2200" spc="-45" dirty="0"/>
              <a:t> </a:t>
            </a:r>
            <a:r>
              <a:rPr sz="2200" spc="-45" dirty="0" err="1"/>
              <a:t>création</a:t>
            </a:r>
            <a:r>
              <a:rPr lang="fr-FR" sz="2200" spc="-45" dirty="0"/>
              <a:t> </a:t>
            </a:r>
            <a:r>
              <a:rPr sz="2200" spc="-45" dirty="0" err="1"/>
              <a:t>ou</a:t>
            </a:r>
            <a:r>
              <a:rPr lang="fr-FR" sz="2200" spc="-45" dirty="0"/>
              <a:t> </a:t>
            </a:r>
            <a:r>
              <a:rPr sz="2200" spc="-45" dirty="0"/>
              <a:t>destruction</a:t>
            </a:r>
            <a:r>
              <a:rPr lang="fr-FR" sz="2200" spc="-45" dirty="0"/>
              <a:t> </a:t>
            </a:r>
            <a:r>
              <a:rPr sz="2200" spc="-45" dirty="0"/>
              <a:t>du</a:t>
            </a:r>
            <a:r>
              <a:rPr lang="fr-FR" sz="2200" spc="-45" dirty="0"/>
              <a:t> </a:t>
            </a:r>
            <a:r>
              <a:rPr sz="2200" spc="-45" dirty="0"/>
              <a:t>composite</a:t>
            </a:r>
            <a:r>
              <a:rPr lang="fr-FR" sz="2200" spc="-45" dirty="0"/>
              <a:t> </a:t>
            </a:r>
            <a:r>
              <a:rPr sz="2200" spc="-45" dirty="0" err="1">
                <a:solidFill>
                  <a:srgbClr val="569C1B"/>
                </a:solidFill>
              </a:rPr>
              <a:t>entraîne</a:t>
            </a:r>
            <a:r>
              <a:rPr lang="fr-FR" sz="2200" spc="-45" dirty="0">
                <a:solidFill>
                  <a:srgbClr val="569C1B"/>
                </a:solidFill>
              </a:rPr>
              <a:t> </a:t>
            </a:r>
            <a:r>
              <a:rPr sz="2200" spc="-45" dirty="0"/>
              <a:t>la</a:t>
            </a:r>
            <a:r>
              <a:rPr lang="fr-FR" sz="2200" spc="-45" dirty="0"/>
              <a:t> </a:t>
            </a:r>
            <a:r>
              <a:rPr sz="2200" spc="-45" dirty="0" err="1"/>
              <a:t>création</a:t>
            </a:r>
            <a:r>
              <a:rPr lang="fr-FR" sz="2200" spc="-45" dirty="0"/>
              <a:t> </a:t>
            </a:r>
            <a:r>
              <a:rPr sz="2200" spc="-45" dirty="0" err="1"/>
              <a:t>ou</a:t>
            </a:r>
            <a:r>
              <a:rPr sz="2200" spc="-45" dirty="0"/>
              <a:t> </a:t>
            </a:r>
            <a:r>
              <a:rPr sz="2200" spc="-745" dirty="0"/>
              <a:t> </a:t>
            </a:r>
            <a:r>
              <a:rPr sz="2200" spc="-80" dirty="0"/>
              <a:t>destruction</a:t>
            </a:r>
            <a:r>
              <a:rPr lang="fr-FR" sz="2200" spc="-80" dirty="0"/>
              <a:t> </a:t>
            </a:r>
            <a:r>
              <a:rPr sz="2200" spc="-80" dirty="0"/>
              <a:t>de</a:t>
            </a:r>
            <a:r>
              <a:rPr lang="fr-FR" sz="2200" spc="-80" dirty="0"/>
              <a:t> </a:t>
            </a:r>
            <a:r>
              <a:rPr sz="2200" spc="-80" dirty="0" err="1"/>
              <a:t>ses</a:t>
            </a:r>
            <a:r>
              <a:rPr lang="fr-FR" sz="2200" spc="-80" dirty="0"/>
              <a:t> </a:t>
            </a:r>
            <a:r>
              <a:rPr sz="2200" spc="-80" dirty="0" err="1"/>
              <a:t>composants</a:t>
            </a:r>
            <a:endParaRPr sz="2200" spc="-80" dirty="0"/>
          </a:p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sz="2200" spc="30" dirty="0"/>
              <a:t>Un</a:t>
            </a:r>
            <a:r>
              <a:rPr lang="fr-FR" sz="2200" spc="30" dirty="0"/>
              <a:t> </a:t>
            </a:r>
            <a:r>
              <a:rPr sz="2200" spc="30" dirty="0" err="1"/>
              <a:t>objet</a:t>
            </a:r>
            <a:r>
              <a:rPr lang="fr-FR" sz="2200" spc="30" dirty="0"/>
              <a:t> </a:t>
            </a:r>
            <a:r>
              <a:rPr sz="2200" spc="30" dirty="0"/>
              <a:t>ne</a:t>
            </a:r>
            <a:r>
              <a:rPr lang="fr-FR" sz="2200" spc="30" dirty="0"/>
              <a:t> </a:t>
            </a:r>
            <a:r>
              <a:rPr sz="2200" spc="30" dirty="0">
                <a:solidFill>
                  <a:srgbClr val="569C1B"/>
                </a:solidFill>
              </a:rPr>
              <a:t>fait</a:t>
            </a:r>
            <a:r>
              <a:rPr lang="fr-FR" sz="2200" spc="30" dirty="0">
                <a:solidFill>
                  <a:srgbClr val="569C1B"/>
                </a:solidFill>
              </a:rPr>
              <a:t> </a:t>
            </a:r>
            <a:r>
              <a:rPr sz="2200" spc="30" dirty="0" err="1">
                <a:solidFill>
                  <a:srgbClr val="569C1B"/>
                </a:solidFill>
              </a:rPr>
              <a:t>partie</a:t>
            </a:r>
            <a:r>
              <a:rPr lang="fr-FR" sz="2200" spc="30" dirty="0">
                <a:solidFill>
                  <a:srgbClr val="569C1B"/>
                </a:solidFill>
              </a:rPr>
              <a:t> </a:t>
            </a:r>
            <a:r>
              <a:rPr sz="2200" spc="30" dirty="0">
                <a:solidFill>
                  <a:srgbClr val="569C1B"/>
                </a:solidFill>
              </a:rPr>
              <a:t>que</a:t>
            </a:r>
            <a:r>
              <a:rPr lang="fr-FR" sz="2200" spc="30" dirty="0">
                <a:solidFill>
                  <a:srgbClr val="569C1B"/>
                </a:solidFill>
              </a:rPr>
              <a:t> </a:t>
            </a:r>
            <a:r>
              <a:rPr sz="2200" spc="30" dirty="0">
                <a:solidFill>
                  <a:srgbClr val="569C1B"/>
                </a:solidFill>
              </a:rPr>
              <a:t>d'un</a:t>
            </a:r>
            <a:r>
              <a:rPr lang="fr-FR" sz="2200" spc="30" dirty="0">
                <a:solidFill>
                  <a:srgbClr val="569C1B"/>
                </a:solidFill>
              </a:rPr>
              <a:t> </a:t>
            </a:r>
            <a:r>
              <a:rPr sz="2200" spc="30" dirty="0">
                <a:solidFill>
                  <a:srgbClr val="569C1B"/>
                </a:solidFill>
              </a:rPr>
              <a:t>composite</a:t>
            </a:r>
            <a:r>
              <a:rPr lang="fr-FR" sz="2200" spc="30" dirty="0">
                <a:solidFill>
                  <a:srgbClr val="569C1B"/>
                </a:solidFill>
              </a:rPr>
              <a:t> </a:t>
            </a:r>
            <a:r>
              <a:rPr sz="2200" spc="30" dirty="0"/>
              <a:t>à</a:t>
            </a:r>
            <a:r>
              <a:rPr lang="fr-FR" sz="2200" spc="30" dirty="0"/>
              <a:t> </a:t>
            </a:r>
            <a:r>
              <a:rPr sz="2200" spc="30" dirty="0"/>
              <a:t>la</a:t>
            </a:r>
            <a:r>
              <a:rPr lang="fr-FR" sz="2200" spc="30" dirty="0"/>
              <a:t> </a:t>
            </a:r>
            <a:r>
              <a:rPr sz="2200" spc="30" dirty="0" err="1"/>
              <a:t>fois</a:t>
            </a:r>
            <a:endParaRPr sz="2200" spc="30" dirty="0"/>
          </a:p>
        </p:txBody>
      </p:sp>
      <p:sp>
        <p:nvSpPr>
          <p:cNvPr id="9" name="object 9"/>
          <p:cNvSpPr txBox="1"/>
          <p:nvPr/>
        </p:nvSpPr>
        <p:spPr>
          <a:xfrm>
            <a:off x="491490" y="3937000"/>
            <a:ext cx="1259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125" dirty="0">
                <a:latin typeface="Lucida Sans Unicode"/>
                <a:cs typeface="Lucida Sans Unicode"/>
              </a:rPr>
              <a:t>E</a:t>
            </a:r>
            <a:r>
              <a:rPr sz="2400" u="sng" spc="-380" dirty="0">
                <a:latin typeface="Lucida Sans Unicode"/>
                <a:cs typeface="Lucida Sans Unicode"/>
              </a:rPr>
              <a:t>x</a:t>
            </a:r>
            <a:r>
              <a:rPr sz="2400" u="sng" spc="-275" dirty="0">
                <a:latin typeface="Lucida Sans Unicode"/>
                <a:cs typeface="Lucida Sans Unicode"/>
              </a:rPr>
              <a:t>e</a:t>
            </a:r>
            <a:r>
              <a:rPr sz="2400" u="sng" spc="-340" dirty="0">
                <a:latin typeface="Lucida Sans Unicode"/>
                <a:cs typeface="Lucida Sans Unicode"/>
              </a:rPr>
              <a:t>m</a:t>
            </a:r>
            <a:r>
              <a:rPr sz="2400" u="sng" spc="-290" dirty="0">
                <a:latin typeface="Lucida Sans Unicode"/>
                <a:cs typeface="Lucida Sans Unicode"/>
              </a:rPr>
              <a:t>p</a:t>
            </a:r>
            <a:r>
              <a:rPr sz="2400" u="sng" spc="-120" dirty="0">
                <a:latin typeface="Lucida Sans Unicode"/>
                <a:cs typeface="Lucida Sans Unicode"/>
              </a:rPr>
              <a:t>l</a:t>
            </a:r>
            <a:r>
              <a:rPr sz="2400" u="sng" spc="1060" dirty="0">
                <a:latin typeface="Lucida Sans Unicode"/>
                <a:cs typeface="Lucida Sans Unicode"/>
              </a:rPr>
              <a:t>e</a:t>
            </a:r>
            <a:endParaRPr sz="2400" u="sng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189" y="490982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latin typeface="Trebuchet MS"/>
                <a:cs typeface="Trebuchet MS"/>
              </a:rPr>
              <a:t>●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9189" y="4301490"/>
            <a:ext cx="8188959" cy="124098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740"/>
              </a:spcBef>
              <a:buSzPct val="43750"/>
              <a:buFont typeface="Trebuchet MS"/>
              <a:buChar char="●"/>
              <a:tabLst>
                <a:tab pos="228600" algn="l"/>
              </a:tabLst>
            </a:pPr>
            <a:r>
              <a:rPr sz="2200" spc="-10" dirty="0">
                <a:latin typeface="Lucida Sans Unicode"/>
                <a:cs typeface="Lucida Sans Unicode"/>
              </a:rPr>
              <a:t>Un</a:t>
            </a:r>
            <a:r>
              <a:rPr lang="fr-FR" sz="2200" spc="-1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morceau</a:t>
            </a:r>
            <a:r>
              <a:rPr lang="fr-FR" sz="2200" spc="-10" dirty="0">
                <a:latin typeface="Lucida Sans Unicode"/>
                <a:cs typeface="Lucida Sans Unicode"/>
              </a:rPr>
              <a:t> </a:t>
            </a:r>
            <a:r>
              <a:rPr sz="2200" spc="-10" dirty="0" err="1">
                <a:latin typeface="Lucida Sans Unicode"/>
                <a:cs typeface="Lucida Sans Unicode"/>
              </a:rPr>
              <a:t>n'apartient</a:t>
            </a:r>
            <a:r>
              <a:rPr lang="fr-FR" sz="2200" spc="-10" dirty="0">
                <a:latin typeface="Lucida Sans Unicode"/>
                <a:cs typeface="Lucida Sans Unicode"/>
              </a:rPr>
              <a:t> </a:t>
            </a:r>
            <a:r>
              <a:rPr sz="2200" spc="-10" dirty="0" err="1">
                <a:latin typeface="Lucida Sans Unicode"/>
                <a:cs typeface="Lucida Sans Unicode"/>
              </a:rPr>
              <a:t>qu'à</a:t>
            </a:r>
            <a:r>
              <a:rPr lang="fr-FR" sz="2200" spc="-1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un</a:t>
            </a:r>
            <a:r>
              <a:rPr lang="fr-FR" sz="2200" spc="-1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album</a:t>
            </a:r>
            <a:endParaRPr sz="2200" dirty="0">
              <a:latin typeface="Lucida Sans Unicode"/>
              <a:cs typeface="Lucida Sans Unicode"/>
            </a:endParaRPr>
          </a:p>
          <a:p>
            <a:pPr marL="228600" marR="5080">
              <a:lnSpc>
                <a:spcPct val="121900"/>
              </a:lnSpc>
              <a:spcBef>
                <a:spcPts val="10"/>
              </a:spcBef>
            </a:pPr>
            <a:r>
              <a:rPr sz="2200" spc="20" dirty="0">
                <a:latin typeface="Lucida Sans Unicode"/>
                <a:cs typeface="Lucida Sans Unicode"/>
              </a:rPr>
              <a:t>L</a:t>
            </a:r>
            <a:r>
              <a:rPr sz="2200" spc="615" dirty="0">
                <a:latin typeface="Lucida Sans Unicode"/>
                <a:cs typeface="Lucida Sans Unicode"/>
              </a:rPr>
              <a:t>a</a:t>
            </a:r>
            <a:r>
              <a:rPr sz="2200" spc="-300" dirty="0">
                <a:latin typeface="Lucida Sans Unicode"/>
                <a:cs typeface="Lucida Sans Unicode"/>
              </a:rPr>
              <a:t>s</a:t>
            </a:r>
            <a:r>
              <a:rPr sz="2200" spc="-265" dirty="0">
                <a:latin typeface="Lucida Sans Unicode"/>
                <a:cs typeface="Lucida Sans Unicode"/>
              </a:rPr>
              <a:t>u</a:t>
            </a:r>
            <a:r>
              <a:rPr sz="2200" spc="-275" dirty="0">
                <a:latin typeface="Lucida Sans Unicode"/>
                <a:cs typeface="Lucida Sans Unicode"/>
              </a:rPr>
              <a:t>p</a:t>
            </a:r>
            <a:r>
              <a:rPr sz="2200" spc="-360" dirty="0">
                <a:latin typeface="Lucida Sans Unicode"/>
                <a:cs typeface="Lucida Sans Unicode"/>
              </a:rPr>
              <a:t>p</a:t>
            </a:r>
            <a:r>
              <a:rPr sz="2200" spc="-165" dirty="0">
                <a:latin typeface="Lucida Sans Unicode"/>
                <a:cs typeface="Lucida Sans Unicode"/>
              </a:rPr>
              <a:t>r</a:t>
            </a:r>
            <a:r>
              <a:rPr sz="2200" spc="-275" dirty="0">
                <a:latin typeface="Lucida Sans Unicode"/>
                <a:cs typeface="Lucida Sans Unicode"/>
              </a:rPr>
              <a:t>e</a:t>
            </a:r>
            <a:r>
              <a:rPr sz="2200" spc="-310" dirty="0">
                <a:latin typeface="Lucida Sans Unicode"/>
                <a:cs typeface="Lucida Sans Unicode"/>
              </a:rPr>
              <a:t>ss</a:t>
            </a:r>
            <a:r>
              <a:rPr sz="2200" spc="-120" dirty="0">
                <a:latin typeface="Lucida Sans Unicode"/>
                <a:cs typeface="Lucida Sans Unicode"/>
              </a:rPr>
              <a:t>i</a:t>
            </a:r>
            <a:r>
              <a:rPr sz="2200" spc="-275" dirty="0">
                <a:latin typeface="Lucida Sans Unicode"/>
                <a:cs typeface="Lucida Sans Unicode"/>
              </a:rPr>
              <a:t>o</a:t>
            </a:r>
            <a:r>
              <a:rPr sz="2200" spc="550" dirty="0">
                <a:latin typeface="Lucida Sans Unicode"/>
                <a:cs typeface="Lucida Sans Unicode"/>
              </a:rPr>
              <a:t>n</a:t>
            </a:r>
            <a:r>
              <a:rPr sz="2200" spc="-275" dirty="0">
                <a:latin typeface="Lucida Sans Unicode"/>
                <a:cs typeface="Lucida Sans Unicode"/>
              </a:rPr>
              <a:t>d</a:t>
            </a:r>
            <a:r>
              <a:rPr sz="2200" spc="525" dirty="0">
                <a:latin typeface="Lucida Sans Unicode"/>
                <a:cs typeface="Lucida Sans Unicode"/>
              </a:rPr>
              <a:t>e</a:t>
            </a:r>
            <a:r>
              <a:rPr sz="2200" spc="-130" dirty="0">
                <a:latin typeface="Lucida Sans Unicode"/>
                <a:cs typeface="Lucida Sans Unicode"/>
              </a:rPr>
              <a:t>l</a:t>
            </a:r>
            <a:r>
              <a:rPr sz="2200" spc="125" dirty="0">
                <a:latin typeface="Lucida Sans Unicode"/>
                <a:cs typeface="Lucida Sans Unicode"/>
              </a:rPr>
              <a:t>'</a:t>
            </a:r>
            <a:r>
              <a:rPr sz="2200" spc="-185" dirty="0">
                <a:latin typeface="Lucida Sans Unicode"/>
                <a:cs typeface="Lucida Sans Unicode"/>
              </a:rPr>
              <a:t>a</a:t>
            </a:r>
            <a:r>
              <a:rPr sz="2200" spc="-120" dirty="0">
                <a:latin typeface="Lucida Sans Unicode"/>
                <a:cs typeface="Lucida Sans Unicode"/>
              </a:rPr>
              <a:t>l</a:t>
            </a:r>
            <a:r>
              <a:rPr sz="2200" spc="-290" dirty="0">
                <a:latin typeface="Lucida Sans Unicode"/>
                <a:cs typeface="Lucida Sans Unicode"/>
              </a:rPr>
              <a:t>b</a:t>
            </a:r>
            <a:r>
              <a:rPr sz="2200" spc="-250" dirty="0">
                <a:latin typeface="Lucida Sans Unicode"/>
                <a:cs typeface="Lucida Sans Unicode"/>
              </a:rPr>
              <a:t>u</a:t>
            </a:r>
            <a:r>
              <a:rPr sz="2200" spc="155" dirty="0">
                <a:latin typeface="Lucida Sans Unicode"/>
                <a:cs typeface="Lucida Sans Unicode"/>
              </a:rPr>
              <a:t>m</a:t>
            </a:r>
            <a:r>
              <a:rPr sz="2200" spc="-455" dirty="0">
                <a:latin typeface="Lucida Sans Unicode"/>
                <a:cs typeface="Lucida Sans Unicode"/>
              </a:rPr>
              <a:t> </a:t>
            </a:r>
            <a:r>
              <a:rPr sz="2200" spc="-275" dirty="0">
                <a:latin typeface="Lucida Sans Unicode"/>
                <a:cs typeface="Lucida Sans Unicode"/>
              </a:rPr>
              <a:t>e</a:t>
            </a:r>
            <a:r>
              <a:rPr sz="2200" spc="-265" dirty="0">
                <a:latin typeface="Lucida Sans Unicode"/>
                <a:cs typeface="Lucida Sans Unicode"/>
              </a:rPr>
              <a:t>n</a:t>
            </a:r>
            <a:r>
              <a:rPr sz="2200" spc="-35" dirty="0">
                <a:latin typeface="Lucida Sans Unicode"/>
                <a:cs typeface="Lucida Sans Unicode"/>
              </a:rPr>
              <a:t>t</a:t>
            </a:r>
            <a:r>
              <a:rPr sz="2200" spc="-180" dirty="0">
                <a:latin typeface="Lucida Sans Unicode"/>
                <a:cs typeface="Lucida Sans Unicode"/>
              </a:rPr>
              <a:t>r</a:t>
            </a:r>
            <a:r>
              <a:rPr sz="2200" spc="-175" dirty="0">
                <a:latin typeface="Lucida Sans Unicode"/>
                <a:cs typeface="Lucida Sans Unicode"/>
              </a:rPr>
              <a:t>a</a:t>
            </a:r>
            <a:r>
              <a:rPr sz="2200" spc="-130" dirty="0">
                <a:latin typeface="Lucida Sans Unicode"/>
                <a:cs typeface="Lucida Sans Unicode"/>
              </a:rPr>
              <a:t>î</a:t>
            </a:r>
            <a:r>
              <a:rPr sz="2200" spc="-250" dirty="0">
                <a:latin typeface="Lucida Sans Unicode"/>
                <a:cs typeface="Lucida Sans Unicode"/>
              </a:rPr>
              <a:t>n</a:t>
            </a:r>
            <a:r>
              <a:rPr sz="2200" spc="525" dirty="0">
                <a:latin typeface="Lucida Sans Unicode"/>
                <a:cs typeface="Lucida Sans Unicode"/>
              </a:rPr>
              <a:t>e</a:t>
            </a:r>
            <a:r>
              <a:rPr sz="2200" spc="-130" dirty="0">
                <a:latin typeface="Lucida Sans Unicode"/>
                <a:cs typeface="Lucida Sans Unicode"/>
              </a:rPr>
              <a:t>l</a:t>
            </a:r>
            <a:r>
              <a:rPr sz="2200" spc="625" dirty="0">
                <a:latin typeface="Lucida Sans Unicode"/>
                <a:cs typeface="Lucida Sans Unicode"/>
              </a:rPr>
              <a:t>a</a:t>
            </a:r>
            <a:r>
              <a:rPr sz="2200" spc="-310" dirty="0">
                <a:latin typeface="Lucida Sans Unicode"/>
                <a:cs typeface="Lucida Sans Unicode"/>
              </a:rPr>
              <a:t>s</a:t>
            </a:r>
            <a:r>
              <a:rPr sz="2200" spc="-270" dirty="0">
                <a:latin typeface="Lucida Sans Unicode"/>
                <a:cs typeface="Lucida Sans Unicode"/>
              </a:rPr>
              <a:t>up</a:t>
            </a:r>
            <a:r>
              <a:rPr sz="2200" spc="-345" dirty="0">
                <a:latin typeface="Lucida Sans Unicode"/>
                <a:cs typeface="Lucida Sans Unicode"/>
              </a:rPr>
              <a:t>p</a:t>
            </a:r>
            <a:r>
              <a:rPr sz="2200" spc="-165" dirty="0">
                <a:latin typeface="Lucida Sans Unicode"/>
                <a:cs typeface="Lucida Sans Unicode"/>
              </a:rPr>
              <a:t>r</a:t>
            </a:r>
            <a:r>
              <a:rPr sz="2200" spc="-275" dirty="0">
                <a:latin typeface="Lucida Sans Unicode"/>
                <a:cs typeface="Lucida Sans Unicode"/>
              </a:rPr>
              <a:t>e</a:t>
            </a:r>
            <a:r>
              <a:rPr sz="2200" spc="-310" dirty="0">
                <a:latin typeface="Lucida Sans Unicode"/>
                <a:cs typeface="Lucida Sans Unicode"/>
              </a:rPr>
              <a:t>ss</a:t>
            </a:r>
            <a:r>
              <a:rPr sz="2200" spc="-120" dirty="0">
                <a:latin typeface="Lucida Sans Unicode"/>
                <a:cs typeface="Lucida Sans Unicode"/>
              </a:rPr>
              <a:t>i</a:t>
            </a:r>
            <a:r>
              <a:rPr sz="2200" spc="-275" dirty="0">
                <a:latin typeface="Lucida Sans Unicode"/>
                <a:cs typeface="Lucida Sans Unicode"/>
              </a:rPr>
              <a:t>o</a:t>
            </a:r>
            <a:r>
              <a:rPr sz="2200" spc="545" dirty="0">
                <a:latin typeface="Lucida Sans Unicode"/>
                <a:cs typeface="Lucida Sans Unicode"/>
              </a:rPr>
              <a:t>n</a:t>
            </a:r>
            <a:r>
              <a:rPr sz="2200" spc="-275" dirty="0">
                <a:latin typeface="Lucida Sans Unicode"/>
                <a:cs typeface="Lucida Sans Unicode"/>
              </a:rPr>
              <a:t>d</a:t>
            </a:r>
            <a:r>
              <a:rPr sz="2200" spc="525" dirty="0">
                <a:latin typeface="Lucida Sans Unicode"/>
                <a:cs typeface="Lucida Sans Unicode"/>
              </a:rPr>
              <a:t>e</a:t>
            </a:r>
            <a:r>
              <a:rPr sz="2200" spc="-45" dirty="0">
                <a:latin typeface="Lucida Sans Unicode"/>
                <a:cs typeface="Lucida Sans Unicode"/>
              </a:rPr>
              <a:t>t</a:t>
            </a:r>
            <a:r>
              <a:rPr sz="2200" spc="-275" dirty="0">
                <a:latin typeface="Lucida Sans Unicode"/>
                <a:cs typeface="Lucida Sans Unicode"/>
              </a:rPr>
              <a:t>o</a:t>
            </a:r>
            <a:r>
              <a:rPr sz="2200" spc="-250" dirty="0">
                <a:latin typeface="Lucida Sans Unicode"/>
                <a:cs typeface="Lucida Sans Unicode"/>
              </a:rPr>
              <a:t>u</a:t>
            </a:r>
            <a:r>
              <a:rPr sz="2200" spc="500" dirty="0">
                <a:latin typeface="Lucida Sans Unicode"/>
                <a:cs typeface="Lucida Sans Unicode"/>
              </a:rPr>
              <a:t>s</a:t>
            </a:r>
            <a:r>
              <a:rPr sz="2200" spc="-310" dirty="0">
                <a:latin typeface="Lucida Sans Unicode"/>
                <a:cs typeface="Lucida Sans Unicode"/>
              </a:rPr>
              <a:t>s</a:t>
            </a:r>
            <a:r>
              <a:rPr sz="2200" spc="-275" dirty="0">
                <a:latin typeface="Lucida Sans Unicode"/>
                <a:cs typeface="Lucida Sans Unicode"/>
              </a:rPr>
              <a:t>e</a:t>
            </a:r>
            <a:r>
              <a:rPr sz="2200" spc="875" dirty="0">
                <a:latin typeface="Lucida Sans Unicode"/>
                <a:cs typeface="Lucida Sans Unicode"/>
              </a:rPr>
              <a:t>s  </a:t>
            </a:r>
            <a:r>
              <a:rPr sz="2200" spc="-100" dirty="0">
                <a:latin typeface="Lucida Sans Unicode"/>
                <a:cs typeface="Lucida Sans Unicode"/>
              </a:rPr>
              <a:t>morceaux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20540" y="6120129"/>
            <a:ext cx="143891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420"/>
              </a:spcBef>
            </a:pPr>
            <a:r>
              <a:rPr sz="1800" b="1" spc="70" dirty="0">
                <a:latin typeface="Arial"/>
                <a:cs typeface="Arial"/>
              </a:rPr>
              <a:t>Morceau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20540" y="6492240"/>
            <a:ext cx="1438910" cy="144780"/>
          </a:xfrm>
          <a:custGeom>
            <a:avLst/>
            <a:gdLst/>
            <a:ahLst/>
            <a:cxnLst/>
            <a:rect l="l" t="t" r="r" b="b"/>
            <a:pathLst>
              <a:path w="1438910" h="144779">
                <a:moveTo>
                  <a:pt x="720089" y="72390"/>
                </a:moveTo>
                <a:lnTo>
                  <a:pt x="0" y="72390"/>
                </a:lnTo>
                <a:lnTo>
                  <a:pt x="0" y="0"/>
                </a:lnTo>
                <a:lnTo>
                  <a:pt x="1438910" y="0"/>
                </a:lnTo>
                <a:lnTo>
                  <a:pt x="1438910" y="72390"/>
                </a:lnTo>
                <a:lnTo>
                  <a:pt x="720089" y="72390"/>
                </a:lnTo>
                <a:close/>
              </a:path>
              <a:path w="1438910" h="144779">
                <a:moveTo>
                  <a:pt x="720089" y="144780"/>
                </a:moveTo>
                <a:lnTo>
                  <a:pt x="0" y="144780"/>
                </a:lnTo>
                <a:lnTo>
                  <a:pt x="0" y="72390"/>
                </a:lnTo>
                <a:lnTo>
                  <a:pt x="1438910" y="72390"/>
                </a:lnTo>
                <a:lnTo>
                  <a:pt x="1438910" y="144780"/>
                </a:lnTo>
                <a:lnTo>
                  <a:pt x="720089" y="1447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919719" y="6120129"/>
            <a:ext cx="1440180" cy="3721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420"/>
              </a:spcBef>
            </a:pPr>
            <a:r>
              <a:rPr sz="1800" b="1" spc="-5" dirty="0">
                <a:latin typeface="Arial"/>
                <a:cs typeface="Arial"/>
              </a:rPr>
              <a:t>Album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59450" y="6263640"/>
            <a:ext cx="3600450" cy="373380"/>
            <a:chOff x="5759450" y="6263640"/>
            <a:chExt cx="3600450" cy="373380"/>
          </a:xfrm>
        </p:grpSpPr>
        <p:sp>
          <p:nvSpPr>
            <p:cNvPr id="16" name="object 16"/>
            <p:cNvSpPr/>
            <p:nvPr/>
          </p:nvSpPr>
          <p:spPr>
            <a:xfrm>
              <a:off x="7919720" y="6492240"/>
              <a:ext cx="1440180" cy="144780"/>
            </a:xfrm>
            <a:custGeom>
              <a:avLst/>
              <a:gdLst/>
              <a:ahLst/>
              <a:cxnLst/>
              <a:rect l="l" t="t" r="r" b="b"/>
              <a:pathLst>
                <a:path w="1440179" h="144779">
                  <a:moveTo>
                    <a:pt x="720089" y="72390"/>
                  </a:moveTo>
                  <a:lnTo>
                    <a:pt x="0" y="72390"/>
                  </a:lnTo>
                  <a:lnTo>
                    <a:pt x="0" y="0"/>
                  </a:lnTo>
                  <a:lnTo>
                    <a:pt x="1440179" y="0"/>
                  </a:lnTo>
                  <a:lnTo>
                    <a:pt x="1440179" y="72390"/>
                  </a:lnTo>
                  <a:lnTo>
                    <a:pt x="720089" y="72390"/>
                  </a:lnTo>
                  <a:close/>
                </a:path>
                <a:path w="1440179" h="144779">
                  <a:moveTo>
                    <a:pt x="720089" y="144780"/>
                  </a:moveTo>
                  <a:lnTo>
                    <a:pt x="0" y="144780"/>
                  </a:lnTo>
                  <a:lnTo>
                    <a:pt x="0" y="72390"/>
                  </a:lnTo>
                  <a:lnTo>
                    <a:pt x="1440179" y="72390"/>
                  </a:lnTo>
                  <a:lnTo>
                    <a:pt x="1440179" y="144780"/>
                  </a:lnTo>
                  <a:lnTo>
                    <a:pt x="720089" y="1447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87920" y="6263640"/>
              <a:ext cx="433070" cy="288290"/>
            </a:xfrm>
            <a:custGeom>
              <a:avLst/>
              <a:gdLst/>
              <a:ahLst/>
              <a:cxnLst/>
              <a:rect l="l" t="t" r="r" b="b"/>
              <a:pathLst>
                <a:path w="433070" h="288290">
                  <a:moveTo>
                    <a:pt x="215900" y="0"/>
                  </a:moveTo>
                  <a:lnTo>
                    <a:pt x="0" y="144780"/>
                  </a:lnTo>
                  <a:lnTo>
                    <a:pt x="215900" y="288290"/>
                  </a:lnTo>
                  <a:lnTo>
                    <a:pt x="433070" y="14478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59450" y="6263640"/>
              <a:ext cx="2161540" cy="288290"/>
            </a:xfrm>
            <a:custGeom>
              <a:avLst/>
              <a:gdLst/>
              <a:ahLst/>
              <a:cxnLst/>
              <a:rect l="l" t="t" r="r" b="b"/>
              <a:pathLst>
                <a:path w="2161540" h="288290">
                  <a:moveTo>
                    <a:pt x="1944370" y="0"/>
                  </a:moveTo>
                  <a:lnTo>
                    <a:pt x="2161540" y="144780"/>
                  </a:lnTo>
                  <a:lnTo>
                    <a:pt x="1944370" y="288290"/>
                  </a:lnTo>
                  <a:lnTo>
                    <a:pt x="1728470" y="144780"/>
                  </a:lnTo>
                  <a:lnTo>
                    <a:pt x="1944370" y="0"/>
                  </a:lnTo>
                  <a:close/>
                </a:path>
                <a:path w="2161540" h="288290">
                  <a:moveTo>
                    <a:pt x="1728470" y="0"/>
                  </a:moveTo>
                  <a:lnTo>
                    <a:pt x="1728470" y="0"/>
                  </a:lnTo>
                </a:path>
                <a:path w="2161540" h="288290">
                  <a:moveTo>
                    <a:pt x="2161540" y="288290"/>
                  </a:moveTo>
                  <a:lnTo>
                    <a:pt x="2161540" y="288290"/>
                  </a:lnTo>
                </a:path>
                <a:path w="2161540" h="288290">
                  <a:moveTo>
                    <a:pt x="0" y="144780"/>
                  </a:moveTo>
                  <a:lnTo>
                    <a:pt x="1728470" y="1447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85050" y="608075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60" dirty="0"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30570" y="6088379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latin typeface="Lucida Sans Unicode"/>
                <a:cs typeface="Lucida Sans Unicode"/>
              </a:rPr>
              <a:t>1</a:t>
            </a:r>
            <a:r>
              <a:rPr sz="1800" spc="-70" dirty="0">
                <a:latin typeface="Lucida Sans Unicode"/>
                <a:cs typeface="Lucida Sans Unicode"/>
              </a:rPr>
              <a:t>.</a:t>
            </a:r>
            <a:r>
              <a:rPr sz="1800" spc="-65" dirty="0">
                <a:latin typeface="Lucida Sans Unicode"/>
                <a:cs typeface="Lucida Sans Unicode"/>
              </a:rPr>
              <a:t>.</a:t>
            </a:r>
            <a:r>
              <a:rPr sz="1800" spc="930" dirty="0">
                <a:latin typeface="Lucida Sans Unicode"/>
                <a:cs typeface="Lucida Sans Unicode"/>
              </a:rPr>
              <a:t>*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1109" y="6916419"/>
            <a:ext cx="1283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95" dirty="0">
                <a:solidFill>
                  <a:srgbClr val="0083D0"/>
                </a:solidFill>
                <a:latin typeface="Arial"/>
                <a:cs typeface="Arial"/>
              </a:rPr>
              <a:t>c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-80" dirty="0">
                <a:solidFill>
                  <a:srgbClr val="0083D0"/>
                </a:solidFill>
                <a:latin typeface="Arial"/>
                <a:cs typeface="Arial"/>
              </a:rPr>
              <a:t>m</a:t>
            </a:r>
            <a:r>
              <a:rPr sz="1800" i="1" spc="-20" dirty="0">
                <a:solidFill>
                  <a:srgbClr val="0083D0"/>
                </a:solidFill>
                <a:latin typeface="Arial"/>
                <a:cs typeface="Arial"/>
              </a:rPr>
              <a:t>p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-220" dirty="0">
                <a:solidFill>
                  <a:srgbClr val="0083D0"/>
                </a:solidFill>
                <a:latin typeface="Arial"/>
                <a:cs typeface="Arial"/>
              </a:rPr>
              <a:t>s</a:t>
            </a:r>
            <a:r>
              <a:rPr sz="1800" i="1" spc="30" dirty="0">
                <a:solidFill>
                  <a:srgbClr val="0083D0"/>
                </a:solidFill>
                <a:latin typeface="Arial"/>
                <a:cs typeface="Arial"/>
              </a:rPr>
              <a:t>i</a:t>
            </a:r>
            <a:r>
              <a:rPr sz="1800" i="1" spc="140" dirty="0">
                <a:solidFill>
                  <a:srgbClr val="0083D0"/>
                </a:solidFill>
                <a:latin typeface="Arial"/>
                <a:cs typeface="Arial"/>
              </a:rPr>
              <a:t>t</a:t>
            </a:r>
            <a:r>
              <a:rPr sz="1800" i="1" spc="30" dirty="0">
                <a:solidFill>
                  <a:srgbClr val="0083D0"/>
                </a:solidFill>
                <a:latin typeface="Arial"/>
                <a:cs typeface="Arial"/>
              </a:rPr>
              <a:t>i</a:t>
            </a:r>
            <a:r>
              <a:rPr sz="1800" i="1" spc="-105" dirty="0">
                <a:solidFill>
                  <a:srgbClr val="0083D0"/>
                </a:solidFill>
                <a:latin typeface="Arial"/>
                <a:cs typeface="Arial"/>
              </a:rPr>
              <a:t>o</a:t>
            </a:r>
            <a:r>
              <a:rPr sz="1800" i="1" spc="795" dirty="0">
                <a:solidFill>
                  <a:srgbClr val="0083D0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559675" y="6624319"/>
            <a:ext cx="210185" cy="432434"/>
            <a:chOff x="7559675" y="6624319"/>
            <a:chExt cx="210185" cy="432434"/>
          </a:xfrm>
        </p:grpSpPr>
        <p:sp>
          <p:nvSpPr>
            <p:cNvPr id="23" name="object 23"/>
            <p:cNvSpPr/>
            <p:nvPr/>
          </p:nvSpPr>
          <p:spPr>
            <a:xfrm>
              <a:off x="7560310" y="6727189"/>
              <a:ext cx="173990" cy="328930"/>
            </a:xfrm>
            <a:custGeom>
              <a:avLst/>
              <a:gdLst/>
              <a:ahLst/>
              <a:cxnLst/>
              <a:rect l="l" t="t" r="r" b="b"/>
              <a:pathLst>
                <a:path w="173990" h="328929">
                  <a:moveTo>
                    <a:pt x="173990" y="0"/>
                  </a:moveTo>
                  <a:lnTo>
                    <a:pt x="133945" y="165516"/>
                  </a:lnTo>
                  <a:lnTo>
                    <a:pt x="75564" y="265906"/>
                  </a:lnTo>
                  <a:lnTo>
                    <a:pt x="22899" y="315575"/>
                  </a:lnTo>
                  <a:lnTo>
                    <a:pt x="0" y="328929"/>
                  </a:lnTo>
                </a:path>
              </a:pathLst>
            </a:custGeom>
            <a:ln w="3175">
              <a:solidFill>
                <a:srgbClr val="0083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97470" y="6624319"/>
              <a:ext cx="72390" cy="109220"/>
            </a:xfrm>
            <a:custGeom>
              <a:avLst/>
              <a:gdLst/>
              <a:ahLst/>
              <a:cxnLst/>
              <a:rect l="l" t="t" r="r" b="b"/>
              <a:pathLst>
                <a:path w="72390" h="109220">
                  <a:moveTo>
                    <a:pt x="41909" y="0"/>
                  </a:moveTo>
                  <a:lnTo>
                    <a:pt x="0" y="105409"/>
                  </a:lnTo>
                  <a:lnTo>
                    <a:pt x="72389" y="109219"/>
                  </a:lnTo>
                  <a:lnTo>
                    <a:pt x="41909" y="0"/>
                  </a:lnTo>
                  <a:close/>
                </a:path>
              </a:pathLst>
            </a:custGeom>
            <a:solidFill>
              <a:srgbClr val="008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69C1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1943</Words>
  <Application>Microsoft Office PowerPoint</Application>
  <PresentationFormat>Personnalisé</PresentationFormat>
  <Paragraphs>401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5" baseType="lpstr">
      <vt:lpstr>Yu Gothic UI</vt:lpstr>
      <vt:lpstr>Arial</vt:lpstr>
      <vt:lpstr>Calibri</vt:lpstr>
      <vt:lpstr>Cambria</vt:lpstr>
      <vt:lpstr>Lucida Console</vt:lpstr>
      <vt:lpstr>Lucida Sans Unicode</vt:lpstr>
      <vt:lpstr>Times New Roman</vt:lpstr>
      <vt:lpstr>Trebuchet MS</vt:lpstr>
      <vt:lpstr>Office Theme</vt:lpstr>
      <vt:lpstr>UML</vt:lpstr>
      <vt:lpstr>Objets et classes</vt:lpstr>
      <vt:lpstr>Objets et classes</vt:lpstr>
      <vt:lpstr>Objets et clases</vt:lpstr>
      <vt:lpstr>Classes</vt:lpstr>
      <vt:lpstr>Classes</vt:lpstr>
      <vt:lpstr>Classes</vt:lpstr>
      <vt:lpstr>Relations entre objets</vt:lpstr>
      <vt:lpstr>Relations entre objets</vt:lpstr>
      <vt:lpstr>Relations entre objets</vt:lpstr>
      <vt:lpstr>Relations entre classes</vt:lpstr>
      <vt:lpstr>Atribut et association</vt:lpstr>
      <vt:lpstr>Atribut et association</vt:lpstr>
      <vt:lpstr>Multiplicités</vt:lpstr>
      <vt:lpstr>Hiérarchie de classes</vt:lpstr>
      <vt:lpstr>Hiérarchie de clases</vt:lpstr>
      <vt:lpstr>Hiérarchie de classes</vt:lpstr>
      <vt:lpstr>Hiérarchie de clases</vt:lpstr>
      <vt:lpstr>Hiérarchie de clases</vt:lpstr>
      <vt:lpstr>Classe abstraite</vt:lpstr>
      <vt:lpstr>Hiérarchie de classes</vt:lpstr>
      <vt:lpstr>Classe-association</vt:lpstr>
      <vt:lpstr>Association n-aire</vt:lpstr>
      <vt:lpstr>Agrégation</vt:lpstr>
      <vt:lpstr>Agrégation faible</vt:lpstr>
      <vt:lpstr>Composition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Diagrammes de classes</dc:title>
  <dc:creator>Delphine</dc:creator>
  <cp:lastModifiedBy>Akonguhi N'guessan Patrice</cp:lastModifiedBy>
  <cp:revision>51</cp:revision>
  <dcterms:created xsi:type="dcterms:W3CDTF">2023-04-11T11:41:27Z</dcterms:created>
  <dcterms:modified xsi:type="dcterms:W3CDTF">2023-04-13T10:52:42Z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2017-02-22T00:00:00Z</vt:filetime>
  </property>
  <property fmtid="{D5CDD505-2E9C-101B-9397-08002B2CF9AE}" pid="3" name="Creator">
    <vt:lpwstr>Impress</vt:lpwstr>
  </property>
  <property fmtid="{D5CDD505-2E9C-101B-9397-08002B2CF9AE}" pid="4" name="LastSaved">
    <vt:filetime>2017-02-22T00:00:00Z</vt:filetime>
  </property>
</Properties>
</file>