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70" r:id="rId4"/>
    <p:sldId id="257" r:id="rId5"/>
    <p:sldId id="289" r:id="rId6"/>
    <p:sldId id="271" r:id="rId7"/>
    <p:sldId id="273" r:id="rId8"/>
    <p:sldId id="274" r:id="rId9"/>
    <p:sldId id="277" r:id="rId10"/>
    <p:sldId id="279" r:id="rId11"/>
    <p:sldId id="281" r:id="rId12"/>
    <p:sldId id="286" r:id="rId13"/>
    <p:sldId id="28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F8332-FC3E-972E-28C7-6B1FFC0BB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1F64FC-C482-A380-C296-79642B6CB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5A42ED-298A-7D10-8CF9-D57EE793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348AD2-2B6E-2519-5E4C-740105B4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19A352-D064-1A49-F276-B1F8F8E6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95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C0B26-CC33-2B1C-D7C2-5B12B119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29937E-AA43-9D7A-DBEF-6D5C21759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615CC8-2181-84EC-336D-63A7828C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953922-EB40-1C55-6152-33527B4D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F6C1E9-9DBB-5E72-404C-EBDC7B90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73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675F8-FCAC-5594-03F9-06FE5BF9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DC117E-04D6-1783-8BD2-37F9D0A8D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644AF9-6721-9DEF-77F1-1C3D6582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87BB4E-69F1-31C7-E82C-03A5CAF1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350129-22B9-47EF-898E-462CAE5D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49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4D7D90-AB5F-6708-82A3-7D274591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28D72-43D0-E168-3036-717EC1106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12F8BF-1A53-BA17-36C8-8031DBBD8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003D73-0EED-8D6C-FE50-CF7C1667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ABBB70-3FE0-215F-3693-7B3D53C1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B20529-290E-075F-FD34-5C58D0CB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42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2930FA-D3EA-E729-9571-FC434607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EAC56A-827A-0725-DB30-E9D3B6201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50DCDB-CCE0-2D2E-83F0-96E0267AB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384222-F2D6-8D31-4F2A-E1028FB2E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E8618E-9D2F-5E15-956B-EB5ACC871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031BB46-00D1-BD81-C7D2-5391E827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669F42-A017-2270-4662-1BF4EBB5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88F0B27-F2CB-3122-B69B-2A28AC1F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88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A317C-31ED-2468-5D52-348BC5E0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8DB4AE-291F-291D-B650-2CA157F6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362C6-9CFF-BFB4-A12A-17831169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25E744-D680-7475-708D-415E8C6F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36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43F269-EFC6-2F94-7C92-92610B08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A6F8E-BB72-56B9-3AF8-7681D6E3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71EA99-2953-9707-9225-F1A45EF6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54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B9A54-D606-6873-B859-21B718BC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3BC84-D4E3-9339-53FC-3E3B30556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270544-F061-B891-EC2E-3AF315FC0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0F3CF0-00F0-F021-1AF6-94159C1E8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22BD15-4BE3-944A-640A-D0156852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C69D11-F294-C313-E257-28A7B32B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69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50B04C-A2FD-375E-069E-8F3B1488B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AB0E0B-861F-A9DC-9769-67DD3D522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E1D47E-69B6-3431-F1F6-18F18D9D9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62464F-8AF5-38D6-FAEA-0B1E87E6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D33665-CC5D-C615-F5AF-3D547AE5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071436-BC02-691F-FEDC-F214F17F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62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711D2-561A-AB04-630B-38743F38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10FBF0-79BA-9FF2-340E-9DABB5A6B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2CCB29-5470-CAA0-6241-51A2EB16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5492D-0F3A-A8B3-FF1B-6BE45996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128059-20F8-3378-6B1D-9B4008C2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18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88AB11-DF8E-474E-7C6F-99DBD6BB7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772461-CD48-963D-50F6-8012634E9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5F807F-96C8-7DB0-E73A-B9546B7A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C2DA34-E322-EB68-E4E9-C27AA93B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1EE8E6-DE05-DB86-418C-25C68479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89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C58EA58-5E76-2627-9713-ED09D105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3A17D2-05D6-BF7A-D1F6-2743B39D7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A5FB55-B9AB-6475-EE92-265FDC7F3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D71DD-66C0-48AE-8FD0-87EB584AF4C7}" type="datetimeFigureOut">
              <a:rPr lang="fr-FR" smtClean="0"/>
              <a:t>17/06/2023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F6C3BF-3067-8D2A-2D00-7347F0C99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320B46-4F90-8EB6-B8C2-E2C75A792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BF3AE-620F-4C08-8BCB-6BF32EA755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92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CFA24E8-9F5B-5CB0-68CD-3BAAAD02DCCE}"/>
              </a:ext>
            </a:extLst>
          </p:cNvPr>
          <p:cNvSpPr/>
          <p:nvPr/>
        </p:nvSpPr>
        <p:spPr>
          <a:xfrm>
            <a:off x="109086" y="1398070"/>
            <a:ext cx="11973828" cy="40618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200" dirty="0"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6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MATHEMATICAL LOGIC AND PHILOSOPHICAL LOGIC</a:t>
            </a:r>
            <a:endParaRPr lang="en-US" sz="6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63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F68BD2A-A4DD-2731-132A-553C3EFD1874}"/>
              </a:ext>
            </a:extLst>
          </p:cNvPr>
          <p:cNvSpPr/>
          <p:nvPr/>
        </p:nvSpPr>
        <p:spPr>
          <a:xfrm>
            <a:off x="3381476" y="41508"/>
            <a:ext cx="4694120" cy="67749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  <a:p>
            <a:pPr algn="ctr"/>
            <a:endParaRPr lang="fr-FR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fr-FR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 </a:t>
            </a:r>
            <a:r>
              <a:rPr lang="en-GB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MATHEMATICAL LOGIC</a:t>
            </a:r>
          </a:p>
          <a:p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II/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III/ SIMILARITIES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Formula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Symbolic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Validity and Soundness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IV/ DIFFERENCES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Focus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29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0B466957-8326-53B7-8318-F12C278AF6CB}"/>
              </a:ext>
            </a:extLst>
          </p:cNvPr>
          <p:cNvSpPr/>
          <p:nvPr/>
        </p:nvSpPr>
        <p:spPr>
          <a:xfrm>
            <a:off x="2274770" y="2006600"/>
            <a:ext cx="7642459" cy="1422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704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840688-9191-FA4C-56C1-842ECA6A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699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3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F11B34-7577-5002-CD9A-3D86F321D5EA}"/>
              </a:ext>
            </a:extLst>
          </p:cNvPr>
          <p:cNvSpPr/>
          <p:nvPr/>
        </p:nvSpPr>
        <p:spPr>
          <a:xfrm>
            <a:off x="1850323" y="-28876"/>
            <a:ext cx="8912993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5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 </a:t>
            </a:r>
            <a:r>
              <a:rPr lang="en-GB" sz="5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MATHEMATICAL LOGIC</a:t>
            </a:r>
          </a:p>
          <a:p>
            <a:pPr algn="ctr"/>
            <a:endParaRPr lang="fr-FR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F06CEE6-488D-2418-4B2F-9000679E2265}"/>
              </a:ext>
            </a:extLst>
          </p:cNvPr>
          <p:cNvSpPr/>
          <p:nvPr/>
        </p:nvSpPr>
        <p:spPr>
          <a:xfrm>
            <a:off x="838200" y="1719747"/>
            <a:ext cx="11290434" cy="50323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 and Purpose</a:t>
            </a:r>
            <a:endParaRPr lang="fr-FR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logic is a branch of mathematics that uses formal systems to study logic.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 purpose is to provide a foundation for rigorous mathematical reasoning and proofs.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01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840688-9191-FA4C-56C1-842ECA6A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3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F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F11B34-7577-5002-CD9A-3D86F321D5EA}"/>
              </a:ext>
            </a:extLst>
          </p:cNvPr>
          <p:cNvSpPr/>
          <p:nvPr/>
        </p:nvSpPr>
        <p:spPr>
          <a:xfrm>
            <a:off x="1644316" y="147637"/>
            <a:ext cx="8903368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5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II/ </a:t>
            </a:r>
            <a:r>
              <a:rPr lang="en-US" sz="5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</a:t>
            </a:r>
          </a:p>
          <a:p>
            <a:pPr algn="ctr"/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D2203-43DE-AD1E-E673-8E1973DF5068}"/>
              </a:ext>
            </a:extLst>
          </p:cNvPr>
          <p:cNvSpPr/>
          <p:nvPr/>
        </p:nvSpPr>
        <p:spPr>
          <a:xfrm>
            <a:off x="122722" y="1078030"/>
            <a:ext cx="11946556" cy="52650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 and Purpose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3600" b="1" dirty="0">
              <a:solidFill>
                <a:srgbClr val="22222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 is concerned with the study of logic as it relates to philosophical inquiry.</a:t>
            </a:r>
            <a:endParaRPr lang="fr-FR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aims to analyze and evaluate arguments and concepts in various areas of philosophy.</a:t>
            </a:r>
            <a:endParaRPr lang="fr-FR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592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A1352A6-2E58-1A2C-BA23-03C2A4199539}"/>
              </a:ext>
            </a:extLst>
          </p:cNvPr>
          <p:cNvSpPr/>
          <p:nvPr/>
        </p:nvSpPr>
        <p:spPr>
          <a:xfrm>
            <a:off x="10464800" y="314960"/>
            <a:ext cx="1727200" cy="3040380"/>
          </a:xfrm>
          <a:custGeom>
            <a:avLst/>
            <a:gdLst>
              <a:gd name="connsiteX0" fmla="*/ 0 w 1727200"/>
              <a:gd name="connsiteY0" fmla="*/ 0 h 3040380"/>
              <a:gd name="connsiteX1" fmla="*/ 713720 w 1727200"/>
              <a:gd name="connsiteY1" fmla="*/ 0 h 3040380"/>
              <a:gd name="connsiteX2" fmla="*/ 1727200 w 1727200"/>
              <a:gd name="connsiteY2" fmla="*/ 1013480 h 3040380"/>
              <a:gd name="connsiteX3" fmla="*/ 1727200 w 1727200"/>
              <a:gd name="connsiteY3" fmla="*/ 3040380 h 3040380"/>
              <a:gd name="connsiteX4" fmla="*/ 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0" y="0"/>
                </a:moveTo>
                <a:lnTo>
                  <a:pt x="713720" y="0"/>
                </a:lnTo>
                <a:cubicBezTo>
                  <a:pt x="1273450" y="0"/>
                  <a:pt x="1727200" y="453750"/>
                  <a:pt x="1727200" y="1013480"/>
                </a:cubicBezTo>
                <a:lnTo>
                  <a:pt x="1727200" y="3040380"/>
                </a:lnTo>
                <a:cubicBezTo>
                  <a:pt x="1727200" y="1361224"/>
                  <a:pt x="953906" y="0"/>
                  <a:pt x="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7B997164-B3FC-F958-D201-5AF41357E74E}"/>
              </a:ext>
            </a:extLst>
          </p:cNvPr>
          <p:cNvSpPr/>
          <p:nvPr/>
        </p:nvSpPr>
        <p:spPr>
          <a:xfrm>
            <a:off x="10464800" y="3355340"/>
            <a:ext cx="1727200" cy="3040380"/>
          </a:xfrm>
          <a:custGeom>
            <a:avLst/>
            <a:gdLst>
              <a:gd name="connsiteX0" fmla="*/ 1727200 w 1727200"/>
              <a:gd name="connsiteY0" fmla="*/ 0 h 3040380"/>
              <a:gd name="connsiteX1" fmla="*/ 1727200 w 1727200"/>
              <a:gd name="connsiteY1" fmla="*/ 2026900 h 3040380"/>
              <a:gd name="connsiteX2" fmla="*/ 713720 w 1727200"/>
              <a:gd name="connsiteY2" fmla="*/ 3040380 h 3040380"/>
              <a:gd name="connsiteX3" fmla="*/ 0 w 1727200"/>
              <a:gd name="connsiteY3" fmla="*/ 3040380 h 3040380"/>
              <a:gd name="connsiteX4" fmla="*/ 172720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1727200" y="0"/>
                </a:moveTo>
                <a:lnTo>
                  <a:pt x="1727200" y="2026900"/>
                </a:lnTo>
                <a:cubicBezTo>
                  <a:pt x="1727200" y="2586630"/>
                  <a:pt x="1273450" y="3040380"/>
                  <a:pt x="713720" y="3040380"/>
                </a:cubicBezTo>
                <a:lnTo>
                  <a:pt x="0" y="3040380"/>
                </a:lnTo>
                <a:cubicBezTo>
                  <a:pt x="953906" y="3040380"/>
                  <a:pt x="1727200" y="1679156"/>
                  <a:pt x="172720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30" name="Rectangle : avec coins arrondis en diagonale 29">
            <a:extLst>
              <a:ext uri="{FF2B5EF4-FFF2-40B4-BE49-F238E27FC236}">
                <a16:creationId xmlns:a16="http://schemas.microsoft.com/office/drawing/2014/main" id="{D0AB5C3D-509E-7746-63EC-2AFA25C40D13}"/>
              </a:ext>
            </a:extLst>
          </p:cNvPr>
          <p:cNvSpPr/>
          <p:nvPr/>
        </p:nvSpPr>
        <p:spPr>
          <a:xfrm>
            <a:off x="304800" y="314960"/>
            <a:ext cx="9850120" cy="97536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III/ SIMILARITIES</a:t>
            </a:r>
          </a:p>
        </p:txBody>
      </p:sp>
      <p:sp>
        <p:nvSpPr>
          <p:cNvPr id="31" name="Rectangle : avec coins arrondis en haut 30">
            <a:extLst>
              <a:ext uri="{FF2B5EF4-FFF2-40B4-BE49-F238E27FC236}">
                <a16:creationId xmlns:a16="http://schemas.microsoft.com/office/drawing/2014/main" id="{D1AA993C-8B1C-1CDA-ED3C-7008E7F38FF4}"/>
              </a:ext>
            </a:extLst>
          </p:cNvPr>
          <p:cNvSpPr/>
          <p:nvPr/>
        </p:nvSpPr>
        <p:spPr>
          <a:xfrm>
            <a:off x="219777" y="1184442"/>
            <a:ext cx="9850121" cy="5090160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Formula system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3600" dirty="0">
              <a:solidFill>
                <a:srgbClr val="222222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mathematical and philosophical logic employ formal systems.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 systems consist of a set of symbols, rules, and axioms used to construct valid arguments.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54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A1352A6-2E58-1A2C-BA23-03C2A4199539}"/>
              </a:ext>
            </a:extLst>
          </p:cNvPr>
          <p:cNvSpPr/>
          <p:nvPr/>
        </p:nvSpPr>
        <p:spPr>
          <a:xfrm>
            <a:off x="10464800" y="286085"/>
            <a:ext cx="1727200" cy="3040380"/>
          </a:xfrm>
          <a:custGeom>
            <a:avLst/>
            <a:gdLst>
              <a:gd name="connsiteX0" fmla="*/ 0 w 1727200"/>
              <a:gd name="connsiteY0" fmla="*/ 0 h 3040380"/>
              <a:gd name="connsiteX1" fmla="*/ 713720 w 1727200"/>
              <a:gd name="connsiteY1" fmla="*/ 0 h 3040380"/>
              <a:gd name="connsiteX2" fmla="*/ 1727200 w 1727200"/>
              <a:gd name="connsiteY2" fmla="*/ 1013480 h 3040380"/>
              <a:gd name="connsiteX3" fmla="*/ 1727200 w 1727200"/>
              <a:gd name="connsiteY3" fmla="*/ 3040380 h 3040380"/>
              <a:gd name="connsiteX4" fmla="*/ 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0" y="0"/>
                </a:moveTo>
                <a:lnTo>
                  <a:pt x="713720" y="0"/>
                </a:lnTo>
                <a:cubicBezTo>
                  <a:pt x="1273450" y="0"/>
                  <a:pt x="1727200" y="453750"/>
                  <a:pt x="1727200" y="1013480"/>
                </a:cubicBezTo>
                <a:lnTo>
                  <a:pt x="1727200" y="3040380"/>
                </a:lnTo>
                <a:cubicBezTo>
                  <a:pt x="1727200" y="1361224"/>
                  <a:pt x="953906" y="0"/>
                  <a:pt x="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7B997164-B3FC-F958-D201-5AF41357E74E}"/>
              </a:ext>
            </a:extLst>
          </p:cNvPr>
          <p:cNvSpPr/>
          <p:nvPr/>
        </p:nvSpPr>
        <p:spPr>
          <a:xfrm>
            <a:off x="10464800" y="3355340"/>
            <a:ext cx="1727200" cy="3040380"/>
          </a:xfrm>
          <a:custGeom>
            <a:avLst/>
            <a:gdLst>
              <a:gd name="connsiteX0" fmla="*/ 1727200 w 1727200"/>
              <a:gd name="connsiteY0" fmla="*/ 0 h 3040380"/>
              <a:gd name="connsiteX1" fmla="*/ 1727200 w 1727200"/>
              <a:gd name="connsiteY1" fmla="*/ 2026900 h 3040380"/>
              <a:gd name="connsiteX2" fmla="*/ 713720 w 1727200"/>
              <a:gd name="connsiteY2" fmla="*/ 3040380 h 3040380"/>
              <a:gd name="connsiteX3" fmla="*/ 0 w 1727200"/>
              <a:gd name="connsiteY3" fmla="*/ 3040380 h 3040380"/>
              <a:gd name="connsiteX4" fmla="*/ 172720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1727200" y="0"/>
                </a:moveTo>
                <a:lnTo>
                  <a:pt x="1727200" y="2026900"/>
                </a:lnTo>
                <a:cubicBezTo>
                  <a:pt x="1727200" y="2586630"/>
                  <a:pt x="1273450" y="3040380"/>
                  <a:pt x="713720" y="3040380"/>
                </a:cubicBezTo>
                <a:lnTo>
                  <a:pt x="0" y="3040380"/>
                </a:lnTo>
                <a:cubicBezTo>
                  <a:pt x="953906" y="3040380"/>
                  <a:pt x="1727200" y="1679156"/>
                  <a:pt x="172720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30" name="Rectangle : avec coins arrondis en diagonale 29">
            <a:extLst>
              <a:ext uri="{FF2B5EF4-FFF2-40B4-BE49-F238E27FC236}">
                <a16:creationId xmlns:a16="http://schemas.microsoft.com/office/drawing/2014/main" id="{D0AB5C3D-509E-7746-63EC-2AFA25C40D13}"/>
              </a:ext>
            </a:extLst>
          </p:cNvPr>
          <p:cNvSpPr/>
          <p:nvPr/>
        </p:nvSpPr>
        <p:spPr>
          <a:xfrm>
            <a:off x="182880" y="314960"/>
            <a:ext cx="9972040" cy="97536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III/ SIMILARITIES</a:t>
            </a:r>
          </a:p>
        </p:txBody>
      </p:sp>
      <p:sp>
        <p:nvSpPr>
          <p:cNvPr id="31" name="Rectangle : avec coins arrondis en haut 30">
            <a:extLst>
              <a:ext uri="{FF2B5EF4-FFF2-40B4-BE49-F238E27FC236}">
                <a16:creationId xmlns:a16="http://schemas.microsoft.com/office/drawing/2014/main" id="{D1AA993C-8B1C-1CDA-ED3C-7008E7F38FF4}"/>
              </a:ext>
            </a:extLst>
          </p:cNvPr>
          <p:cNvSpPr/>
          <p:nvPr/>
        </p:nvSpPr>
        <p:spPr>
          <a:xfrm>
            <a:off x="-118979" y="1290320"/>
            <a:ext cx="12429958" cy="5183739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Symbolic language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types of logic use symbolic languages to represent logical statements and relationships.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Symbols such as ∧ (and), ∨ (or), → (implies), and ¬ (not) are commonly used in both mathematical and philosophical logic.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053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A1352A6-2E58-1A2C-BA23-03C2A4199539}"/>
              </a:ext>
            </a:extLst>
          </p:cNvPr>
          <p:cNvSpPr/>
          <p:nvPr/>
        </p:nvSpPr>
        <p:spPr>
          <a:xfrm>
            <a:off x="10464800" y="314960"/>
            <a:ext cx="1727200" cy="3040380"/>
          </a:xfrm>
          <a:custGeom>
            <a:avLst/>
            <a:gdLst>
              <a:gd name="connsiteX0" fmla="*/ 0 w 1727200"/>
              <a:gd name="connsiteY0" fmla="*/ 0 h 3040380"/>
              <a:gd name="connsiteX1" fmla="*/ 713720 w 1727200"/>
              <a:gd name="connsiteY1" fmla="*/ 0 h 3040380"/>
              <a:gd name="connsiteX2" fmla="*/ 1727200 w 1727200"/>
              <a:gd name="connsiteY2" fmla="*/ 1013480 h 3040380"/>
              <a:gd name="connsiteX3" fmla="*/ 1727200 w 1727200"/>
              <a:gd name="connsiteY3" fmla="*/ 3040380 h 3040380"/>
              <a:gd name="connsiteX4" fmla="*/ 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0" y="0"/>
                </a:moveTo>
                <a:lnTo>
                  <a:pt x="713720" y="0"/>
                </a:lnTo>
                <a:cubicBezTo>
                  <a:pt x="1273450" y="0"/>
                  <a:pt x="1727200" y="453750"/>
                  <a:pt x="1727200" y="1013480"/>
                </a:cubicBezTo>
                <a:lnTo>
                  <a:pt x="1727200" y="3040380"/>
                </a:lnTo>
                <a:cubicBezTo>
                  <a:pt x="1727200" y="1361224"/>
                  <a:pt x="953906" y="0"/>
                  <a:pt x="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7B997164-B3FC-F958-D201-5AF41357E74E}"/>
              </a:ext>
            </a:extLst>
          </p:cNvPr>
          <p:cNvSpPr/>
          <p:nvPr/>
        </p:nvSpPr>
        <p:spPr>
          <a:xfrm>
            <a:off x="10464800" y="3355340"/>
            <a:ext cx="1727200" cy="3040380"/>
          </a:xfrm>
          <a:custGeom>
            <a:avLst/>
            <a:gdLst>
              <a:gd name="connsiteX0" fmla="*/ 1727200 w 1727200"/>
              <a:gd name="connsiteY0" fmla="*/ 0 h 3040380"/>
              <a:gd name="connsiteX1" fmla="*/ 1727200 w 1727200"/>
              <a:gd name="connsiteY1" fmla="*/ 2026900 h 3040380"/>
              <a:gd name="connsiteX2" fmla="*/ 713720 w 1727200"/>
              <a:gd name="connsiteY2" fmla="*/ 3040380 h 3040380"/>
              <a:gd name="connsiteX3" fmla="*/ 0 w 1727200"/>
              <a:gd name="connsiteY3" fmla="*/ 3040380 h 3040380"/>
              <a:gd name="connsiteX4" fmla="*/ 1727200 w 1727200"/>
              <a:gd name="connsiteY4" fmla="*/ 0 h 304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0" h="3040380">
                <a:moveTo>
                  <a:pt x="1727200" y="0"/>
                </a:moveTo>
                <a:lnTo>
                  <a:pt x="1727200" y="2026900"/>
                </a:lnTo>
                <a:cubicBezTo>
                  <a:pt x="1727200" y="2586630"/>
                  <a:pt x="1273450" y="3040380"/>
                  <a:pt x="713720" y="3040380"/>
                </a:cubicBezTo>
                <a:lnTo>
                  <a:pt x="0" y="3040380"/>
                </a:lnTo>
                <a:cubicBezTo>
                  <a:pt x="953906" y="3040380"/>
                  <a:pt x="1727200" y="1679156"/>
                  <a:pt x="1727200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30" name="Rectangle : avec coins arrondis en diagonale 29">
            <a:extLst>
              <a:ext uri="{FF2B5EF4-FFF2-40B4-BE49-F238E27FC236}">
                <a16:creationId xmlns:a16="http://schemas.microsoft.com/office/drawing/2014/main" id="{D0AB5C3D-509E-7746-63EC-2AFA25C40D13}"/>
              </a:ext>
            </a:extLst>
          </p:cNvPr>
          <p:cNvSpPr/>
          <p:nvPr/>
        </p:nvSpPr>
        <p:spPr>
          <a:xfrm>
            <a:off x="304800" y="314960"/>
            <a:ext cx="9850120" cy="97536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III/ SIMILARITIES</a:t>
            </a:r>
          </a:p>
        </p:txBody>
      </p:sp>
      <p:sp>
        <p:nvSpPr>
          <p:cNvPr id="31" name="Rectangle : avec coins arrondis en haut 30">
            <a:extLst>
              <a:ext uri="{FF2B5EF4-FFF2-40B4-BE49-F238E27FC236}">
                <a16:creationId xmlns:a16="http://schemas.microsoft.com/office/drawing/2014/main" id="{D1AA993C-8B1C-1CDA-ED3C-7008E7F38FF4}"/>
              </a:ext>
            </a:extLst>
          </p:cNvPr>
          <p:cNvSpPr/>
          <p:nvPr/>
        </p:nvSpPr>
        <p:spPr>
          <a:xfrm>
            <a:off x="0" y="955040"/>
            <a:ext cx="12301086" cy="5902960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Validity and Soundness</a:t>
            </a:r>
          </a:p>
          <a:p>
            <a:pPr algn="ctr"/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types of logic are concerned with the notions of validity and soundness.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valid argument in mathematical logic follows the rules of the formal system, while a sound argument in philosophical logic is both valid and has true premises.</a:t>
            </a:r>
            <a:endParaRPr lang="fr-FR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8630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6BB839E-1940-E095-BE58-4F279A6B2E13}"/>
              </a:ext>
            </a:extLst>
          </p:cNvPr>
          <p:cNvSpPr/>
          <p:nvPr/>
        </p:nvSpPr>
        <p:spPr>
          <a:xfrm>
            <a:off x="314960" y="133684"/>
            <a:ext cx="11602720" cy="6410960"/>
          </a:xfrm>
          <a:custGeom>
            <a:avLst/>
            <a:gdLst>
              <a:gd name="connsiteX0" fmla="*/ 1068515 w 11602720"/>
              <a:gd name="connsiteY0" fmla="*/ 0 h 6410960"/>
              <a:gd name="connsiteX1" fmla="*/ 11602720 w 11602720"/>
              <a:gd name="connsiteY1" fmla="*/ 0 h 6410960"/>
              <a:gd name="connsiteX2" fmla="*/ 11602720 w 11602720"/>
              <a:gd name="connsiteY2" fmla="*/ 5342445 h 6410960"/>
              <a:gd name="connsiteX3" fmla="*/ 10534205 w 11602720"/>
              <a:gd name="connsiteY3" fmla="*/ 6410960 h 6410960"/>
              <a:gd name="connsiteX4" fmla="*/ 10403840 w 11602720"/>
              <a:gd name="connsiteY4" fmla="*/ 6410960 h 6410960"/>
              <a:gd name="connsiteX5" fmla="*/ 10403840 w 11602720"/>
              <a:gd name="connsiteY5" fmla="*/ 1503680 h 6410960"/>
              <a:gd name="connsiteX6" fmla="*/ 944880 w 11602720"/>
              <a:gd name="connsiteY6" fmla="*/ 1503680 h 6410960"/>
              <a:gd name="connsiteX7" fmla="*/ 944880 w 11602720"/>
              <a:gd name="connsiteY7" fmla="*/ 6410960 h 6410960"/>
              <a:gd name="connsiteX8" fmla="*/ 0 w 11602720"/>
              <a:gd name="connsiteY8" fmla="*/ 6410960 h 6410960"/>
              <a:gd name="connsiteX9" fmla="*/ 0 w 11602720"/>
              <a:gd name="connsiteY9" fmla="*/ 1068515 h 6410960"/>
              <a:gd name="connsiteX10" fmla="*/ 1068515 w 11602720"/>
              <a:gd name="connsiteY10" fmla="*/ 0 h 641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02720" h="6410960">
                <a:moveTo>
                  <a:pt x="1068515" y="0"/>
                </a:moveTo>
                <a:lnTo>
                  <a:pt x="11602720" y="0"/>
                </a:lnTo>
                <a:lnTo>
                  <a:pt x="11602720" y="5342445"/>
                </a:lnTo>
                <a:cubicBezTo>
                  <a:pt x="11602720" y="5932570"/>
                  <a:pt x="11124330" y="6410960"/>
                  <a:pt x="10534205" y="6410960"/>
                </a:cubicBezTo>
                <a:lnTo>
                  <a:pt x="10403840" y="6410960"/>
                </a:lnTo>
                <a:lnTo>
                  <a:pt x="10403840" y="1503680"/>
                </a:lnTo>
                <a:lnTo>
                  <a:pt x="944880" y="1503680"/>
                </a:lnTo>
                <a:lnTo>
                  <a:pt x="944880" y="6410960"/>
                </a:lnTo>
                <a:lnTo>
                  <a:pt x="0" y="6410960"/>
                </a:lnTo>
                <a:lnTo>
                  <a:pt x="0" y="1068515"/>
                </a:lnTo>
                <a:cubicBezTo>
                  <a:pt x="0" y="478390"/>
                  <a:pt x="478390" y="0"/>
                  <a:pt x="1068515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182ED84-EB32-38D7-D3AF-FB115E1910E0}"/>
              </a:ext>
            </a:extLst>
          </p:cNvPr>
          <p:cNvSpPr/>
          <p:nvPr/>
        </p:nvSpPr>
        <p:spPr>
          <a:xfrm>
            <a:off x="1187115" y="949960"/>
            <a:ext cx="9817769" cy="49580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endParaRPr lang="en-US" sz="4000" dirty="0">
              <a:solidFill>
                <a:srgbClr val="22222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Focus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4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logic primarily focuses on the study of formal systems and their properties.</a:t>
            </a:r>
            <a:endParaRPr lang="fr-FR" sz="3200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 focuses on the analysis and evaluation of arguments and concepts in philosophy.</a:t>
            </a:r>
            <a:endParaRPr lang="fr-FR" sz="3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101D2AB-09AC-D656-E0D6-2CF456BD7B12}"/>
              </a:ext>
            </a:extLst>
          </p:cNvPr>
          <p:cNvSpPr/>
          <p:nvPr/>
        </p:nvSpPr>
        <p:spPr>
          <a:xfrm>
            <a:off x="543560" y="386080"/>
            <a:ext cx="11145520" cy="1005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IV/ DIFFERENCES</a:t>
            </a:r>
          </a:p>
        </p:txBody>
      </p:sp>
    </p:spTree>
    <p:extLst>
      <p:ext uri="{BB962C8B-B14F-4D97-AF65-F5344CB8AC3E}">
        <p14:creationId xmlns:p14="http://schemas.microsoft.com/office/powerpoint/2010/main" val="100283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6BB839E-1940-E095-BE58-4F279A6B2E13}"/>
              </a:ext>
            </a:extLst>
          </p:cNvPr>
          <p:cNvSpPr/>
          <p:nvPr/>
        </p:nvSpPr>
        <p:spPr>
          <a:xfrm>
            <a:off x="314960" y="223520"/>
            <a:ext cx="11602720" cy="6410960"/>
          </a:xfrm>
          <a:custGeom>
            <a:avLst/>
            <a:gdLst>
              <a:gd name="connsiteX0" fmla="*/ 1068515 w 11602720"/>
              <a:gd name="connsiteY0" fmla="*/ 0 h 6410960"/>
              <a:gd name="connsiteX1" fmla="*/ 11602720 w 11602720"/>
              <a:gd name="connsiteY1" fmla="*/ 0 h 6410960"/>
              <a:gd name="connsiteX2" fmla="*/ 11602720 w 11602720"/>
              <a:gd name="connsiteY2" fmla="*/ 5342445 h 6410960"/>
              <a:gd name="connsiteX3" fmla="*/ 10534205 w 11602720"/>
              <a:gd name="connsiteY3" fmla="*/ 6410960 h 6410960"/>
              <a:gd name="connsiteX4" fmla="*/ 10403840 w 11602720"/>
              <a:gd name="connsiteY4" fmla="*/ 6410960 h 6410960"/>
              <a:gd name="connsiteX5" fmla="*/ 10403840 w 11602720"/>
              <a:gd name="connsiteY5" fmla="*/ 1503680 h 6410960"/>
              <a:gd name="connsiteX6" fmla="*/ 944880 w 11602720"/>
              <a:gd name="connsiteY6" fmla="*/ 1503680 h 6410960"/>
              <a:gd name="connsiteX7" fmla="*/ 944880 w 11602720"/>
              <a:gd name="connsiteY7" fmla="*/ 6410960 h 6410960"/>
              <a:gd name="connsiteX8" fmla="*/ 0 w 11602720"/>
              <a:gd name="connsiteY8" fmla="*/ 6410960 h 6410960"/>
              <a:gd name="connsiteX9" fmla="*/ 0 w 11602720"/>
              <a:gd name="connsiteY9" fmla="*/ 1068515 h 6410960"/>
              <a:gd name="connsiteX10" fmla="*/ 1068515 w 11602720"/>
              <a:gd name="connsiteY10" fmla="*/ 0 h 641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02720" h="6410960">
                <a:moveTo>
                  <a:pt x="1068515" y="0"/>
                </a:moveTo>
                <a:lnTo>
                  <a:pt x="11602720" y="0"/>
                </a:lnTo>
                <a:lnTo>
                  <a:pt x="11602720" y="5342445"/>
                </a:lnTo>
                <a:cubicBezTo>
                  <a:pt x="11602720" y="5932570"/>
                  <a:pt x="11124330" y="6410960"/>
                  <a:pt x="10534205" y="6410960"/>
                </a:cubicBezTo>
                <a:lnTo>
                  <a:pt x="10403840" y="6410960"/>
                </a:lnTo>
                <a:lnTo>
                  <a:pt x="10403840" y="1503680"/>
                </a:lnTo>
                <a:lnTo>
                  <a:pt x="944880" y="1503680"/>
                </a:lnTo>
                <a:lnTo>
                  <a:pt x="944880" y="6410960"/>
                </a:lnTo>
                <a:lnTo>
                  <a:pt x="0" y="6410960"/>
                </a:lnTo>
                <a:lnTo>
                  <a:pt x="0" y="1068515"/>
                </a:lnTo>
                <a:cubicBezTo>
                  <a:pt x="0" y="478390"/>
                  <a:pt x="478390" y="0"/>
                  <a:pt x="1068515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182ED84-EB32-38D7-D3AF-FB115E1910E0}"/>
              </a:ext>
            </a:extLst>
          </p:cNvPr>
          <p:cNvSpPr/>
          <p:nvPr/>
        </p:nvSpPr>
        <p:spPr>
          <a:xfrm>
            <a:off x="1033111" y="1493520"/>
            <a:ext cx="10125777" cy="49580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solidFill>
                <a:srgbClr val="222222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logic finds applications in computer science, artificial intelligence, and mathematics.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 is applied in areas such as philosophy of language, philosophy of mind, and epistemology.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101D2AB-09AC-D656-E0D6-2CF456BD7B12}"/>
              </a:ext>
            </a:extLst>
          </p:cNvPr>
          <p:cNvSpPr/>
          <p:nvPr/>
        </p:nvSpPr>
        <p:spPr>
          <a:xfrm>
            <a:off x="543560" y="386080"/>
            <a:ext cx="11145520" cy="1005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IV/ DIFFERENCES</a:t>
            </a:r>
          </a:p>
        </p:txBody>
      </p:sp>
    </p:spTree>
    <p:extLst>
      <p:ext uri="{BB962C8B-B14F-4D97-AF65-F5344CB8AC3E}">
        <p14:creationId xmlns:p14="http://schemas.microsoft.com/office/powerpoint/2010/main" val="366232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6BB839E-1940-E095-BE58-4F279A6B2E13}"/>
              </a:ext>
            </a:extLst>
          </p:cNvPr>
          <p:cNvSpPr/>
          <p:nvPr/>
        </p:nvSpPr>
        <p:spPr>
          <a:xfrm>
            <a:off x="86360" y="386080"/>
            <a:ext cx="11602720" cy="6410960"/>
          </a:xfrm>
          <a:custGeom>
            <a:avLst/>
            <a:gdLst>
              <a:gd name="connsiteX0" fmla="*/ 1068515 w 11602720"/>
              <a:gd name="connsiteY0" fmla="*/ 0 h 6410960"/>
              <a:gd name="connsiteX1" fmla="*/ 11602720 w 11602720"/>
              <a:gd name="connsiteY1" fmla="*/ 0 h 6410960"/>
              <a:gd name="connsiteX2" fmla="*/ 11602720 w 11602720"/>
              <a:gd name="connsiteY2" fmla="*/ 5342445 h 6410960"/>
              <a:gd name="connsiteX3" fmla="*/ 10534205 w 11602720"/>
              <a:gd name="connsiteY3" fmla="*/ 6410960 h 6410960"/>
              <a:gd name="connsiteX4" fmla="*/ 10403840 w 11602720"/>
              <a:gd name="connsiteY4" fmla="*/ 6410960 h 6410960"/>
              <a:gd name="connsiteX5" fmla="*/ 10403840 w 11602720"/>
              <a:gd name="connsiteY5" fmla="*/ 1503680 h 6410960"/>
              <a:gd name="connsiteX6" fmla="*/ 944880 w 11602720"/>
              <a:gd name="connsiteY6" fmla="*/ 1503680 h 6410960"/>
              <a:gd name="connsiteX7" fmla="*/ 944880 w 11602720"/>
              <a:gd name="connsiteY7" fmla="*/ 6410960 h 6410960"/>
              <a:gd name="connsiteX8" fmla="*/ 0 w 11602720"/>
              <a:gd name="connsiteY8" fmla="*/ 6410960 h 6410960"/>
              <a:gd name="connsiteX9" fmla="*/ 0 w 11602720"/>
              <a:gd name="connsiteY9" fmla="*/ 1068515 h 6410960"/>
              <a:gd name="connsiteX10" fmla="*/ 1068515 w 11602720"/>
              <a:gd name="connsiteY10" fmla="*/ 0 h 641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02720" h="6410960">
                <a:moveTo>
                  <a:pt x="1068515" y="0"/>
                </a:moveTo>
                <a:lnTo>
                  <a:pt x="11602720" y="0"/>
                </a:lnTo>
                <a:lnTo>
                  <a:pt x="11602720" y="5342445"/>
                </a:lnTo>
                <a:cubicBezTo>
                  <a:pt x="11602720" y="5932570"/>
                  <a:pt x="11124330" y="6410960"/>
                  <a:pt x="10534205" y="6410960"/>
                </a:cubicBezTo>
                <a:lnTo>
                  <a:pt x="10403840" y="6410960"/>
                </a:lnTo>
                <a:lnTo>
                  <a:pt x="10403840" y="1503680"/>
                </a:lnTo>
                <a:lnTo>
                  <a:pt x="944880" y="1503680"/>
                </a:lnTo>
                <a:lnTo>
                  <a:pt x="944880" y="6410960"/>
                </a:lnTo>
                <a:lnTo>
                  <a:pt x="0" y="6410960"/>
                </a:lnTo>
                <a:lnTo>
                  <a:pt x="0" y="1068515"/>
                </a:lnTo>
                <a:cubicBezTo>
                  <a:pt x="0" y="478390"/>
                  <a:pt x="478390" y="0"/>
                  <a:pt x="1068515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182ED84-EB32-38D7-D3AF-FB115E1910E0}"/>
              </a:ext>
            </a:extLst>
          </p:cNvPr>
          <p:cNvSpPr/>
          <p:nvPr/>
        </p:nvSpPr>
        <p:spPr>
          <a:xfrm>
            <a:off x="771893" y="1615440"/>
            <a:ext cx="10231653" cy="49580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solidFill>
                <a:srgbClr val="22222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logic relies heavily on rigorous formal proofs and mathematical techniques.</a:t>
            </a:r>
            <a:endParaRPr lang="fr-FR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Philosophical logic utilizes a combination of formal techniques and conceptual analysis to evaluate arguments.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101D2AB-09AC-D656-E0D6-2CF456BD7B12}"/>
              </a:ext>
            </a:extLst>
          </p:cNvPr>
          <p:cNvSpPr/>
          <p:nvPr/>
        </p:nvSpPr>
        <p:spPr>
          <a:xfrm>
            <a:off x="543560" y="386080"/>
            <a:ext cx="11145520" cy="1005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IV/ DIFFERENCES</a:t>
            </a:r>
          </a:p>
        </p:txBody>
      </p:sp>
    </p:spTree>
    <p:extLst>
      <p:ext uri="{BB962C8B-B14F-4D97-AF65-F5344CB8AC3E}">
        <p14:creationId xmlns:p14="http://schemas.microsoft.com/office/powerpoint/2010/main" val="349130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chemin : vertical 3">
            <a:extLst>
              <a:ext uri="{FF2B5EF4-FFF2-40B4-BE49-F238E27FC236}">
                <a16:creationId xmlns:a16="http://schemas.microsoft.com/office/drawing/2014/main" id="{56D2F946-4755-7CDE-1DED-38CED3AF5ABA}"/>
              </a:ext>
            </a:extLst>
          </p:cNvPr>
          <p:cNvSpPr/>
          <p:nvPr/>
        </p:nvSpPr>
        <p:spPr>
          <a:xfrm>
            <a:off x="-1" y="271112"/>
            <a:ext cx="11685069" cy="6014720"/>
          </a:xfrm>
          <a:prstGeom prst="vertic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logic and philosophical logic share similarities in their use of formal systems and symbolic languages.</a:t>
            </a: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they differ in their focus, applications, methodology, and the nature of the problems they address.</a:t>
            </a: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676F5E8-D687-32D1-1793-C5764B567FE6}"/>
              </a:ext>
            </a:extLst>
          </p:cNvPr>
          <p:cNvSpPr/>
          <p:nvPr/>
        </p:nvSpPr>
        <p:spPr>
          <a:xfrm>
            <a:off x="86627" y="271112"/>
            <a:ext cx="11887199" cy="826168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584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21ACF4A-427A-231B-526A-A7DE764ACB9B}"/>
              </a:ext>
            </a:extLst>
          </p:cNvPr>
          <p:cNvSpPr/>
          <p:nvPr/>
        </p:nvSpPr>
        <p:spPr>
          <a:xfrm>
            <a:off x="1178560" y="2489200"/>
            <a:ext cx="10220960" cy="27228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144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380</Words>
  <Application>Microsoft Office PowerPoint</Application>
  <PresentationFormat>Grand écran</PresentationFormat>
  <Paragraphs>71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Actuaries in the Insurance Sector</dc:title>
  <dc:creator>Kouamé Gérard Kra</dc:creator>
  <cp:lastModifiedBy>Kouamé Gérard Kra</cp:lastModifiedBy>
  <cp:revision>40</cp:revision>
  <dcterms:created xsi:type="dcterms:W3CDTF">2023-06-11T13:38:29Z</dcterms:created>
  <dcterms:modified xsi:type="dcterms:W3CDTF">2023-06-17T11:35:45Z</dcterms:modified>
</cp:coreProperties>
</file>