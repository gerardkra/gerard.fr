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Lst>
  <p:notesMasterIdLst>
    <p:notesMasterId r:id="rId54"/>
  </p:notesMasterIdLst>
  <p:sldIdLst>
    <p:sldId id="285" r:id="rId3"/>
    <p:sldId id="258" r:id="rId4"/>
    <p:sldId id="259" r:id="rId5"/>
    <p:sldId id="275" r:id="rId6"/>
    <p:sldId id="260" r:id="rId7"/>
    <p:sldId id="313" r:id="rId8"/>
    <p:sldId id="314" r:id="rId9"/>
    <p:sldId id="261" r:id="rId10"/>
    <p:sldId id="268" r:id="rId11"/>
    <p:sldId id="267" r:id="rId12"/>
    <p:sldId id="269" r:id="rId13"/>
    <p:sldId id="262" r:id="rId14"/>
    <p:sldId id="272" r:id="rId15"/>
    <p:sldId id="263" r:id="rId16"/>
    <p:sldId id="264" r:id="rId17"/>
    <p:sldId id="273" r:id="rId18"/>
    <p:sldId id="277" r:id="rId19"/>
    <p:sldId id="257" r:id="rId20"/>
    <p:sldId id="279" r:id="rId21"/>
    <p:sldId id="280" r:id="rId22"/>
    <p:sldId id="281" r:id="rId23"/>
    <p:sldId id="282" r:id="rId24"/>
    <p:sldId id="283" r:id="rId25"/>
    <p:sldId id="284" r:id="rId26"/>
    <p:sldId id="265" r:id="rId27"/>
    <p:sldId id="286" r:id="rId28"/>
    <p:sldId id="288" r:id="rId29"/>
    <p:sldId id="289" r:id="rId30"/>
    <p:sldId id="290" r:id="rId31"/>
    <p:sldId id="292" r:id="rId32"/>
    <p:sldId id="295" r:id="rId33"/>
    <p:sldId id="293" r:id="rId34"/>
    <p:sldId id="296" r:id="rId35"/>
    <p:sldId id="297" r:id="rId36"/>
    <p:sldId id="294" r:id="rId37"/>
    <p:sldId id="299" r:id="rId38"/>
    <p:sldId id="298" r:id="rId39"/>
    <p:sldId id="300" r:id="rId40"/>
    <p:sldId id="301" r:id="rId41"/>
    <p:sldId id="303" r:id="rId42"/>
    <p:sldId id="302" r:id="rId43"/>
    <p:sldId id="304" r:id="rId44"/>
    <p:sldId id="305" r:id="rId45"/>
    <p:sldId id="306" r:id="rId46"/>
    <p:sldId id="307" r:id="rId47"/>
    <p:sldId id="308" r:id="rId48"/>
    <p:sldId id="309" r:id="rId49"/>
    <p:sldId id="310" r:id="rId50"/>
    <p:sldId id="311" r:id="rId51"/>
    <p:sldId id="312" r:id="rId52"/>
    <p:sldId id="291" r:id="rId5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ableStyles" Target="tableStyle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diagrams/_rels/data5.xml.rels><?xml version="1.0" encoding="UTF-8" standalone="yes"?>
<Relationships xmlns="http://schemas.openxmlformats.org/package/2006/relationships"><Relationship Id="rId8" Type="http://schemas.openxmlformats.org/officeDocument/2006/relationships/image" Target="../media/image12.jpg"/><Relationship Id="rId3" Type="http://schemas.openxmlformats.org/officeDocument/2006/relationships/image" Target="../media/image7.jpg"/><Relationship Id="rId7" Type="http://schemas.openxmlformats.org/officeDocument/2006/relationships/image" Target="../media/image11.jpg"/><Relationship Id="rId2" Type="http://schemas.openxmlformats.org/officeDocument/2006/relationships/image" Target="../media/image6.jpg"/><Relationship Id="rId1" Type="http://schemas.openxmlformats.org/officeDocument/2006/relationships/image" Target="../media/image5.jpg"/><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8.jpg"/></Relationships>
</file>

<file path=ppt/diagrams/_rels/data7.xml.rels><?xml version="1.0" encoding="UTF-8" standalone="yes"?>
<Relationships xmlns="http://schemas.openxmlformats.org/package/2006/relationships"><Relationship Id="rId1" Type="http://schemas.openxmlformats.org/officeDocument/2006/relationships/image" Target="../media/image13.jpg"/></Relationships>
</file>

<file path=ppt/diagrams/_rels/drawing5.xml.rels><?xml version="1.0" encoding="UTF-8" standalone="yes"?>
<Relationships xmlns="http://schemas.openxmlformats.org/package/2006/relationships"><Relationship Id="rId8" Type="http://schemas.openxmlformats.org/officeDocument/2006/relationships/image" Target="../media/image12.jpg"/><Relationship Id="rId3" Type="http://schemas.openxmlformats.org/officeDocument/2006/relationships/image" Target="../media/image7.jpg"/><Relationship Id="rId7" Type="http://schemas.openxmlformats.org/officeDocument/2006/relationships/image" Target="../media/image11.jpg"/><Relationship Id="rId2" Type="http://schemas.openxmlformats.org/officeDocument/2006/relationships/image" Target="../media/image6.jpg"/><Relationship Id="rId1" Type="http://schemas.openxmlformats.org/officeDocument/2006/relationships/image" Target="../media/image5.jpg"/><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8.jpg"/></Relationships>
</file>

<file path=ppt/diagrams/_rels/drawing7.xml.rels><?xml version="1.0" encoding="UTF-8" standalone="yes"?>
<Relationships xmlns="http://schemas.openxmlformats.org/package/2006/relationships"><Relationship Id="rId1" Type="http://schemas.openxmlformats.org/officeDocument/2006/relationships/image" Target="../media/image13.jp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485B16-6038-4B51-9123-C01724F0E923}" type="doc">
      <dgm:prSet loTypeId="urn:microsoft.com/office/officeart/2005/8/layout/vProcess5" loCatId="process" qsTypeId="urn:microsoft.com/office/officeart/2005/8/quickstyle/3d1" qsCatId="3D" csTypeId="urn:microsoft.com/office/officeart/2005/8/colors/colorful5" csCatId="colorful" phldr="1"/>
      <dgm:spPr/>
      <dgm:t>
        <a:bodyPr/>
        <a:lstStyle/>
        <a:p>
          <a:endParaRPr lang="fr-FR"/>
        </a:p>
      </dgm:t>
    </dgm:pt>
    <dgm:pt modelId="{2084D85F-1231-45BF-AB0B-4965BD2C1D7B}">
      <dgm:prSet phldrT="[Texte]" custT="1"/>
      <dgm:spPr/>
      <dgm:t>
        <a:bodyPr/>
        <a:lstStyle/>
        <a:p>
          <a:r>
            <a:rPr lang="fr-CI" sz="1900" b="1" u="sng" dirty="0">
              <a:effectLst/>
              <a:latin typeface="Calibri" panose="020F0502020204030204" pitchFamily="34" charset="0"/>
              <a:ea typeface="Calibri" panose="020F0502020204030204" pitchFamily="34" charset="0"/>
              <a:cs typeface="Times New Roman" panose="02020603050405020304" pitchFamily="18" charset="0"/>
            </a:rPr>
            <a:t>Définition</a:t>
          </a:r>
          <a:r>
            <a:rPr lang="fr-CI" sz="1900" dirty="0">
              <a:effectLst/>
              <a:latin typeface="Calibri" panose="020F0502020204030204" pitchFamily="34" charset="0"/>
              <a:ea typeface="Calibri" panose="020F0502020204030204" pitchFamily="34" charset="0"/>
              <a:cs typeface="Times New Roman" panose="02020603050405020304" pitchFamily="18" charset="0"/>
            </a:rPr>
            <a:t> : La gravitation, l'une des quatre interactions fondamentales qui régissent l'Univers, est l'interaction physique responsable de l'attraction des corps massifs.</a:t>
          </a:r>
          <a:endParaRPr lang="fr-FR" sz="1900" dirty="0"/>
        </a:p>
      </dgm:t>
    </dgm:pt>
    <dgm:pt modelId="{C7A08C58-6210-47E9-BD28-BE42DAA6F885}" type="parTrans" cxnId="{7D0C5F04-B960-4F5B-A37C-3A41F2DB620A}">
      <dgm:prSet/>
      <dgm:spPr/>
      <dgm:t>
        <a:bodyPr/>
        <a:lstStyle/>
        <a:p>
          <a:endParaRPr lang="fr-FR"/>
        </a:p>
      </dgm:t>
    </dgm:pt>
    <dgm:pt modelId="{5C613D9B-64D9-4ACA-BC47-B89ABC62336B}" type="sibTrans" cxnId="{7D0C5F04-B960-4F5B-A37C-3A41F2DB620A}">
      <dgm:prSet/>
      <dgm:spPr/>
      <dgm:t>
        <a:bodyPr/>
        <a:lstStyle/>
        <a:p>
          <a:endParaRPr lang="fr-FR"/>
        </a:p>
      </dgm:t>
    </dgm:pt>
    <dgm:pt modelId="{5F4B6F18-951D-406D-887F-B298F7BF8108}">
      <dgm:prSet phldrT="[Texte]" custT="1"/>
      <dgm:spPr/>
      <dgm:t>
        <a:bodyPr/>
        <a:lstStyle/>
        <a:p>
          <a:r>
            <a:rPr lang="fr-CI" sz="1900" b="1" u="sng" dirty="0">
              <a:effectLst/>
              <a:latin typeface="Calibri" panose="020F0502020204030204" pitchFamily="34" charset="0"/>
              <a:ea typeface="Calibri" panose="020F0502020204030204" pitchFamily="34" charset="0"/>
              <a:cs typeface="Times New Roman" panose="02020603050405020304" pitchFamily="18" charset="0"/>
            </a:rPr>
            <a:t>Manifestation</a:t>
          </a:r>
          <a:r>
            <a:rPr lang="fr-CI" sz="1900" dirty="0">
              <a:effectLst/>
              <a:latin typeface="Calibri" panose="020F0502020204030204" pitchFamily="34" charset="0"/>
              <a:ea typeface="Calibri" panose="020F0502020204030204" pitchFamily="34" charset="0"/>
              <a:cs typeface="Times New Roman" panose="02020603050405020304" pitchFamily="18" charset="0"/>
            </a:rPr>
            <a:t> :  Elle se manifeste notamment par l'attraction terrestre qui nous retient au sol, la gravité, qui est responsable de plusieurs manifestations naturelles : les marées, l'orbite des planètes autour du Soleil, la sphéricité de la plupart des corps célestes en sont quelques exemples. </a:t>
          </a:r>
          <a:endParaRPr lang="fr-FR" sz="1900" dirty="0"/>
        </a:p>
      </dgm:t>
    </dgm:pt>
    <dgm:pt modelId="{61DFC6F4-4369-4C4A-9EC2-11C69CCC4FBB}" type="parTrans" cxnId="{2EDB3DE0-3CB9-4AFA-A5C4-52B7AB498323}">
      <dgm:prSet/>
      <dgm:spPr/>
      <dgm:t>
        <a:bodyPr/>
        <a:lstStyle/>
        <a:p>
          <a:endParaRPr lang="fr-FR"/>
        </a:p>
      </dgm:t>
    </dgm:pt>
    <dgm:pt modelId="{4B93DC03-23D5-42A7-BD77-1E6339EA8D23}" type="sibTrans" cxnId="{2EDB3DE0-3CB9-4AFA-A5C4-52B7AB498323}">
      <dgm:prSet/>
      <dgm:spPr/>
      <dgm:t>
        <a:bodyPr/>
        <a:lstStyle/>
        <a:p>
          <a:endParaRPr lang="fr-FR"/>
        </a:p>
      </dgm:t>
    </dgm:pt>
    <dgm:pt modelId="{11D1BD81-BA16-49EC-9554-220C59DD0C9B}">
      <dgm:prSet phldrT="[Texte]" custT="1"/>
      <dgm:spPr/>
      <dgm:t>
        <a:bodyPr/>
        <a:lstStyle/>
        <a:p>
          <a:r>
            <a:rPr lang="fr-CI" sz="1900" b="1" dirty="0"/>
            <a:t>Plusieurs théories ont tenté de rendre compte de la gravitation</a:t>
          </a:r>
          <a:r>
            <a:rPr lang="fr-CI" sz="1900" dirty="0"/>
            <a:t>. </a:t>
          </a:r>
          <a:endParaRPr lang="fr-FR" sz="1900" dirty="0"/>
        </a:p>
      </dgm:t>
    </dgm:pt>
    <dgm:pt modelId="{83B1076D-E546-403D-B1C3-E90CF7395F73}" type="sibTrans" cxnId="{FE1A4BAF-8346-4C19-8A2A-B93960E3EA43}">
      <dgm:prSet/>
      <dgm:spPr/>
      <dgm:t>
        <a:bodyPr/>
        <a:lstStyle/>
        <a:p>
          <a:endParaRPr lang="fr-FR"/>
        </a:p>
      </dgm:t>
    </dgm:pt>
    <dgm:pt modelId="{0CB160BF-F258-400C-A348-E808924FD122}" type="parTrans" cxnId="{FE1A4BAF-8346-4C19-8A2A-B93960E3EA43}">
      <dgm:prSet/>
      <dgm:spPr/>
      <dgm:t>
        <a:bodyPr/>
        <a:lstStyle/>
        <a:p>
          <a:endParaRPr lang="fr-FR"/>
        </a:p>
      </dgm:t>
    </dgm:pt>
    <dgm:pt modelId="{18C699C3-3CAE-45A0-B265-27C8850D00B3}" type="pres">
      <dgm:prSet presAssocID="{E1485B16-6038-4B51-9123-C01724F0E923}" presName="outerComposite" presStyleCnt="0">
        <dgm:presLayoutVars>
          <dgm:chMax val="5"/>
          <dgm:dir/>
          <dgm:resizeHandles val="exact"/>
        </dgm:presLayoutVars>
      </dgm:prSet>
      <dgm:spPr/>
    </dgm:pt>
    <dgm:pt modelId="{EF3BE922-62CF-46E5-9008-BD3C66816C44}" type="pres">
      <dgm:prSet presAssocID="{E1485B16-6038-4B51-9123-C01724F0E923}" presName="dummyMaxCanvas" presStyleCnt="0">
        <dgm:presLayoutVars/>
      </dgm:prSet>
      <dgm:spPr/>
    </dgm:pt>
    <dgm:pt modelId="{67CC8B19-6817-46EB-818F-25CA678405C7}" type="pres">
      <dgm:prSet presAssocID="{E1485B16-6038-4B51-9123-C01724F0E923}" presName="ThreeNodes_1" presStyleLbl="node1" presStyleIdx="0" presStyleCnt="3" custScaleX="100517">
        <dgm:presLayoutVars>
          <dgm:bulletEnabled val="1"/>
        </dgm:presLayoutVars>
      </dgm:prSet>
      <dgm:spPr/>
    </dgm:pt>
    <dgm:pt modelId="{6C680C54-C935-40E2-8C87-02D785154286}" type="pres">
      <dgm:prSet presAssocID="{E1485B16-6038-4B51-9123-C01724F0E923}" presName="ThreeNodes_2" presStyleLbl="node1" presStyleIdx="1" presStyleCnt="3" custScaleY="108599">
        <dgm:presLayoutVars>
          <dgm:bulletEnabled val="1"/>
        </dgm:presLayoutVars>
      </dgm:prSet>
      <dgm:spPr/>
    </dgm:pt>
    <dgm:pt modelId="{F054F885-06ED-481C-B5F7-6E557D50E606}" type="pres">
      <dgm:prSet presAssocID="{E1485B16-6038-4B51-9123-C01724F0E923}" presName="ThreeNodes_3" presStyleLbl="node1" presStyleIdx="2" presStyleCnt="3" custLinFactNeighborX="0" custLinFactNeighborY="-1034">
        <dgm:presLayoutVars>
          <dgm:bulletEnabled val="1"/>
        </dgm:presLayoutVars>
      </dgm:prSet>
      <dgm:spPr/>
    </dgm:pt>
    <dgm:pt modelId="{2FB76E6F-AE93-4BBE-ADBE-C61792A49642}" type="pres">
      <dgm:prSet presAssocID="{E1485B16-6038-4B51-9123-C01724F0E923}" presName="ThreeConn_1-2" presStyleLbl="fgAccFollowNode1" presStyleIdx="0" presStyleCnt="2">
        <dgm:presLayoutVars>
          <dgm:bulletEnabled val="1"/>
        </dgm:presLayoutVars>
      </dgm:prSet>
      <dgm:spPr/>
    </dgm:pt>
    <dgm:pt modelId="{B0450DFB-F6ED-4616-9296-A75718B48068}" type="pres">
      <dgm:prSet presAssocID="{E1485B16-6038-4B51-9123-C01724F0E923}" presName="ThreeConn_2-3" presStyleLbl="fgAccFollowNode1" presStyleIdx="1" presStyleCnt="2">
        <dgm:presLayoutVars>
          <dgm:bulletEnabled val="1"/>
        </dgm:presLayoutVars>
      </dgm:prSet>
      <dgm:spPr/>
    </dgm:pt>
    <dgm:pt modelId="{32220FA8-EB5D-43B9-8C43-C1C647E8BF16}" type="pres">
      <dgm:prSet presAssocID="{E1485B16-6038-4B51-9123-C01724F0E923}" presName="ThreeNodes_1_text" presStyleLbl="node1" presStyleIdx="2" presStyleCnt="3">
        <dgm:presLayoutVars>
          <dgm:bulletEnabled val="1"/>
        </dgm:presLayoutVars>
      </dgm:prSet>
      <dgm:spPr/>
    </dgm:pt>
    <dgm:pt modelId="{D330C05D-EA3C-4AD9-BB7B-F7DBD5AAD408}" type="pres">
      <dgm:prSet presAssocID="{E1485B16-6038-4B51-9123-C01724F0E923}" presName="ThreeNodes_2_text" presStyleLbl="node1" presStyleIdx="2" presStyleCnt="3">
        <dgm:presLayoutVars>
          <dgm:bulletEnabled val="1"/>
        </dgm:presLayoutVars>
      </dgm:prSet>
      <dgm:spPr/>
    </dgm:pt>
    <dgm:pt modelId="{63B396B2-79A6-4661-AE5A-E87F1E06AC32}" type="pres">
      <dgm:prSet presAssocID="{E1485B16-6038-4B51-9123-C01724F0E923}" presName="ThreeNodes_3_text" presStyleLbl="node1" presStyleIdx="2" presStyleCnt="3">
        <dgm:presLayoutVars>
          <dgm:bulletEnabled val="1"/>
        </dgm:presLayoutVars>
      </dgm:prSet>
      <dgm:spPr/>
    </dgm:pt>
  </dgm:ptLst>
  <dgm:cxnLst>
    <dgm:cxn modelId="{7D0C5F04-B960-4F5B-A37C-3A41F2DB620A}" srcId="{E1485B16-6038-4B51-9123-C01724F0E923}" destId="{2084D85F-1231-45BF-AB0B-4965BD2C1D7B}" srcOrd="0" destOrd="0" parTransId="{C7A08C58-6210-47E9-BD28-BE42DAA6F885}" sibTransId="{5C613D9B-64D9-4ACA-BC47-B89ABC62336B}"/>
    <dgm:cxn modelId="{F11FD414-5EDF-43FD-8C1E-F736B0340942}" type="presOf" srcId="{5F4B6F18-951D-406D-887F-B298F7BF8108}" destId="{D330C05D-EA3C-4AD9-BB7B-F7DBD5AAD408}" srcOrd="1" destOrd="0" presId="urn:microsoft.com/office/officeart/2005/8/layout/vProcess5"/>
    <dgm:cxn modelId="{51342B2F-2516-4DFC-ACC8-439C3D1622AD}" type="presOf" srcId="{E1485B16-6038-4B51-9123-C01724F0E923}" destId="{18C699C3-3CAE-45A0-B265-27C8850D00B3}" srcOrd="0" destOrd="0" presId="urn:microsoft.com/office/officeart/2005/8/layout/vProcess5"/>
    <dgm:cxn modelId="{E1F15C67-0CF8-4F16-B091-7610B891888D}" type="presOf" srcId="{5C613D9B-64D9-4ACA-BC47-B89ABC62336B}" destId="{2FB76E6F-AE93-4BBE-ADBE-C61792A49642}" srcOrd="0" destOrd="0" presId="urn:microsoft.com/office/officeart/2005/8/layout/vProcess5"/>
    <dgm:cxn modelId="{DF75AC56-4407-44DF-BE9B-3FC54D0F318D}" type="presOf" srcId="{4B93DC03-23D5-42A7-BD77-1E6339EA8D23}" destId="{B0450DFB-F6ED-4616-9296-A75718B48068}" srcOrd="0" destOrd="0" presId="urn:microsoft.com/office/officeart/2005/8/layout/vProcess5"/>
    <dgm:cxn modelId="{547A86A7-44C7-4E4D-99DE-E212649DC4F4}" type="presOf" srcId="{11D1BD81-BA16-49EC-9554-220C59DD0C9B}" destId="{F054F885-06ED-481C-B5F7-6E557D50E606}" srcOrd="0" destOrd="0" presId="urn:microsoft.com/office/officeart/2005/8/layout/vProcess5"/>
    <dgm:cxn modelId="{FE1A4BAF-8346-4C19-8A2A-B93960E3EA43}" srcId="{E1485B16-6038-4B51-9123-C01724F0E923}" destId="{11D1BD81-BA16-49EC-9554-220C59DD0C9B}" srcOrd="2" destOrd="0" parTransId="{0CB160BF-F258-400C-A348-E808924FD122}" sibTransId="{83B1076D-E546-403D-B1C3-E90CF7395F73}"/>
    <dgm:cxn modelId="{D5CC05B2-F285-488E-9AEC-68358501BFB3}" type="presOf" srcId="{2084D85F-1231-45BF-AB0B-4965BD2C1D7B}" destId="{67CC8B19-6817-46EB-818F-25CA678405C7}" srcOrd="0" destOrd="0" presId="urn:microsoft.com/office/officeart/2005/8/layout/vProcess5"/>
    <dgm:cxn modelId="{D2EFEAD8-B020-4F8F-9822-415543FE29C8}" type="presOf" srcId="{2084D85F-1231-45BF-AB0B-4965BD2C1D7B}" destId="{32220FA8-EB5D-43B9-8C43-C1C647E8BF16}" srcOrd="1" destOrd="0" presId="urn:microsoft.com/office/officeart/2005/8/layout/vProcess5"/>
    <dgm:cxn modelId="{2EDB3DE0-3CB9-4AFA-A5C4-52B7AB498323}" srcId="{E1485B16-6038-4B51-9123-C01724F0E923}" destId="{5F4B6F18-951D-406D-887F-B298F7BF8108}" srcOrd="1" destOrd="0" parTransId="{61DFC6F4-4369-4C4A-9EC2-11C69CCC4FBB}" sibTransId="{4B93DC03-23D5-42A7-BD77-1E6339EA8D23}"/>
    <dgm:cxn modelId="{E82A35E9-1ACD-489B-8034-21761A4A5D75}" type="presOf" srcId="{11D1BD81-BA16-49EC-9554-220C59DD0C9B}" destId="{63B396B2-79A6-4661-AE5A-E87F1E06AC32}" srcOrd="1" destOrd="0" presId="urn:microsoft.com/office/officeart/2005/8/layout/vProcess5"/>
    <dgm:cxn modelId="{7FADD7F2-CE19-4020-A5A7-4146D4EEC082}" type="presOf" srcId="{5F4B6F18-951D-406D-887F-B298F7BF8108}" destId="{6C680C54-C935-40E2-8C87-02D785154286}" srcOrd="0" destOrd="0" presId="urn:microsoft.com/office/officeart/2005/8/layout/vProcess5"/>
    <dgm:cxn modelId="{8745986C-4449-41CC-8B6A-20D080C61F8B}" type="presParOf" srcId="{18C699C3-3CAE-45A0-B265-27C8850D00B3}" destId="{EF3BE922-62CF-46E5-9008-BD3C66816C44}" srcOrd="0" destOrd="0" presId="urn:microsoft.com/office/officeart/2005/8/layout/vProcess5"/>
    <dgm:cxn modelId="{67CDB0E0-D5EC-4611-AA6A-9C9D7A830EDF}" type="presParOf" srcId="{18C699C3-3CAE-45A0-B265-27C8850D00B3}" destId="{67CC8B19-6817-46EB-818F-25CA678405C7}" srcOrd="1" destOrd="0" presId="urn:microsoft.com/office/officeart/2005/8/layout/vProcess5"/>
    <dgm:cxn modelId="{DDD658AE-5D00-41A2-993D-CBB6FFA901D7}" type="presParOf" srcId="{18C699C3-3CAE-45A0-B265-27C8850D00B3}" destId="{6C680C54-C935-40E2-8C87-02D785154286}" srcOrd="2" destOrd="0" presId="urn:microsoft.com/office/officeart/2005/8/layout/vProcess5"/>
    <dgm:cxn modelId="{1AEAA55F-F410-4C99-BB70-FF90EE02C672}" type="presParOf" srcId="{18C699C3-3CAE-45A0-B265-27C8850D00B3}" destId="{F054F885-06ED-481C-B5F7-6E557D50E606}" srcOrd="3" destOrd="0" presId="urn:microsoft.com/office/officeart/2005/8/layout/vProcess5"/>
    <dgm:cxn modelId="{B09DBC87-CC26-4C76-A336-D527E4A91761}" type="presParOf" srcId="{18C699C3-3CAE-45A0-B265-27C8850D00B3}" destId="{2FB76E6F-AE93-4BBE-ADBE-C61792A49642}" srcOrd="4" destOrd="0" presId="urn:microsoft.com/office/officeart/2005/8/layout/vProcess5"/>
    <dgm:cxn modelId="{E29D30A6-0F47-4184-9E67-EAE2803CE0EF}" type="presParOf" srcId="{18C699C3-3CAE-45A0-B265-27C8850D00B3}" destId="{B0450DFB-F6ED-4616-9296-A75718B48068}" srcOrd="5" destOrd="0" presId="urn:microsoft.com/office/officeart/2005/8/layout/vProcess5"/>
    <dgm:cxn modelId="{37169FBB-7DFC-4FC7-9CFF-BD397D2F16B7}" type="presParOf" srcId="{18C699C3-3CAE-45A0-B265-27C8850D00B3}" destId="{32220FA8-EB5D-43B9-8C43-C1C647E8BF16}" srcOrd="6" destOrd="0" presId="urn:microsoft.com/office/officeart/2005/8/layout/vProcess5"/>
    <dgm:cxn modelId="{8D84F26B-3A57-42BD-983E-3C12FD6213F0}" type="presParOf" srcId="{18C699C3-3CAE-45A0-B265-27C8850D00B3}" destId="{D330C05D-EA3C-4AD9-BB7B-F7DBD5AAD408}" srcOrd="7" destOrd="0" presId="urn:microsoft.com/office/officeart/2005/8/layout/vProcess5"/>
    <dgm:cxn modelId="{66407D6A-2301-4E32-A6CE-9BF6FE417B35}" type="presParOf" srcId="{18C699C3-3CAE-45A0-B265-27C8850D00B3}" destId="{63B396B2-79A6-4661-AE5A-E87F1E06AC32}"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17C4FE42-2190-4C70-AFE9-25353D5025D4}" type="doc">
      <dgm:prSet loTypeId="urn:microsoft.com/office/officeart/2005/8/layout/vList2" loCatId="list" qsTypeId="urn:microsoft.com/office/officeart/2005/8/quickstyle/simple5" qsCatId="simple" csTypeId="urn:microsoft.com/office/officeart/2005/8/colors/accent1_2" csCatId="accent1" phldr="1"/>
      <dgm:spPr/>
      <dgm:t>
        <a:bodyPr/>
        <a:lstStyle/>
        <a:p>
          <a:endParaRPr lang="fr-FR"/>
        </a:p>
      </dgm:t>
    </dgm:pt>
    <dgm:pt modelId="{4C2A5D8D-A9EC-48C6-AA9E-A1E9F5B9689B}">
      <dgm:prSet phldrT="[Texte]" custT="1"/>
      <dgm:spPr/>
      <dgm:t>
        <a:bodyPr/>
        <a:lstStyle/>
        <a:p>
          <a:r>
            <a:rPr lang="fr-CI" sz="1900" dirty="0"/>
            <a:t>La loi universelle de la gravitation ou loi de l'attraction universelle</a:t>
          </a:r>
          <a:endParaRPr lang="fr-FR" sz="1900" dirty="0"/>
        </a:p>
      </dgm:t>
    </dgm:pt>
    <dgm:pt modelId="{FC9D2B3A-C5A5-49A6-AAEE-8A321BF12631}" type="parTrans" cxnId="{68E83CBC-D45F-45D3-8D44-8DADBD8F953C}">
      <dgm:prSet/>
      <dgm:spPr/>
      <dgm:t>
        <a:bodyPr/>
        <a:lstStyle/>
        <a:p>
          <a:endParaRPr lang="fr-FR" sz="1900"/>
        </a:p>
      </dgm:t>
    </dgm:pt>
    <dgm:pt modelId="{7569D911-C756-4C83-A1C9-549C495CB56C}" type="sibTrans" cxnId="{68E83CBC-D45F-45D3-8D44-8DADBD8F953C}">
      <dgm:prSet/>
      <dgm:spPr/>
      <dgm:t>
        <a:bodyPr/>
        <a:lstStyle/>
        <a:p>
          <a:endParaRPr lang="fr-FR" sz="1900"/>
        </a:p>
      </dgm:t>
    </dgm:pt>
    <dgm:pt modelId="{659D08B6-718F-4F40-8337-EBC762006D2F}">
      <dgm:prSet phldrT="[Texte]" custT="1"/>
      <dgm:spPr/>
      <dgm:t>
        <a:bodyPr/>
        <a:lstStyle/>
        <a:p>
          <a:pPr algn="just"/>
          <a:r>
            <a:rPr lang="fr-CI" sz="1900" dirty="0">
              <a:latin typeface="Calibri" panose="020F0502020204030204" pitchFamily="34" charset="0"/>
              <a:cs typeface="Calibri" panose="020F0502020204030204" pitchFamily="34" charset="0"/>
            </a:rPr>
            <a:t>découverte par </a:t>
          </a:r>
          <a:r>
            <a:rPr lang="fr-CI" sz="1900" b="1" dirty="0">
              <a:latin typeface="Calibri" panose="020F0502020204030204" pitchFamily="34" charset="0"/>
              <a:cs typeface="Calibri" panose="020F0502020204030204" pitchFamily="34" charset="0"/>
            </a:rPr>
            <a:t>Isaac Newton</a:t>
          </a:r>
          <a:r>
            <a:rPr lang="fr-CI" sz="1900" dirty="0">
              <a:latin typeface="Calibri" panose="020F0502020204030204" pitchFamily="34" charset="0"/>
              <a:cs typeface="Calibri" panose="020F0502020204030204" pitchFamily="34" charset="0"/>
            </a:rPr>
            <a:t>, est la loi décrivant la gravitation comme une force responsable de la chute des corps et du mouvement des corps célestes, et de façon générale, de l'attraction entre des corps ayant une masse, par exemple les planètes, les satellites naturels ou artificiels</a:t>
          </a:r>
          <a:endParaRPr lang="fr-FR" sz="1900" dirty="0">
            <a:latin typeface="Calibri" panose="020F0502020204030204" pitchFamily="34" charset="0"/>
            <a:cs typeface="Calibri" panose="020F0502020204030204" pitchFamily="34" charset="0"/>
          </a:endParaRPr>
        </a:p>
      </dgm:t>
    </dgm:pt>
    <dgm:pt modelId="{467DF925-F81F-4AA9-ACC6-B1CD1272BC8A}" type="parTrans" cxnId="{5AAE2FCF-C93C-4B2D-BABB-F7119FE1C5C3}">
      <dgm:prSet/>
      <dgm:spPr/>
      <dgm:t>
        <a:bodyPr/>
        <a:lstStyle/>
        <a:p>
          <a:endParaRPr lang="fr-FR" sz="1900"/>
        </a:p>
      </dgm:t>
    </dgm:pt>
    <dgm:pt modelId="{83509DE1-A420-4B85-99B7-3AE119D2C76F}" type="sibTrans" cxnId="{5AAE2FCF-C93C-4B2D-BABB-F7119FE1C5C3}">
      <dgm:prSet/>
      <dgm:spPr/>
      <dgm:t>
        <a:bodyPr/>
        <a:lstStyle/>
        <a:p>
          <a:endParaRPr lang="fr-FR" sz="1900"/>
        </a:p>
      </dgm:t>
    </dgm:pt>
    <dgm:pt modelId="{6CDA35A1-1F4D-4FAC-BE75-1FC8B60E1424}">
      <dgm:prSet phldrT="[Texte]" custT="1"/>
      <dgm:spPr/>
      <dgm:t>
        <a:bodyPr/>
        <a:lstStyle/>
        <a:p>
          <a:r>
            <a:rPr lang="fr-CI" sz="1900" dirty="0"/>
            <a:t>La théorie de la relativité générale </a:t>
          </a:r>
          <a:r>
            <a:rPr lang="fr-CI" sz="1900" b="1" dirty="0"/>
            <a:t>d'Albert Einstein (1915)</a:t>
          </a:r>
          <a:endParaRPr lang="fr-FR" sz="1900" dirty="0"/>
        </a:p>
      </dgm:t>
    </dgm:pt>
    <dgm:pt modelId="{9FC577DA-24E6-41C4-81AA-7B2A6AF07056}" type="parTrans" cxnId="{300B6D77-206F-436F-8061-F039B6F4391A}">
      <dgm:prSet/>
      <dgm:spPr/>
      <dgm:t>
        <a:bodyPr/>
        <a:lstStyle/>
        <a:p>
          <a:endParaRPr lang="fr-FR" sz="1900"/>
        </a:p>
      </dgm:t>
    </dgm:pt>
    <dgm:pt modelId="{419B86EA-760A-4648-8445-DC0881022EB3}" type="sibTrans" cxnId="{300B6D77-206F-436F-8061-F039B6F4391A}">
      <dgm:prSet/>
      <dgm:spPr/>
      <dgm:t>
        <a:bodyPr/>
        <a:lstStyle/>
        <a:p>
          <a:endParaRPr lang="fr-FR" sz="1900"/>
        </a:p>
      </dgm:t>
    </dgm:pt>
    <dgm:pt modelId="{99B2A6A9-32E5-4403-BA7B-C6896CC9E50E}">
      <dgm:prSet phldrT="[Texte]" custT="1"/>
      <dgm:spPr/>
      <dgm:t>
        <a:bodyPr/>
        <a:lstStyle/>
        <a:p>
          <a:pPr algn="just"/>
          <a:r>
            <a:rPr lang="fr-CI" sz="1900" dirty="0">
              <a:latin typeface="Calibri" panose="020F0502020204030204" pitchFamily="34" charset="0"/>
              <a:cs typeface="Calibri" panose="020F0502020204030204" pitchFamily="34" charset="0"/>
            </a:rPr>
            <a:t>Elle serait la plus satisfaisante. Elle considère la gravitation comme une manifestation de la courbure de l'espace-temps sous l'effet de l'énergie de la matière qui s'y trouve. La loi de la gravitation de Newton, élaborée à la fin du XVII siècle, demeure cependant une excellente approximation dans les cas non relativistes (vitesses faibles par rapport à celle de la lumière et masses de l'ordre de la masse solaire ou inférieures).</a:t>
          </a:r>
          <a:endParaRPr lang="fr-FR" sz="1900" dirty="0">
            <a:latin typeface="Calibri" panose="020F0502020204030204" pitchFamily="34" charset="0"/>
            <a:cs typeface="Calibri" panose="020F0502020204030204" pitchFamily="34" charset="0"/>
          </a:endParaRPr>
        </a:p>
      </dgm:t>
    </dgm:pt>
    <dgm:pt modelId="{32CB0C67-CFFA-4BC6-94C1-F189FB3AC253}" type="parTrans" cxnId="{0E53249B-811E-42B4-9D56-1AD568BC2EDA}">
      <dgm:prSet/>
      <dgm:spPr/>
      <dgm:t>
        <a:bodyPr/>
        <a:lstStyle/>
        <a:p>
          <a:endParaRPr lang="fr-FR" sz="1900"/>
        </a:p>
      </dgm:t>
    </dgm:pt>
    <dgm:pt modelId="{999E793D-23D6-4AE2-9567-2F85B35B3AB4}" type="sibTrans" cxnId="{0E53249B-811E-42B4-9D56-1AD568BC2EDA}">
      <dgm:prSet/>
      <dgm:spPr/>
      <dgm:t>
        <a:bodyPr/>
        <a:lstStyle/>
        <a:p>
          <a:endParaRPr lang="fr-FR" sz="1900"/>
        </a:p>
      </dgm:t>
    </dgm:pt>
    <dgm:pt modelId="{42330CD0-124C-4962-B4C5-7985F733ABAA}">
      <dgm:prSet custT="1"/>
      <dgm:spPr/>
      <dgm:t>
        <a:bodyPr/>
        <a:lstStyle/>
        <a:p>
          <a:pPr algn="l"/>
          <a:r>
            <a:rPr lang="fr-CI" sz="1900" dirty="0">
              <a:latin typeface="Calibri" panose="020F0502020204030204" pitchFamily="34" charset="0"/>
              <a:cs typeface="Calibri" panose="020F0502020204030204" pitchFamily="34" charset="0"/>
            </a:rPr>
            <a:t>Il s'agit, parmi les quatre interactions élémentaires, de la première qui a été découverte.</a:t>
          </a:r>
          <a:endParaRPr lang="fr-FR" sz="1900" dirty="0">
            <a:latin typeface="Calibri" panose="020F0502020204030204" pitchFamily="34" charset="0"/>
            <a:cs typeface="Calibri" panose="020F0502020204030204" pitchFamily="34" charset="0"/>
          </a:endParaRPr>
        </a:p>
      </dgm:t>
    </dgm:pt>
    <dgm:pt modelId="{2BB19D40-6201-4BEE-8772-657457C52049}" type="parTrans" cxnId="{230D5C96-323C-4CE3-9BB2-2A983594520E}">
      <dgm:prSet/>
      <dgm:spPr/>
      <dgm:t>
        <a:bodyPr/>
        <a:lstStyle/>
        <a:p>
          <a:endParaRPr lang="fr-FR" sz="1900"/>
        </a:p>
      </dgm:t>
    </dgm:pt>
    <dgm:pt modelId="{B35205E2-9B22-494C-B627-06F575FFD550}" type="sibTrans" cxnId="{230D5C96-323C-4CE3-9BB2-2A983594520E}">
      <dgm:prSet/>
      <dgm:spPr/>
      <dgm:t>
        <a:bodyPr/>
        <a:lstStyle/>
        <a:p>
          <a:endParaRPr lang="fr-FR" sz="1900"/>
        </a:p>
      </dgm:t>
    </dgm:pt>
    <dgm:pt modelId="{C5C3C7F4-F984-405E-BD5E-74FAEC623FBA}">
      <dgm:prSet custT="1"/>
      <dgm:spPr/>
      <dgm:t>
        <a:bodyPr/>
        <a:lstStyle/>
        <a:p>
          <a:pPr algn="l"/>
          <a:endParaRPr lang="fr-FR" sz="1900" dirty="0">
            <a:latin typeface="Calibri" panose="020F0502020204030204" pitchFamily="34" charset="0"/>
            <a:cs typeface="Calibri" panose="020F0502020204030204" pitchFamily="34" charset="0"/>
          </a:endParaRPr>
        </a:p>
      </dgm:t>
    </dgm:pt>
    <dgm:pt modelId="{D39AA0FF-145D-472F-B416-701DE44E549A}" type="parTrans" cxnId="{5A505D7A-4107-4D24-8E85-60C24C0CA823}">
      <dgm:prSet/>
      <dgm:spPr/>
      <dgm:t>
        <a:bodyPr/>
        <a:lstStyle/>
        <a:p>
          <a:endParaRPr lang="fr-FR"/>
        </a:p>
      </dgm:t>
    </dgm:pt>
    <dgm:pt modelId="{5BEA2F4B-F784-4274-AF0D-AD0DC88C22F3}" type="sibTrans" cxnId="{5A505D7A-4107-4D24-8E85-60C24C0CA823}">
      <dgm:prSet/>
      <dgm:spPr/>
      <dgm:t>
        <a:bodyPr/>
        <a:lstStyle/>
        <a:p>
          <a:endParaRPr lang="fr-FR"/>
        </a:p>
      </dgm:t>
    </dgm:pt>
    <dgm:pt modelId="{B330E7E5-9D5A-468E-9BB3-0889E5B0B96F}">
      <dgm:prSet custT="1"/>
      <dgm:spPr/>
      <dgm:t>
        <a:bodyPr/>
        <a:lstStyle/>
        <a:p>
          <a:pPr algn="l"/>
          <a:endParaRPr lang="fr-FR" sz="1900" dirty="0">
            <a:latin typeface="Calibri" panose="020F0502020204030204" pitchFamily="34" charset="0"/>
            <a:cs typeface="Calibri" panose="020F0502020204030204" pitchFamily="34" charset="0"/>
          </a:endParaRPr>
        </a:p>
      </dgm:t>
    </dgm:pt>
    <dgm:pt modelId="{5C688F14-8966-459F-86AC-B835C59309CC}" type="parTrans" cxnId="{85968131-0C44-4EFF-B716-EE9835804EF9}">
      <dgm:prSet/>
      <dgm:spPr/>
      <dgm:t>
        <a:bodyPr/>
        <a:lstStyle/>
        <a:p>
          <a:endParaRPr lang="fr-FR"/>
        </a:p>
      </dgm:t>
    </dgm:pt>
    <dgm:pt modelId="{93BC0843-049E-4BAD-8DEF-C10EBEB084FC}" type="sibTrans" cxnId="{85968131-0C44-4EFF-B716-EE9835804EF9}">
      <dgm:prSet/>
      <dgm:spPr/>
      <dgm:t>
        <a:bodyPr/>
        <a:lstStyle/>
        <a:p>
          <a:endParaRPr lang="fr-FR"/>
        </a:p>
      </dgm:t>
    </dgm:pt>
    <dgm:pt modelId="{958813FA-1F75-48C3-A3B6-A441E3495747}" type="pres">
      <dgm:prSet presAssocID="{17C4FE42-2190-4C70-AFE9-25353D5025D4}" presName="linear" presStyleCnt="0">
        <dgm:presLayoutVars>
          <dgm:animLvl val="lvl"/>
          <dgm:resizeHandles val="exact"/>
        </dgm:presLayoutVars>
      </dgm:prSet>
      <dgm:spPr/>
    </dgm:pt>
    <dgm:pt modelId="{4CD42933-A63C-4298-8679-26311BF29E88}" type="pres">
      <dgm:prSet presAssocID="{4C2A5D8D-A9EC-48C6-AA9E-A1E9F5B9689B}" presName="parentText" presStyleLbl="node1" presStyleIdx="0" presStyleCnt="2" custScaleY="42295" custLinFactNeighborY="-12288">
        <dgm:presLayoutVars>
          <dgm:chMax val="0"/>
          <dgm:bulletEnabled val="1"/>
        </dgm:presLayoutVars>
      </dgm:prSet>
      <dgm:spPr/>
    </dgm:pt>
    <dgm:pt modelId="{E8D7A28D-5738-48DD-BB84-B6C713A525A3}" type="pres">
      <dgm:prSet presAssocID="{4C2A5D8D-A9EC-48C6-AA9E-A1E9F5B9689B}" presName="childText" presStyleLbl="revTx" presStyleIdx="0" presStyleCnt="2" custLinFactNeighborY="-13926">
        <dgm:presLayoutVars>
          <dgm:bulletEnabled val="1"/>
        </dgm:presLayoutVars>
      </dgm:prSet>
      <dgm:spPr/>
    </dgm:pt>
    <dgm:pt modelId="{B1239601-F558-4F33-928E-57102F7B6416}" type="pres">
      <dgm:prSet presAssocID="{6CDA35A1-1F4D-4FAC-BE75-1FC8B60E1424}" presName="parentText" presStyleLbl="node1" presStyleIdx="1" presStyleCnt="2" custScaleY="36297">
        <dgm:presLayoutVars>
          <dgm:chMax val="0"/>
          <dgm:bulletEnabled val="1"/>
        </dgm:presLayoutVars>
      </dgm:prSet>
      <dgm:spPr/>
    </dgm:pt>
    <dgm:pt modelId="{F1282368-8B34-49FD-B427-1BA445E4ACEA}" type="pres">
      <dgm:prSet presAssocID="{6CDA35A1-1F4D-4FAC-BE75-1FC8B60E1424}" presName="childText" presStyleLbl="revTx" presStyleIdx="1" presStyleCnt="2" custLinFactNeighborY="3975">
        <dgm:presLayoutVars>
          <dgm:bulletEnabled val="1"/>
        </dgm:presLayoutVars>
      </dgm:prSet>
      <dgm:spPr/>
    </dgm:pt>
  </dgm:ptLst>
  <dgm:cxnLst>
    <dgm:cxn modelId="{85968131-0C44-4EFF-B716-EE9835804EF9}" srcId="{4C2A5D8D-A9EC-48C6-AA9E-A1E9F5B9689B}" destId="{B330E7E5-9D5A-468E-9BB3-0889E5B0B96F}" srcOrd="3" destOrd="0" parTransId="{5C688F14-8966-459F-86AC-B835C59309CC}" sibTransId="{93BC0843-049E-4BAD-8DEF-C10EBEB084FC}"/>
    <dgm:cxn modelId="{55CFD33D-6F45-4D11-9D32-1F661DD44DC5}" type="presOf" srcId="{6CDA35A1-1F4D-4FAC-BE75-1FC8B60E1424}" destId="{B1239601-F558-4F33-928E-57102F7B6416}" srcOrd="0" destOrd="0" presId="urn:microsoft.com/office/officeart/2005/8/layout/vList2"/>
    <dgm:cxn modelId="{07BCF53F-3471-4318-97EC-A756AA2F5125}" type="presOf" srcId="{42330CD0-124C-4962-B4C5-7985F733ABAA}" destId="{E8D7A28D-5738-48DD-BB84-B6C713A525A3}" srcOrd="0" destOrd="1" presId="urn:microsoft.com/office/officeart/2005/8/layout/vList2"/>
    <dgm:cxn modelId="{6F029562-F028-46CE-94F7-C131A7E8DC13}" type="presOf" srcId="{C5C3C7F4-F984-405E-BD5E-74FAEC623FBA}" destId="{E8D7A28D-5738-48DD-BB84-B6C713A525A3}" srcOrd="0" destOrd="2" presId="urn:microsoft.com/office/officeart/2005/8/layout/vList2"/>
    <dgm:cxn modelId="{4F9F1863-16C2-47DD-A71D-0D3E0402027A}" type="presOf" srcId="{99B2A6A9-32E5-4403-BA7B-C6896CC9E50E}" destId="{F1282368-8B34-49FD-B427-1BA445E4ACEA}" srcOrd="0" destOrd="0" presId="urn:microsoft.com/office/officeart/2005/8/layout/vList2"/>
    <dgm:cxn modelId="{300B6D77-206F-436F-8061-F039B6F4391A}" srcId="{17C4FE42-2190-4C70-AFE9-25353D5025D4}" destId="{6CDA35A1-1F4D-4FAC-BE75-1FC8B60E1424}" srcOrd="1" destOrd="0" parTransId="{9FC577DA-24E6-41C4-81AA-7B2A6AF07056}" sibTransId="{419B86EA-760A-4648-8445-DC0881022EB3}"/>
    <dgm:cxn modelId="{5A505D7A-4107-4D24-8E85-60C24C0CA823}" srcId="{4C2A5D8D-A9EC-48C6-AA9E-A1E9F5B9689B}" destId="{C5C3C7F4-F984-405E-BD5E-74FAEC623FBA}" srcOrd="2" destOrd="0" parTransId="{D39AA0FF-145D-472F-B416-701DE44E549A}" sibTransId="{5BEA2F4B-F784-4274-AF0D-AD0DC88C22F3}"/>
    <dgm:cxn modelId="{230D5C96-323C-4CE3-9BB2-2A983594520E}" srcId="{4C2A5D8D-A9EC-48C6-AA9E-A1E9F5B9689B}" destId="{42330CD0-124C-4962-B4C5-7985F733ABAA}" srcOrd="1" destOrd="0" parTransId="{2BB19D40-6201-4BEE-8772-657457C52049}" sibTransId="{B35205E2-9B22-494C-B627-06F575FFD550}"/>
    <dgm:cxn modelId="{0E53249B-811E-42B4-9D56-1AD568BC2EDA}" srcId="{6CDA35A1-1F4D-4FAC-BE75-1FC8B60E1424}" destId="{99B2A6A9-32E5-4403-BA7B-C6896CC9E50E}" srcOrd="0" destOrd="0" parTransId="{32CB0C67-CFFA-4BC6-94C1-F189FB3AC253}" sibTransId="{999E793D-23D6-4AE2-9567-2F85B35B3AB4}"/>
    <dgm:cxn modelId="{A17DB49B-EFFE-491C-BF08-E698BD07FE65}" type="presOf" srcId="{4C2A5D8D-A9EC-48C6-AA9E-A1E9F5B9689B}" destId="{4CD42933-A63C-4298-8679-26311BF29E88}" srcOrd="0" destOrd="0" presId="urn:microsoft.com/office/officeart/2005/8/layout/vList2"/>
    <dgm:cxn modelId="{17FFDDB1-6435-48CF-9EF2-66ABA2C31B30}" type="presOf" srcId="{659D08B6-718F-4F40-8337-EBC762006D2F}" destId="{E8D7A28D-5738-48DD-BB84-B6C713A525A3}" srcOrd="0" destOrd="0" presId="urn:microsoft.com/office/officeart/2005/8/layout/vList2"/>
    <dgm:cxn modelId="{68E83CBC-D45F-45D3-8D44-8DADBD8F953C}" srcId="{17C4FE42-2190-4C70-AFE9-25353D5025D4}" destId="{4C2A5D8D-A9EC-48C6-AA9E-A1E9F5B9689B}" srcOrd="0" destOrd="0" parTransId="{FC9D2B3A-C5A5-49A6-AAEE-8A321BF12631}" sibTransId="{7569D911-C756-4C83-A1C9-549C495CB56C}"/>
    <dgm:cxn modelId="{5AAE2FCF-C93C-4B2D-BABB-F7119FE1C5C3}" srcId="{4C2A5D8D-A9EC-48C6-AA9E-A1E9F5B9689B}" destId="{659D08B6-718F-4F40-8337-EBC762006D2F}" srcOrd="0" destOrd="0" parTransId="{467DF925-F81F-4AA9-ACC6-B1CD1272BC8A}" sibTransId="{83509DE1-A420-4B85-99B7-3AE119D2C76F}"/>
    <dgm:cxn modelId="{B9F5E5DF-37B7-4AF0-BE1A-F9249E68116F}" type="presOf" srcId="{B330E7E5-9D5A-468E-9BB3-0889E5B0B96F}" destId="{E8D7A28D-5738-48DD-BB84-B6C713A525A3}" srcOrd="0" destOrd="3" presId="urn:microsoft.com/office/officeart/2005/8/layout/vList2"/>
    <dgm:cxn modelId="{BCB12CFB-7A47-4790-B808-777F85AD5E3A}" type="presOf" srcId="{17C4FE42-2190-4C70-AFE9-25353D5025D4}" destId="{958813FA-1F75-48C3-A3B6-A441E3495747}" srcOrd="0" destOrd="0" presId="urn:microsoft.com/office/officeart/2005/8/layout/vList2"/>
    <dgm:cxn modelId="{DCB83E3D-5A2C-43C0-8B2E-7D650027CDB9}" type="presParOf" srcId="{958813FA-1F75-48C3-A3B6-A441E3495747}" destId="{4CD42933-A63C-4298-8679-26311BF29E88}" srcOrd="0" destOrd="0" presId="urn:microsoft.com/office/officeart/2005/8/layout/vList2"/>
    <dgm:cxn modelId="{D3B9D068-E81A-4F79-AD7E-D89AC570979F}" type="presParOf" srcId="{958813FA-1F75-48C3-A3B6-A441E3495747}" destId="{E8D7A28D-5738-48DD-BB84-B6C713A525A3}" srcOrd="1" destOrd="0" presId="urn:microsoft.com/office/officeart/2005/8/layout/vList2"/>
    <dgm:cxn modelId="{8519186C-1215-497B-BDF1-B70B66C91978}" type="presParOf" srcId="{958813FA-1F75-48C3-A3B6-A441E3495747}" destId="{B1239601-F558-4F33-928E-57102F7B6416}" srcOrd="2" destOrd="0" presId="urn:microsoft.com/office/officeart/2005/8/layout/vList2"/>
    <dgm:cxn modelId="{A74C08D5-A432-4C92-96C9-8867135E7539}" type="presParOf" srcId="{958813FA-1F75-48C3-A3B6-A441E3495747}" destId="{F1282368-8B34-49FD-B427-1BA445E4ACEA}"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7C4FE42-2190-4C70-AFE9-25353D5025D4}" type="doc">
      <dgm:prSet loTypeId="urn:microsoft.com/office/officeart/2005/8/layout/vList2" loCatId="list" qsTypeId="urn:microsoft.com/office/officeart/2005/8/quickstyle/simple5" qsCatId="simple" csTypeId="urn:microsoft.com/office/officeart/2005/8/colors/accent1_2" csCatId="accent1" phldr="1"/>
      <dgm:spPr/>
      <dgm:t>
        <a:bodyPr/>
        <a:lstStyle/>
        <a:p>
          <a:endParaRPr lang="fr-FR"/>
        </a:p>
      </dgm:t>
    </dgm:pt>
    <dgm:pt modelId="{4C2A5D8D-A9EC-48C6-AA9E-A1E9F5B9689B}">
      <dgm:prSet phldrT="[Texte]" custT="1"/>
      <dgm:spPr/>
      <dgm:t>
        <a:bodyPr/>
        <a:lstStyle/>
        <a:p>
          <a:r>
            <a:rPr lang="fr-CI" sz="1900" kern="1200">
              <a:latin typeface="+mn-lt"/>
              <a:ea typeface="+mn-ea"/>
              <a:cs typeface="Calibri" panose="020F0502020204030204" pitchFamily="34" charset="0"/>
            </a:rPr>
            <a:t>La théorie de gravitation</a:t>
          </a:r>
          <a:endParaRPr lang="fr-FR" sz="1900" kern="1200" dirty="0">
            <a:latin typeface="+mn-lt"/>
            <a:ea typeface="+mn-ea"/>
            <a:cs typeface="Calibri" panose="020F0502020204030204" pitchFamily="34" charset="0"/>
          </a:endParaRPr>
        </a:p>
      </dgm:t>
    </dgm:pt>
    <dgm:pt modelId="{FC9D2B3A-C5A5-49A6-AAEE-8A321BF12631}" type="parTrans" cxnId="{68E83CBC-D45F-45D3-8D44-8DADBD8F953C}">
      <dgm:prSet/>
      <dgm:spPr/>
      <dgm:t>
        <a:bodyPr/>
        <a:lstStyle/>
        <a:p>
          <a:endParaRPr lang="fr-FR" sz="1900">
            <a:latin typeface="Calibri" panose="020F0502020204030204" pitchFamily="34" charset="0"/>
            <a:cs typeface="Calibri" panose="020F0502020204030204" pitchFamily="34" charset="0"/>
          </a:endParaRPr>
        </a:p>
      </dgm:t>
    </dgm:pt>
    <dgm:pt modelId="{7569D911-C756-4C83-A1C9-549C495CB56C}" type="sibTrans" cxnId="{68E83CBC-D45F-45D3-8D44-8DADBD8F953C}">
      <dgm:prSet/>
      <dgm:spPr/>
      <dgm:t>
        <a:bodyPr/>
        <a:lstStyle/>
        <a:p>
          <a:endParaRPr lang="fr-FR" sz="1900">
            <a:latin typeface="Calibri" panose="020F0502020204030204" pitchFamily="34" charset="0"/>
            <a:cs typeface="Calibri" panose="020F0502020204030204" pitchFamily="34" charset="0"/>
          </a:endParaRPr>
        </a:p>
      </dgm:t>
    </dgm:pt>
    <dgm:pt modelId="{659D08B6-718F-4F40-8337-EBC762006D2F}">
      <dgm:prSet phldrT="[Texte]" custT="1"/>
      <dgm:spPr/>
      <dgm:t>
        <a:bodyPr/>
        <a:lstStyle/>
        <a:p>
          <a:pPr algn="l"/>
          <a:r>
            <a:rPr lang="fr-CI" sz="1900" dirty="0">
              <a:latin typeface="Calibri" panose="020F0502020204030204" pitchFamily="34" charset="0"/>
              <a:cs typeface="Calibri" panose="020F0502020204030204" pitchFamily="34" charset="0"/>
            </a:rPr>
            <a:t>À l’échelle microscopique, la gravitation est la plus faible des quatre interactions fondamentales de la physique. Avec la force électromagnétique, elle est l'une des deux interactions à agir au-delà de la dimension du noyau atomique. </a:t>
          </a:r>
          <a:endParaRPr lang="fr-FR" sz="1900" dirty="0">
            <a:latin typeface="Calibri" panose="020F0502020204030204" pitchFamily="34" charset="0"/>
            <a:cs typeface="Calibri" panose="020F0502020204030204" pitchFamily="34" charset="0"/>
          </a:endParaRPr>
        </a:p>
      </dgm:t>
    </dgm:pt>
    <dgm:pt modelId="{467DF925-F81F-4AA9-ACC6-B1CD1272BC8A}" type="parTrans" cxnId="{5AAE2FCF-C93C-4B2D-BABB-F7119FE1C5C3}">
      <dgm:prSet/>
      <dgm:spPr/>
      <dgm:t>
        <a:bodyPr/>
        <a:lstStyle/>
        <a:p>
          <a:endParaRPr lang="fr-FR" sz="1900">
            <a:latin typeface="Calibri" panose="020F0502020204030204" pitchFamily="34" charset="0"/>
            <a:cs typeface="Calibri" panose="020F0502020204030204" pitchFamily="34" charset="0"/>
          </a:endParaRPr>
        </a:p>
      </dgm:t>
    </dgm:pt>
    <dgm:pt modelId="{83509DE1-A420-4B85-99B7-3AE119D2C76F}" type="sibTrans" cxnId="{5AAE2FCF-C93C-4B2D-BABB-F7119FE1C5C3}">
      <dgm:prSet/>
      <dgm:spPr/>
      <dgm:t>
        <a:bodyPr/>
        <a:lstStyle/>
        <a:p>
          <a:endParaRPr lang="fr-FR" sz="1900">
            <a:latin typeface="Calibri" panose="020F0502020204030204" pitchFamily="34" charset="0"/>
            <a:cs typeface="Calibri" panose="020F0502020204030204" pitchFamily="34" charset="0"/>
          </a:endParaRPr>
        </a:p>
      </dgm:t>
    </dgm:pt>
    <dgm:pt modelId="{6CDA35A1-1F4D-4FAC-BE75-1FC8B60E1424}">
      <dgm:prSet phldrT="[Texte]" custT="1"/>
      <dgm:spPr/>
      <dgm:t>
        <a:bodyPr/>
        <a:lstStyle/>
        <a:p>
          <a:r>
            <a:rPr lang="fr-CI" sz="1900" dirty="0">
              <a:latin typeface="+mn-lt"/>
              <a:cs typeface="Calibri" panose="020F0502020204030204" pitchFamily="34" charset="0"/>
            </a:rPr>
            <a:t>La théorie de la relativité</a:t>
          </a:r>
          <a:endParaRPr lang="fr-FR" sz="1900" dirty="0">
            <a:latin typeface="+mn-lt"/>
            <a:cs typeface="Calibri" panose="020F0502020204030204" pitchFamily="34" charset="0"/>
          </a:endParaRPr>
        </a:p>
      </dgm:t>
    </dgm:pt>
    <dgm:pt modelId="{9FC577DA-24E6-41C4-81AA-7B2A6AF07056}" type="parTrans" cxnId="{300B6D77-206F-436F-8061-F039B6F4391A}">
      <dgm:prSet/>
      <dgm:spPr/>
      <dgm:t>
        <a:bodyPr/>
        <a:lstStyle/>
        <a:p>
          <a:endParaRPr lang="fr-FR" sz="1900">
            <a:latin typeface="Calibri" panose="020F0502020204030204" pitchFamily="34" charset="0"/>
            <a:cs typeface="Calibri" panose="020F0502020204030204" pitchFamily="34" charset="0"/>
          </a:endParaRPr>
        </a:p>
      </dgm:t>
    </dgm:pt>
    <dgm:pt modelId="{419B86EA-760A-4648-8445-DC0881022EB3}" type="sibTrans" cxnId="{300B6D77-206F-436F-8061-F039B6F4391A}">
      <dgm:prSet/>
      <dgm:spPr/>
      <dgm:t>
        <a:bodyPr/>
        <a:lstStyle/>
        <a:p>
          <a:endParaRPr lang="fr-FR" sz="1900">
            <a:latin typeface="Calibri" panose="020F0502020204030204" pitchFamily="34" charset="0"/>
            <a:cs typeface="Calibri" panose="020F0502020204030204" pitchFamily="34" charset="0"/>
          </a:endParaRPr>
        </a:p>
      </dgm:t>
    </dgm:pt>
    <dgm:pt modelId="{0C358A08-5325-445F-AD44-3CE11034646C}">
      <dgm:prSet custT="1"/>
      <dgm:spPr/>
      <dgm:t>
        <a:bodyPr/>
        <a:lstStyle/>
        <a:p>
          <a:pPr algn="just"/>
          <a:r>
            <a:rPr lang="fr-CI" sz="1900" dirty="0">
              <a:latin typeface="Calibri" panose="020F0502020204030204" pitchFamily="34" charset="0"/>
              <a:cs typeface="Calibri" panose="020F0502020204030204" pitchFamily="34" charset="0"/>
            </a:rPr>
            <a:t>La relativité générale a permis de prédire un phénomène qui n’avait jamais été observé auparavant : que la lumière serait déviée en présence d’un champ gravitationnel très fort. Lorsque cette prédiction presque incroyable fut vérifiée de façon expérimentale à l’occasion des expéditions organisées en 1919 par sir Arthur Eddington (1882-1944) au golfe de Guinée et au Brésil, la célébrité d’Einstein fut totale</a:t>
          </a:r>
          <a:endParaRPr lang="fr-FR" sz="1900" dirty="0"/>
        </a:p>
      </dgm:t>
    </dgm:pt>
    <dgm:pt modelId="{E3D9E0D5-0B5C-46D3-A7CA-BB2960F92C5F}" type="parTrans" cxnId="{CE0D85F7-CED2-452B-A631-37D59A25E333}">
      <dgm:prSet/>
      <dgm:spPr/>
      <dgm:t>
        <a:bodyPr/>
        <a:lstStyle/>
        <a:p>
          <a:endParaRPr lang="fr-FR" sz="1900"/>
        </a:p>
      </dgm:t>
    </dgm:pt>
    <dgm:pt modelId="{02CA6167-BAF0-42DE-8D1E-78FC646C4FA1}" type="sibTrans" cxnId="{CE0D85F7-CED2-452B-A631-37D59A25E333}">
      <dgm:prSet/>
      <dgm:spPr/>
      <dgm:t>
        <a:bodyPr/>
        <a:lstStyle/>
        <a:p>
          <a:endParaRPr lang="fr-FR" sz="1900"/>
        </a:p>
      </dgm:t>
    </dgm:pt>
    <dgm:pt modelId="{DCCA83F9-98C0-4D37-9326-0A167700BE5E}">
      <dgm:prSet custT="1"/>
      <dgm:spPr/>
      <dgm:t>
        <a:bodyPr/>
        <a:lstStyle/>
        <a:p>
          <a:pPr algn="l"/>
          <a:r>
            <a:rPr lang="fr-CI" sz="1900" b="1" dirty="0">
              <a:latin typeface="Calibri" panose="020F0502020204030204" pitchFamily="34" charset="0"/>
              <a:cs typeface="Calibri" panose="020F0502020204030204" pitchFamily="34" charset="0"/>
            </a:rPr>
            <a:t>En particulier que le monde a eu un début et qu’il aura une fin : la fin thermique de l’Univers.</a:t>
          </a:r>
          <a:endParaRPr lang="fr-FR" sz="1900" b="1" dirty="0">
            <a:latin typeface="Calibri" panose="020F0502020204030204" pitchFamily="34" charset="0"/>
            <a:cs typeface="Calibri" panose="020F0502020204030204" pitchFamily="34" charset="0"/>
          </a:endParaRPr>
        </a:p>
      </dgm:t>
    </dgm:pt>
    <dgm:pt modelId="{257BB6CF-FD12-46B5-A320-C392CC0105F7}" type="parTrans" cxnId="{D43FE492-972F-434A-AD7A-F4010153A0D1}">
      <dgm:prSet/>
      <dgm:spPr/>
      <dgm:t>
        <a:bodyPr/>
        <a:lstStyle/>
        <a:p>
          <a:endParaRPr lang="fr-FR" sz="1900"/>
        </a:p>
      </dgm:t>
    </dgm:pt>
    <dgm:pt modelId="{89E5E4FA-C710-4814-91F6-8EDD6CB5ADE7}" type="sibTrans" cxnId="{D43FE492-972F-434A-AD7A-F4010153A0D1}">
      <dgm:prSet/>
      <dgm:spPr/>
      <dgm:t>
        <a:bodyPr/>
        <a:lstStyle/>
        <a:p>
          <a:endParaRPr lang="fr-FR" sz="1900"/>
        </a:p>
      </dgm:t>
    </dgm:pt>
    <dgm:pt modelId="{D17A38DD-CFE2-4EB0-BB2E-D47E0161BF06}">
      <dgm:prSet phldrT="[Texte]" custT="1"/>
      <dgm:spPr/>
      <dgm:t>
        <a:bodyPr/>
        <a:lstStyle/>
        <a:p>
          <a:pPr algn="l"/>
          <a:endParaRPr lang="fr-FR" sz="1900" dirty="0">
            <a:latin typeface="Calibri" panose="020F0502020204030204" pitchFamily="34" charset="0"/>
            <a:cs typeface="Calibri" panose="020F0502020204030204" pitchFamily="34" charset="0"/>
          </a:endParaRPr>
        </a:p>
      </dgm:t>
    </dgm:pt>
    <dgm:pt modelId="{B68AD2C0-0452-4DFF-A0F2-2455523D688C}" type="parTrans" cxnId="{67030227-0AFF-4411-B2F6-97E299BFEDC3}">
      <dgm:prSet/>
      <dgm:spPr/>
      <dgm:t>
        <a:bodyPr/>
        <a:lstStyle/>
        <a:p>
          <a:endParaRPr lang="fr-FR"/>
        </a:p>
      </dgm:t>
    </dgm:pt>
    <dgm:pt modelId="{FFF6493A-B374-4970-A18C-1AC6B933D229}" type="sibTrans" cxnId="{67030227-0AFF-4411-B2F6-97E299BFEDC3}">
      <dgm:prSet/>
      <dgm:spPr/>
      <dgm:t>
        <a:bodyPr/>
        <a:lstStyle/>
        <a:p>
          <a:endParaRPr lang="fr-FR"/>
        </a:p>
      </dgm:t>
    </dgm:pt>
    <dgm:pt modelId="{99B2A6A9-32E5-4403-BA7B-C6896CC9E50E}">
      <dgm:prSet phldrT="[Texte]" custT="1"/>
      <dgm:spPr/>
      <dgm:t>
        <a:bodyPr/>
        <a:lstStyle/>
        <a:p>
          <a:pPr algn="just"/>
          <a:r>
            <a:rPr lang="fr-CI" sz="1900" dirty="0">
              <a:latin typeface="Calibri" panose="020F0502020204030204" pitchFamily="34" charset="0"/>
              <a:cs typeface="Calibri" panose="020F0502020204030204" pitchFamily="34" charset="0"/>
            </a:rPr>
            <a:t>La théorie de la relativité supposait la fin d’une période de plus de deux siècles pendant laquelle la conviction s’était répandue que la mécanique de Newton offrait le schéma fondamental et définitif de la structure de la nature. Des concepts tenus pour fondamentaux tels que l’existence de l’espace, du temps et du mouvement absolus s’effondraient alors que de nouvelles perspectives s’offraient comme un outil d’interprétation d’autres phénomènes importants.</a:t>
          </a:r>
          <a:endParaRPr lang="fr-FR" sz="1900" dirty="0">
            <a:latin typeface="Calibri" panose="020F0502020204030204" pitchFamily="34" charset="0"/>
            <a:cs typeface="Calibri" panose="020F0502020204030204" pitchFamily="34" charset="0"/>
          </a:endParaRPr>
        </a:p>
      </dgm:t>
    </dgm:pt>
    <dgm:pt modelId="{999E793D-23D6-4AE2-9567-2F85B35B3AB4}" type="sibTrans" cxnId="{0E53249B-811E-42B4-9D56-1AD568BC2EDA}">
      <dgm:prSet/>
      <dgm:spPr/>
      <dgm:t>
        <a:bodyPr/>
        <a:lstStyle/>
        <a:p>
          <a:endParaRPr lang="fr-FR" sz="1900">
            <a:latin typeface="Calibri" panose="020F0502020204030204" pitchFamily="34" charset="0"/>
            <a:cs typeface="Calibri" panose="020F0502020204030204" pitchFamily="34" charset="0"/>
          </a:endParaRPr>
        </a:p>
      </dgm:t>
    </dgm:pt>
    <dgm:pt modelId="{32CB0C67-CFFA-4BC6-94C1-F189FB3AC253}" type="parTrans" cxnId="{0E53249B-811E-42B4-9D56-1AD568BC2EDA}">
      <dgm:prSet/>
      <dgm:spPr/>
      <dgm:t>
        <a:bodyPr/>
        <a:lstStyle/>
        <a:p>
          <a:endParaRPr lang="fr-FR" sz="1900">
            <a:latin typeface="Calibri" panose="020F0502020204030204" pitchFamily="34" charset="0"/>
            <a:cs typeface="Calibri" panose="020F0502020204030204" pitchFamily="34" charset="0"/>
          </a:endParaRPr>
        </a:p>
      </dgm:t>
    </dgm:pt>
    <dgm:pt modelId="{958813FA-1F75-48C3-A3B6-A441E3495747}" type="pres">
      <dgm:prSet presAssocID="{17C4FE42-2190-4C70-AFE9-25353D5025D4}" presName="linear" presStyleCnt="0">
        <dgm:presLayoutVars>
          <dgm:animLvl val="lvl"/>
          <dgm:resizeHandles val="exact"/>
        </dgm:presLayoutVars>
      </dgm:prSet>
      <dgm:spPr/>
    </dgm:pt>
    <dgm:pt modelId="{4CD42933-A63C-4298-8679-26311BF29E88}" type="pres">
      <dgm:prSet presAssocID="{4C2A5D8D-A9EC-48C6-AA9E-A1E9F5B9689B}" presName="parentText" presStyleLbl="node1" presStyleIdx="0" presStyleCnt="2" custScaleY="102592" custLinFactNeighborY="-3309">
        <dgm:presLayoutVars>
          <dgm:chMax val="0"/>
          <dgm:bulletEnabled val="1"/>
        </dgm:presLayoutVars>
      </dgm:prSet>
      <dgm:spPr/>
    </dgm:pt>
    <dgm:pt modelId="{E8D7A28D-5738-48DD-BB84-B6C713A525A3}" type="pres">
      <dgm:prSet presAssocID="{4C2A5D8D-A9EC-48C6-AA9E-A1E9F5B9689B}" presName="childText" presStyleLbl="revTx" presStyleIdx="0" presStyleCnt="2" custLinFactNeighborY="9785">
        <dgm:presLayoutVars>
          <dgm:bulletEnabled val="1"/>
        </dgm:presLayoutVars>
      </dgm:prSet>
      <dgm:spPr/>
    </dgm:pt>
    <dgm:pt modelId="{B1239601-F558-4F33-928E-57102F7B6416}" type="pres">
      <dgm:prSet presAssocID="{6CDA35A1-1F4D-4FAC-BE75-1FC8B60E1424}" presName="parentText" presStyleLbl="node1" presStyleIdx="1" presStyleCnt="2" custLinFactNeighborY="7628">
        <dgm:presLayoutVars>
          <dgm:chMax val="0"/>
          <dgm:bulletEnabled val="1"/>
        </dgm:presLayoutVars>
      </dgm:prSet>
      <dgm:spPr/>
    </dgm:pt>
    <dgm:pt modelId="{F1282368-8B34-49FD-B427-1BA445E4ACEA}" type="pres">
      <dgm:prSet presAssocID="{6CDA35A1-1F4D-4FAC-BE75-1FC8B60E1424}" presName="childText" presStyleLbl="revTx" presStyleIdx="1" presStyleCnt="2" custLinFactNeighborY="24585">
        <dgm:presLayoutVars>
          <dgm:bulletEnabled val="1"/>
        </dgm:presLayoutVars>
      </dgm:prSet>
      <dgm:spPr/>
    </dgm:pt>
  </dgm:ptLst>
  <dgm:cxnLst>
    <dgm:cxn modelId="{F49D8205-A378-4967-9B5E-FA38B5D749B4}" type="presOf" srcId="{0C358A08-5325-445F-AD44-3CE11034646C}" destId="{E8D7A28D-5738-48DD-BB84-B6C713A525A3}" srcOrd="0" destOrd="1" presId="urn:microsoft.com/office/officeart/2005/8/layout/vList2"/>
    <dgm:cxn modelId="{67030227-0AFF-4411-B2F6-97E299BFEDC3}" srcId="{6CDA35A1-1F4D-4FAC-BE75-1FC8B60E1424}" destId="{D17A38DD-CFE2-4EB0-BB2E-D47E0161BF06}" srcOrd="0" destOrd="0" parTransId="{B68AD2C0-0452-4DFF-A0F2-2455523D688C}" sibTransId="{FFF6493A-B374-4970-A18C-1AC6B933D229}"/>
    <dgm:cxn modelId="{55CFD33D-6F45-4D11-9D32-1F661DD44DC5}" type="presOf" srcId="{6CDA35A1-1F4D-4FAC-BE75-1FC8B60E1424}" destId="{B1239601-F558-4F33-928E-57102F7B6416}" srcOrd="0" destOrd="0" presId="urn:microsoft.com/office/officeart/2005/8/layout/vList2"/>
    <dgm:cxn modelId="{4F9F1863-16C2-47DD-A71D-0D3E0402027A}" type="presOf" srcId="{99B2A6A9-32E5-4403-BA7B-C6896CC9E50E}" destId="{F1282368-8B34-49FD-B427-1BA445E4ACEA}" srcOrd="0" destOrd="1" presId="urn:microsoft.com/office/officeart/2005/8/layout/vList2"/>
    <dgm:cxn modelId="{35CE5369-7C2A-495D-9785-0155AF9C8E08}" type="presOf" srcId="{DCCA83F9-98C0-4D37-9326-0A167700BE5E}" destId="{F1282368-8B34-49FD-B427-1BA445E4ACEA}" srcOrd="0" destOrd="2" presId="urn:microsoft.com/office/officeart/2005/8/layout/vList2"/>
    <dgm:cxn modelId="{300B6D77-206F-436F-8061-F039B6F4391A}" srcId="{17C4FE42-2190-4C70-AFE9-25353D5025D4}" destId="{6CDA35A1-1F4D-4FAC-BE75-1FC8B60E1424}" srcOrd="1" destOrd="0" parTransId="{9FC577DA-24E6-41C4-81AA-7B2A6AF07056}" sibTransId="{419B86EA-760A-4648-8445-DC0881022EB3}"/>
    <dgm:cxn modelId="{496E908D-54C1-469A-972D-F57F258E6F97}" type="presOf" srcId="{D17A38DD-CFE2-4EB0-BB2E-D47E0161BF06}" destId="{F1282368-8B34-49FD-B427-1BA445E4ACEA}" srcOrd="0" destOrd="0" presId="urn:microsoft.com/office/officeart/2005/8/layout/vList2"/>
    <dgm:cxn modelId="{D43FE492-972F-434A-AD7A-F4010153A0D1}" srcId="{6CDA35A1-1F4D-4FAC-BE75-1FC8B60E1424}" destId="{DCCA83F9-98C0-4D37-9326-0A167700BE5E}" srcOrd="2" destOrd="0" parTransId="{257BB6CF-FD12-46B5-A320-C392CC0105F7}" sibTransId="{89E5E4FA-C710-4814-91F6-8EDD6CB5ADE7}"/>
    <dgm:cxn modelId="{0E53249B-811E-42B4-9D56-1AD568BC2EDA}" srcId="{6CDA35A1-1F4D-4FAC-BE75-1FC8B60E1424}" destId="{99B2A6A9-32E5-4403-BA7B-C6896CC9E50E}" srcOrd="1" destOrd="0" parTransId="{32CB0C67-CFFA-4BC6-94C1-F189FB3AC253}" sibTransId="{999E793D-23D6-4AE2-9567-2F85B35B3AB4}"/>
    <dgm:cxn modelId="{A17DB49B-EFFE-491C-BF08-E698BD07FE65}" type="presOf" srcId="{4C2A5D8D-A9EC-48C6-AA9E-A1E9F5B9689B}" destId="{4CD42933-A63C-4298-8679-26311BF29E88}" srcOrd="0" destOrd="0" presId="urn:microsoft.com/office/officeart/2005/8/layout/vList2"/>
    <dgm:cxn modelId="{17FFDDB1-6435-48CF-9EF2-66ABA2C31B30}" type="presOf" srcId="{659D08B6-718F-4F40-8337-EBC762006D2F}" destId="{E8D7A28D-5738-48DD-BB84-B6C713A525A3}" srcOrd="0" destOrd="0" presId="urn:microsoft.com/office/officeart/2005/8/layout/vList2"/>
    <dgm:cxn modelId="{68E83CBC-D45F-45D3-8D44-8DADBD8F953C}" srcId="{17C4FE42-2190-4C70-AFE9-25353D5025D4}" destId="{4C2A5D8D-A9EC-48C6-AA9E-A1E9F5B9689B}" srcOrd="0" destOrd="0" parTransId="{FC9D2B3A-C5A5-49A6-AAEE-8A321BF12631}" sibTransId="{7569D911-C756-4C83-A1C9-549C495CB56C}"/>
    <dgm:cxn modelId="{5AAE2FCF-C93C-4B2D-BABB-F7119FE1C5C3}" srcId="{4C2A5D8D-A9EC-48C6-AA9E-A1E9F5B9689B}" destId="{659D08B6-718F-4F40-8337-EBC762006D2F}" srcOrd="0" destOrd="0" parTransId="{467DF925-F81F-4AA9-ACC6-B1CD1272BC8A}" sibTransId="{83509DE1-A420-4B85-99B7-3AE119D2C76F}"/>
    <dgm:cxn modelId="{CE0D85F7-CED2-452B-A631-37D59A25E333}" srcId="{4C2A5D8D-A9EC-48C6-AA9E-A1E9F5B9689B}" destId="{0C358A08-5325-445F-AD44-3CE11034646C}" srcOrd="1" destOrd="0" parTransId="{E3D9E0D5-0B5C-46D3-A7CA-BB2960F92C5F}" sibTransId="{02CA6167-BAF0-42DE-8D1E-78FC646C4FA1}"/>
    <dgm:cxn modelId="{BCB12CFB-7A47-4790-B808-777F85AD5E3A}" type="presOf" srcId="{17C4FE42-2190-4C70-AFE9-25353D5025D4}" destId="{958813FA-1F75-48C3-A3B6-A441E3495747}" srcOrd="0" destOrd="0" presId="urn:microsoft.com/office/officeart/2005/8/layout/vList2"/>
    <dgm:cxn modelId="{DCB83E3D-5A2C-43C0-8B2E-7D650027CDB9}" type="presParOf" srcId="{958813FA-1F75-48C3-A3B6-A441E3495747}" destId="{4CD42933-A63C-4298-8679-26311BF29E88}" srcOrd="0" destOrd="0" presId="urn:microsoft.com/office/officeart/2005/8/layout/vList2"/>
    <dgm:cxn modelId="{D3B9D068-E81A-4F79-AD7E-D89AC570979F}" type="presParOf" srcId="{958813FA-1F75-48C3-A3B6-A441E3495747}" destId="{E8D7A28D-5738-48DD-BB84-B6C713A525A3}" srcOrd="1" destOrd="0" presId="urn:microsoft.com/office/officeart/2005/8/layout/vList2"/>
    <dgm:cxn modelId="{8519186C-1215-497B-BDF1-B70B66C91978}" type="presParOf" srcId="{958813FA-1F75-48C3-A3B6-A441E3495747}" destId="{B1239601-F558-4F33-928E-57102F7B6416}" srcOrd="2" destOrd="0" presId="urn:microsoft.com/office/officeart/2005/8/layout/vList2"/>
    <dgm:cxn modelId="{A74C08D5-A432-4C92-96C9-8867135E7539}" type="presParOf" srcId="{958813FA-1F75-48C3-A3B6-A441E3495747}" destId="{F1282368-8B34-49FD-B427-1BA445E4ACEA}"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F3D92F7-D053-49CD-B4D1-5E5F6C65F724}" type="doc">
      <dgm:prSet loTypeId="urn:microsoft.com/office/officeart/2008/layout/LinedList" loCatId="list" qsTypeId="urn:microsoft.com/office/officeart/2005/8/quickstyle/simple4" qsCatId="simple" csTypeId="urn:microsoft.com/office/officeart/2005/8/colors/accent1_2" csCatId="accent1" phldr="1"/>
      <dgm:spPr/>
      <dgm:t>
        <a:bodyPr/>
        <a:lstStyle/>
        <a:p>
          <a:endParaRPr lang="fr-FR"/>
        </a:p>
      </dgm:t>
    </dgm:pt>
    <dgm:pt modelId="{CCA90030-CC3D-4B7E-A437-A1FD85AA3291}">
      <dgm:prSet phldrT="[Texte]"/>
      <dgm:spPr/>
      <dgm:t>
        <a:bodyPr/>
        <a:lstStyle/>
        <a:p>
          <a:r>
            <a:rPr lang="fr-CI" dirty="0">
              <a:effectLst/>
              <a:latin typeface="+mj-lt"/>
              <a:ea typeface="Calibri" panose="020F0502020204030204" pitchFamily="34" charset="0"/>
              <a:cs typeface="Times New Roman" panose="02020603050405020304" pitchFamily="18" charset="0"/>
            </a:rPr>
            <a:t>QU’EST-CE QUE LA MÉCANIQUE QUANTIQUE ?</a:t>
          </a:r>
          <a:endParaRPr lang="fr-FR" dirty="0">
            <a:latin typeface="+mj-lt"/>
          </a:endParaRPr>
        </a:p>
      </dgm:t>
    </dgm:pt>
    <dgm:pt modelId="{EC99C6E0-E3FE-4450-BF96-21D8D8725AE2}" type="parTrans" cxnId="{145C3CB7-10DA-4697-9435-7D6E263A1106}">
      <dgm:prSet/>
      <dgm:spPr/>
      <dgm:t>
        <a:bodyPr/>
        <a:lstStyle/>
        <a:p>
          <a:endParaRPr lang="fr-FR"/>
        </a:p>
      </dgm:t>
    </dgm:pt>
    <dgm:pt modelId="{265F0DE8-FB73-4C19-A86E-9B5563158AE7}" type="sibTrans" cxnId="{145C3CB7-10DA-4697-9435-7D6E263A1106}">
      <dgm:prSet/>
      <dgm:spPr/>
      <dgm:t>
        <a:bodyPr/>
        <a:lstStyle/>
        <a:p>
          <a:endParaRPr lang="fr-FR"/>
        </a:p>
      </dgm:t>
    </dgm:pt>
    <dgm:pt modelId="{12E3ECC8-74DB-4E1B-BC9C-26F7A5B3208B}">
      <dgm:prSet phldrT="[Texte]" custT="1"/>
      <dgm:spPr/>
      <dgm:t>
        <a:bodyPr/>
        <a:lstStyle/>
        <a:p>
          <a:pPr algn="just"/>
          <a:r>
            <a:rPr lang="fr-CI" sz="1900" dirty="0">
              <a:effectLst/>
              <a:latin typeface="Calibri" panose="020F0502020204030204" pitchFamily="34" charset="0"/>
              <a:ea typeface="Calibri" panose="020F0502020204030204" pitchFamily="34" charset="0"/>
              <a:cs typeface="Calibri" panose="020F0502020204030204" pitchFamily="34" charset="0"/>
            </a:rPr>
            <a:t>À l’aube du XXe siècle, la naissance de la physique quantique révolutionne notre conception du monde : les physiciens réalisent que la physique classique, qui décrit parfaitement notre environnement quotidien </a:t>
          </a:r>
          <a:r>
            <a:rPr lang="fr-CI" sz="1900" b="1" dirty="0">
              <a:effectLst/>
              <a:latin typeface="Calibri" panose="020F0502020204030204" pitchFamily="34" charset="0"/>
              <a:ea typeface="Calibri" panose="020F0502020204030204" pitchFamily="34" charset="0"/>
              <a:cs typeface="Calibri" panose="020F0502020204030204" pitchFamily="34" charset="0"/>
            </a:rPr>
            <a:t>macroscopique</a:t>
          </a:r>
          <a:r>
            <a:rPr lang="fr-CI" sz="1900" dirty="0">
              <a:effectLst/>
              <a:latin typeface="Calibri" panose="020F0502020204030204" pitchFamily="34" charset="0"/>
              <a:ea typeface="Calibri" panose="020F0502020204030204" pitchFamily="34" charset="0"/>
              <a:cs typeface="Calibri" panose="020F0502020204030204" pitchFamily="34" charset="0"/>
            </a:rPr>
            <a:t>, devient inopérante à l’échelle </a:t>
          </a:r>
          <a:r>
            <a:rPr lang="fr-CI" sz="1900" b="1" dirty="0">
              <a:effectLst/>
              <a:latin typeface="Calibri" panose="020F0502020204030204" pitchFamily="34" charset="0"/>
              <a:ea typeface="Calibri" panose="020F0502020204030204" pitchFamily="34" charset="0"/>
              <a:cs typeface="Calibri" panose="020F0502020204030204" pitchFamily="34" charset="0"/>
            </a:rPr>
            <a:t>microscopique</a:t>
          </a:r>
          <a:r>
            <a:rPr lang="fr-CI" sz="1900" dirty="0">
              <a:effectLst/>
              <a:latin typeface="Calibri" panose="020F0502020204030204" pitchFamily="34" charset="0"/>
              <a:ea typeface="Calibri" panose="020F0502020204030204" pitchFamily="34" charset="0"/>
              <a:cs typeface="Calibri" panose="020F0502020204030204" pitchFamily="34" charset="0"/>
            </a:rPr>
            <a:t> des atomes et des particules. En effet, les atomes et les particules élémentaires de la matière, n’évoluent pas comme un système classique, où les quantités d’énergie échangées peuvent prendre n'importe quelle valeur. Pour un système quantique, l’énergie s’échange par valeurs discrètes ou « quanta ».</a:t>
          </a:r>
          <a:endParaRPr lang="fr-FR" sz="1900" dirty="0">
            <a:latin typeface="Calibri" panose="020F0502020204030204" pitchFamily="34" charset="0"/>
            <a:cs typeface="Calibri" panose="020F0502020204030204" pitchFamily="34" charset="0"/>
          </a:endParaRPr>
        </a:p>
      </dgm:t>
    </dgm:pt>
    <dgm:pt modelId="{192BC70C-DBA3-4657-A535-CF58E5900D2B}" type="parTrans" cxnId="{38E88ED8-3F67-42B0-BE41-4DEEB58337A7}">
      <dgm:prSet/>
      <dgm:spPr/>
      <dgm:t>
        <a:bodyPr/>
        <a:lstStyle/>
        <a:p>
          <a:endParaRPr lang="fr-FR"/>
        </a:p>
      </dgm:t>
    </dgm:pt>
    <dgm:pt modelId="{5DBDC78C-890D-4919-939C-841E5CA8C67A}" type="sibTrans" cxnId="{38E88ED8-3F67-42B0-BE41-4DEEB58337A7}">
      <dgm:prSet/>
      <dgm:spPr/>
      <dgm:t>
        <a:bodyPr/>
        <a:lstStyle/>
        <a:p>
          <a:endParaRPr lang="fr-FR"/>
        </a:p>
      </dgm:t>
    </dgm:pt>
    <dgm:pt modelId="{57F2874F-F272-48F7-9151-7CF643FBBEAC}">
      <dgm:prSet phldrT="[Texte]"/>
      <dgm:spPr/>
      <dgm:t>
        <a:bodyPr/>
        <a:lstStyle/>
        <a:p>
          <a:r>
            <a:rPr lang="fr-CI" dirty="0">
              <a:latin typeface="+mj-lt"/>
            </a:rPr>
            <a:t>Le fondateur de la Mécanique quantique : </a:t>
          </a:r>
          <a:r>
            <a:rPr lang="fr-CI" b="1" dirty="0">
              <a:latin typeface="+mj-lt"/>
            </a:rPr>
            <a:t>Max Planck (1858-1947)</a:t>
          </a:r>
          <a:endParaRPr lang="fr-FR" dirty="0">
            <a:latin typeface="+mj-lt"/>
          </a:endParaRPr>
        </a:p>
      </dgm:t>
    </dgm:pt>
    <dgm:pt modelId="{7B616783-B924-4390-9696-5C2847BD2D01}" type="parTrans" cxnId="{0EC041C9-0CB5-409F-8DBE-FA80F18EC1B4}">
      <dgm:prSet/>
      <dgm:spPr/>
      <dgm:t>
        <a:bodyPr/>
        <a:lstStyle/>
        <a:p>
          <a:endParaRPr lang="fr-FR"/>
        </a:p>
      </dgm:t>
    </dgm:pt>
    <dgm:pt modelId="{0193E299-3680-49FC-9201-347AC91E636E}" type="sibTrans" cxnId="{0EC041C9-0CB5-409F-8DBE-FA80F18EC1B4}">
      <dgm:prSet/>
      <dgm:spPr/>
      <dgm:t>
        <a:bodyPr/>
        <a:lstStyle/>
        <a:p>
          <a:endParaRPr lang="fr-FR"/>
        </a:p>
      </dgm:t>
    </dgm:pt>
    <dgm:pt modelId="{8975E4AC-88BD-4A7E-A742-FC0D787F3C4C}">
      <dgm:prSet phldrT="[Texte]" custT="1"/>
      <dgm:spPr/>
      <dgm:t>
        <a:bodyPr/>
        <a:lstStyle/>
        <a:p>
          <a:pPr algn="just"/>
          <a:r>
            <a:rPr lang="fr-CI" sz="1900" dirty="0">
              <a:latin typeface="Calibri" panose="020F0502020204030204" pitchFamily="34" charset="0"/>
              <a:cs typeface="Calibri" panose="020F0502020204030204" pitchFamily="34" charset="0"/>
            </a:rPr>
            <a:t>En 1900, Max Planck établit que l’énergie n’est pas émise ni absorbée de façon continue, mais par des quantités discrètes, égales au produit de la fréquence de la radiation par une certaine constante (la constante de Planck). Cette constante occupe une place centrale dans toutes les explications des phénomènes de la physique atomique.</a:t>
          </a:r>
          <a:endParaRPr lang="fr-FR" sz="1900" dirty="0">
            <a:latin typeface="Calibri" panose="020F0502020204030204" pitchFamily="34" charset="0"/>
            <a:cs typeface="Calibri" panose="020F0502020204030204" pitchFamily="34" charset="0"/>
          </a:endParaRPr>
        </a:p>
        <a:p>
          <a:pPr algn="l"/>
          <a:r>
            <a:rPr lang="fr-CI" sz="1900" dirty="0">
              <a:latin typeface="Calibri" panose="020F0502020204030204" pitchFamily="34" charset="0"/>
              <a:cs typeface="Calibri" panose="020F0502020204030204" pitchFamily="34" charset="0"/>
            </a:rPr>
            <a:t>Planck ne prétendait pas révolutionner la physique ; il cherchait à résoudre un problème spécifique (la distribution d’énergie dans la radiation </a:t>
          </a:r>
          <a:r>
            <a:rPr lang="fr-CI" sz="1900" b="1" dirty="0">
              <a:latin typeface="Calibri" panose="020F0502020204030204" pitchFamily="34" charset="0"/>
              <a:cs typeface="Calibri" panose="020F0502020204030204" pitchFamily="34" charset="0"/>
            </a:rPr>
            <a:t>du « corps noir »). </a:t>
          </a:r>
          <a:r>
            <a:rPr lang="fr-CI" sz="1900" dirty="0">
              <a:latin typeface="Calibri" panose="020F0502020204030204" pitchFamily="34" charset="0"/>
              <a:cs typeface="Calibri" panose="020F0502020204030204" pitchFamily="34" charset="0"/>
            </a:rPr>
            <a:t>Mais on vit par la suite que son idée exigeait de reformuler toute la physique de l’atome et des particules sous-atomiques.</a:t>
          </a:r>
          <a:endParaRPr lang="fr-FR" sz="1900" dirty="0">
            <a:latin typeface="Calibri" panose="020F0502020204030204" pitchFamily="34" charset="0"/>
            <a:cs typeface="Calibri" panose="020F0502020204030204" pitchFamily="34" charset="0"/>
          </a:endParaRPr>
        </a:p>
      </dgm:t>
    </dgm:pt>
    <dgm:pt modelId="{7D1619ED-215C-415C-88DF-839D756ADF6D}" type="parTrans" cxnId="{9375B321-BC89-4CBC-8213-3BDCC05796AA}">
      <dgm:prSet/>
      <dgm:spPr/>
      <dgm:t>
        <a:bodyPr/>
        <a:lstStyle/>
        <a:p>
          <a:endParaRPr lang="fr-FR"/>
        </a:p>
      </dgm:t>
    </dgm:pt>
    <dgm:pt modelId="{F95D0E05-06EF-48DE-9610-9E1FE968584E}" type="sibTrans" cxnId="{9375B321-BC89-4CBC-8213-3BDCC05796AA}">
      <dgm:prSet/>
      <dgm:spPr/>
      <dgm:t>
        <a:bodyPr/>
        <a:lstStyle/>
        <a:p>
          <a:endParaRPr lang="fr-FR"/>
        </a:p>
      </dgm:t>
    </dgm:pt>
    <dgm:pt modelId="{02D390A3-EE8A-4001-8053-751588BA6DCB}" type="pres">
      <dgm:prSet presAssocID="{3F3D92F7-D053-49CD-B4D1-5E5F6C65F724}" presName="vert0" presStyleCnt="0">
        <dgm:presLayoutVars>
          <dgm:dir/>
          <dgm:animOne val="branch"/>
          <dgm:animLvl val="lvl"/>
        </dgm:presLayoutVars>
      </dgm:prSet>
      <dgm:spPr/>
    </dgm:pt>
    <dgm:pt modelId="{1A32BE0A-382E-447B-A821-6BA575436DD5}" type="pres">
      <dgm:prSet presAssocID="{CCA90030-CC3D-4B7E-A437-A1FD85AA3291}" presName="thickLine" presStyleLbl="alignNode1" presStyleIdx="0" presStyleCnt="2"/>
      <dgm:spPr/>
    </dgm:pt>
    <dgm:pt modelId="{2AFF1DD0-B8A4-4183-8135-52B1B7C5F1DB}" type="pres">
      <dgm:prSet presAssocID="{CCA90030-CC3D-4B7E-A437-A1FD85AA3291}" presName="horz1" presStyleCnt="0"/>
      <dgm:spPr/>
    </dgm:pt>
    <dgm:pt modelId="{ED67CB99-9EBA-4224-9AA4-B3FA221928E1}" type="pres">
      <dgm:prSet presAssocID="{CCA90030-CC3D-4B7E-A437-A1FD85AA3291}" presName="tx1" presStyleLbl="revTx" presStyleIdx="0" presStyleCnt="4"/>
      <dgm:spPr/>
    </dgm:pt>
    <dgm:pt modelId="{5A9FCBC7-D6F2-4229-B4D6-0FB62DED39AC}" type="pres">
      <dgm:prSet presAssocID="{CCA90030-CC3D-4B7E-A437-A1FD85AA3291}" presName="vert1" presStyleCnt="0"/>
      <dgm:spPr/>
    </dgm:pt>
    <dgm:pt modelId="{49EC1D4D-1DF1-45FF-94C7-D8574F07BE00}" type="pres">
      <dgm:prSet presAssocID="{12E3ECC8-74DB-4E1B-BC9C-26F7A5B3208B}" presName="vertSpace2a" presStyleCnt="0"/>
      <dgm:spPr/>
    </dgm:pt>
    <dgm:pt modelId="{419E2383-1D63-4C32-9019-70447C490FC5}" type="pres">
      <dgm:prSet presAssocID="{12E3ECC8-74DB-4E1B-BC9C-26F7A5B3208B}" presName="horz2" presStyleCnt="0"/>
      <dgm:spPr/>
    </dgm:pt>
    <dgm:pt modelId="{DDDF850D-5AEB-4FD9-BAB5-74122560090B}" type="pres">
      <dgm:prSet presAssocID="{12E3ECC8-74DB-4E1B-BC9C-26F7A5B3208B}" presName="horzSpace2" presStyleCnt="0"/>
      <dgm:spPr/>
    </dgm:pt>
    <dgm:pt modelId="{38F98C1B-72F9-4269-9506-0BF71D43B612}" type="pres">
      <dgm:prSet presAssocID="{12E3ECC8-74DB-4E1B-BC9C-26F7A5B3208B}" presName="tx2" presStyleLbl="revTx" presStyleIdx="1" presStyleCnt="4" custScaleY="85209"/>
      <dgm:spPr/>
    </dgm:pt>
    <dgm:pt modelId="{18762BD7-5BE6-4E49-AFBF-3BEF6B08D813}" type="pres">
      <dgm:prSet presAssocID="{12E3ECC8-74DB-4E1B-BC9C-26F7A5B3208B}" presName="vert2" presStyleCnt="0"/>
      <dgm:spPr/>
    </dgm:pt>
    <dgm:pt modelId="{39E818EB-B25B-437C-8BB9-B98374156267}" type="pres">
      <dgm:prSet presAssocID="{12E3ECC8-74DB-4E1B-BC9C-26F7A5B3208B}" presName="thinLine2b" presStyleLbl="callout" presStyleIdx="0" presStyleCnt="2"/>
      <dgm:spPr/>
    </dgm:pt>
    <dgm:pt modelId="{7B467031-9A5B-4DC1-9651-C55EA1EC9E0E}" type="pres">
      <dgm:prSet presAssocID="{12E3ECC8-74DB-4E1B-BC9C-26F7A5B3208B}" presName="vertSpace2b" presStyleCnt="0"/>
      <dgm:spPr/>
    </dgm:pt>
    <dgm:pt modelId="{606972C6-062E-4C7F-A6DE-28E4065C377F}" type="pres">
      <dgm:prSet presAssocID="{57F2874F-F272-48F7-9151-7CF643FBBEAC}" presName="thickLine" presStyleLbl="alignNode1" presStyleIdx="1" presStyleCnt="2"/>
      <dgm:spPr/>
    </dgm:pt>
    <dgm:pt modelId="{E99531AB-12F8-4D03-935B-F2F15DB4DCF5}" type="pres">
      <dgm:prSet presAssocID="{57F2874F-F272-48F7-9151-7CF643FBBEAC}" presName="horz1" presStyleCnt="0"/>
      <dgm:spPr/>
    </dgm:pt>
    <dgm:pt modelId="{7C59062F-C146-4F53-AD81-9620FF483283}" type="pres">
      <dgm:prSet presAssocID="{57F2874F-F272-48F7-9151-7CF643FBBEAC}" presName="tx1" presStyleLbl="revTx" presStyleIdx="2" presStyleCnt="4"/>
      <dgm:spPr/>
    </dgm:pt>
    <dgm:pt modelId="{3A91E62B-4B21-4425-9005-7373545BD7E4}" type="pres">
      <dgm:prSet presAssocID="{57F2874F-F272-48F7-9151-7CF643FBBEAC}" presName="vert1" presStyleCnt="0"/>
      <dgm:spPr/>
    </dgm:pt>
    <dgm:pt modelId="{A8DD5E6B-C392-40B6-A301-78035ADEC9C5}" type="pres">
      <dgm:prSet presAssocID="{8975E4AC-88BD-4A7E-A742-FC0D787F3C4C}" presName="vertSpace2a" presStyleCnt="0"/>
      <dgm:spPr/>
    </dgm:pt>
    <dgm:pt modelId="{A1CE7F68-959F-4247-8954-597FD500E244}" type="pres">
      <dgm:prSet presAssocID="{8975E4AC-88BD-4A7E-A742-FC0D787F3C4C}" presName="horz2" presStyleCnt="0"/>
      <dgm:spPr/>
    </dgm:pt>
    <dgm:pt modelId="{8FD1C722-FCBA-4530-93C0-0C318BF7F01D}" type="pres">
      <dgm:prSet presAssocID="{8975E4AC-88BD-4A7E-A742-FC0D787F3C4C}" presName="horzSpace2" presStyleCnt="0"/>
      <dgm:spPr/>
    </dgm:pt>
    <dgm:pt modelId="{09B96CA3-08B0-4FD9-AD53-AAA554063CF3}" type="pres">
      <dgm:prSet presAssocID="{8975E4AC-88BD-4A7E-A742-FC0D787F3C4C}" presName="tx2" presStyleLbl="revTx" presStyleIdx="3" presStyleCnt="4"/>
      <dgm:spPr/>
    </dgm:pt>
    <dgm:pt modelId="{11E0A936-C0F4-44A5-84E8-434E0624DB75}" type="pres">
      <dgm:prSet presAssocID="{8975E4AC-88BD-4A7E-A742-FC0D787F3C4C}" presName="vert2" presStyleCnt="0"/>
      <dgm:spPr/>
    </dgm:pt>
    <dgm:pt modelId="{86358D04-AC32-48E8-A61F-A3944EE64296}" type="pres">
      <dgm:prSet presAssocID="{8975E4AC-88BD-4A7E-A742-FC0D787F3C4C}" presName="thinLine2b" presStyleLbl="callout" presStyleIdx="1" presStyleCnt="2" custLinFactY="1507" custLinFactNeighborY="100000"/>
      <dgm:spPr/>
    </dgm:pt>
    <dgm:pt modelId="{6354B45A-453F-4635-A6E6-ED1B30DF4465}" type="pres">
      <dgm:prSet presAssocID="{8975E4AC-88BD-4A7E-A742-FC0D787F3C4C}" presName="vertSpace2b" presStyleCnt="0"/>
      <dgm:spPr/>
    </dgm:pt>
  </dgm:ptLst>
  <dgm:cxnLst>
    <dgm:cxn modelId="{F1420C18-F2E2-476B-93DC-B984606B2966}" type="presOf" srcId="{57F2874F-F272-48F7-9151-7CF643FBBEAC}" destId="{7C59062F-C146-4F53-AD81-9620FF483283}" srcOrd="0" destOrd="0" presId="urn:microsoft.com/office/officeart/2008/layout/LinedList"/>
    <dgm:cxn modelId="{9375B321-BC89-4CBC-8213-3BDCC05796AA}" srcId="{57F2874F-F272-48F7-9151-7CF643FBBEAC}" destId="{8975E4AC-88BD-4A7E-A742-FC0D787F3C4C}" srcOrd="0" destOrd="0" parTransId="{7D1619ED-215C-415C-88DF-839D756ADF6D}" sibTransId="{F95D0E05-06EF-48DE-9610-9E1FE968584E}"/>
    <dgm:cxn modelId="{7AEB8327-F299-46BD-8B71-D95A3CE5843B}" type="presOf" srcId="{8975E4AC-88BD-4A7E-A742-FC0D787F3C4C}" destId="{09B96CA3-08B0-4FD9-AD53-AAA554063CF3}" srcOrd="0" destOrd="0" presId="urn:microsoft.com/office/officeart/2008/layout/LinedList"/>
    <dgm:cxn modelId="{9B45B53A-E34C-4BDD-ACE2-2C4F9895A41B}" type="presOf" srcId="{12E3ECC8-74DB-4E1B-BC9C-26F7A5B3208B}" destId="{38F98C1B-72F9-4269-9506-0BF71D43B612}" srcOrd="0" destOrd="0" presId="urn:microsoft.com/office/officeart/2008/layout/LinedList"/>
    <dgm:cxn modelId="{C9CC5448-53F2-4399-958E-666C079F526E}" type="presOf" srcId="{CCA90030-CC3D-4B7E-A437-A1FD85AA3291}" destId="{ED67CB99-9EBA-4224-9AA4-B3FA221928E1}" srcOrd="0" destOrd="0" presId="urn:microsoft.com/office/officeart/2008/layout/LinedList"/>
    <dgm:cxn modelId="{145C3CB7-10DA-4697-9435-7D6E263A1106}" srcId="{3F3D92F7-D053-49CD-B4D1-5E5F6C65F724}" destId="{CCA90030-CC3D-4B7E-A437-A1FD85AA3291}" srcOrd="0" destOrd="0" parTransId="{EC99C6E0-E3FE-4450-BF96-21D8D8725AE2}" sibTransId="{265F0DE8-FB73-4C19-A86E-9B5563158AE7}"/>
    <dgm:cxn modelId="{0EC041C9-0CB5-409F-8DBE-FA80F18EC1B4}" srcId="{3F3D92F7-D053-49CD-B4D1-5E5F6C65F724}" destId="{57F2874F-F272-48F7-9151-7CF643FBBEAC}" srcOrd="1" destOrd="0" parTransId="{7B616783-B924-4390-9696-5C2847BD2D01}" sibTransId="{0193E299-3680-49FC-9201-347AC91E636E}"/>
    <dgm:cxn modelId="{38E88ED8-3F67-42B0-BE41-4DEEB58337A7}" srcId="{CCA90030-CC3D-4B7E-A437-A1FD85AA3291}" destId="{12E3ECC8-74DB-4E1B-BC9C-26F7A5B3208B}" srcOrd="0" destOrd="0" parTransId="{192BC70C-DBA3-4657-A535-CF58E5900D2B}" sibTransId="{5DBDC78C-890D-4919-939C-841E5CA8C67A}"/>
    <dgm:cxn modelId="{89379EEB-D935-47C9-AAEE-360844DBDEA6}" type="presOf" srcId="{3F3D92F7-D053-49CD-B4D1-5E5F6C65F724}" destId="{02D390A3-EE8A-4001-8053-751588BA6DCB}" srcOrd="0" destOrd="0" presId="urn:microsoft.com/office/officeart/2008/layout/LinedList"/>
    <dgm:cxn modelId="{BFE18005-4C13-4E10-B477-4960A8B1F84D}" type="presParOf" srcId="{02D390A3-EE8A-4001-8053-751588BA6DCB}" destId="{1A32BE0A-382E-447B-A821-6BA575436DD5}" srcOrd="0" destOrd="0" presId="urn:microsoft.com/office/officeart/2008/layout/LinedList"/>
    <dgm:cxn modelId="{11DD3EDA-0A5B-4BA4-A8A4-176980F05DCF}" type="presParOf" srcId="{02D390A3-EE8A-4001-8053-751588BA6DCB}" destId="{2AFF1DD0-B8A4-4183-8135-52B1B7C5F1DB}" srcOrd="1" destOrd="0" presId="urn:microsoft.com/office/officeart/2008/layout/LinedList"/>
    <dgm:cxn modelId="{0FEA542E-0CFD-4607-B8F9-0E9A4703C8FF}" type="presParOf" srcId="{2AFF1DD0-B8A4-4183-8135-52B1B7C5F1DB}" destId="{ED67CB99-9EBA-4224-9AA4-B3FA221928E1}" srcOrd="0" destOrd="0" presId="urn:microsoft.com/office/officeart/2008/layout/LinedList"/>
    <dgm:cxn modelId="{A1655927-9F83-47AF-B60F-3F8C3DFDD44E}" type="presParOf" srcId="{2AFF1DD0-B8A4-4183-8135-52B1B7C5F1DB}" destId="{5A9FCBC7-D6F2-4229-B4D6-0FB62DED39AC}" srcOrd="1" destOrd="0" presId="urn:microsoft.com/office/officeart/2008/layout/LinedList"/>
    <dgm:cxn modelId="{A8DF007A-CEC1-499C-A8B0-BB5D9C94165E}" type="presParOf" srcId="{5A9FCBC7-D6F2-4229-B4D6-0FB62DED39AC}" destId="{49EC1D4D-1DF1-45FF-94C7-D8574F07BE00}" srcOrd="0" destOrd="0" presId="urn:microsoft.com/office/officeart/2008/layout/LinedList"/>
    <dgm:cxn modelId="{64B54B79-8F77-4724-905F-C34F3E15BCB7}" type="presParOf" srcId="{5A9FCBC7-D6F2-4229-B4D6-0FB62DED39AC}" destId="{419E2383-1D63-4C32-9019-70447C490FC5}" srcOrd="1" destOrd="0" presId="urn:microsoft.com/office/officeart/2008/layout/LinedList"/>
    <dgm:cxn modelId="{9407552F-F32A-48BC-A45E-F27F87A82783}" type="presParOf" srcId="{419E2383-1D63-4C32-9019-70447C490FC5}" destId="{DDDF850D-5AEB-4FD9-BAB5-74122560090B}" srcOrd="0" destOrd="0" presId="urn:microsoft.com/office/officeart/2008/layout/LinedList"/>
    <dgm:cxn modelId="{909042DE-7F0E-4608-A825-DD9F1EF0BBBC}" type="presParOf" srcId="{419E2383-1D63-4C32-9019-70447C490FC5}" destId="{38F98C1B-72F9-4269-9506-0BF71D43B612}" srcOrd="1" destOrd="0" presId="urn:microsoft.com/office/officeart/2008/layout/LinedList"/>
    <dgm:cxn modelId="{D1140A60-1A89-4906-A579-4077FEEA91A7}" type="presParOf" srcId="{419E2383-1D63-4C32-9019-70447C490FC5}" destId="{18762BD7-5BE6-4E49-AFBF-3BEF6B08D813}" srcOrd="2" destOrd="0" presId="urn:microsoft.com/office/officeart/2008/layout/LinedList"/>
    <dgm:cxn modelId="{995EDB60-7115-4242-9956-8527A66DEF76}" type="presParOf" srcId="{5A9FCBC7-D6F2-4229-B4D6-0FB62DED39AC}" destId="{39E818EB-B25B-437C-8BB9-B98374156267}" srcOrd="2" destOrd="0" presId="urn:microsoft.com/office/officeart/2008/layout/LinedList"/>
    <dgm:cxn modelId="{17405947-144E-4A75-8EFD-F81CA7B637EE}" type="presParOf" srcId="{5A9FCBC7-D6F2-4229-B4D6-0FB62DED39AC}" destId="{7B467031-9A5B-4DC1-9651-C55EA1EC9E0E}" srcOrd="3" destOrd="0" presId="urn:microsoft.com/office/officeart/2008/layout/LinedList"/>
    <dgm:cxn modelId="{4AF563C4-ECE3-451D-9F6F-9CC4929CA2E4}" type="presParOf" srcId="{02D390A3-EE8A-4001-8053-751588BA6DCB}" destId="{606972C6-062E-4C7F-A6DE-28E4065C377F}" srcOrd="2" destOrd="0" presId="urn:microsoft.com/office/officeart/2008/layout/LinedList"/>
    <dgm:cxn modelId="{F56A9750-5C2D-4BE4-B1DD-68D2E56BC9DA}" type="presParOf" srcId="{02D390A3-EE8A-4001-8053-751588BA6DCB}" destId="{E99531AB-12F8-4D03-935B-F2F15DB4DCF5}" srcOrd="3" destOrd="0" presId="urn:microsoft.com/office/officeart/2008/layout/LinedList"/>
    <dgm:cxn modelId="{8073628C-E298-4294-A456-E8B4C55AF303}" type="presParOf" srcId="{E99531AB-12F8-4D03-935B-F2F15DB4DCF5}" destId="{7C59062F-C146-4F53-AD81-9620FF483283}" srcOrd="0" destOrd="0" presId="urn:microsoft.com/office/officeart/2008/layout/LinedList"/>
    <dgm:cxn modelId="{AB3E3E8C-0762-4AEF-AACE-E87E676E5EEC}" type="presParOf" srcId="{E99531AB-12F8-4D03-935B-F2F15DB4DCF5}" destId="{3A91E62B-4B21-4425-9005-7373545BD7E4}" srcOrd="1" destOrd="0" presId="urn:microsoft.com/office/officeart/2008/layout/LinedList"/>
    <dgm:cxn modelId="{2A51EB42-365B-49E9-8E96-4D03B8558AD7}" type="presParOf" srcId="{3A91E62B-4B21-4425-9005-7373545BD7E4}" destId="{A8DD5E6B-C392-40B6-A301-78035ADEC9C5}" srcOrd="0" destOrd="0" presId="urn:microsoft.com/office/officeart/2008/layout/LinedList"/>
    <dgm:cxn modelId="{6AB55852-E5FF-4A9A-A3D0-BDF605178919}" type="presParOf" srcId="{3A91E62B-4B21-4425-9005-7373545BD7E4}" destId="{A1CE7F68-959F-4247-8954-597FD500E244}" srcOrd="1" destOrd="0" presId="urn:microsoft.com/office/officeart/2008/layout/LinedList"/>
    <dgm:cxn modelId="{F311B9AE-07EE-423E-8521-FD11AD3AC3D1}" type="presParOf" srcId="{A1CE7F68-959F-4247-8954-597FD500E244}" destId="{8FD1C722-FCBA-4530-93C0-0C318BF7F01D}" srcOrd="0" destOrd="0" presId="urn:microsoft.com/office/officeart/2008/layout/LinedList"/>
    <dgm:cxn modelId="{0D80D8FD-86A8-46C2-A384-7CB0261BBFB7}" type="presParOf" srcId="{A1CE7F68-959F-4247-8954-597FD500E244}" destId="{09B96CA3-08B0-4FD9-AD53-AAA554063CF3}" srcOrd="1" destOrd="0" presId="urn:microsoft.com/office/officeart/2008/layout/LinedList"/>
    <dgm:cxn modelId="{21AD30A9-3AEF-4D1D-B976-B4492A63A18A}" type="presParOf" srcId="{A1CE7F68-959F-4247-8954-597FD500E244}" destId="{11E0A936-C0F4-44A5-84E8-434E0624DB75}" srcOrd="2" destOrd="0" presId="urn:microsoft.com/office/officeart/2008/layout/LinedList"/>
    <dgm:cxn modelId="{BDE729C5-4D6B-4F3E-9BCA-C0B0A6D59521}" type="presParOf" srcId="{3A91E62B-4B21-4425-9005-7373545BD7E4}" destId="{86358D04-AC32-48E8-A61F-A3944EE64296}" srcOrd="2" destOrd="0" presId="urn:microsoft.com/office/officeart/2008/layout/LinedList"/>
    <dgm:cxn modelId="{AF09AE47-DD24-43C8-8731-8E755A559423}" type="presParOf" srcId="{3A91E62B-4B21-4425-9005-7373545BD7E4}" destId="{6354B45A-453F-4635-A6E6-ED1B30DF4465}"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22C19A5-FB55-4E0F-BB58-EC79A05E1270}" type="doc">
      <dgm:prSet loTypeId="urn:microsoft.com/office/officeart/2008/layout/BendingPictureCaptionList" loCatId="picture" qsTypeId="urn:microsoft.com/office/officeart/2005/8/quickstyle/simple4" qsCatId="simple" csTypeId="urn:microsoft.com/office/officeart/2005/8/colors/accent1_2" csCatId="accent1" phldr="1"/>
      <dgm:spPr/>
      <dgm:t>
        <a:bodyPr/>
        <a:lstStyle/>
        <a:p>
          <a:endParaRPr lang="fr-FR"/>
        </a:p>
      </dgm:t>
    </dgm:pt>
    <dgm:pt modelId="{B44DA733-F54A-4258-B404-28A538F30334}">
      <dgm:prSet phldrT="[Texte]" custT="1"/>
      <dgm:spPr/>
      <dgm:t>
        <a:bodyPr/>
        <a:lstStyle/>
        <a:p>
          <a:r>
            <a:rPr lang="fr-CI" sz="1500" dirty="0">
              <a:latin typeface="Calibri" panose="020F0502020204030204" pitchFamily="34" charset="0"/>
              <a:cs typeface="Calibri" panose="020F0502020204030204" pitchFamily="34" charset="0"/>
            </a:rPr>
            <a:t>Louis de Broglie (1892-1987)</a:t>
          </a:r>
          <a:endParaRPr lang="fr-FR" sz="1500" dirty="0">
            <a:latin typeface="Calibri" panose="020F0502020204030204" pitchFamily="34" charset="0"/>
            <a:cs typeface="Calibri" panose="020F0502020204030204" pitchFamily="34" charset="0"/>
          </a:endParaRPr>
        </a:p>
      </dgm:t>
    </dgm:pt>
    <dgm:pt modelId="{27EAB32A-849D-4C31-9753-6010251DCD22}" type="parTrans" cxnId="{9280D679-C560-4B0B-9F77-138AC98FA04E}">
      <dgm:prSet/>
      <dgm:spPr/>
      <dgm:t>
        <a:bodyPr/>
        <a:lstStyle/>
        <a:p>
          <a:endParaRPr lang="fr-FR" sz="1500">
            <a:latin typeface="Calibri" panose="020F0502020204030204" pitchFamily="34" charset="0"/>
            <a:cs typeface="Calibri" panose="020F0502020204030204" pitchFamily="34" charset="0"/>
          </a:endParaRPr>
        </a:p>
      </dgm:t>
    </dgm:pt>
    <dgm:pt modelId="{4225053C-83FD-4697-8902-294DCEF6E98D}" type="sibTrans" cxnId="{9280D679-C560-4B0B-9F77-138AC98FA04E}">
      <dgm:prSet/>
      <dgm:spPr/>
      <dgm:t>
        <a:bodyPr/>
        <a:lstStyle/>
        <a:p>
          <a:endParaRPr lang="fr-FR" sz="1500">
            <a:latin typeface="Calibri" panose="020F0502020204030204" pitchFamily="34" charset="0"/>
            <a:cs typeface="Calibri" panose="020F0502020204030204" pitchFamily="34" charset="0"/>
          </a:endParaRPr>
        </a:p>
      </dgm:t>
    </dgm:pt>
    <dgm:pt modelId="{2D46FC85-4C24-4F64-BBC4-0B5704D93F07}">
      <dgm:prSet phldrT="[Texte]" custT="1"/>
      <dgm:spPr/>
      <dgm:t>
        <a:bodyPr/>
        <a:lstStyle/>
        <a:p>
          <a:r>
            <a:rPr lang="fr-CI" sz="1500" dirty="0">
              <a:latin typeface="Calibri" panose="020F0502020204030204" pitchFamily="34" charset="0"/>
              <a:cs typeface="Calibri" panose="020F0502020204030204" pitchFamily="34" charset="0"/>
            </a:rPr>
            <a:t>Niels Bohr (1885-1962)</a:t>
          </a:r>
          <a:endParaRPr lang="fr-FR" sz="1500" dirty="0">
            <a:latin typeface="Calibri" panose="020F0502020204030204" pitchFamily="34" charset="0"/>
            <a:cs typeface="Calibri" panose="020F0502020204030204" pitchFamily="34" charset="0"/>
          </a:endParaRPr>
        </a:p>
      </dgm:t>
    </dgm:pt>
    <dgm:pt modelId="{EF391DB1-D6A3-4691-9EB6-813F818408FF}" type="parTrans" cxnId="{4EF9A288-0A26-414C-9B4F-4E42051B5F4B}">
      <dgm:prSet/>
      <dgm:spPr/>
      <dgm:t>
        <a:bodyPr/>
        <a:lstStyle/>
        <a:p>
          <a:endParaRPr lang="fr-FR" sz="1500">
            <a:latin typeface="Calibri" panose="020F0502020204030204" pitchFamily="34" charset="0"/>
            <a:cs typeface="Calibri" panose="020F0502020204030204" pitchFamily="34" charset="0"/>
          </a:endParaRPr>
        </a:p>
      </dgm:t>
    </dgm:pt>
    <dgm:pt modelId="{200FB0D6-7E7A-491F-A5E5-C82564F7AD88}" type="sibTrans" cxnId="{4EF9A288-0A26-414C-9B4F-4E42051B5F4B}">
      <dgm:prSet/>
      <dgm:spPr/>
      <dgm:t>
        <a:bodyPr/>
        <a:lstStyle/>
        <a:p>
          <a:endParaRPr lang="fr-FR" sz="1500">
            <a:latin typeface="Calibri" panose="020F0502020204030204" pitchFamily="34" charset="0"/>
            <a:cs typeface="Calibri" panose="020F0502020204030204" pitchFamily="34" charset="0"/>
          </a:endParaRPr>
        </a:p>
      </dgm:t>
    </dgm:pt>
    <dgm:pt modelId="{BBAD89EB-F007-40A3-93E7-AF5BEECA747F}">
      <dgm:prSet phldrT="[Texte]" custT="1"/>
      <dgm:spPr/>
      <dgm:t>
        <a:bodyPr/>
        <a:lstStyle/>
        <a:p>
          <a:r>
            <a:rPr lang="fr-CI" sz="1500" dirty="0">
              <a:latin typeface="Calibri" panose="020F0502020204030204" pitchFamily="34" charset="0"/>
              <a:cs typeface="Calibri" panose="020F0502020204030204" pitchFamily="34" charset="0"/>
            </a:rPr>
            <a:t>Erwin Schrödinger (1887-1961)</a:t>
          </a:r>
          <a:endParaRPr lang="fr-FR" sz="1500" dirty="0">
            <a:latin typeface="Calibri" panose="020F0502020204030204" pitchFamily="34" charset="0"/>
            <a:cs typeface="Calibri" panose="020F0502020204030204" pitchFamily="34" charset="0"/>
          </a:endParaRPr>
        </a:p>
      </dgm:t>
    </dgm:pt>
    <dgm:pt modelId="{3B8E56B4-3B7B-4FA3-9891-021AC1788ECC}" type="parTrans" cxnId="{BBB2115D-9941-4E53-88CA-57E9040DA6FD}">
      <dgm:prSet/>
      <dgm:spPr/>
      <dgm:t>
        <a:bodyPr/>
        <a:lstStyle/>
        <a:p>
          <a:endParaRPr lang="fr-FR" sz="1500">
            <a:latin typeface="Calibri" panose="020F0502020204030204" pitchFamily="34" charset="0"/>
            <a:cs typeface="Calibri" panose="020F0502020204030204" pitchFamily="34" charset="0"/>
          </a:endParaRPr>
        </a:p>
      </dgm:t>
    </dgm:pt>
    <dgm:pt modelId="{4CF8E661-E1A6-4743-87A8-ACAA2506CE9E}" type="sibTrans" cxnId="{BBB2115D-9941-4E53-88CA-57E9040DA6FD}">
      <dgm:prSet/>
      <dgm:spPr/>
      <dgm:t>
        <a:bodyPr/>
        <a:lstStyle/>
        <a:p>
          <a:endParaRPr lang="fr-FR" sz="1500">
            <a:latin typeface="Calibri" panose="020F0502020204030204" pitchFamily="34" charset="0"/>
            <a:cs typeface="Calibri" panose="020F0502020204030204" pitchFamily="34" charset="0"/>
          </a:endParaRPr>
        </a:p>
      </dgm:t>
    </dgm:pt>
    <dgm:pt modelId="{FD2C27BF-B208-418A-A990-0EF98912671C}">
      <dgm:prSet custT="1"/>
      <dgm:spPr/>
      <dgm:t>
        <a:bodyPr/>
        <a:lstStyle/>
        <a:p>
          <a:r>
            <a:rPr lang="fr-CI" sz="1500" dirty="0">
              <a:latin typeface="Calibri" panose="020F0502020204030204" pitchFamily="34" charset="0"/>
              <a:cs typeface="Calibri" panose="020F0502020204030204" pitchFamily="34" charset="0"/>
            </a:rPr>
            <a:t>Werner Heisenberg (1901-1976)</a:t>
          </a:r>
          <a:endParaRPr lang="fr-FR" sz="1500" dirty="0">
            <a:latin typeface="Calibri" panose="020F0502020204030204" pitchFamily="34" charset="0"/>
            <a:cs typeface="Calibri" panose="020F0502020204030204" pitchFamily="34" charset="0"/>
          </a:endParaRPr>
        </a:p>
      </dgm:t>
    </dgm:pt>
    <dgm:pt modelId="{043B639A-8191-47E9-A17D-4D5292BDA1BE}" type="parTrans" cxnId="{826A7522-1FEB-4D95-BE35-DA2218F49487}">
      <dgm:prSet/>
      <dgm:spPr/>
      <dgm:t>
        <a:bodyPr/>
        <a:lstStyle/>
        <a:p>
          <a:endParaRPr lang="fr-FR" sz="1500">
            <a:latin typeface="Calibri" panose="020F0502020204030204" pitchFamily="34" charset="0"/>
            <a:cs typeface="Calibri" panose="020F0502020204030204" pitchFamily="34" charset="0"/>
          </a:endParaRPr>
        </a:p>
      </dgm:t>
    </dgm:pt>
    <dgm:pt modelId="{850092D6-1C57-4F50-8056-8422D3BAD3A3}" type="sibTrans" cxnId="{826A7522-1FEB-4D95-BE35-DA2218F49487}">
      <dgm:prSet/>
      <dgm:spPr/>
      <dgm:t>
        <a:bodyPr/>
        <a:lstStyle/>
        <a:p>
          <a:endParaRPr lang="fr-FR" sz="1500">
            <a:latin typeface="Calibri" panose="020F0502020204030204" pitchFamily="34" charset="0"/>
            <a:cs typeface="Calibri" panose="020F0502020204030204" pitchFamily="34" charset="0"/>
          </a:endParaRPr>
        </a:p>
      </dgm:t>
    </dgm:pt>
    <dgm:pt modelId="{07F4355F-4B2D-4012-BB98-8D56DD3EC9FF}">
      <dgm:prSet custT="1"/>
      <dgm:spPr/>
      <dgm:t>
        <a:bodyPr/>
        <a:lstStyle/>
        <a:p>
          <a:r>
            <a:rPr lang="fr-CI" sz="1500" dirty="0">
              <a:latin typeface="Calibri" panose="020F0502020204030204" pitchFamily="34" charset="0"/>
              <a:cs typeface="Calibri" panose="020F0502020204030204" pitchFamily="34" charset="0"/>
            </a:rPr>
            <a:t>la dualité onde-corpuscule</a:t>
          </a:r>
          <a:endParaRPr lang="fr-FR" sz="1500" dirty="0">
            <a:latin typeface="Calibri" panose="020F0502020204030204" pitchFamily="34" charset="0"/>
            <a:cs typeface="Calibri" panose="020F0502020204030204" pitchFamily="34" charset="0"/>
          </a:endParaRPr>
        </a:p>
      </dgm:t>
    </dgm:pt>
    <dgm:pt modelId="{BC83A15D-7909-4126-9A5F-B76950C86B0F}" type="parTrans" cxnId="{A7EBACBA-7707-4C86-9759-D36F1565D049}">
      <dgm:prSet/>
      <dgm:spPr/>
      <dgm:t>
        <a:bodyPr/>
        <a:lstStyle/>
        <a:p>
          <a:endParaRPr lang="fr-FR" sz="1500">
            <a:latin typeface="Calibri" panose="020F0502020204030204" pitchFamily="34" charset="0"/>
            <a:cs typeface="Calibri" panose="020F0502020204030204" pitchFamily="34" charset="0"/>
          </a:endParaRPr>
        </a:p>
      </dgm:t>
    </dgm:pt>
    <dgm:pt modelId="{6C6B3CCF-243A-4EB0-851C-C5233CF0697A}" type="sibTrans" cxnId="{A7EBACBA-7707-4C86-9759-D36F1565D049}">
      <dgm:prSet/>
      <dgm:spPr/>
      <dgm:t>
        <a:bodyPr/>
        <a:lstStyle/>
        <a:p>
          <a:endParaRPr lang="fr-FR" sz="1500">
            <a:latin typeface="Calibri" panose="020F0502020204030204" pitchFamily="34" charset="0"/>
            <a:cs typeface="Calibri" panose="020F0502020204030204" pitchFamily="34" charset="0"/>
          </a:endParaRPr>
        </a:p>
      </dgm:t>
    </dgm:pt>
    <dgm:pt modelId="{4A0EAA10-EFF4-48D5-AB53-FF3730DADB43}">
      <dgm:prSet custT="1"/>
      <dgm:spPr/>
      <dgm:t>
        <a:bodyPr/>
        <a:lstStyle/>
        <a:p>
          <a:r>
            <a:rPr lang="fr-CI" sz="1500" dirty="0">
              <a:latin typeface="Calibri" panose="020F0502020204030204" pitchFamily="34" charset="0"/>
              <a:cs typeface="Calibri" panose="020F0502020204030204" pitchFamily="34" charset="0"/>
            </a:rPr>
            <a:t>le modèle atomique</a:t>
          </a:r>
          <a:endParaRPr lang="fr-FR" sz="1500" dirty="0">
            <a:latin typeface="Calibri" panose="020F0502020204030204" pitchFamily="34" charset="0"/>
            <a:cs typeface="Calibri" panose="020F0502020204030204" pitchFamily="34" charset="0"/>
          </a:endParaRPr>
        </a:p>
      </dgm:t>
    </dgm:pt>
    <dgm:pt modelId="{AB35D609-12FB-4B43-B849-39594212008D}" type="parTrans" cxnId="{E712EF44-60CD-4C71-8D2C-743F997423DA}">
      <dgm:prSet/>
      <dgm:spPr/>
      <dgm:t>
        <a:bodyPr/>
        <a:lstStyle/>
        <a:p>
          <a:endParaRPr lang="fr-FR" sz="1500">
            <a:latin typeface="Calibri" panose="020F0502020204030204" pitchFamily="34" charset="0"/>
            <a:cs typeface="Calibri" panose="020F0502020204030204" pitchFamily="34" charset="0"/>
          </a:endParaRPr>
        </a:p>
      </dgm:t>
    </dgm:pt>
    <dgm:pt modelId="{74315C5A-2D97-464C-94B8-E7C3770CDED0}" type="sibTrans" cxnId="{E712EF44-60CD-4C71-8D2C-743F997423DA}">
      <dgm:prSet/>
      <dgm:spPr/>
      <dgm:t>
        <a:bodyPr/>
        <a:lstStyle/>
        <a:p>
          <a:endParaRPr lang="fr-FR" sz="1500">
            <a:latin typeface="Calibri" panose="020F0502020204030204" pitchFamily="34" charset="0"/>
            <a:cs typeface="Calibri" panose="020F0502020204030204" pitchFamily="34" charset="0"/>
          </a:endParaRPr>
        </a:p>
      </dgm:t>
    </dgm:pt>
    <dgm:pt modelId="{006C5397-1EB5-4208-94EF-70D84FB568A6}">
      <dgm:prSet custT="1"/>
      <dgm:spPr/>
      <dgm:t>
        <a:bodyPr/>
        <a:lstStyle/>
        <a:p>
          <a:r>
            <a:rPr lang="fr-CI" sz="1500" dirty="0">
              <a:latin typeface="Calibri" panose="020F0502020204030204" pitchFamily="34" charset="0"/>
              <a:cs typeface="Calibri" panose="020F0502020204030204" pitchFamily="34" charset="0"/>
            </a:rPr>
            <a:t>la mécanique ondulatoire</a:t>
          </a:r>
          <a:endParaRPr lang="fr-FR" sz="1500" dirty="0">
            <a:latin typeface="Calibri" panose="020F0502020204030204" pitchFamily="34" charset="0"/>
            <a:cs typeface="Calibri" panose="020F0502020204030204" pitchFamily="34" charset="0"/>
          </a:endParaRPr>
        </a:p>
      </dgm:t>
    </dgm:pt>
    <dgm:pt modelId="{4B058B45-DE0E-42C8-8CDA-8B155F36095A}" type="parTrans" cxnId="{27E06AFD-177A-4F7D-A2DD-1598D6EAA719}">
      <dgm:prSet/>
      <dgm:spPr/>
      <dgm:t>
        <a:bodyPr/>
        <a:lstStyle/>
        <a:p>
          <a:endParaRPr lang="fr-FR" sz="1500">
            <a:latin typeface="Calibri" panose="020F0502020204030204" pitchFamily="34" charset="0"/>
            <a:cs typeface="Calibri" panose="020F0502020204030204" pitchFamily="34" charset="0"/>
          </a:endParaRPr>
        </a:p>
      </dgm:t>
    </dgm:pt>
    <dgm:pt modelId="{B6292127-1B99-4A79-BD57-A3562F3F48EF}" type="sibTrans" cxnId="{27E06AFD-177A-4F7D-A2DD-1598D6EAA719}">
      <dgm:prSet/>
      <dgm:spPr/>
      <dgm:t>
        <a:bodyPr/>
        <a:lstStyle/>
        <a:p>
          <a:endParaRPr lang="fr-FR" sz="1500">
            <a:latin typeface="Calibri" panose="020F0502020204030204" pitchFamily="34" charset="0"/>
            <a:cs typeface="Calibri" panose="020F0502020204030204" pitchFamily="34" charset="0"/>
          </a:endParaRPr>
        </a:p>
      </dgm:t>
    </dgm:pt>
    <dgm:pt modelId="{CE677373-1FF7-44D3-974B-55EA80CF20E9}">
      <dgm:prSet custT="1"/>
      <dgm:spPr/>
      <dgm:t>
        <a:bodyPr/>
        <a:lstStyle/>
        <a:p>
          <a:r>
            <a:rPr lang="fr-CI" sz="1500" dirty="0">
              <a:latin typeface="Calibri" panose="020F0502020204030204" pitchFamily="34" charset="0"/>
              <a:cs typeface="Calibri" panose="020F0502020204030204" pitchFamily="34" charset="0"/>
            </a:rPr>
            <a:t>le principe d’incertitude ou le théorème d’indétermination</a:t>
          </a:r>
          <a:endParaRPr lang="fr-FR" sz="1500" dirty="0">
            <a:latin typeface="Calibri" panose="020F0502020204030204" pitchFamily="34" charset="0"/>
            <a:cs typeface="Calibri" panose="020F0502020204030204" pitchFamily="34" charset="0"/>
          </a:endParaRPr>
        </a:p>
      </dgm:t>
    </dgm:pt>
    <dgm:pt modelId="{4519B740-1F5C-4CCC-A075-495FBE1BDF98}" type="parTrans" cxnId="{F6022BEB-7C19-431A-8572-5E7F6DD72B63}">
      <dgm:prSet/>
      <dgm:spPr/>
      <dgm:t>
        <a:bodyPr/>
        <a:lstStyle/>
        <a:p>
          <a:endParaRPr lang="fr-FR" sz="1500">
            <a:latin typeface="Calibri" panose="020F0502020204030204" pitchFamily="34" charset="0"/>
            <a:cs typeface="Calibri" panose="020F0502020204030204" pitchFamily="34" charset="0"/>
          </a:endParaRPr>
        </a:p>
      </dgm:t>
    </dgm:pt>
    <dgm:pt modelId="{89F612C3-2D2E-47B0-978C-206DD00BDB3C}" type="sibTrans" cxnId="{F6022BEB-7C19-431A-8572-5E7F6DD72B63}">
      <dgm:prSet/>
      <dgm:spPr/>
      <dgm:t>
        <a:bodyPr/>
        <a:lstStyle/>
        <a:p>
          <a:endParaRPr lang="fr-FR" sz="1500">
            <a:latin typeface="Calibri" panose="020F0502020204030204" pitchFamily="34" charset="0"/>
            <a:cs typeface="Calibri" panose="020F0502020204030204" pitchFamily="34" charset="0"/>
          </a:endParaRPr>
        </a:p>
      </dgm:t>
    </dgm:pt>
    <dgm:pt modelId="{EF71D6B7-A926-4690-9D54-3D7DBFF6E93D}" type="pres">
      <dgm:prSet presAssocID="{C22C19A5-FB55-4E0F-BB58-EC79A05E1270}" presName="Name0" presStyleCnt="0">
        <dgm:presLayoutVars>
          <dgm:dir/>
          <dgm:resizeHandles val="exact"/>
        </dgm:presLayoutVars>
      </dgm:prSet>
      <dgm:spPr/>
    </dgm:pt>
    <dgm:pt modelId="{25488437-92B8-4954-8678-65FCAB39CDC1}" type="pres">
      <dgm:prSet presAssocID="{B44DA733-F54A-4258-B404-28A538F30334}" presName="composite" presStyleCnt="0"/>
      <dgm:spPr/>
    </dgm:pt>
    <dgm:pt modelId="{FEB829CA-BE3E-46FA-9801-0D075E313488}" type="pres">
      <dgm:prSet presAssocID="{B44DA733-F54A-4258-B404-28A538F30334}" presName="rect1" presStyleLbl="bgImgPlace1" presStyleIdx="0" presStyleCnt="8" custLinFactNeighborY="1933"/>
      <dgm:spPr>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t="2025" b="-29375"/>
          </a:stretch>
        </a:blipFill>
      </dgm:spPr>
    </dgm:pt>
    <dgm:pt modelId="{D75C1F46-A41A-4A3E-8137-BE441BB10ED9}" type="pres">
      <dgm:prSet presAssocID="{B44DA733-F54A-4258-B404-28A538F30334}" presName="wedgeRectCallout1" presStyleLbl="node1" presStyleIdx="0" presStyleCnt="8">
        <dgm:presLayoutVars>
          <dgm:bulletEnabled val="1"/>
        </dgm:presLayoutVars>
      </dgm:prSet>
      <dgm:spPr/>
    </dgm:pt>
    <dgm:pt modelId="{20192DB2-7975-4783-9820-56A6BF72D716}" type="pres">
      <dgm:prSet presAssocID="{4225053C-83FD-4697-8902-294DCEF6E98D}" presName="sibTrans" presStyleCnt="0"/>
      <dgm:spPr/>
    </dgm:pt>
    <dgm:pt modelId="{B3325E4E-3C28-4E76-83EA-3CD615185558}" type="pres">
      <dgm:prSet presAssocID="{2D46FC85-4C24-4F64-BBC4-0B5704D93F07}" presName="composite" presStyleCnt="0"/>
      <dgm:spPr/>
    </dgm:pt>
    <dgm:pt modelId="{FB914D5E-9880-4721-A4AF-17B866CF5B52}" type="pres">
      <dgm:prSet presAssocID="{2D46FC85-4C24-4F64-BBC4-0B5704D93F07}" presName="rect1" presStyleLbl="bgImgPlace1" presStyleIdx="1" presStyleCnt="8"/>
      <dgm:spPr>
        <a:blipFill dpi="0" rotWithShape="1">
          <a:blip xmlns:r="http://schemas.openxmlformats.org/officeDocument/2006/relationships" r:embed="rId2"/>
          <a:srcRect/>
          <a:stretch>
            <a:fillRect t="-14963" b="-35953"/>
          </a:stretch>
        </a:blipFill>
      </dgm:spPr>
    </dgm:pt>
    <dgm:pt modelId="{F9F46D3F-FC48-4CA3-82F6-E3631413995B}" type="pres">
      <dgm:prSet presAssocID="{2D46FC85-4C24-4F64-BBC4-0B5704D93F07}" presName="wedgeRectCallout1" presStyleLbl="node1" presStyleIdx="1" presStyleCnt="8">
        <dgm:presLayoutVars>
          <dgm:bulletEnabled val="1"/>
        </dgm:presLayoutVars>
      </dgm:prSet>
      <dgm:spPr/>
    </dgm:pt>
    <dgm:pt modelId="{3CA89BE7-1B61-494C-BF32-71BC7ED7DA28}" type="pres">
      <dgm:prSet presAssocID="{200FB0D6-7E7A-491F-A5E5-C82564F7AD88}" presName="sibTrans" presStyleCnt="0"/>
      <dgm:spPr/>
    </dgm:pt>
    <dgm:pt modelId="{48B4224B-7EF5-4301-AFB3-326053AE8C26}" type="pres">
      <dgm:prSet presAssocID="{BBAD89EB-F007-40A3-93E7-AF5BEECA747F}" presName="composite" presStyleCnt="0"/>
      <dgm:spPr/>
    </dgm:pt>
    <dgm:pt modelId="{97E647E5-9186-49B0-9B35-A01276236508}" type="pres">
      <dgm:prSet presAssocID="{BBAD89EB-F007-40A3-93E7-AF5BEECA747F}" presName="rect1" presStyleLbl="bgImgPlace1" presStyleIdx="2" presStyleCnt="8"/>
      <dgm:spPr>
        <a:blipFill dpi="0" rotWithShape="1">
          <a:blip xmlns:r="http://schemas.openxmlformats.org/officeDocument/2006/relationships" r:embed="rId3"/>
          <a:srcRect/>
          <a:stretch>
            <a:fillRect l="-3500" t="-18728" r="3500" b="-38000"/>
          </a:stretch>
        </a:blipFill>
      </dgm:spPr>
    </dgm:pt>
    <dgm:pt modelId="{CD08F0DC-B0A8-429D-8EC0-265D3C5F9B8A}" type="pres">
      <dgm:prSet presAssocID="{BBAD89EB-F007-40A3-93E7-AF5BEECA747F}" presName="wedgeRectCallout1" presStyleLbl="node1" presStyleIdx="2" presStyleCnt="8">
        <dgm:presLayoutVars>
          <dgm:bulletEnabled val="1"/>
        </dgm:presLayoutVars>
      </dgm:prSet>
      <dgm:spPr/>
    </dgm:pt>
    <dgm:pt modelId="{75898A22-2DA7-4869-BEDA-A63866CF0A69}" type="pres">
      <dgm:prSet presAssocID="{4CF8E661-E1A6-4743-87A8-ACAA2506CE9E}" presName="sibTrans" presStyleCnt="0"/>
      <dgm:spPr/>
    </dgm:pt>
    <dgm:pt modelId="{E3F01E2C-858C-4284-9CEA-BEC838DF3D0F}" type="pres">
      <dgm:prSet presAssocID="{FD2C27BF-B208-418A-A990-0EF98912671C}" presName="composite" presStyleCnt="0"/>
      <dgm:spPr/>
    </dgm:pt>
    <dgm:pt modelId="{801B930E-5265-4CFA-AA5F-89565F7D418C}" type="pres">
      <dgm:prSet presAssocID="{FD2C27BF-B208-418A-A990-0EF98912671C}" presName="rect1" presStyleLbl="bgImgPlace1" presStyleIdx="3" presStyleCnt="8"/>
      <dgm:spPr>
        <a:blipFill dpi="0" rotWithShape="1">
          <a:blip xmlns:r="http://schemas.openxmlformats.org/officeDocument/2006/relationships" r:embed="rId4">
            <a:extLst>
              <a:ext uri="{28A0092B-C50C-407E-A947-70E740481C1C}">
                <a14:useLocalDpi xmlns:a14="http://schemas.microsoft.com/office/drawing/2010/main" val="0"/>
              </a:ext>
            </a:extLst>
          </a:blip>
          <a:srcRect/>
          <a:stretch>
            <a:fillRect l="-1458" t="-7804" r="1458" b="-90638"/>
          </a:stretch>
        </a:blipFill>
      </dgm:spPr>
    </dgm:pt>
    <dgm:pt modelId="{7942B8F2-A7D6-48F6-BF17-3AB33A69D2DB}" type="pres">
      <dgm:prSet presAssocID="{FD2C27BF-B208-418A-A990-0EF98912671C}" presName="wedgeRectCallout1" presStyleLbl="node1" presStyleIdx="3" presStyleCnt="8">
        <dgm:presLayoutVars>
          <dgm:bulletEnabled val="1"/>
        </dgm:presLayoutVars>
      </dgm:prSet>
      <dgm:spPr/>
    </dgm:pt>
    <dgm:pt modelId="{7F3FF2A7-5F52-40BB-8CBB-0306742539F8}" type="pres">
      <dgm:prSet presAssocID="{850092D6-1C57-4F50-8056-8422D3BAD3A3}" presName="sibTrans" presStyleCnt="0"/>
      <dgm:spPr/>
    </dgm:pt>
    <dgm:pt modelId="{23DABDCE-DADD-4AD9-BEB6-95F6FFA14241}" type="pres">
      <dgm:prSet presAssocID="{07F4355F-4B2D-4012-BB98-8D56DD3EC9FF}" presName="composite" presStyleCnt="0"/>
      <dgm:spPr/>
    </dgm:pt>
    <dgm:pt modelId="{BEBC9BC3-B126-4634-9C11-176066DD92D0}" type="pres">
      <dgm:prSet presAssocID="{07F4355F-4B2D-4012-BB98-8D56DD3EC9FF}" presName="rect1" presStyleLbl="bgImgPlace1" presStyleIdx="4" presStyleCnt="8"/>
      <dgm:spPr>
        <a:blipFill>
          <a:blip xmlns:r="http://schemas.openxmlformats.org/officeDocument/2006/relationships" r:embed="rId5">
            <a:extLst>
              <a:ext uri="{28A0092B-C50C-407E-A947-70E740481C1C}">
                <a14:useLocalDpi xmlns:a14="http://schemas.microsoft.com/office/drawing/2010/main" val="0"/>
              </a:ext>
            </a:extLst>
          </a:blip>
          <a:srcRect/>
          <a:stretch>
            <a:fillRect/>
          </a:stretch>
        </a:blipFill>
      </dgm:spPr>
    </dgm:pt>
    <dgm:pt modelId="{BB59F5A8-9DAE-44FC-8331-ED45ED01F878}" type="pres">
      <dgm:prSet presAssocID="{07F4355F-4B2D-4012-BB98-8D56DD3EC9FF}" presName="wedgeRectCallout1" presStyleLbl="node1" presStyleIdx="4" presStyleCnt="8">
        <dgm:presLayoutVars>
          <dgm:bulletEnabled val="1"/>
        </dgm:presLayoutVars>
      </dgm:prSet>
      <dgm:spPr/>
    </dgm:pt>
    <dgm:pt modelId="{1B6D171E-4E35-4071-B292-99C3F60A2057}" type="pres">
      <dgm:prSet presAssocID="{6C6B3CCF-243A-4EB0-851C-C5233CF0697A}" presName="sibTrans" presStyleCnt="0"/>
      <dgm:spPr/>
    </dgm:pt>
    <dgm:pt modelId="{6BF84003-815A-4C77-8C8C-92D703DBF011}" type="pres">
      <dgm:prSet presAssocID="{4A0EAA10-EFF4-48D5-AB53-FF3730DADB43}" presName="composite" presStyleCnt="0"/>
      <dgm:spPr/>
    </dgm:pt>
    <dgm:pt modelId="{54202372-AD0B-418E-99C2-5B1AB83B3B05}" type="pres">
      <dgm:prSet presAssocID="{4A0EAA10-EFF4-48D5-AB53-FF3730DADB43}" presName="rect1" presStyleLbl="bgImgPlace1" presStyleIdx="5" presStyleCnt="8"/>
      <dgm:spPr>
        <a:blipFill>
          <a:blip xmlns:r="http://schemas.openxmlformats.org/officeDocument/2006/relationships" r:embed="rId6"/>
          <a:srcRect/>
          <a:stretch>
            <a:fillRect l="-10000" r="-10000"/>
          </a:stretch>
        </a:blipFill>
      </dgm:spPr>
    </dgm:pt>
    <dgm:pt modelId="{6893F2AB-2C8A-4886-BD39-969E0F63F89F}" type="pres">
      <dgm:prSet presAssocID="{4A0EAA10-EFF4-48D5-AB53-FF3730DADB43}" presName="wedgeRectCallout1" presStyleLbl="node1" presStyleIdx="5" presStyleCnt="8">
        <dgm:presLayoutVars>
          <dgm:bulletEnabled val="1"/>
        </dgm:presLayoutVars>
      </dgm:prSet>
      <dgm:spPr/>
    </dgm:pt>
    <dgm:pt modelId="{3A55D1B8-DB35-4BCF-AC5E-C106BADCCDDF}" type="pres">
      <dgm:prSet presAssocID="{74315C5A-2D97-464C-94B8-E7C3770CDED0}" presName="sibTrans" presStyleCnt="0"/>
      <dgm:spPr/>
    </dgm:pt>
    <dgm:pt modelId="{D860BEA1-984D-4FB6-A6CC-AEE43DE076D7}" type="pres">
      <dgm:prSet presAssocID="{006C5397-1EB5-4208-94EF-70D84FB568A6}" presName="composite" presStyleCnt="0"/>
      <dgm:spPr/>
    </dgm:pt>
    <dgm:pt modelId="{79C1F035-0557-4D46-9287-9E1F380E10E6}" type="pres">
      <dgm:prSet presAssocID="{006C5397-1EB5-4208-94EF-70D84FB568A6}" presName="rect1" presStyleLbl="bgImgPlace1" presStyleIdx="6" presStyleCnt="8"/>
      <dgm:spPr>
        <a:blipFill dpi="0" rotWithShape="1">
          <a:blip xmlns:r="http://schemas.openxmlformats.org/officeDocument/2006/relationships" r:embed="rId7">
            <a:extLst>
              <a:ext uri="{28A0092B-C50C-407E-A947-70E740481C1C}">
                <a14:useLocalDpi xmlns:a14="http://schemas.microsoft.com/office/drawing/2010/main" val="0"/>
              </a:ext>
            </a:extLst>
          </a:blip>
          <a:srcRect/>
          <a:stretch>
            <a:fillRect l="23307" r="23307"/>
          </a:stretch>
        </a:blipFill>
      </dgm:spPr>
    </dgm:pt>
    <dgm:pt modelId="{3259180F-3BA2-4FA9-BC3A-2EC2A4A9DA92}" type="pres">
      <dgm:prSet presAssocID="{006C5397-1EB5-4208-94EF-70D84FB568A6}" presName="wedgeRectCallout1" presStyleLbl="node1" presStyleIdx="6" presStyleCnt="8">
        <dgm:presLayoutVars>
          <dgm:bulletEnabled val="1"/>
        </dgm:presLayoutVars>
      </dgm:prSet>
      <dgm:spPr/>
    </dgm:pt>
    <dgm:pt modelId="{9FACA6F9-6BFB-47E6-89C8-CBE3F458406E}" type="pres">
      <dgm:prSet presAssocID="{B6292127-1B99-4A79-BD57-A3562F3F48EF}" presName="sibTrans" presStyleCnt="0"/>
      <dgm:spPr/>
    </dgm:pt>
    <dgm:pt modelId="{C14030BF-9790-406D-80F6-CE02B7CB5685}" type="pres">
      <dgm:prSet presAssocID="{CE677373-1FF7-44D3-974B-55EA80CF20E9}" presName="composite" presStyleCnt="0"/>
      <dgm:spPr/>
    </dgm:pt>
    <dgm:pt modelId="{70B2F32A-CB62-4BD2-9701-C9ED060FACE6}" type="pres">
      <dgm:prSet presAssocID="{CE677373-1FF7-44D3-974B-55EA80CF20E9}" presName="rect1" presStyleLbl="bgImgPlace1" presStyleIdx="7" presStyleCnt="8"/>
      <dgm:spPr>
        <a:blipFill>
          <a:blip xmlns:r="http://schemas.openxmlformats.org/officeDocument/2006/relationships" r:embed="rId8">
            <a:extLst>
              <a:ext uri="{28A0092B-C50C-407E-A947-70E740481C1C}">
                <a14:useLocalDpi xmlns:a14="http://schemas.microsoft.com/office/drawing/2010/main" val="0"/>
              </a:ext>
            </a:extLst>
          </a:blip>
          <a:srcRect/>
          <a:stretch>
            <a:fillRect l="-3000" r="-3000"/>
          </a:stretch>
        </a:blipFill>
      </dgm:spPr>
    </dgm:pt>
    <dgm:pt modelId="{C8582FDA-1621-4403-A650-0109886F1DAA}" type="pres">
      <dgm:prSet presAssocID="{CE677373-1FF7-44D3-974B-55EA80CF20E9}" presName="wedgeRectCallout1" presStyleLbl="node1" presStyleIdx="7" presStyleCnt="8" custScaleY="147243">
        <dgm:presLayoutVars>
          <dgm:bulletEnabled val="1"/>
        </dgm:presLayoutVars>
      </dgm:prSet>
      <dgm:spPr/>
    </dgm:pt>
  </dgm:ptLst>
  <dgm:cxnLst>
    <dgm:cxn modelId="{48EDFA01-844E-414A-AA71-B863DFB36894}" type="presOf" srcId="{4A0EAA10-EFF4-48D5-AB53-FF3730DADB43}" destId="{6893F2AB-2C8A-4886-BD39-969E0F63F89F}" srcOrd="0" destOrd="0" presId="urn:microsoft.com/office/officeart/2008/layout/BendingPictureCaptionList"/>
    <dgm:cxn modelId="{CC004305-AF9B-4476-A6C2-98F0F3F596C3}" type="presOf" srcId="{FD2C27BF-B208-418A-A990-0EF98912671C}" destId="{7942B8F2-A7D6-48F6-BF17-3AB33A69D2DB}" srcOrd="0" destOrd="0" presId="urn:microsoft.com/office/officeart/2008/layout/BendingPictureCaptionList"/>
    <dgm:cxn modelId="{826A7522-1FEB-4D95-BE35-DA2218F49487}" srcId="{C22C19A5-FB55-4E0F-BB58-EC79A05E1270}" destId="{FD2C27BF-B208-418A-A990-0EF98912671C}" srcOrd="3" destOrd="0" parTransId="{043B639A-8191-47E9-A17D-4D5292BDA1BE}" sibTransId="{850092D6-1C57-4F50-8056-8422D3BAD3A3}"/>
    <dgm:cxn modelId="{A9ECB426-B99D-4D52-8607-F5642C5AC65F}" type="presOf" srcId="{2D46FC85-4C24-4F64-BBC4-0B5704D93F07}" destId="{F9F46D3F-FC48-4CA3-82F6-E3631413995B}" srcOrd="0" destOrd="0" presId="urn:microsoft.com/office/officeart/2008/layout/BendingPictureCaptionList"/>
    <dgm:cxn modelId="{BBB2115D-9941-4E53-88CA-57E9040DA6FD}" srcId="{C22C19A5-FB55-4E0F-BB58-EC79A05E1270}" destId="{BBAD89EB-F007-40A3-93E7-AF5BEECA747F}" srcOrd="2" destOrd="0" parTransId="{3B8E56B4-3B7B-4FA3-9891-021AC1788ECC}" sibTransId="{4CF8E661-E1A6-4743-87A8-ACAA2506CE9E}"/>
    <dgm:cxn modelId="{E712EF44-60CD-4C71-8D2C-743F997423DA}" srcId="{C22C19A5-FB55-4E0F-BB58-EC79A05E1270}" destId="{4A0EAA10-EFF4-48D5-AB53-FF3730DADB43}" srcOrd="5" destOrd="0" parTransId="{AB35D609-12FB-4B43-B849-39594212008D}" sibTransId="{74315C5A-2D97-464C-94B8-E7C3770CDED0}"/>
    <dgm:cxn modelId="{DF21BA49-5209-4FD8-B619-0AD070D4066A}" type="presOf" srcId="{BBAD89EB-F007-40A3-93E7-AF5BEECA747F}" destId="{CD08F0DC-B0A8-429D-8EC0-265D3C5F9B8A}" srcOrd="0" destOrd="0" presId="urn:microsoft.com/office/officeart/2008/layout/BendingPictureCaptionList"/>
    <dgm:cxn modelId="{2A90BA4C-91A7-4611-BA1B-D395931758CC}" type="presOf" srcId="{07F4355F-4B2D-4012-BB98-8D56DD3EC9FF}" destId="{BB59F5A8-9DAE-44FC-8331-ED45ED01F878}" srcOrd="0" destOrd="0" presId="urn:microsoft.com/office/officeart/2008/layout/BendingPictureCaptionList"/>
    <dgm:cxn modelId="{9280D679-C560-4B0B-9F77-138AC98FA04E}" srcId="{C22C19A5-FB55-4E0F-BB58-EC79A05E1270}" destId="{B44DA733-F54A-4258-B404-28A538F30334}" srcOrd="0" destOrd="0" parTransId="{27EAB32A-849D-4C31-9753-6010251DCD22}" sibTransId="{4225053C-83FD-4697-8902-294DCEF6E98D}"/>
    <dgm:cxn modelId="{5BD2BB7E-3B11-44D5-8BD6-EEB62E101915}" type="presOf" srcId="{C22C19A5-FB55-4E0F-BB58-EC79A05E1270}" destId="{EF71D6B7-A926-4690-9D54-3D7DBFF6E93D}" srcOrd="0" destOrd="0" presId="urn:microsoft.com/office/officeart/2008/layout/BendingPictureCaptionList"/>
    <dgm:cxn modelId="{4EF9A288-0A26-414C-9B4F-4E42051B5F4B}" srcId="{C22C19A5-FB55-4E0F-BB58-EC79A05E1270}" destId="{2D46FC85-4C24-4F64-BBC4-0B5704D93F07}" srcOrd="1" destOrd="0" parTransId="{EF391DB1-D6A3-4691-9EB6-813F818408FF}" sibTransId="{200FB0D6-7E7A-491F-A5E5-C82564F7AD88}"/>
    <dgm:cxn modelId="{2AE56DB0-C2FB-4E17-934A-1BB96C31E35A}" type="presOf" srcId="{B44DA733-F54A-4258-B404-28A538F30334}" destId="{D75C1F46-A41A-4A3E-8137-BE441BB10ED9}" srcOrd="0" destOrd="0" presId="urn:microsoft.com/office/officeart/2008/layout/BendingPictureCaptionList"/>
    <dgm:cxn modelId="{A7EBACBA-7707-4C86-9759-D36F1565D049}" srcId="{C22C19A5-FB55-4E0F-BB58-EC79A05E1270}" destId="{07F4355F-4B2D-4012-BB98-8D56DD3EC9FF}" srcOrd="4" destOrd="0" parTransId="{BC83A15D-7909-4126-9A5F-B76950C86B0F}" sibTransId="{6C6B3CCF-243A-4EB0-851C-C5233CF0697A}"/>
    <dgm:cxn modelId="{814DDAD6-E03D-48DA-BEF2-3E3A203E2C93}" type="presOf" srcId="{006C5397-1EB5-4208-94EF-70D84FB568A6}" destId="{3259180F-3BA2-4FA9-BC3A-2EC2A4A9DA92}" srcOrd="0" destOrd="0" presId="urn:microsoft.com/office/officeart/2008/layout/BendingPictureCaptionList"/>
    <dgm:cxn modelId="{F6022BEB-7C19-431A-8572-5E7F6DD72B63}" srcId="{C22C19A5-FB55-4E0F-BB58-EC79A05E1270}" destId="{CE677373-1FF7-44D3-974B-55EA80CF20E9}" srcOrd="7" destOrd="0" parTransId="{4519B740-1F5C-4CCC-A075-495FBE1BDF98}" sibTransId="{89F612C3-2D2E-47B0-978C-206DD00BDB3C}"/>
    <dgm:cxn modelId="{783C87EC-09F9-4315-8591-47980C38E16D}" type="presOf" srcId="{CE677373-1FF7-44D3-974B-55EA80CF20E9}" destId="{C8582FDA-1621-4403-A650-0109886F1DAA}" srcOrd="0" destOrd="0" presId="urn:microsoft.com/office/officeart/2008/layout/BendingPictureCaptionList"/>
    <dgm:cxn modelId="{27E06AFD-177A-4F7D-A2DD-1598D6EAA719}" srcId="{C22C19A5-FB55-4E0F-BB58-EC79A05E1270}" destId="{006C5397-1EB5-4208-94EF-70D84FB568A6}" srcOrd="6" destOrd="0" parTransId="{4B058B45-DE0E-42C8-8CDA-8B155F36095A}" sibTransId="{B6292127-1B99-4A79-BD57-A3562F3F48EF}"/>
    <dgm:cxn modelId="{5498649A-D9A7-4C4E-980C-657B2B5A0CD7}" type="presParOf" srcId="{EF71D6B7-A926-4690-9D54-3D7DBFF6E93D}" destId="{25488437-92B8-4954-8678-65FCAB39CDC1}" srcOrd="0" destOrd="0" presId="urn:microsoft.com/office/officeart/2008/layout/BendingPictureCaptionList"/>
    <dgm:cxn modelId="{55A4F098-0FD3-4171-A044-2C2A2A274CAB}" type="presParOf" srcId="{25488437-92B8-4954-8678-65FCAB39CDC1}" destId="{FEB829CA-BE3E-46FA-9801-0D075E313488}" srcOrd="0" destOrd="0" presId="urn:microsoft.com/office/officeart/2008/layout/BendingPictureCaptionList"/>
    <dgm:cxn modelId="{287DE658-519E-45C2-9613-72F2FA351A25}" type="presParOf" srcId="{25488437-92B8-4954-8678-65FCAB39CDC1}" destId="{D75C1F46-A41A-4A3E-8137-BE441BB10ED9}" srcOrd="1" destOrd="0" presId="urn:microsoft.com/office/officeart/2008/layout/BendingPictureCaptionList"/>
    <dgm:cxn modelId="{60AFCD2E-0BF1-49DC-BCD5-2C0AAAE20684}" type="presParOf" srcId="{EF71D6B7-A926-4690-9D54-3D7DBFF6E93D}" destId="{20192DB2-7975-4783-9820-56A6BF72D716}" srcOrd="1" destOrd="0" presId="urn:microsoft.com/office/officeart/2008/layout/BendingPictureCaptionList"/>
    <dgm:cxn modelId="{464611EE-5F30-4CC7-BADD-5C157F99A24A}" type="presParOf" srcId="{EF71D6B7-A926-4690-9D54-3D7DBFF6E93D}" destId="{B3325E4E-3C28-4E76-83EA-3CD615185558}" srcOrd="2" destOrd="0" presId="urn:microsoft.com/office/officeart/2008/layout/BendingPictureCaptionList"/>
    <dgm:cxn modelId="{10D93090-524E-42C0-A2AA-D874A2C98856}" type="presParOf" srcId="{B3325E4E-3C28-4E76-83EA-3CD615185558}" destId="{FB914D5E-9880-4721-A4AF-17B866CF5B52}" srcOrd="0" destOrd="0" presId="urn:microsoft.com/office/officeart/2008/layout/BendingPictureCaptionList"/>
    <dgm:cxn modelId="{85E0B4E2-3AFF-4FEE-A431-07DB19F1DDFC}" type="presParOf" srcId="{B3325E4E-3C28-4E76-83EA-3CD615185558}" destId="{F9F46D3F-FC48-4CA3-82F6-E3631413995B}" srcOrd="1" destOrd="0" presId="urn:microsoft.com/office/officeart/2008/layout/BendingPictureCaptionList"/>
    <dgm:cxn modelId="{F8DF338E-5D10-45CF-AACA-31ACA131F1B4}" type="presParOf" srcId="{EF71D6B7-A926-4690-9D54-3D7DBFF6E93D}" destId="{3CA89BE7-1B61-494C-BF32-71BC7ED7DA28}" srcOrd="3" destOrd="0" presId="urn:microsoft.com/office/officeart/2008/layout/BendingPictureCaptionList"/>
    <dgm:cxn modelId="{2D905A6F-3E97-44F5-AA06-B2F63BDDCEF5}" type="presParOf" srcId="{EF71D6B7-A926-4690-9D54-3D7DBFF6E93D}" destId="{48B4224B-7EF5-4301-AFB3-326053AE8C26}" srcOrd="4" destOrd="0" presId="urn:microsoft.com/office/officeart/2008/layout/BendingPictureCaptionList"/>
    <dgm:cxn modelId="{18E01C48-80FC-4EB8-AD74-43724D9CF4ED}" type="presParOf" srcId="{48B4224B-7EF5-4301-AFB3-326053AE8C26}" destId="{97E647E5-9186-49B0-9B35-A01276236508}" srcOrd="0" destOrd="0" presId="urn:microsoft.com/office/officeart/2008/layout/BendingPictureCaptionList"/>
    <dgm:cxn modelId="{E54DA1C9-7CC2-4D2E-9887-B3AE3A7C4B7B}" type="presParOf" srcId="{48B4224B-7EF5-4301-AFB3-326053AE8C26}" destId="{CD08F0DC-B0A8-429D-8EC0-265D3C5F9B8A}" srcOrd="1" destOrd="0" presId="urn:microsoft.com/office/officeart/2008/layout/BendingPictureCaptionList"/>
    <dgm:cxn modelId="{7CD6833F-9C49-44B8-8228-4C5881531643}" type="presParOf" srcId="{EF71D6B7-A926-4690-9D54-3D7DBFF6E93D}" destId="{75898A22-2DA7-4869-BEDA-A63866CF0A69}" srcOrd="5" destOrd="0" presId="urn:microsoft.com/office/officeart/2008/layout/BendingPictureCaptionList"/>
    <dgm:cxn modelId="{31435637-B8DB-4154-A4E6-D54533754526}" type="presParOf" srcId="{EF71D6B7-A926-4690-9D54-3D7DBFF6E93D}" destId="{E3F01E2C-858C-4284-9CEA-BEC838DF3D0F}" srcOrd="6" destOrd="0" presId="urn:microsoft.com/office/officeart/2008/layout/BendingPictureCaptionList"/>
    <dgm:cxn modelId="{18234894-3F3F-4759-B2B3-887682625BEC}" type="presParOf" srcId="{E3F01E2C-858C-4284-9CEA-BEC838DF3D0F}" destId="{801B930E-5265-4CFA-AA5F-89565F7D418C}" srcOrd="0" destOrd="0" presId="urn:microsoft.com/office/officeart/2008/layout/BendingPictureCaptionList"/>
    <dgm:cxn modelId="{98972976-8D60-4B03-9E57-8B51730CA5FD}" type="presParOf" srcId="{E3F01E2C-858C-4284-9CEA-BEC838DF3D0F}" destId="{7942B8F2-A7D6-48F6-BF17-3AB33A69D2DB}" srcOrd="1" destOrd="0" presId="urn:microsoft.com/office/officeart/2008/layout/BendingPictureCaptionList"/>
    <dgm:cxn modelId="{6F1308AD-6517-4277-9DC0-83C20708FB4F}" type="presParOf" srcId="{EF71D6B7-A926-4690-9D54-3D7DBFF6E93D}" destId="{7F3FF2A7-5F52-40BB-8CBB-0306742539F8}" srcOrd="7" destOrd="0" presId="urn:microsoft.com/office/officeart/2008/layout/BendingPictureCaptionList"/>
    <dgm:cxn modelId="{C2FC8AA3-0CB9-4199-991A-4067DD17673B}" type="presParOf" srcId="{EF71D6B7-A926-4690-9D54-3D7DBFF6E93D}" destId="{23DABDCE-DADD-4AD9-BEB6-95F6FFA14241}" srcOrd="8" destOrd="0" presId="urn:microsoft.com/office/officeart/2008/layout/BendingPictureCaptionList"/>
    <dgm:cxn modelId="{AF1324E4-8029-4909-AB56-08999420904F}" type="presParOf" srcId="{23DABDCE-DADD-4AD9-BEB6-95F6FFA14241}" destId="{BEBC9BC3-B126-4634-9C11-176066DD92D0}" srcOrd="0" destOrd="0" presId="urn:microsoft.com/office/officeart/2008/layout/BendingPictureCaptionList"/>
    <dgm:cxn modelId="{3E7C2452-1470-4BA5-99B7-2472DA24C115}" type="presParOf" srcId="{23DABDCE-DADD-4AD9-BEB6-95F6FFA14241}" destId="{BB59F5A8-9DAE-44FC-8331-ED45ED01F878}" srcOrd="1" destOrd="0" presId="urn:microsoft.com/office/officeart/2008/layout/BendingPictureCaptionList"/>
    <dgm:cxn modelId="{0C62F855-FB35-4B20-AB8F-8DE5DF5E5584}" type="presParOf" srcId="{EF71D6B7-A926-4690-9D54-3D7DBFF6E93D}" destId="{1B6D171E-4E35-4071-B292-99C3F60A2057}" srcOrd="9" destOrd="0" presId="urn:microsoft.com/office/officeart/2008/layout/BendingPictureCaptionList"/>
    <dgm:cxn modelId="{C56A9B12-CD87-4DF5-8F4C-5E60E05CB161}" type="presParOf" srcId="{EF71D6B7-A926-4690-9D54-3D7DBFF6E93D}" destId="{6BF84003-815A-4C77-8C8C-92D703DBF011}" srcOrd="10" destOrd="0" presId="urn:microsoft.com/office/officeart/2008/layout/BendingPictureCaptionList"/>
    <dgm:cxn modelId="{55748D9B-3E3B-417E-BE15-294A4FEC731A}" type="presParOf" srcId="{6BF84003-815A-4C77-8C8C-92D703DBF011}" destId="{54202372-AD0B-418E-99C2-5B1AB83B3B05}" srcOrd="0" destOrd="0" presId="urn:microsoft.com/office/officeart/2008/layout/BendingPictureCaptionList"/>
    <dgm:cxn modelId="{02B040C1-BF62-4C2A-AF1E-4630D22CAE1B}" type="presParOf" srcId="{6BF84003-815A-4C77-8C8C-92D703DBF011}" destId="{6893F2AB-2C8A-4886-BD39-969E0F63F89F}" srcOrd="1" destOrd="0" presId="urn:microsoft.com/office/officeart/2008/layout/BendingPictureCaptionList"/>
    <dgm:cxn modelId="{F0E1B9D5-2233-4235-88A1-B9A4271BC3DE}" type="presParOf" srcId="{EF71D6B7-A926-4690-9D54-3D7DBFF6E93D}" destId="{3A55D1B8-DB35-4BCF-AC5E-C106BADCCDDF}" srcOrd="11" destOrd="0" presId="urn:microsoft.com/office/officeart/2008/layout/BendingPictureCaptionList"/>
    <dgm:cxn modelId="{2CD073CE-EC83-4198-BF01-C703EED5B4BC}" type="presParOf" srcId="{EF71D6B7-A926-4690-9D54-3D7DBFF6E93D}" destId="{D860BEA1-984D-4FB6-A6CC-AEE43DE076D7}" srcOrd="12" destOrd="0" presId="urn:microsoft.com/office/officeart/2008/layout/BendingPictureCaptionList"/>
    <dgm:cxn modelId="{FFD8288C-D8AA-4062-BEDB-0A61DE592889}" type="presParOf" srcId="{D860BEA1-984D-4FB6-A6CC-AEE43DE076D7}" destId="{79C1F035-0557-4D46-9287-9E1F380E10E6}" srcOrd="0" destOrd="0" presId="urn:microsoft.com/office/officeart/2008/layout/BendingPictureCaptionList"/>
    <dgm:cxn modelId="{C2FFE21C-E4A6-4A88-A343-349E88943FDC}" type="presParOf" srcId="{D860BEA1-984D-4FB6-A6CC-AEE43DE076D7}" destId="{3259180F-3BA2-4FA9-BC3A-2EC2A4A9DA92}" srcOrd="1" destOrd="0" presId="urn:microsoft.com/office/officeart/2008/layout/BendingPictureCaptionList"/>
    <dgm:cxn modelId="{E441326D-06AA-4085-A977-545D82F24DE0}" type="presParOf" srcId="{EF71D6B7-A926-4690-9D54-3D7DBFF6E93D}" destId="{9FACA6F9-6BFB-47E6-89C8-CBE3F458406E}" srcOrd="13" destOrd="0" presId="urn:microsoft.com/office/officeart/2008/layout/BendingPictureCaptionList"/>
    <dgm:cxn modelId="{C6CF9C9F-E915-4CCB-BB9E-6B2E6C753767}" type="presParOf" srcId="{EF71D6B7-A926-4690-9D54-3D7DBFF6E93D}" destId="{C14030BF-9790-406D-80F6-CE02B7CB5685}" srcOrd="14" destOrd="0" presId="urn:microsoft.com/office/officeart/2008/layout/BendingPictureCaptionList"/>
    <dgm:cxn modelId="{95E40DDD-EF28-41EA-85C4-1D20AC6E8BA8}" type="presParOf" srcId="{C14030BF-9790-406D-80F6-CE02B7CB5685}" destId="{70B2F32A-CB62-4BD2-9701-C9ED060FACE6}" srcOrd="0" destOrd="0" presId="urn:microsoft.com/office/officeart/2008/layout/BendingPictureCaptionList"/>
    <dgm:cxn modelId="{DD722209-15EA-48AB-815B-25C15A733724}" type="presParOf" srcId="{C14030BF-9790-406D-80F6-CE02B7CB5685}" destId="{C8582FDA-1621-4403-A650-0109886F1DAA}" srcOrd="1" destOrd="0" presId="urn:microsoft.com/office/officeart/2008/layout/BendingPictureCa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F3D92F7-D053-49CD-B4D1-5E5F6C65F724}"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fr-FR"/>
        </a:p>
      </dgm:t>
    </dgm:pt>
    <dgm:pt modelId="{CCA90030-CC3D-4B7E-A437-A1FD85AA3291}">
      <dgm:prSet phldrT="[Texte]"/>
      <dgm:spPr/>
      <dgm:t>
        <a:bodyPr/>
        <a:lstStyle/>
        <a:p>
          <a:r>
            <a:rPr lang="fr-CI" dirty="0">
              <a:effectLst/>
              <a:latin typeface="+mj-lt"/>
              <a:ea typeface="Calibri" panose="020F0502020204030204" pitchFamily="34" charset="0"/>
              <a:cs typeface="Times New Roman" panose="02020603050405020304" pitchFamily="18" charset="0"/>
            </a:rPr>
            <a:t>LA MÉCANIQUE QUANTIQUE</a:t>
          </a:r>
          <a:endParaRPr lang="fr-FR" dirty="0">
            <a:latin typeface="+mj-lt"/>
          </a:endParaRPr>
        </a:p>
      </dgm:t>
    </dgm:pt>
    <dgm:pt modelId="{EC99C6E0-E3FE-4450-BF96-21D8D8725AE2}" type="parTrans" cxnId="{145C3CB7-10DA-4697-9435-7D6E263A1106}">
      <dgm:prSet/>
      <dgm:spPr/>
      <dgm:t>
        <a:bodyPr/>
        <a:lstStyle/>
        <a:p>
          <a:endParaRPr lang="fr-FR"/>
        </a:p>
      </dgm:t>
    </dgm:pt>
    <dgm:pt modelId="{265F0DE8-FB73-4C19-A86E-9B5563158AE7}" type="sibTrans" cxnId="{145C3CB7-10DA-4697-9435-7D6E263A1106}">
      <dgm:prSet/>
      <dgm:spPr/>
      <dgm:t>
        <a:bodyPr/>
        <a:lstStyle/>
        <a:p>
          <a:endParaRPr lang="fr-FR"/>
        </a:p>
      </dgm:t>
    </dgm:pt>
    <dgm:pt modelId="{12E3ECC8-74DB-4E1B-BC9C-26F7A5B3208B}">
      <dgm:prSet phldrT="[Texte]" custT="1"/>
      <dgm:spPr/>
      <dgm:t>
        <a:bodyPr/>
        <a:lstStyle/>
        <a:p>
          <a:pPr algn="just"/>
          <a:r>
            <a:rPr lang="fr-CI" sz="1900" dirty="0">
              <a:latin typeface="Calibri" panose="020F0502020204030204" pitchFamily="34" charset="0"/>
              <a:cs typeface="Calibri" panose="020F0502020204030204" pitchFamily="34" charset="0"/>
            </a:rPr>
            <a:t>La mécanique quantique suppose un pas de géant dans l’histoire de la physique. Mais il faut noter que l’on est très loin de ce qu’un bon positiviste pourrait appeler « observation directe ». Ainsi s’effondre non seulement positivisme mais le néo-positivisme.</a:t>
          </a:r>
          <a:endParaRPr lang="fr-FR" sz="1900" dirty="0">
            <a:latin typeface="Calibri" panose="020F0502020204030204" pitchFamily="34" charset="0"/>
            <a:cs typeface="Calibri" panose="020F0502020204030204" pitchFamily="34" charset="0"/>
          </a:endParaRPr>
        </a:p>
        <a:p>
          <a:pPr algn="l"/>
          <a:r>
            <a:rPr lang="fr-CI" sz="1900" dirty="0">
              <a:latin typeface="Calibri" panose="020F0502020204030204" pitchFamily="34" charset="0"/>
              <a:cs typeface="Calibri" panose="020F0502020204030204" pitchFamily="34" charset="0"/>
            </a:rPr>
            <a:t>Cette physique suppose donc </a:t>
          </a:r>
          <a:r>
            <a:rPr lang="fr-CI" sz="1900" b="1" dirty="0">
              <a:latin typeface="Calibri" panose="020F0502020204030204" pitchFamily="34" charset="0"/>
              <a:cs typeface="Calibri" panose="020F0502020204030204" pitchFamily="34" charset="0"/>
            </a:rPr>
            <a:t>l’existence réelle</a:t>
          </a:r>
          <a:r>
            <a:rPr lang="fr-CI" sz="1900" dirty="0">
              <a:latin typeface="Calibri" panose="020F0502020204030204" pitchFamily="34" charset="0"/>
              <a:cs typeface="Calibri" panose="020F0502020204030204" pitchFamily="34" charset="0"/>
            </a:rPr>
            <a:t> de l’indéterminisme (c’est-à-dire, des réalités qu’on ne peut maîtriser ni prévoir leur fonctionnement) et d’autres propriétés de la nature qui de toutes les façons sont loin d’être intuitives. </a:t>
          </a:r>
          <a:r>
            <a:rPr lang="fr-CI" sz="1900" b="1" dirty="0">
              <a:latin typeface="Calibri" panose="020F0502020204030204" pitchFamily="34" charset="0"/>
              <a:cs typeface="Calibri" panose="020F0502020204030204" pitchFamily="34" charset="0"/>
            </a:rPr>
            <a:t>Et donc les positivistes et les néo-positivistes ont tort.</a:t>
          </a:r>
          <a:endParaRPr lang="fr-FR" sz="1900" dirty="0">
            <a:latin typeface="Calibri" panose="020F0502020204030204" pitchFamily="34" charset="0"/>
            <a:cs typeface="Calibri" panose="020F0502020204030204" pitchFamily="34" charset="0"/>
          </a:endParaRPr>
        </a:p>
      </dgm:t>
    </dgm:pt>
    <dgm:pt modelId="{192BC70C-DBA3-4657-A535-CF58E5900D2B}" type="parTrans" cxnId="{38E88ED8-3F67-42B0-BE41-4DEEB58337A7}">
      <dgm:prSet/>
      <dgm:spPr/>
      <dgm:t>
        <a:bodyPr/>
        <a:lstStyle/>
        <a:p>
          <a:endParaRPr lang="fr-FR"/>
        </a:p>
      </dgm:t>
    </dgm:pt>
    <dgm:pt modelId="{5DBDC78C-890D-4919-939C-841E5CA8C67A}" type="sibTrans" cxnId="{38E88ED8-3F67-42B0-BE41-4DEEB58337A7}">
      <dgm:prSet/>
      <dgm:spPr/>
      <dgm:t>
        <a:bodyPr/>
        <a:lstStyle/>
        <a:p>
          <a:endParaRPr lang="fr-FR"/>
        </a:p>
      </dgm:t>
    </dgm:pt>
    <dgm:pt modelId="{57F2874F-F272-48F7-9151-7CF643FBBEAC}">
      <dgm:prSet phldrT="[Texte]"/>
      <dgm:spPr/>
      <dgm:t>
        <a:bodyPr/>
        <a:lstStyle/>
        <a:p>
          <a:endParaRPr lang="fr-FR" dirty="0">
            <a:latin typeface="+mj-lt"/>
          </a:endParaRPr>
        </a:p>
      </dgm:t>
    </dgm:pt>
    <dgm:pt modelId="{7B616783-B924-4390-9696-5C2847BD2D01}" type="parTrans" cxnId="{0EC041C9-0CB5-409F-8DBE-FA80F18EC1B4}">
      <dgm:prSet/>
      <dgm:spPr/>
      <dgm:t>
        <a:bodyPr/>
        <a:lstStyle/>
        <a:p>
          <a:endParaRPr lang="fr-FR"/>
        </a:p>
      </dgm:t>
    </dgm:pt>
    <dgm:pt modelId="{0193E299-3680-49FC-9201-347AC91E636E}" type="sibTrans" cxnId="{0EC041C9-0CB5-409F-8DBE-FA80F18EC1B4}">
      <dgm:prSet/>
      <dgm:spPr/>
      <dgm:t>
        <a:bodyPr/>
        <a:lstStyle/>
        <a:p>
          <a:endParaRPr lang="fr-FR"/>
        </a:p>
      </dgm:t>
    </dgm:pt>
    <dgm:pt modelId="{8975E4AC-88BD-4A7E-A742-FC0D787F3C4C}">
      <dgm:prSet phldrT="[Texte]" custT="1"/>
      <dgm:spPr/>
      <dgm:t>
        <a:bodyPr/>
        <a:lstStyle/>
        <a:p>
          <a:pPr algn="just"/>
          <a:r>
            <a:rPr lang="fr-CI" sz="1900" dirty="0">
              <a:latin typeface="Calibri" panose="020F0502020204030204" pitchFamily="34" charset="0"/>
              <a:cs typeface="Calibri" panose="020F0502020204030204" pitchFamily="34" charset="0"/>
            </a:rPr>
            <a:t>Bien plus, les discussions autour de ces nouvelles données non religieuses mais hautement scientifiques, ont donné lieu à des interprétations philosophiques diverses, dont quelques-unes </a:t>
          </a:r>
          <a:r>
            <a:rPr lang="fr-CI" sz="1900" b="1" dirty="0">
              <a:latin typeface="Calibri" panose="020F0502020204030204" pitchFamily="34" charset="0"/>
              <a:cs typeface="Calibri" panose="020F0502020204030204" pitchFamily="34" charset="0"/>
            </a:rPr>
            <a:t>prétendent que la « non-localisation » du monde microphysique fournirait une nouvelle clé pour comprendre les dimensions métaphysiques de la nature</a:t>
          </a:r>
          <a:r>
            <a:rPr lang="fr-CI" sz="1900" dirty="0">
              <a:latin typeface="Calibri" panose="020F0502020204030204" pitchFamily="34" charset="0"/>
              <a:cs typeface="Calibri" panose="020F0502020204030204" pitchFamily="34" charset="0"/>
            </a:rPr>
            <a:t>. </a:t>
          </a:r>
          <a:endParaRPr lang="fr-FR" sz="1900" dirty="0">
            <a:latin typeface="Calibri" panose="020F0502020204030204" pitchFamily="34" charset="0"/>
            <a:cs typeface="Calibri" panose="020F0502020204030204" pitchFamily="34" charset="0"/>
          </a:endParaRPr>
        </a:p>
      </dgm:t>
    </dgm:pt>
    <dgm:pt modelId="{7D1619ED-215C-415C-88DF-839D756ADF6D}" type="parTrans" cxnId="{9375B321-BC89-4CBC-8213-3BDCC05796AA}">
      <dgm:prSet/>
      <dgm:spPr/>
      <dgm:t>
        <a:bodyPr/>
        <a:lstStyle/>
        <a:p>
          <a:endParaRPr lang="fr-FR"/>
        </a:p>
      </dgm:t>
    </dgm:pt>
    <dgm:pt modelId="{F95D0E05-06EF-48DE-9610-9E1FE968584E}" type="sibTrans" cxnId="{9375B321-BC89-4CBC-8213-3BDCC05796AA}">
      <dgm:prSet/>
      <dgm:spPr/>
      <dgm:t>
        <a:bodyPr/>
        <a:lstStyle/>
        <a:p>
          <a:endParaRPr lang="fr-FR"/>
        </a:p>
      </dgm:t>
    </dgm:pt>
    <dgm:pt modelId="{02D390A3-EE8A-4001-8053-751588BA6DCB}" type="pres">
      <dgm:prSet presAssocID="{3F3D92F7-D053-49CD-B4D1-5E5F6C65F724}" presName="vert0" presStyleCnt="0">
        <dgm:presLayoutVars>
          <dgm:dir/>
          <dgm:animOne val="branch"/>
          <dgm:animLvl val="lvl"/>
        </dgm:presLayoutVars>
      </dgm:prSet>
      <dgm:spPr/>
    </dgm:pt>
    <dgm:pt modelId="{1A32BE0A-382E-447B-A821-6BA575436DD5}" type="pres">
      <dgm:prSet presAssocID="{CCA90030-CC3D-4B7E-A437-A1FD85AA3291}" presName="thickLine" presStyleLbl="alignNode1" presStyleIdx="0" presStyleCnt="2"/>
      <dgm:spPr/>
    </dgm:pt>
    <dgm:pt modelId="{2AFF1DD0-B8A4-4183-8135-52B1B7C5F1DB}" type="pres">
      <dgm:prSet presAssocID="{CCA90030-CC3D-4B7E-A437-A1FD85AA3291}" presName="horz1" presStyleCnt="0"/>
      <dgm:spPr/>
    </dgm:pt>
    <dgm:pt modelId="{ED67CB99-9EBA-4224-9AA4-B3FA221928E1}" type="pres">
      <dgm:prSet presAssocID="{CCA90030-CC3D-4B7E-A437-A1FD85AA3291}" presName="tx1" presStyleLbl="revTx" presStyleIdx="0" presStyleCnt="4"/>
      <dgm:spPr/>
    </dgm:pt>
    <dgm:pt modelId="{5A9FCBC7-D6F2-4229-B4D6-0FB62DED39AC}" type="pres">
      <dgm:prSet presAssocID="{CCA90030-CC3D-4B7E-A437-A1FD85AA3291}" presName="vert1" presStyleCnt="0"/>
      <dgm:spPr/>
    </dgm:pt>
    <dgm:pt modelId="{49EC1D4D-1DF1-45FF-94C7-D8574F07BE00}" type="pres">
      <dgm:prSet presAssocID="{12E3ECC8-74DB-4E1B-BC9C-26F7A5B3208B}" presName="vertSpace2a" presStyleCnt="0"/>
      <dgm:spPr/>
    </dgm:pt>
    <dgm:pt modelId="{419E2383-1D63-4C32-9019-70447C490FC5}" type="pres">
      <dgm:prSet presAssocID="{12E3ECC8-74DB-4E1B-BC9C-26F7A5B3208B}" presName="horz2" presStyleCnt="0"/>
      <dgm:spPr/>
    </dgm:pt>
    <dgm:pt modelId="{DDDF850D-5AEB-4FD9-BAB5-74122560090B}" type="pres">
      <dgm:prSet presAssocID="{12E3ECC8-74DB-4E1B-BC9C-26F7A5B3208B}" presName="horzSpace2" presStyleCnt="0"/>
      <dgm:spPr/>
    </dgm:pt>
    <dgm:pt modelId="{38F98C1B-72F9-4269-9506-0BF71D43B612}" type="pres">
      <dgm:prSet presAssocID="{12E3ECC8-74DB-4E1B-BC9C-26F7A5B3208B}" presName="tx2" presStyleLbl="revTx" presStyleIdx="1" presStyleCnt="4"/>
      <dgm:spPr/>
    </dgm:pt>
    <dgm:pt modelId="{18762BD7-5BE6-4E49-AFBF-3BEF6B08D813}" type="pres">
      <dgm:prSet presAssocID="{12E3ECC8-74DB-4E1B-BC9C-26F7A5B3208B}" presName="vert2" presStyleCnt="0"/>
      <dgm:spPr/>
    </dgm:pt>
    <dgm:pt modelId="{39E818EB-B25B-437C-8BB9-B98374156267}" type="pres">
      <dgm:prSet presAssocID="{12E3ECC8-74DB-4E1B-BC9C-26F7A5B3208B}" presName="thinLine2b" presStyleLbl="callout" presStyleIdx="0" presStyleCnt="2" custLinFactY="7384" custLinFactNeighborY="100000"/>
      <dgm:spPr/>
    </dgm:pt>
    <dgm:pt modelId="{7B467031-9A5B-4DC1-9651-C55EA1EC9E0E}" type="pres">
      <dgm:prSet presAssocID="{12E3ECC8-74DB-4E1B-BC9C-26F7A5B3208B}" presName="vertSpace2b" presStyleCnt="0"/>
      <dgm:spPr/>
    </dgm:pt>
    <dgm:pt modelId="{606972C6-062E-4C7F-A6DE-28E4065C377F}" type="pres">
      <dgm:prSet presAssocID="{57F2874F-F272-48F7-9151-7CF643FBBEAC}" presName="thickLine" presStyleLbl="alignNode1" presStyleIdx="1" presStyleCnt="2"/>
      <dgm:spPr/>
    </dgm:pt>
    <dgm:pt modelId="{E99531AB-12F8-4D03-935B-F2F15DB4DCF5}" type="pres">
      <dgm:prSet presAssocID="{57F2874F-F272-48F7-9151-7CF643FBBEAC}" presName="horz1" presStyleCnt="0"/>
      <dgm:spPr/>
    </dgm:pt>
    <dgm:pt modelId="{7C59062F-C146-4F53-AD81-9620FF483283}" type="pres">
      <dgm:prSet presAssocID="{57F2874F-F272-48F7-9151-7CF643FBBEAC}" presName="tx1" presStyleLbl="revTx" presStyleIdx="2" presStyleCnt="4"/>
      <dgm:spPr/>
    </dgm:pt>
    <dgm:pt modelId="{3A91E62B-4B21-4425-9005-7373545BD7E4}" type="pres">
      <dgm:prSet presAssocID="{57F2874F-F272-48F7-9151-7CF643FBBEAC}" presName="vert1" presStyleCnt="0"/>
      <dgm:spPr/>
    </dgm:pt>
    <dgm:pt modelId="{A8DD5E6B-C392-40B6-A301-78035ADEC9C5}" type="pres">
      <dgm:prSet presAssocID="{8975E4AC-88BD-4A7E-A742-FC0D787F3C4C}" presName="vertSpace2a" presStyleCnt="0"/>
      <dgm:spPr/>
    </dgm:pt>
    <dgm:pt modelId="{A1CE7F68-959F-4247-8954-597FD500E244}" type="pres">
      <dgm:prSet presAssocID="{8975E4AC-88BD-4A7E-A742-FC0D787F3C4C}" presName="horz2" presStyleCnt="0"/>
      <dgm:spPr/>
    </dgm:pt>
    <dgm:pt modelId="{8FD1C722-FCBA-4530-93C0-0C318BF7F01D}" type="pres">
      <dgm:prSet presAssocID="{8975E4AC-88BD-4A7E-A742-FC0D787F3C4C}" presName="horzSpace2" presStyleCnt="0"/>
      <dgm:spPr/>
    </dgm:pt>
    <dgm:pt modelId="{09B96CA3-08B0-4FD9-AD53-AAA554063CF3}" type="pres">
      <dgm:prSet presAssocID="{8975E4AC-88BD-4A7E-A742-FC0D787F3C4C}" presName="tx2" presStyleLbl="revTx" presStyleIdx="3" presStyleCnt="4"/>
      <dgm:spPr/>
    </dgm:pt>
    <dgm:pt modelId="{11E0A936-C0F4-44A5-84E8-434E0624DB75}" type="pres">
      <dgm:prSet presAssocID="{8975E4AC-88BD-4A7E-A742-FC0D787F3C4C}" presName="vert2" presStyleCnt="0"/>
      <dgm:spPr/>
    </dgm:pt>
    <dgm:pt modelId="{86358D04-AC32-48E8-A61F-A3944EE64296}" type="pres">
      <dgm:prSet presAssocID="{8975E4AC-88BD-4A7E-A742-FC0D787F3C4C}" presName="thinLine2b" presStyleLbl="callout" presStyleIdx="1" presStyleCnt="2"/>
      <dgm:spPr/>
    </dgm:pt>
    <dgm:pt modelId="{6354B45A-453F-4635-A6E6-ED1B30DF4465}" type="pres">
      <dgm:prSet presAssocID="{8975E4AC-88BD-4A7E-A742-FC0D787F3C4C}" presName="vertSpace2b" presStyleCnt="0"/>
      <dgm:spPr/>
    </dgm:pt>
  </dgm:ptLst>
  <dgm:cxnLst>
    <dgm:cxn modelId="{F1420C18-F2E2-476B-93DC-B984606B2966}" type="presOf" srcId="{57F2874F-F272-48F7-9151-7CF643FBBEAC}" destId="{7C59062F-C146-4F53-AD81-9620FF483283}" srcOrd="0" destOrd="0" presId="urn:microsoft.com/office/officeart/2008/layout/LinedList"/>
    <dgm:cxn modelId="{9375B321-BC89-4CBC-8213-3BDCC05796AA}" srcId="{57F2874F-F272-48F7-9151-7CF643FBBEAC}" destId="{8975E4AC-88BD-4A7E-A742-FC0D787F3C4C}" srcOrd="0" destOrd="0" parTransId="{7D1619ED-215C-415C-88DF-839D756ADF6D}" sibTransId="{F95D0E05-06EF-48DE-9610-9E1FE968584E}"/>
    <dgm:cxn modelId="{7AEB8327-F299-46BD-8B71-D95A3CE5843B}" type="presOf" srcId="{8975E4AC-88BD-4A7E-A742-FC0D787F3C4C}" destId="{09B96CA3-08B0-4FD9-AD53-AAA554063CF3}" srcOrd="0" destOrd="0" presId="urn:microsoft.com/office/officeart/2008/layout/LinedList"/>
    <dgm:cxn modelId="{9B45B53A-E34C-4BDD-ACE2-2C4F9895A41B}" type="presOf" srcId="{12E3ECC8-74DB-4E1B-BC9C-26F7A5B3208B}" destId="{38F98C1B-72F9-4269-9506-0BF71D43B612}" srcOrd="0" destOrd="0" presId="urn:microsoft.com/office/officeart/2008/layout/LinedList"/>
    <dgm:cxn modelId="{C9CC5448-53F2-4399-958E-666C079F526E}" type="presOf" srcId="{CCA90030-CC3D-4B7E-A437-A1FD85AA3291}" destId="{ED67CB99-9EBA-4224-9AA4-B3FA221928E1}" srcOrd="0" destOrd="0" presId="urn:microsoft.com/office/officeart/2008/layout/LinedList"/>
    <dgm:cxn modelId="{145C3CB7-10DA-4697-9435-7D6E263A1106}" srcId="{3F3D92F7-D053-49CD-B4D1-5E5F6C65F724}" destId="{CCA90030-CC3D-4B7E-A437-A1FD85AA3291}" srcOrd="0" destOrd="0" parTransId="{EC99C6E0-E3FE-4450-BF96-21D8D8725AE2}" sibTransId="{265F0DE8-FB73-4C19-A86E-9B5563158AE7}"/>
    <dgm:cxn modelId="{0EC041C9-0CB5-409F-8DBE-FA80F18EC1B4}" srcId="{3F3D92F7-D053-49CD-B4D1-5E5F6C65F724}" destId="{57F2874F-F272-48F7-9151-7CF643FBBEAC}" srcOrd="1" destOrd="0" parTransId="{7B616783-B924-4390-9696-5C2847BD2D01}" sibTransId="{0193E299-3680-49FC-9201-347AC91E636E}"/>
    <dgm:cxn modelId="{38E88ED8-3F67-42B0-BE41-4DEEB58337A7}" srcId="{CCA90030-CC3D-4B7E-A437-A1FD85AA3291}" destId="{12E3ECC8-74DB-4E1B-BC9C-26F7A5B3208B}" srcOrd="0" destOrd="0" parTransId="{192BC70C-DBA3-4657-A535-CF58E5900D2B}" sibTransId="{5DBDC78C-890D-4919-939C-841E5CA8C67A}"/>
    <dgm:cxn modelId="{89379EEB-D935-47C9-AAEE-360844DBDEA6}" type="presOf" srcId="{3F3D92F7-D053-49CD-B4D1-5E5F6C65F724}" destId="{02D390A3-EE8A-4001-8053-751588BA6DCB}" srcOrd="0" destOrd="0" presId="urn:microsoft.com/office/officeart/2008/layout/LinedList"/>
    <dgm:cxn modelId="{BFE18005-4C13-4E10-B477-4960A8B1F84D}" type="presParOf" srcId="{02D390A3-EE8A-4001-8053-751588BA6DCB}" destId="{1A32BE0A-382E-447B-A821-6BA575436DD5}" srcOrd="0" destOrd="0" presId="urn:microsoft.com/office/officeart/2008/layout/LinedList"/>
    <dgm:cxn modelId="{11DD3EDA-0A5B-4BA4-A8A4-176980F05DCF}" type="presParOf" srcId="{02D390A3-EE8A-4001-8053-751588BA6DCB}" destId="{2AFF1DD0-B8A4-4183-8135-52B1B7C5F1DB}" srcOrd="1" destOrd="0" presId="urn:microsoft.com/office/officeart/2008/layout/LinedList"/>
    <dgm:cxn modelId="{0FEA542E-0CFD-4607-B8F9-0E9A4703C8FF}" type="presParOf" srcId="{2AFF1DD0-B8A4-4183-8135-52B1B7C5F1DB}" destId="{ED67CB99-9EBA-4224-9AA4-B3FA221928E1}" srcOrd="0" destOrd="0" presId="urn:microsoft.com/office/officeart/2008/layout/LinedList"/>
    <dgm:cxn modelId="{A1655927-9F83-47AF-B60F-3F8C3DFDD44E}" type="presParOf" srcId="{2AFF1DD0-B8A4-4183-8135-52B1B7C5F1DB}" destId="{5A9FCBC7-D6F2-4229-B4D6-0FB62DED39AC}" srcOrd="1" destOrd="0" presId="urn:microsoft.com/office/officeart/2008/layout/LinedList"/>
    <dgm:cxn modelId="{A8DF007A-CEC1-499C-A8B0-BB5D9C94165E}" type="presParOf" srcId="{5A9FCBC7-D6F2-4229-B4D6-0FB62DED39AC}" destId="{49EC1D4D-1DF1-45FF-94C7-D8574F07BE00}" srcOrd="0" destOrd="0" presId="urn:microsoft.com/office/officeart/2008/layout/LinedList"/>
    <dgm:cxn modelId="{64B54B79-8F77-4724-905F-C34F3E15BCB7}" type="presParOf" srcId="{5A9FCBC7-D6F2-4229-B4D6-0FB62DED39AC}" destId="{419E2383-1D63-4C32-9019-70447C490FC5}" srcOrd="1" destOrd="0" presId="urn:microsoft.com/office/officeart/2008/layout/LinedList"/>
    <dgm:cxn modelId="{9407552F-F32A-48BC-A45E-F27F87A82783}" type="presParOf" srcId="{419E2383-1D63-4C32-9019-70447C490FC5}" destId="{DDDF850D-5AEB-4FD9-BAB5-74122560090B}" srcOrd="0" destOrd="0" presId="urn:microsoft.com/office/officeart/2008/layout/LinedList"/>
    <dgm:cxn modelId="{909042DE-7F0E-4608-A825-DD9F1EF0BBBC}" type="presParOf" srcId="{419E2383-1D63-4C32-9019-70447C490FC5}" destId="{38F98C1B-72F9-4269-9506-0BF71D43B612}" srcOrd="1" destOrd="0" presId="urn:microsoft.com/office/officeart/2008/layout/LinedList"/>
    <dgm:cxn modelId="{D1140A60-1A89-4906-A579-4077FEEA91A7}" type="presParOf" srcId="{419E2383-1D63-4C32-9019-70447C490FC5}" destId="{18762BD7-5BE6-4E49-AFBF-3BEF6B08D813}" srcOrd="2" destOrd="0" presId="urn:microsoft.com/office/officeart/2008/layout/LinedList"/>
    <dgm:cxn modelId="{995EDB60-7115-4242-9956-8527A66DEF76}" type="presParOf" srcId="{5A9FCBC7-D6F2-4229-B4D6-0FB62DED39AC}" destId="{39E818EB-B25B-437C-8BB9-B98374156267}" srcOrd="2" destOrd="0" presId="urn:microsoft.com/office/officeart/2008/layout/LinedList"/>
    <dgm:cxn modelId="{17405947-144E-4A75-8EFD-F81CA7B637EE}" type="presParOf" srcId="{5A9FCBC7-D6F2-4229-B4D6-0FB62DED39AC}" destId="{7B467031-9A5B-4DC1-9651-C55EA1EC9E0E}" srcOrd="3" destOrd="0" presId="urn:microsoft.com/office/officeart/2008/layout/LinedList"/>
    <dgm:cxn modelId="{4AF563C4-ECE3-451D-9F6F-9CC4929CA2E4}" type="presParOf" srcId="{02D390A3-EE8A-4001-8053-751588BA6DCB}" destId="{606972C6-062E-4C7F-A6DE-28E4065C377F}" srcOrd="2" destOrd="0" presId="urn:microsoft.com/office/officeart/2008/layout/LinedList"/>
    <dgm:cxn modelId="{F56A9750-5C2D-4BE4-B1DD-68D2E56BC9DA}" type="presParOf" srcId="{02D390A3-EE8A-4001-8053-751588BA6DCB}" destId="{E99531AB-12F8-4D03-935B-F2F15DB4DCF5}" srcOrd="3" destOrd="0" presId="urn:microsoft.com/office/officeart/2008/layout/LinedList"/>
    <dgm:cxn modelId="{8073628C-E298-4294-A456-E8B4C55AF303}" type="presParOf" srcId="{E99531AB-12F8-4D03-935B-F2F15DB4DCF5}" destId="{7C59062F-C146-4F53-AD81-9620FF483283}" srcOrd="0" destOrd="0" presId="urn:microsoft.com/office/officeart/2008/layout/LinedList"/>
    <dgm:cxn modelId="{AB3E3E8C-0762-4AEF-AACE-E87E676E5EEC}" type="presParOf" srcId="{E99531AB-12F8-4D03-935B-F2F15DB4DCF5}" destId="{3A91E62B-4B21-4425-9005-7373545BD7E4}" srcOrd="1" destOrd="0" presId="urn:microsoft.com/office/officeart/2008/layout/LinedList"/>
    <dgm:cxn modelId="{2A51EB42-365B-49E9-8E96-4D03B8558AD7}" type="presParOf" srcId="{3A91E62B-4B21-4425-9005-7373545BD7E4}" destId="{A8DD5E6B-C392-40B6-A301-78035ADEC9C5}" srcOrd="0" destOrd="0" presId="urn:microsoft.com/office/officeart/2008/layout/LinedList"/>
    <dgm:cxn modelId="{6AB55852-E5FF-4A9A-A3D0-BDF605178919}" type="presParOf" srcId="{3A91E62B-4B21-4425-9005-7373545BD7E4}" destId="{A1CE7F68-959F-4247-8954-597FD500E244}" srcOrd="1" destOrd="0" presId="urn:microsoft.com/office/officeart/2008/layout/LinedList"/>
    <dgm:cxn modelId="{F311B9AE-07EE-423E-8521-FD11AD3AC3D1}" type="presParOf" srcId="{A1CE7F68-959F-4247-8954-597FD500E244}" destId="{8FD1C722-FCBA-4530-93C0-0C318BF7F01D}" srcOrd="0" destOrd="0" presId="urn:microsoft.com/office/officeart/2008/layout/LinedList"/>
    <dgm:cxn modelId="{0D80D8FD-86A8-46C2-A384-7CB0261BBFB7}" type="presParOf" srcId="{A1CE7F68-959F-4247-8954-597FD500E244}" destId="{09B96CA3-08B0-4FD9-AD53-AAA554063CF3}" srcOrd="1" destOrd="0" presId="urn:microsoft.com/office/officeart/2008/layout/LinedList"/>
    <dgm:cxn modelId="{21AD30A9-3AEF-4D1D-B976-B4492A63A18A}" type="presParOf" srcId="{A1CE7F68-959F-4247-8954-597FD500E244}" destId="{11E0A936-C0F4-44A5-84E8-434E0624DB75}" srcOrd="2" destOrd="0" presId="urn:microsoft.com/office/officeart/2008/layout/LinedList"/>
    <dgm:cxn modelId="{BDE729C5-4D6B-4F3E-9BCA-C0B0A6D59521}" type="presParOf" srcId="{3A91E62B-4B21-4425-9005-7373545BD7E4}" destId="{86358D04-AC32-48E8-A61F-A3944EE64296}" srcOrd="2" destOrd="0" presId="urn:microsoft.com/office/officeart/2008/layout/LinedList"/>
    <dgm:cxn modelId="{AF09AE47-DD24-43C8-8731-8E755A559423}" type="presParOf" srcId="{3A91E62B-4B21-4425-9005-7373545BD7E4}" destId="{6354B45A-453F-4635-A6E6-ED1B30DF4465}"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223424E-4ACD-45F6-B245-F4093B940A7A}" type="doc">
      <dgm:prSet loTypeId="urn:microsoft.com/office/officeart/2005/8/layout/vList4" loCatId="list" qsTypeId="urn:microsoft.com/office/officeart/2005/8/quickstyle/simple5" qsCatId="simple" csTypeId="urn:microsoft.com/office/officeart/2005/8/colors/accent0_3" csCatId="mainScheme" phldr="1"/>
      <dgm:spPr/>
      <dgm:t>
        <a:bodyPr/>
        <a:lstStyle/>
        <a:p>
          <a:endParaRPr lang="fr-FR"/>
        </a:p>
      </dgm:t>
    </dgm:pt>
    <dgm:pt modelId="{379AA755-65F0-4065-99B1-54CD69F3FABF}">
      <dgm:prSet phldrT="[Texte]"/>
      <dgm:spPr/>
      <dgm:t>
        <a:bodyPr/>
        <a:lstStyle/>
        <a:p>
          <a:r>
            <a:rPr lang="fr-CI" sz="2900" dirty="0">
              <a:latin typeface="Calibri" panose="020F0502020204030204" pitchFamily="34" charset="0"/>
              <a:cs typeface="Calibri" panose="020F0502020204030204" pitchFamily="34" charset="0"/>
            </a:rPr>
            <a:t>la découverte de la structure de l’ADN par James Watson et Francis Crick (1953)</a:t>
          </a:r>
          <a:endParaRPr lang="fr-FR" sz="2900" dirty="0">
            <a:latin typeface="Calibri" panose="020F0502020204030204" pitchFamily="34" charset="0"/>
            <a:cs typeface="Calibri" panose="020F0502020204030204" pitchFamily="34" charset="0"/>
          </a:endParaRPr>
        </a:p>
      </dgm:t>
    </dgm:pt>
    <dgm:pt modelId="{5E2C8820-5D27-4D5D-9F8A-F8D6FC1C6214}" type="parTrans" cxnId="{6D4FE50E-05CB-44B8-9A00-1D4003EF03C0}">
      <dgm:prSet/>
      <dgm:spPr/>
      <dgm:t>
        <a:bodyPr/>
        <a:lstStyle/>
        <a:p>
          <a:endParaRPr lang="fr-FR">
            <a:latin typeface="Calibri" panose="020F0502020204030204" pitchFamily="34" charset="0"/>
            <a:cs typeface="Calibri" panose="020F0502020204030204" pitchFamily="34" charset="0"/>
          </a:endParaRPr>
        </a:p>
      </dgm:t>
    </dgm:pt>
    <dgm:pt modelId="{64898D30-5821-431C-9E20-6767E8B46557}" type="sibTrans" cxnId="{6D4FE50E-05CB-44B8-9A00-1D4003EF03C0}">
      <dgm:prSet/>
      <dgm:spPr/>
      <dgm:t>
        <a:bodyPr/>
        <a:lstStyle/>
        <a:p>
          <a:endParaRPr lang="fr-FR">
            <a:latin typeface="Calibri" panose="020F0502020204030204" pitchFamily="34" charset="0"/>
            <a:cs typeface="Calibri" panose="020F0502020204030204" pitchFamily="34" charset="0"/>
          </a:endParaRPr>
        </a:p>
      </dgm:t>
    </dgm:pt>
    <dgm:pt modelId="{DB782FF4-50B7-4494-BFFB-DD06D84CB95D}">
      <dgm:prSet phldrT="[Texte]" custT="1"/>
      <dgm:spPr/>
      <dgm:t>
        <a:bodyPr/>
        <a:lstStyle/>
        <a:p>
          <a:r>
            <a:rPr lang="fr-CI" sz="1900" dirty="0">
              <a:latin typeface="Calibri" panose="020F0502020204030204" pitchFamily="34" charset="0"/>
              <a:cs typeface="Calibri" panose="020F0502020204030204" pitchFamily="34" charset="0"/>
            </a:rPr>
            <a:t>on pouvait désormais comprendre les mécanismes physiques qui interviennent dans les processus de conservation, de duplication, de modification et de transmission du matériel génétique. Les portes de la biotechnologie étaient ouvertes.</a:t>
          </a:r>
          <a:endParaRPr lang="fr-FR" sz="1900" dirty="0">
            <a:latin typeface="Calibri" panose="020F0502020204030204" pitchFamily="34" charset="0"/>
            <a:cs typeface="Calibri" panose="020F0502020204030204" pitchFamily="34" charset="0"/>
          </a:endParaRPr>
        </a:p>
      </dgm:t>
    </dgm:pt>
    <dgm:pt modelId="{553DDDBB-580F-4589-907A-97B42657154D}" type="parTrans" cxnId="{9D13D00F-B16A-43B9-AD53-4A2681C7EE08}">
      <dgm:prSet/>
      <dgm:spPr/>
      <dgm:t>
        <a:bodyPr/>
        <a:lstStyle/>
        <a:p>
          <a:endParaRPr lang="fr-FR">
            <a:latin typeface="Calibri" panose="020F0502020204030204" pitchFamily="34" charset="0"/>
            <a:cs typeface="Calibri" panose="020F0502020204030204" pitchFamily="34" charset="0"/>
          </a:endParaRPr>
        </a:p>
      </dgm:t>
    </dgm:pt>
    <dgm:pt modelId="{E8B606A6-1613-409C-A1F0-F1EAED904DB3}" type="sibTrans" cxnId="{9D13D00F-B16A-43B9-AD53-4A2681C7EE08}">
      <dgm:prSet/>
      <dgm:spPr/>
      <dgm:t>
        <a:bodyPr/>
        <a:lstStyle/>
        <a:p>
          <a:endParaRPr lang="fr-FR">
            <a:latin typeface="Calibri" panose="020F0502020204030204" pitchFamily="34" charset="0"/>
            <a:cs typeface="Calibri" panose="020F0502020204030204" pitchFamily="34" charset="0"/>
          </a:endParaRPr>
        </a:p>
      </dgm:t>
    </dgm:pt>
    <dgm:pt modelId="{367E6E50-C3CE-41EF-8375-BF07BED0D1B9}" type="pres">
      <dgm:prSet presAssocID="{D223424E-4ACD-45F6-B245-F4093B940A7A}" presName="linear" presStyleCnt="0">
        <dgm:presLayoutVars>
          <dgm:dir/>
          <dgm:resizeHandles val="exact"/>
        </dgm:presLayoutVars>
      </dgm:prSet>
      <dgm:spPr/>
    </dgm:pt>
    <dgm:pt modelId="{76B62FB5-E078-4EB2-A3DC-CC878633243C}" type="pres">
      <dgm:prSet presAssocID="{379AA755-65F0-4065-99B1-54CD69F3FABF}" presName="comp" presStyleCnt="0"/>
      <dgm:spPr/>
    </dgm:pt>
    <dgm:pt modelId="{F3952595-2F19-47F8-B3E7-CC3C6C01D6FD}" type="pres">
      <dgm:prSet presAssocID="{379AA755-65F0-4065-99B1-54CD69F3FABF}" presName="box" presStyleLbl="node1" presStyleIdx="0" presStyleCnt="1" custLinFactNeighborY="0"/>
      <dgm:spPr/>
    </dgm:pt>
    <dgm:pt modelId="{658E69DC-DF7C-4224-BADC-EB570760F507}" type="pres">
      <dgm:prSet presAssocID="{379AA755-65F0-4065-99B1-54CD69F3FABF}" presName="img" presStyleLbl="fgImgPlace1" presStyleIdx="0" presStyleCnt="1"/>
      <dgm:spPr>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l="-53934" t="-2143" r="-58763" b="-9643"/>
          </a:stretch>
        </a:blipFill>
      </dgm:spPr>
    </dgm:pt>
    <dgm:pt modelId="{28A254EE-F4E2-4D98-B4F4-8DC4E0CBC3FD}" type="pres">
      <dgm:prSet presAssocID="{379AA755-65F0-4065-99B1-54CD69F3FABF}" presName="text" presStyleLbl="node1" presStyleIdx="0" presStyleCnt="1">
        <dgm:presLayoutVars>
          <dgm:bulletEnabled val="1"/>
        </dgm:presLayoutVars>
      </dgm:prSet>
      <dgm:spPr/>
    </dgm:pt>
  </dgm:ptLst>
  <dgm:cxnLst>
    <dgm:cxn modelId="{6D4FE50E-05CB-44B8-9A00-1D4003EF03C0}" srcId="{D223424E-4ACD-45F6-B245-F4093B940A7A}" destId="{379AA755-65F0-4065-99B1-54CD69F3FABF}" srcOrd="0" destOrd="0" parTransId="{5E2C8820-5D27-4D5D-9F8A-F8D6FC1C6214}" sibTransId="{64898D30-5821-431C-9E20-6767E8B46557}"/>
    <dgm:cxn modelId="{9D13D00F-B16A-43B9-AD53-4A2681C7EE08}" srcId="{379AA755-65F0-4065-99B1-54CD69F3FABF}" destId="{DB782FF4-50B7-4494-BFFB-DD06D84CB95D}" srcOrd="0" destOrd="0" parTransId="{553DDDBB-580F-4589-907A-97B42657154D}" sibTransId="{E8B606A6-1613-409C-A1F0-F1EAED904DB3}"/>
    <dgm:cxn modelId="{EE517B16-5846-4BC4-AE48-CF77486C85E7}" type="presOf" srcId="{D223424E-4ACD-45F6-B245-F4093B940A7A}" destId="{367E6E50-C3CE-41EF-8375-BF07BED0D1B9}" srcOrd="0" destOrd="0" presId="urn:microsoft.com/office/officeart/2005/8/layout/vList4"/>
    <dgm:cxn modelId="{99A61778-F68B-418A-95C7-661ECAB3DD5A}" type="presOf" srcId="{DB782FF4-50B7-4494-BFFB-DD06D84CB95D}" destId="{28A254EE-F4E2-4D98-B4F4-8DC4E0CBC3FD}" srcOrd="1" destOrd="1" presId="urn:microsoft.com/office/officeart/2005/8/layout/vList4"/>
    <dgm:cxn modelId="{2B8959CF-F47A-4B0B-BE04-0F5B9372F9AB}" type="presOf" srcId="{379AA755-65F0-4065-99B1-54CD69F3FABF}" destId="{28A254EE-F4E2-4D98-B4F4-8DC4E0CBC3FD}" srcOrd="1" destOrd="0" presId="urn:microsoft.com/office/officeart/2005/8/layout/vList4"/>
    <dgm:cxn modelId="{3605D7E7-F7D1-4B9F-9D78-2AA928D778F6}" type="presOf" srcId="{DB782FF4-50B7-4494-BFFB-DD06D84CB95D}" destId="{F3952595-2F19-47F8-B3E7-CC3C6C01D6FD}" srcOrd="0" destOrd="1" presId="urn:microsoft.com/office/officeart/2005/8/layout/vList4"/>
    <dgm:cxn modelId="{6CD088FE-71A3-4286-8A53-7C721D7B2881}" type="presOf" srcId="{379AA755-65F0-4065-99B1-54CD69F3FABF}" destId="{F3952595-2F19-47F8-B3E7-CC3C6C01D6FD}" srcOrd="0" destOrd="0" presId="urn:microsoft.com/office/officeart/2005/8/layout/vList4"/>
    <dgm:cxn modelId="{DF998C1E-89BA-4DAB-8B3F-FB53E2A465E6}" type="presParOf" srcId="{367E6E50-C3CE-41EF-8375-BF07BED0D1B9}" destId="{76B62FB5-E078-4EB2-A3DC-CC878633243C}" srcOrd="0" destOrd="0" presId="urn:microsoft.com/office/officeart/2005/8/layout/vList4"/>
    <dgm:cxn modelId="{0B64D916-5ECD-42B3-A316-40BC2CEDC755}" type="presParOf" srcId="{76B62FB5-E078-4EB2-A3DC-CC878633243C}" destId="{F3952595-2F19-47F8-B3E7-CC3C6C01D6FD}" srcOrd="0" destOrd="0" presId="urn:microsoft.com/office/officeart/2005/8/layout/vList4"/>
    <dgm:cxn modelId="{6691C594-428E-4842-B258-F8355CB76214}" type="presParOf" srcId="{76B62FB5-E078-4EB2-A3DC-CC878633243C}" destId="{658E69DC-DF7C-4224-BADC-EB570760F507}" srcOrd="1" destOrd="0" presId="urn:microsoft.com/office/officeart/2005/8/layout/vList4"/>
    <dgm:cxn modelId="{34F74F12-22A6-4D80-8D2E-731ACA9A71E4}" type="presParOf" srcId="{76B62FB5-E078-4EB2-A3DC-CC878633243C}" destId="{28A254EE-F4E2-4D98-B4F4-8DC4E0CBC3FD}" srcOrd="2" destOrd="0" presId="urn:microsoft.com/office/officeart/2005/8/layout/vList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F3D92F7-D053-49CD-B4D1-5E5F6C65F724}" type="doc">
      <dgm:prSet loTypeId="urn:microsoft.com/office/officeart/2008/layout/LinedList" loCatId="list" qsTypeId="urn:microsoft.com/office/officeart/2005/8/quickstyle/simple4" qsCatId="simple" csTypeId="urn:microsoft.com/office/officeart/2005/8/colors/accent1_2" csCatId="accent1" phldr="1"/>
      <dgm:spPr/>
      <dgm:t>
        <a:bodyPr/>
        <a:lstStyle/>
        <a:p>
          <a:endParaRPr lang="fr-FR"/>
        </a:p>
      </dgm:t>
    </dgm:pt>
    <dgm:pt modelId="{CCA90030-CC3D-4B7E-A437-A1FD85AA3291}">
      <dgm:prSet phldrT="[Texte]"/>
      <dgm:spPr/>
      <dgm:t>
        <a:bodyPr/>
        <a:lstStyle/>
        <a:p>
          <a:r>
            <a:rPr lang="fr-CI" dirty="0"/>
            <a:t>L’information génétique</a:t>
          </a:r>
          <a:endParaRPr lang="fr-FR" dirty="0">
            <a:latin typeface="+mj-lt"/>
          </a:endParaRPr>
        </a:p>
      </dgm:t>
    </dgm:pt>
    <dgm:pt modelId="{EC99C6E0-E3FE-4450-BF96-21D8D8725AE2}" type="parTrans" cxnId="{145C3CB7-10DA-4697-9435-7D6E263A1106}">
      <dgm:prSet/>
      <dgm:spPr/>
      <dgm:t>
        <a:bodyPr/>
        <a:lstStyle/>
        <a:p>
          <a:endParaRPr lang="fr-FR"/>
        </a:p>
      </dgm:t>
    </dgm:pt>
    <dgm:pt modelId="{265F0DE8-FB73-4C19-A86E-9B5563158AE7}" type="sibTrans" cxnId="{145C3CB7-10DA-4697-9435-7D6E263A1106}">
      <dgm:prSet/>
      <dgm:spPr/>
      <dgm:t>
        <a:bodyPr/>
        <a:lstStyle/>
        <a:p>
          <a:endParaRPr lang="fr-FR"/>
        </a:p>
      </dgm:t>
    </dgm:pt>
    <dgm:pt modelId="{12E3ECC8-74DB-4E1B-BC9C-26F7A5B3208B}">
      <dgm:prSet phldrT="[Texte]" custT="1"/>
      <dgm:spPr/>
      <dgm:t>
        <a:bodyPr/>
        <a:lstStyle/>
        <a:p>
          <a:pPr algn="just"/>
          <a:r>
            <a:rPr lang="fr-CI" sz="1900" dirty="0">
              <a:latin typeface="Calibri" panose="020F0502020204030204" pitchFamily="34" charset="0"/>
              <a:cs typeface="Calibri" panose="020F0502020204030204" pitchFamily="34" charset="0"/>
            </a:rPr>
            <a:t>L’information génétique est un ensemble d’instructions qui sont stockées dans l’ADN de chaque organisme, et qui guident son développement et l’ensemble des fonctions vitales. Il y a de nombreux processus biologiques qui manifestent l’existence et le stockage de l’information dans des structures spatiales, son déploiement dans de multiples processus ainsi que leur intégration unitaire ; on peut penser, par exemple, aux phénomènes de communication à l’intérieur de chaque cellule et entre des cellules différentes : des instructions nécessaires pour le bon fonctionnement de l’organisme sont transmises grâce à des processus physiques que l’on connaît de mieux en mieux, à travers de chaînes de « messagers » très efficaces.</a:t>
          </a:r>
          <a:endParaRPr lang="fr-FR" sz="1900" dirty="0">
            <a:latin typeface="Calibri" panose="020F0502020204030204" pitchFamily="34" charset="0"/>
            <a:cs typeface="Calibri" panose="020F0502020204030204" pitchFamily="34" charset="0"/>
          </a:endParaRPr>
        </a:p>
      </dgm:t>
    </dgm:pt>
    <dgm:pt modelId="{192BC70C-DBA3-4657-A535-CF58E5900D2B}" type="parTrans" cxnId="{38E88ED8-3F67-42B0-BE41-4DEEB58337A7}">
      <dgm:prSet/>
      <dgm:spPr/>
      <dgm:t>
        <a:bodyPr/>
        <a:lstStyle/>
        <a:p>
          <a:endParaRPr lang="fr-FR"/>
        </a:p>
      </dgm:t>
    </dgm:pt>
    <dgm:pt modelId="{5DBDC78C-890D-4919-939C-841E5CA8C67A}" type="sibTrans" cxnId="{38E88ED8-3F67-42B0-BE41-4DEEB58337A7}">
      <dgm:prSet/>
      <dgm:spPr/>
      <dgm:t>
        <a:bodyPr/>
        <a:lstStyle/>
        <a:p>
          <a:endParaRPr lang="fr-FR"/>
        </a:p>
      </dgm:t>
    </dgm:pt>
    <dgm:pt modelId="{57F2874F-F272-48F7-9151-7CF643FBBEAC}">
      <dgm:prSet phldrT="[Texte]"/>
      <dgm:spPr/>
      <dgm:t>
        <a:bodyPr/>
        <a:lstStyle/>
        <a:p>
          <a:r>
            <a:rPr lang="fr-FR" dirty="0">
              <a:latin typeface="+mj-lt"/>
            </a:rPr>
            <a:t>                  Des Progrès</a:t>
          </a:r>
        </a:p>
      </dgm:t>
    </dgm:pt>
    <dgm:pt modelId="{0193E299-3680-49FC-9201-347AC91E636E}" type="sibTrans" cxnId="{0EC041C9-0CB5-409F-8DBE-FA80F18EC1B4}">
      <dgm:prSet/>
      <dgm:spPr/>
      <dgm:t>
        <a:bodyPr/>
        <a:lstStyle/>
        <a:p>
          <a:endParaRPr lang="fr-FR"/>
        </a:p>
      </dgm:t>
    </dgm:pt>
    <dgm:pt modelId="{7B616783-B924-4390-9696-5C2847BD2D01}" type="parTrans" cxnId="{0EC041C9-0CB5-409F-8DBE-FA80F18EC1B4}">
      <dgm:prSet/>
      <dgm:spPr/>
      <dgm:t>
        <a:bodyPr/>
        <a:lstStyle/>
        <a:p>
          <a:endParaRPr lang="fr-FR"/>
        </a:p>
      </dgm:t>
    </dgm:pt>
    <dgm:pt modelId="{8975E4AC-88BD-4A7E-A742-FC0D787F3C4C}">
      <dgm:prSet phldrT="[Texte]" custT="1"/>
      <dgm:spPr/>
      <dgm:t>
        <a:bodyPr/>
        <a:lstStyle/>
        <a:p>
          <a:pPr algn="l"/>
          <a:r>
            <a:rPr lang="fr-CI" sz="1900" b="1" dirty="0">
              <a:latin typeface="Calibri" panose="020F0502020204030204" pitchFamily="34" charset="0"/>
              <a:cs typeface="Calibri" panose="020F0502020204030204" pitchFamily="34" charset="0"/>
            </a:rPr>
            <a:t>Ces progrès présentent ici aussi, un grand intérêt philosophique</a:t>
          </a:r>
          <a:r>
            <a:rPr lang="fr-CI" sz="1900" dirty="0">
              <a:latin typeface="Calibri" panose="020F0502020204030204" pitchFamily="34" charset="0"/>
              <a:cs typeface="Calibri" panose="020F0502020204030204" pitchFamily="34" charset="0"/>
            </a:rPr>
            <a:t>. En premier lieu, le centre d’intérêt principal se déplace de la physique vers la biologie ; ce qui est logique, compte tenu de la plus grande complexité et richesse ontologique du vivant.</a:t>
          </a:r>
          <a:endParaRPr lang="fr-FR" sz="1900" dirty="0">
            <a:latin typeface="Calibri" panose="020F0502020204030204" pitchFamily="34" charset="0"/>
            <a:cs typeface="Calibri" panose="020F0502020204030204" pitchFamily="34" charset="0"/>
          </a:endParaRPr>
        </a:p>
        <a:p>
          <a:pPr algn="just"/>
          <a:endParaRPr lang="fr-FR" sz="1000" dirty="0">
            <a:latin typeface="Calibri" panose="020F0502020204030204" pitchFamily="34" charset="0"/>
            <a:cs typeface="Calibri" panose="020F0502020204030204" pitchFamily="34" charset="0"/>
          </a:endParaRPr>
        </a:p>
        <a:p>
          <a:pPr algn="l"/>
          <a:r>
            <a:rPr lang="fr-CI" sz="1900" dirty="0">
              <a:latin typeface="Calibri" panose="020F0502020204030204" pitchFamily="34" charset="0"/>
              <a:cs typeface="Calibri" panose="020F0502020204030204" pitchFamily="34" charset="0"/>
            </a:rPr>
            <a:t>En deuxième lieu, le progrès de la physique avait tendance à souligner les causes efficientes (causes qui agissent) au détriment des causes finales. Les causes finales font leur rentrée encore dans la science et donc la Philosophie aussi.</a:t>
          </a:r>
          <a:endParaRPr lang="fr-FR" sz="1900" dirty="0">
            <a:latin typeface="Calibri" panose="020F0502020204030204" pitchFamily="34" charset="0"/>
            <a:cs typeface="Calibri" panose="020F0502020204030204" pitchFamily="34" charset="0"/>
          </a:endParaRPr>
        </a:p>
      </dgm:t>
    </dgm:pt>
    <dgm:pt modelId="{F95D0E05-06EF-48DE-9610-9E1FE968584E}" type="sibTrans" cxnId="{9375B321-BC89-4CBC-8213-3BDCC05796AA}">
      <dgm:prSet/>
      <dgm:spPr/>
      <dgm:t>
        <a:bodyPr/>
        <a:lstStyle/>
        <a:p>
          <a:endParaRPr lang="fr-FR"/>
        </a:p>
      </dgm:t>
    </dgm:pt>
    <dgm:pt modelId="{7D1619ED-215C-415C-88DF-839D756ADF6D}" type="parTrans" cxnId="{9375B321-BC89-4CBC-8213-3BDCC05796AA}">
      <dgm:prSet/>
      <dgm:spPr/>
      <dgm:t>
        <a:bodyPr/>
        <a:lstStyle/>
        <a:p>
          <a:endParaRPr lang="fr-FR"/>
        </a:p>
      </dgm:t>
    </dgm:pt>
    <dgm:pt modelId="{02D390A3-EE8A-4001-8053-751588BA6DCB}" type="pres">
      <dgm:prSet presAssocID="{3F3D92F7-D053-49CD-B4D1-5E5F6C65F724}" presName="vert0" presStyleCnt="0">
        <dgm:presLayoutVars>
          <dgm:dir/>
          <dgm:animOne val="branch"/>
          <dgm:animLvl val="lvl"/>
        </dgm:presLayoutVars>
      </dgm:prSet>
      <dgm:spPr/>
    </dgm:pt>
    <dgm:pt modelId="{1A32BE0A-382E-447B-A821-6BA575436DD5}" type="pres">
      <dgm:prSet presAssocID="{CCA90030-CC3D-4B7E-A437-A1FD85AA3291}" presName="thickLine" presStyleLbl="alignNode1" presStyleIdx="0" presStyleCnt="2"/>
      <dgm:spPr/>
    </dgm:pt>
    <dgm:pt modelId="{2AFF1DD0-B8A4-4183-8135-52B1B7C5F1DB}" type="pres">
      <dgm:prSet presAssocID="{CCA90030-CC3D-4B7E-A437-A1FD85AA3291}" presName="horz1" presStyleCnt="0"/>
      <dgm:spPr/>
    </dgm:pt>
    <dgm:pt modelId="{ED67CB99-9EBA-4224-9AA4-B3FA221928E1}" type="pres">
      <dgm:prSet presAssocID="{CCA90030-CC3D-4B7E-A437-A1FD85AA3291}" presName="tx1" presStyleLbl="revTx" presStyleIdx="0" presStyleCnt="4" custLinFactNeighborX="106" custLinFactNeighborY="-1550"/>
      <dgm:spPr/>
    </dgm:pt>
    <dgm:pt modelId="{5A9FCBC7-D6F2-4229-B4D6-0FB62DED39AC}" type="pres">
      <dgm:prSet presAssocID="{CCA90030-CC3D-4B7E-A437-A1FD85AA3291}" presName="vert1" presStyleCnt="0"/>
      <dgm:spPr/>
    </dgm:pt>
    <dgm:pt modelId="{49EC1D4D-1DF1-45FF-94C7-D8574F07BE00}" type="pres">
      <dgm:prSet presAssocID="{12E3ECC8-74DB-4E1B-BC9C-26F7A5B3208B}" presName="vertSpace2a" presStyleCnt="0"/>
      <dgm:spPr/>
    </dgm:pt>
    <dgm:pt modelId="{419E2383-1D63-4C32-9019-70447C490FC5}" type="pres">
      <dgm:prSet presAssocID="{12E3ECC8-74DB-4E1B-BC9C-26F7A5B3208B}" presName="horz2" presStyleCnt="0"/>
      <dgm:spPr/>
    </dgm:pt>
    <dgm:pt modelId="{DDDF850D-5AEB-4FD9-BAB5-74122560090B}" type="pres">
      <dgm:prSet presAssocID="{12E3ECC8-74DB-4E1B-BC9C-26F7A5B3208B}" presName="horzSpace2" presStyleCnt="0"/>
      <dgm:spPr/>
    </dgm:pt>
    <dgm:pt modelId="{38F98C1B-72F9-4269-9506-0BF71D43B612}" type="pres">
      <dgm:prSet presAssocID="{12E3ECC8-74DB-4E1B-BC9C-26F7A5B3208B}" presName="tx2" presStyleLbl="revTx" presStyleIdx="1" presStyleCnt="4" custLinFactNeighborY="-4133"/>
      <dgm:spPr/>
    </dgm:pt>
    <dgm:pt modelId="{18762BD7-5BE6-4E49-AFBF-3BEF6B08D813}" type="pres">
      <dgm:prSet presAssocID="{12E3ECC8-74DB-4E1B-BC9C-26F7A5B3208B}" presName="vert2" presStyleCnt="0"/>
      <dgm:spPr/>
    </dgm:pt>
    <dgm:pt modelId="{39E818EB-B25B-437C-8BB9-B98374156267}" type="pres">
      <dgm:prSet presAssocID="{12E3ECC8-74DB-4E1B-BC9C-26F7A5B3208B}" presName="thinLine2b" presStyleLbl="callout" presStyleIdx="0" presStyleCnt="2" custLinFactY="200000" custLinFactNeighborY="211626"/>
      <dgm:spPr/>
    </dgm:pt>
    <dgm:pt modelId="{7B467031-9A5B-4DC1-9651-C55EA1EC9E0E}" type="pres">
      <dgm:prSet presAssocID="{12E3ECC8-74DB-4E1B-BC9C-26F7A5B3208B}" presName="vertSpace2b" presStyleCnt="0"/>
      <dgm:spPr/>
    </dgm:pt>
    <dgm:pt modelId="{606972C6-062E-4C7F-A6DE-28E4065C377F}" type="pres">
      <dgm:prSet presAssocID="{57F2874F-F272-48F7-9151-7CF643FBBEAC}" presName="thickLine" presStyleLbl="alignNode1" presStyleIdx="1" presStyleCnt="2" custLinFactNeighborY="7760"/>
      <dgm:spPr/>
    </dgm:pt>
    <dgm:pt modelId="{E99531AB-12F8-4D03-935B-F2F15DB4DCF5}" type="pres">
      <dgm:prSet presAssocID="{57F2874F-F272-48F7-9151-7CF643FBBEAC}" presName="horz1" presStyleCnt="0"/>
      <dgm:spPr/>
    </dgm:pt>
    <dgm:pt modelId="{7C59062F-C146-4F53-AD81-9620FF483283}" type="pres">
      <dgm:prSet presAssocID="{57F2874F-F272-48F7-9151-7CF643FBBEAC}" presName="tx1" presStyleLbl="revTx" presStyleIdx="2" presStyleCnt="4"/>
      <dgm:spPr/>
    </dgm:pt>
    <dgm:pt modelId="{3A91E62B-4B21-4425-9005-7373545BD7E4}" type="pres">
      <dgm:prSet presAssocID="{57F2874F-F272-48F7-9151-7CF643FBBEAC}" presName="vert1" presStyleCnt="0"/>
      <dgm:spPr/>
    </dgm:pt>
    <dgm:pt modelId="{A8DD5E6B-C392-40B6-A301-78035ADEC9C5}" type="pres">
      <dgm:prSet presAssocID="{8975E4AC-88BD-4A7E-A742-FC0D787F3C4C}" presName="vertSpace2a" presStyleCnt="0"/>
      <dgm:spPr/>
    </dgm:pt>
    <dgm:pt modelId="{A1CE7F68-959F-4247-8954-597FD500E244}" type="pres">
      <dgm:prSet presAssocID="{8975E4AC-88BD-4A7E-A742-FC0D787F3C4C}" presName="horz2" presStyleCnt="0"/>
      <dgm:spPr/>
    </dgm:pt>
    <dgm:pt modelId="{8FD1C722-FCBA-4530-93C0-0C318BF7F01D}" type="pres">
      <dgm:prSet presAssocID="{8975E4AC-88BD-4A7E-A742-FC0D787F3C4C}" presName="horzSpace2" presStyleCnt="0"/>
      <dgm:spPr/>
    </dgm:pt>
    <dgm:pt modelId="{09B96CA3-08B0-4FD9-AD53-AAA554063CF3}" type="pres">
      <dgm:prSet presAssocID="{8975E4AC-88BD-4A7E-A742-FC0D787F3C4C}" presName="tx2" presStyleLbl="revTx" presStyleIdx="3" presStyleCnt="4" custScaleY="55466" custLinFactNeighborY="5043"/>
      <dgm:spPr/>
    </dgm:pt>
    <dgm:pt modelId="{11E0A936-C0F4-44A5-84E8-434E0624DB75}" type="pres">
      <dgm:prSet presAssocID="{8975E4AC-88BD-4A7E-A742-FC0D787F3C4C}" presName="vert2" presStyleCnt="0"/>
      <dgm:spPr/>
    </dgm:pt>
    <dgm:pt modelId="{86358D04-AC32-48E8-A61F-A3944EE64296}" type="pres">
      <dgm:prSet presAssocID="{8975E4AC-88BD-4A7E-A742-FC0D787F3C4C}" presName="thinLine2b" presStyleLbl="callout" presStyleIdx="1" presStyleCnt="2" custLinFactY="500000" custLinFactNeighborY="561937"/>
      <dgm:spPr/>
    </dgm:pt>
    <dgm:pt modelId="{6354B45A-453F-4635-A6E6-ED1B30DF4465}" type="pres">
      <dgm:prSet presAssocID="{8975E4AC-88BD-4A7E-A742-FC0D787F3C4C}" presName="vertSpace2b" presStyleCnt="0"/>
      <dgm:spPr/>
    </dgm:pt>
  </dgm:ptLst>
  <dgm:cxnLst>
    <dgm:cxn modelId="{F1420C18-F2E2-476B-93DC-B984606B2966}" type="presOf" srcId="{57F2874F-F272-48F7-9151-7CF643FBBEAC}" destId="{7C59062F-C146-4F53-AD81-9620FF483283}" srcOrd="0" destOrd="0" presId="urn:microsoft.com/office/officeart/2008/layout/LinedList"/>
    <dgm:cxn modelId="{9375B321-BC89-4CBC-8213-3BDCC05796AA}" srcId="{57F2874F-F272-48F7-9151-7CF643FBBEAC}" destId="{8975E4AC-88BD-4A7E-A742-FC0D787F3C4C}" srcOrd="0" destOrd="0" parTransId="{7D1619ED-215C-415C-88DF-839D756ADF6D}" sibTransId="{F95D0E05-06EF-48DE-9610-9E1FE968584E}"/>
    <dgm:cxn modelId="{7AEB8327-F299-46BD-8B71-D95A3CE5843B}" type="presOf" srcId="{8975E4AC-88BD-4A7E-A742-FC0D787F3C4C}" destId="{09B96CA3-08B0-4FD9-AD53-AAA554063CF3}" srcOrd="0" destOrd="0" presId="urn:microsoft.com/office/officeart/2008/layout/LinedList"/>
    <dgm:cxn modelId="{9B45B53A-E34C-4BDD-ACE2-2C4F9895A41B}" type="presOf" srcId="{12E3ECC8-74DB-4E1B-BC9C-26F7A5B3208B}" destId="{38F98C1B-72F9-4269-9506-0BF71D43B612}" srcOrd="0" destOrd="0" presId="urn:microsoft.com/office/officeart/2008/layout/LinedList"/>
    <dgm:cxn modelId="{C9CC5448-53F2-4399-958E-666C079F526E}" type="presOf" srcId="{CCA90030-CC3D-4B7E-A437-A1FD85AA3291}" destId="{ED67CB99-9EBA-4224-9AA4-B3FA221928E1}" srcOrd="0" destOrd="0" presId="urn:microsoft.com/office/officeart/2008/layout/LinedList"/>
    <dgm:cxn modelId="{145C3CB7-10DA-4697-9435-7D6E263A1106}" srcId="{3F3D92F7-D053-49CD-B4D1-5E5F6C65F724}" destId="{CCA90030-CC3D-4B7E-A437-A1FD85AA3291}" srcOrd="0" destOrd="0" parTransId="{EC99C6E0-E3FE-4450-BF96-21D8D8725AE2}" sibTransId="{265F0DE8-FB73-4C19-A86E-9B5563158AE7}"/>
    <dgm:cxn modelId="{0EC041C9-0CB5-409F-8DBE-FA80F18EC1B4}" srcId="{3F3D92F7-D053-49CD-B4D1-5E5F6C65F724}" destId="{57F2874F-F272-48F7-9151-7CF643FBBEAC}" srcOrd="1" destOrd="0" parTransId="{7B616783-B924-4390-9696-5C2847BD2D01}" sibTransId="{0193E299-3680-49FC-9201-347AC91E636E}"/>
    <dgm:cxn modelId="{38E88ED8-3F67-42B0-BE41-4DEEB58337A7}" srcId="{CCA90030-CC3D-4B7E-A437-A1FD85AA3291}" destId="{12E3ECC8-74DB-4E1B-BC9C-26F7A5B3208B}" srcOrd="0" destOrd="0" parTransId="{192BC70C-DBA3-4657-A535-CF58E5900D2B}" sibTransId="{5DBDC78C-890D-4919-939C-841E5CA8C67A}"/>
    <dgm:cxn modelId="{89379EEB-D935-47C9-AAEE-360844DBDEA6}" type="presOf" srcId="{3F3D92F7-D053-49CD-B4D1-5E5F6C65F724}" destId="{02D390A3-EE8A-4001-8053-751588BA6DCB}" srcOrd="0" destOrd="0" presId="urn:microsoft.com/office/officeart/2008/layout/LinedList"/>
    <dgm:cxn modelId="{BFE18005-4C13-4E10-B477-4960A8B1F84D}" type="presParOf" srcId="{02D390A3-EE8A-4001-8053-751588BA6DCB}" destId="{1A32BE0A-382E-447B-A821-6BA575436DD5}" srcOrd="0" destOrd="0" presId="urn:microsoft.com/office/officeart/2008/layout/LinedList"/>
    <dgm:cxn modelId="{11DD3EDA-0A5B-4BA4-A8A4-176980F05DCF}" type="presParOf" srcId="{02D390A3-EE8A-4001-8053-751588BA6DCB}" destId="{2AFF1DD0-B8A4-4183-8135-52B1B7C5F1DB}" srcOrd="1" destOrd="0" presId="urn:microsoft.com/office/officeart/2008/layout/LinedList"/>
    <dgm:cxn modelId="{0FEA542E-0CFD-4607-B8F9-0E9A4703C8FF}" type="presParOf" srcId="{2AFF1DD0-B8A4-4183-8135-52B1B7C5F1DB}" destId="{ED67CB99-9EBA-4224-9AA4-B3FA221928E1}" srcOrd="0" destOrd="0" presId="urn:microsoft.com/office/officeart/2008/layout/LinedList"/>
    <dgm:cxn modelId="{A1655927-9F83-47AF-B60F-3F8C3DFDD44E}" type="presParOf" srcId="{2AFF1DD0-B8A4-4183-8135-52B1B7C5F1DB}" destId="{5A9FCBC7-D6F2-4229-B4D6-0FB62DED39AC}" srcOrd="1" destOrd="0" presId="urn:microsoft.com/office/officeart/2008/layout/LinedList"/>
    <dgm:cxn modelId="{A8DF007A-CEC1-499C-A8B0-BB5D9C94165E}" type="presParOf" srcId="{5A9FCBC7-D6F2-4229-B4D6-0FB62DED39AC}" destId="{49EC1D4D-1DF1-45FF-94C7-D8574F07BE00}" srcOrd="0" destOrd="0" presId="urn:microsoft.com/office/officeart/2008/layout/LinedList"/>
    <dgm:cxn modelId="{64B54B79-8F77-4724-905F-C34F3E15BCB7}" type="presParOf" srcId="{5A9FCBC7-D6F2-4229-B4D6-0FB62DED39AC}" destId="{419E2383-1D63-4C32-9019-70447C490FC5}" srcOrd="1" destOrd="0" presId="urn:microsoft.com/office/officeart/2008/layout/LinedList"/>
    <dgm:cxn modelId="{9407552F-F32A-48BC-A45E-F27F87A82783}" type="presParOf" srcId="{419E2383-1D63-4C32-9019-70447C490FC5}" destId="{DDDF850D-5AEB-4FD9-BAB5-74122560090B}" srcOrd="0" destOrd="0" presId="urn:microsoft.com/office/officeart/2008/layout/LinedList"/>
    <dgm:cxn modelId="{909042DE-7F0E-4608-A825-DD9F1EF0BBBC}" type="presParOf" srcId="{419E2383-1D63-4C32-9019-70447C490FC5}" destId="{38F98C1B-72F9-4269-9506-0BF71D43B612}" srcOrd="1" destOrd="0" presId="urn:microsoft.com/office/officeart/2008/layout/LinedList"/>
    <dgm:cxn modelId="{D1140A60-1A89-4906-A579-4077FEEA91A7}" type="presParOf" srcId="{419E2383-1D63-4C32-9019-70447C490FC5}" destId="{18762BD7-5BE6-4E49-AFBF-3BEF6B08D813}" srcOrd="2" destOrd="0" presId="urn:microsoft.com/office/officeart/2008/layout/LinedList"/>
    <dgm:cxn modelId="{995EDB60-7115-4242-9956-8527A66DEF76}" type="presParOf" srcId="{5A9FCBC7-D6F2-4229-B4D6-0FB62DED39AC}" destId="{39E818EB-B25B-437C-8BB9-B98374156267}" srcOrd="2" destOrd="0" presId="urn:microsoft.com/office/officeart/2008/layout/LinedList"/>
    <dgm:cxn modelId="{17405947-144E-4A75-8EFD-F81CA7B637EE}" type="presParOf" srcId="{5A9FCBC7-D6F2-4229-B4D6-0FB62DED39AC}" destId="{7B467031-9A5B-4DC1-9651-C55EA1EC9E0E}" srcOrd="3" destOrd="0" presId="urn:microsoft.com/office/officeart/2008/layout/LinedList"/>
    <dgm:cxn modelId="{4AF563C4-ECE3-451D-9F6F-9CC4929CA2E4}" type="presParOf" srcId="{02D390A3-EE8A-4001-8053-751588BA6DCB}" destId="{606972C6-062E-4C7F-A6DE-28E4065C377F}" srcOrd="2" destOrd="0" presId="urn:microsoft.com/office/officeart/2008/layout/LinedList"/>
    <dgm:cxn modelId="{F56A9750-5C2D-4BE4-B1DD-68D2E56BC9DA}" type="presParOf" srcId="{02D390A3-EE8A-4001-8053-751588BA6DCB}" destId="{E99531AB-12F8-4D03-935B-F2F15DB4DCF5}" srcOrd="3" destOrd="0" presId="urn:microsoft.com/office/officeart/2008/layout/LinedList"/>
    <dgm:cxn modelId="{8073628C-E298-4294-A456-E8B4C55AF303}" type="presParOf" srcId="{E99531AB-12F8-4D03-935B-F2F15DB4DCF5}" destId="{7C59062F-C146-4F53-AD81-9620FF483283}" srcOrd="0" destOrd="0" presId="urn:microsoft.com/office/officeart/2008/layout/LinedList"/>
    <dgm:cxn modelId="{AB3E3E8C-0762-4AEF-AACE-E87E676E5EEC}" type="presParOf" srcId="{E99531AB-12F8-4D03-935B-F2F15DB4DCF5}" destId="{3A91E62B-4B21-4425-9005-7373545BD7E4}" srcOrd="1" destOrd="0" presId="urn:microsoft.com/office/officeart/2008/layout/LinedList"/>
    <dgm:cxn modelId="{2A51EB42-365B-49E9-8E96-4D03B8558AD7}" type="presParOf" srcId="{3A91E62B-4B21-4425-9005-7373545BD7E4}" destId="{A8DD5E6B-C392-40B6-A301-78035ADEC9C5}" srcOrd="0" destOrd="0" presId="urn:microsoft.com/office/officeart/2008/layout/LinedList"/>
    <dgm:cxn modelId="{6AB55852-E5FF-4A9A-A3D0-BDF605178919}" type="presParOf" srcId="{3A91E62B-4B21-4425-9005-7373545BD7E4}" destId="{A1CE7F68-959F-4247-8954-597FD500E244}" srcOrd="1" destOrd="0" presId="urn:microsoft.com/office/officeart/2008/layout/LinedList"/>
    <dgm:cxn modelId="{F311B9AE-07EE-423E-8521-FD11AD3AC3D1}" type="presParOf" srcId="{A1CE7F68-959F-4247-8954-597FD500E244}" destId="{8FD1C722-FCBA-4530-93C0-0C318BF7F01D}" srcOrd="0" destOrd="0" presId="urn:microsoft.com/office/officeart/2008/layout/LinedList"/>
    <dgm:cxn modelId="{0D80D8FD-86A8-46C2-A384-7CB0261BBFB7}" type="presParOf" srcId="{A1CE7F68-959F-4247-8954-597FD500E244}" destId="{09B96CA3-08B0-4FD9-AD53-AAA554063CF3}" srcOrd="1" destOrd="0" presId="urn:microsoft.com/office/officeart/2008/layout/LinedList"/>
    <dgm:cxn modelId="{21AD30A9-3AEF-4D1D-B976-B4492A63A18A}" type="presParOf" srcId="{A1CE7F68-959F-4247-8954-597FD500E244}" destId="{11E0A936-C0F4-44A5-84E8-434E0624DB75}" srcOrd="2" destOrd="0" presId="urn:microsoft.com/office/officeart/2008/layout/LinedList"/>
    <dgm:cxn modelId="{BDE729C5-4D6B-4F3E-9BCA-C0B0A6D59521}" type="presParOf" srcId="{3A91E62B-4B21-4425-9005-7373545BD7E4}" destId="{86358D04-AC32-48E8-A61F-A3944EE64296}" srcOrd="2" destOrd="0" presId="urn:microsoft.com/office/officeart/2008/layout/LinedList"/>
    <dgm:cxn modelId="{AF09AE47-DD24-43C8-8731-8E755A559423}" type="presParOf" srcId="{3A91E62B-4B21-4425-9005-7373545BD7E4}" destId="{6354B45A-453F-4635-A6E6-ED1B30DF4465}"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DEA9388-C019-423A-9CE1-082094AEF005}" type="doc">
      <dgm:prSet loTypeId="urn:microsoft.com/office/officeart/2008/layout/LinedList" loCatId="list" qsTypeId="urn:microsoft.com/office/officeart/2005/8/quickstyle/simple4" qsCatId="simple" csTypeId="urn:microsoft.com/office/officeart/2005/8/colors/accent1_2" csCatId="accent1" phldr="1"/>
      <dgm:spPr/>
      <dgm:t>
        <a:bodyPr/>
        <a:lstStyle/>
        <a:p>
          <a:endParaRPr lang="fr-FR"/>
        </a:p>
      </dgm:t>
    </dgm:pt>
    <dgm:pt modelId="{289006B4-FDD6-42C9-A6E7-8B18CD5266D7}">
      <dgm:prSet phldrT="[Texte]" custT="1"/>
      <dgm:spPr/>
      <dgm:t>
        <a:bodyPr/>
        <a:lstStyle/>
        <a:p>
          <a:pPr algn="just"/>
          <a:r>
            <a:rPr lang="fr-CI" sz="1900" dirty="0">
              <a:latin typeface="Calibri" panose="020F0502020204030204" pitchFamily="34" charset="0"/>
              <a:cs typeface="Calibri" panose="020F0502020204030204" pitchFamily="34" charset="0"/>
            </a:rPr>
            <a:t>Il s’agit d’un nouveau domaine scientifique qui s’occupe de phénomènes très différents et qui présente un grand intérêt parce qu’il cherche à comprendre l’existence et les caractéristiques des différents niveaux d’organisation qui existent dans la nature. De toutes les façons, il convient de signaler que le chaos et la complexité sont deux domaines différents, dont les relations sont importantes. Les états complexes sont à la limite entre le comportement périodique prédictible et le chaos imprédictible.</a:t>
          </a:r>
        </a:p>
        <a:p>
          <a:pPr algn="just"/>
          <a:r>
            <a:rPr lang="fr-CI" sz="1900" dirty="0">
              <a:latin typeface="Calibri" panose="020F0502020204030204" pitchFamily="34" charset="0"/>
              <a:cs typeface="Calibri" panose="020F0502020204030204" pitchFamily="34" charset="0"/>
            </a:rPr>
            <a:t>Les études sur le chaos se sont développées à partir des travaux présentés par </a:t>
          </a:r>
          <a:r>
            <a:rPr lang="fr-CI" sz="1900" b="1" dirty="0">
              <a:latin typeface="Calibri" panose="020F0502020204030204" pitchFamily="34" charset="0"/>
              <a:cs typeface="Calibri" panose="020F0502020204030204" pitchFamily="34" charset="0"/>
            </a:rPr>
            <a:t>Edward Lorenz (1917-2008) </a:t>
          </a:r>
          <a:r>
            <a:rPr lang="fr-CI" sz="1900" dirty="0">
              <a:latin typeface="Calibri" panose="020F0502020204030204" pitchFamily="34" charset="0"/>
              <a:cs typeface="Calibri" panose="020F0502020204030204" pitchFamily="34" charset="0"/>
            </a:rPr>
            <a:t>en 1963 : Lorenz parla de « l’effet papillon » : un battement d’ailes d’un papillon au Brésil pourrait provoquer une tornade au Texas. Lorenz travaillait justement dans le domaine de la météorologie.</a:t>
          </a:r>
          <a:endParaRPr lang="fr-FR" sz="1900" dirty="0">
            <a:latin typeface="Calibri" panose="020F0502020204030204" pitchFamily="34" charset="0"/>
            <a:cs typeface="Calibri" panose="020F0502020204030204" pitchFamily="34" charset="0"/>
          </a:endParaRPr>
        </a:p>
      </dgm:t>
    </dgm:pt>
    <dgm:pt modelId="{89C41EC2-1129-4A9A-AAB7-40E145E9E5EA}" type="parTrans" cxnId="{67EA0246-5469-4501-B342-E8CD73438820}">
      <dgm:prSet/>
      <dgm:spPr/>
      <dgm:t>
        <a:bodyPr/>
        <a:lstStyle/>
        <a:p>
          <a:endParaRPr lang="fr-FR"/>
        </a:p>
      </dgm:t>
    </dgm:pt>
    <dgm:pt modelId="{C1FFDB6B-B4AC-4415-9607-49C9E99233D8}" type="sibTrans" cxnId="{67EA0246-5469-4501-B342-E8CD73438820}">
      <dgm:prSet/>
      <dgm:spPr/>
      <dgm:t>
        <a:bodyPr/>
        <a:lstStyle/>
        <a:p>
          <a:endParaRPr lang="fr-FR"/>
        </a:p>
      </dgm:t>
    </dgm:pt>
    <dgm:pt modelId="{E7E6D53B-7515-42D8-A12A-2EB4F1530DD8}">
      <dgm:prSet phldrT="[Texte]" custT="1"/>
      <dgm:spPr/>
      <dgm:t>
        <a:bodyPr/>
        <a:lstStyle/>
        <a:p>
          <a:r>
            <a:rPr lang="fr-CI" sz="2500" b="0" dirty="0">
              <a:effectLst/>
              <a:latin typeface="+mn-lt"/>
              <a:ea typeface="Calibri" panose="020F0502020204030204" pitchFamily="34" charset="0"/>
              <a:cs typeface="Times New Roman" panose="02020603050405020304" pitchFamily="18" charset="0"/>
            </a:rPr>
            <a:t>Les théories du chaos </a:t>
          </a:r>
          <a:endParaRPr lang="fr-FR" sz="2500" b="0" dirty="0">
            <a:latin typeface="+mn-lt"/>
          </a:endParaRPr>
        </a:p>
      </dgm:t>
    </dgm:pt>
    <dgm:pt modelId="{B7CB72E6-6C74-46F3-9AE8-D5796041AF80}" type="sibTrans" cxnId="{A4E16F83-CF8A-4C2E-B6A9-C7D6CED2DD05}">
      <dgm:prSet/>
      <dgm:spPr/>
      <dgm:t>
        <a:bodyPr/>
        <a:lstStyle/>
        <a:p>
          <a:endParaRPr lang="fr-FR"/>
        </a:p>
      </dgm:t>
    </dgm:pt>
    <dgm:pt modelId="{753C3AC9-A24D-4394-BC66-CF1C28A42D6B}" type="parTrans" cxnId="{A4E16F83-CF8A-4C2E-B6A9-C7D6CED2DD05}">
      <dgm:prSet/>
      <dgm:spPr/>
      <dgm:t>
        <a:bodyPr/>
        <a:lstStyle/>
        <a:p>
          <a:endParaRPr lang="fr-FR"/>
        </a:p>
      </dgm:t>
    </dgm:pt>
    <dgm:pt modelId="{CB2C7AA7-6736-445B-B4D7-18AD98A3CBBE}" type="pres">
      <dgm:prSet presAssocID="{4DEA9388-C019-423A-9CE1-082094AEF005}" presName="vert0" presStyleCnt="0">
        <dgm:presLayoutVars>
          <dgm:dir/>
          <dgm:animOne val="branch"/>
          <dgm:animLvl val="lvl"/>
        </dgm:presLayoutVars>
      </dgm:prSet>
      <dgm:spPr/>
    </dgm:pt>
    <dgm:pt modelId="{48C70F0F-4A12-4DC1-B7D9-5CBCD6855BD7}" type="pres">
      <dgm:prSet presAssocID="{E7E6D53B-7515-42D8-A12A-2EB4F1530DD8}" presName="thickLine" presStyleLbl="alignNode1" presStyleIdx="0" presStyleCnt="1"/>
      <dgm:spPr/>
    </dgm:pt>
    <dgm:pt modelId="{53CECEC9-BE63-4A4A-83E5-F7FE92935DC7}" type="pres">
      <dgm:prSet presAssocID="{E7E6D53B-7515-42D8-A12A-2EB4F1530DD8}" presName="horz1" presStyleCnt="0"/>
      <dgm:spPr/>
    </dgm:pt>
    <dgm:pt modelId="{A838B802-DDDB-41AE-B8F9-C907554D8793}" type="pres">
      <dgm:prSet presAssocID="{E7E6D53B-7515-42D8-A12A-2EB4F1530DD8}" presName="tx1" presStyleLbl="revTx" presStyleIdx="0" presStyleCnt="2"/>
      <dgm:spPr/>
    </dgm:pt>
    <dgm:pt modelId="{9F706000-BC33-45AD-A9A0-6B97860677DE}" type="pres">
      <dgm:prSet presAssocID="{E7E6D53B-7515-42D8-A12A-2EB4F1530DD8}" presName="vert1" presStyleCnt="0"/>
      <dgm:spPr/>
    </dgm:pt>
    <dgm:pt modelId="{BF0E3962-D21B-4120-AF83-72CCC8DD8614}" type="pres">
      <dgm:prSet presAssocID="{289006B4-FDD6-42C9-A6E7-8B18CD5266D7}" presName="vertSpace2a" presStyleCnt="0"/>
      <dgm:spPr/>
    </dgm:pt>
    <dgm:pt modelId="{05591A5B-74E0-4410-87B0-75DDB9FDD5FC}" type="pres">
      <dgm:prSet presAssocID="{289006B4-FDD6-42C9-A6E7-8B18CD5266D7}" presName="horz2" presStyleCnt="0"/>
      <dgm:spPr/>
    </dgm:pt>
    <dgm:pt modelId="{0212A8C1-EA12-455E-9138-21DE2C281B5D}" type="pres">
      <dgm:prSet presAssocID="{289006B4-FDD6-42C9-A6E7-8B18CD5266D7}" presName="horzSpace2" presStyleCnt="0"/>
      <dgm:spPr/>
    </dgm:pt>
    <dgm:pt modelId="{E9D754FC-D2B7-4F19-A317-6B77A4B02839}" type="pres">
      <dgm:prSet presAssocID="{289006B4-FDD6-42C9-A6E7-8B18CD5266D7}" presName="tx2" presStyleLbl="revTx" presStyleIdx="1" presStyleCnt="2"/>
      <dgm:spPr/>
    </dgm:pt>
    <dgm:pt modelId="{AD41E8DF-99A1-48D3-9899-3BF2DC220577}" type="pres">
      <dgm:prSet presAssocID="{289006B4-FDD6-42C9-A6E7-8B18CD5266D7}" presName="vert2" presStyleCnt="0"/>
      <dgm:spPr/>
    </dgm:pt>
    <dgm:pt modelId="{E28DFCB2-86D1-45BD-BC56-80CF5B3C0D41}" type="pres">
      <dgm:prSet presAssocID="{289006B4-FDD6-42C9-A6E7-8B18CD5266D7}" presName="thinLine2b" presStyleLbl="callout" presStyleIdx="0" presStyleCnt="1"/>
      <dgm:spPr/>
    </dgm:pt>
    <dgm:pt modelId="{73ADF087-56E3-495D-81A8-E8C0AF824261}" type="pres">
      <dgm:prSet presAssocID="{289006B4-FDD6-42C9-A6E7-8B18CD5266D7}" presName="vertSpace2b" presStyleCnt="0"/>
      <dgm:spPr/>
    </dgm:pt>
  </dgm:ptLst>
  <dgm:cxnLst>
    <dgm:cxn modelId="{67EA0246-5469-4501-B342-E8CD73438820}" srcId="{E7E6D53B-7515-42D8-A12A-2EB4F1530DD8}" destId="{289006B4-FDD6-42C9-A6E7-8B18CD5266D7}" srcOrd="0" destOrd="0" parTransId="{89C41EC2-1129-4A9A-AAB7-40E145E9E5EA}" sibTransId="{C1FFDB6B-B4AC-4415-9607-49C9E99233D8}"/>
    <dgm:cxn modelId="{A4E16F83-CF8A-4C2E-B6A9-C7D6CED2DD05}" srcId="{4DEA9388-C019-423A-9CE1-082094AEF005}" destId="{E7E6D53B-7515-42D8-A12A-2EB4F1530DD8}" srcOrd="0" destOrd="0" parTransId="{753C3AC9-A24D-4394-BC66-CF1C28A42D6B}" sibTransId="{B7CB72E6-6C74-46F3-9AE8-D5796041AF80}"/>
    <dgm:cxn modelId="{877A19A1-68E5-43F5-8078-9E1C267585FA}" type="presOf" srcId="{E7E6D53B-7515-42D8-A12A-2EB4F1530DD8}" destId="{A838B802-DDDB-41AE-B8F9-C907554D8793}" srcOrd="0" destOrd="0" presId="urn:microsoft.com/office/officeart/2008/layout/LinedList"/>
    <dgm:cxn modelId="{427629A9-B131-4AA0-9E25-6C0AC82CE0D3}" type="presOf" srcId="{4DEA9388-C019-423A-9CE1-082094AEF005}" destId="{CB2C7AA7-6736-445B-B4D7-18AD98A3CBBE}" srcOrd="0" destOrd="0" presId="urn:microsoft.com/office/officeart/2008/layout/LinedList"/>
    <dgm:cxn modelId="{FB58F8E5-CFF2-451A-8E29-7DF2BF167A3F}" type="presOf" srcId="{289006B4-FDD6-42C9-A6E7-8B18CD5266D7}" destId="{E9D754FC-D2B7-4F19-A317-6B77A4B02839}" srcOrd="0" destOrd="0" presId="urn:microsoft.com/office/officeart/2008/layout/LinedList"/>
    <dgm:cxn modelId="{24488B7C-8263-457C-B722-3D798300D97C}" type="presParOf" srcId="{CB2C7AA7-6736-445B-B4D7-18AD98A3CBBE}" destId="{48C70F0F-4A12-4DC1-B7D9-5CBCD6855BD7}" srcOrd="0" destOrd="0" presId="urn:microsoft.com/office/officeart/2008/layout/LinedList"/>
    <dgm:cxn modelId="{B127CBCE-6012-403E-820C-9CC99C0269C6}" type="presParOf" srcId="{CB2C7AA7-6736-445B-B4D7-18AD98A3CBBE}" destId="{53CECEC9-BE63-4A4A-83E5-F7FE92935DC7}" srcOrd="1" destOrd="0" presId="urn:microsoft.com/office/officeart/2008/layout/LinedList"/>
    <dgm:cxn modelId="{22DE215A-63C5-4B8B-9B31-39D9D61E794C}" type="presParOf" srcId="{53CECEC9-BE63-4A4A-83E5-F7FE92935DC7}" destId="{A838B802-DDDB-41AE-B8F9-C907554D8793}" srcOrd="0" destOrd="0" presId="urn:microsoft.com/office/officeart/2008/layout/LinedList"/>
    <dgm:cxn modelId="{DAD3110B-1184-4537-BBD0-738208C2729F}" type="presParOf" srcId="{53CECEC9-BE63-4A4A-83E5-F7FE92935DC7}" destId="{9F706000-BC33-45AD-A9A0-6B97860677DE}" srcOrd="1" destOrd="0" presId="urn:microsoft.com/office/officeart/2008/layout/LinedList"/>
    <dgm:cxn modelId="{70F49058-0B12-4563-A76C-809DD469E287}" type="presParOf" srcId="{9F706000-BC33-45AD-A9A0-6B97860677DE}" destId="{BF0E3962-D21B-4120-AF83-72CCC8DD8614}" srcOrd="0" destOrd="0" presId="urn:microsoft.com/office/officeart/2008/layout/LinedList"/>
    <dgm:cxn modelId="{B9139D4F-91DA-4222-89FB-F9355A67C527}" type="presParOf" srcId="{9F706000-BC33-45AD-A9A0-6B97860677DE}" destId="{05591A5B-74E0-4410-87B0-75DDB9FDD5FC}" srcOrd="1" destOrd="0" presId="urn:microsoft.com/office/officeart/2008/layout/LinedList"/>
    <dgm:cxn modelId="{94BE194E-E57C-40BC-9D09-BC8746372B2F}" type="presParOf" srcId="{05591A5B-74E0-4410-87B0-75DDB9FDD5FC}" destId="{0212A8C1-EA12-455E-9138-21DE2C281B5D}" srcOrd="0" destOrd="0" presId="urn:microsoft.com/office/officeart/2008/layout/LinedList"/>
    <dgm:cxn modelId="{F819678D-68C2-4DDD-8C35-E9333E5B0DB5}" type="presParOf" srcId="{05591A5B-74E0-4410-87B0-75DDB9FDD5FC}" destId="{E9D754FC-D2B7-4F19-A317-6B77A4B02839}" srcOrd="1" destOrd="0" presId="urn:microsoft.com/office/officeart/2008/layout/LinedList"/>
    <dgm:cxn modelId="{FCB9291B-046B-4DC2-8BC9-3207C2F108CC}" type="presParOf" srcId="{05591A5B-74E0-4410-87B0-75DDB9FDD5FC}" destId="{AD41E8DF-99A1-48D3-9899-3BF2DC220577}" srcOrd="2" destOrd="0" presId="urn:microsoft.com/office/officeart/2008/layout/LinedList"/>
    <dgm:cxn modelId="{40C0BF45-7E43-4C30-AA60-6EEB497BA476}" type="presParOf" srcId="{9F706000-BC33-45AD-A9A0-6B97860677DE}" destId="{E28DFCB2-86D1-45BD-BC56-80CF5B3C0D41}" srcOrd="2" destOrd="0" presId="urn:microsoft.com/office/officeart/2008/layout/LinedList"/>
    <dgm:cxn modelId="{5E526F08-C079-4588-B92A-CEEEA1C269AA}" type="presParOf" srcId="{9F706000-BC33-45AD-A9A0-6B97860677DE}" destId="{73ADF087-56E3-495D-81A8-E8C0AF824261}"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4DEA9388-C019-423A-9CE1-082094AEF005}" type="doc">
      <dgm:prSet loTypeId="urn:microsoft.com/office/officeart/2008/layout/LinedList" loCatId="list" qsTypeId="urn:microsoft.com/office/officeart/2005/8/quickstyle/simple4" qsCatId="simple" csTypeId="urn:microsoft.com/office/officeart/2005/8/colors/accent1_2" csCatId="accent1" phldr="1"/>
      <dgm:spPr/>
      <dgm:t>
        <a:bodyPr/>
        <a:lstStyle/>
        <a:p>
          <a:endParaRPr lang="fr-FR"/>
        </a:p>
      </dgm:t>
    </dgm:pt>
    <dgm:pt modelId="{289006B4-FDD6-42C9-A6E7-8B18CD5266D7}">
      <dgm:prSet phldrT="[Texte]" custT="1"/>
      <dgm:spPr/>
      <dgm:t>
        <a:bodyPr/>
        <a:lstStyle/>
        <a:p>
          <a:pPr algn="just"/>
          <a:r>
            <a:rPr lang="fr-CI" sz="1900" dirty="0">
              <a:latin typeface="Calibri" panose="020F0502020204030204" pitchFamily="34" charset="0"/>
              <a:cs typeface="Calibri" panose="020F0502020204030204" pitchFamily="34" charset="0"/>
            </a:rPr>
            <a:t>La conclusion était qu’un système tout en suivant des lois physiques déterministes, peut présenter des évolutions strictement imprédictibles, qu’on ne peut prédire. On ne pourrait prédire la suite qu’en connaissant les conditions initiales avec toute la précision nécessaire ; or cela est impossible, sel. La belle théorie de Laplace (« Une intelligence qui, pour un instant donné, connaîtrait toutes les forces dont la nature est animée et la situation respective des êtres qui la composent… ») était définitivement enterrée.</a:t>
          </a:r>
          <a:endParaRPr lang="fr-FR" sz="1900" dirty="0">
            <a:latin typeface="Calibri" panose="020F0502020204030204" pitchFamily="34" charset="0"/>
            <a:cs typeface="Calibri" panose="020F0502020204030204" pitchFamily="34" charset="0"/>
          </a:endParaRPr>
        </a:p>
        <a:p>
          <a:pPr algn="just"/>
          <a:r>
            <a:rPr lang="fr-CI" sz="1900" dirty="0">
              <a:latin typeface="Calibri" panose="020F0502020204030204" pitchFamily="34" charset="0"/>
              <a:cs typeface="Calibri" panose="020F0502020204030204" pitchFamily="34" charset="0"/>
            </a:rPr>
            <a:t>En 1971, </a:t>
          </a:r>
          <a:r>
            <a:rPr lang="fr-CI" sz="1900" b="1" dirty="0">
              <a:latin typeface="Calibri" panose="020F0502020204030204" pitchFamily="34" charset="0"/>
              <a:cs typeface="Calibri" panose="020F0502020204030204" pitchFamily="34" charset="0"/>
            </a:rPr>
            <a:t>David Ruelle et Floris </a:t>
          </a:r>
          <a:r>
            <a:rPr lang="fr-CI" sz="1900" b="1" dirty="0" err="1">
              <a:latin typeface="Calibri" panose="020F0502020204030204" pitchFamily="34" charset="0"/>
              <a:cs typeface="Calibri" panose="020F0502020204030204" pitchFamily="34" charset="0"/>
            </a:rPr>
            <a:t>Takens</a:t>
          </a:r>
          <a:r>
            <a:rPr lang="fr-CI" sz="1900" b="1" dirty="0">
              <a:latin typeface="Calibri" panose="020F0502020204030204" pitchFamily="34" charset="0"/>
              <a:cs typeface="Calibri" panose="020F0502020204030204" pitchFamily="34" charset="0"/>
            </a:rPr>
            <a:t> </a:t>
          </a:r>
          <a:r>
            <a:rPr lang="fr-CI" sz="1900" dirty="0">
              <a:latin typeface="Calibri" panose="020F0502020204030204" pitchFamily="34" charset="0"/>
              <a:cs typeface="Calibri" panose="020F0502020204030204" pitchFamily="34" charset="0"/>
            </a:rPr>
            <a:t>publièrent un article célèbre sur les attracteurs étranges, dont l’attracteur de Lorenz serait un cas particulier.</a:t>
          </a:r>
          <a:endParaRPr lang="fr-FR" sz="1900" dirty="0">
            <a:latin typeface="Calibri" panose="020F0502020204030204" pitchFamily="34" charset="0"/>
            <a:cs typeface="Calibri" panose="020F0502020204030204" pitchFamily="34" charset="0"/>
          </a:endParaRPr>
        </a:p>
        <a:p>
          <a:pPr algn="just"/>
          <a:r>
            <a:rPr lang="fr-CI" sz="1900" dirty="0">
              <a:latin typeface="Calibri" panose="020F0502020204030204" pitchFamily="34" charset="0"/>
              <a:cs typeface="Calibri" panose="020F0502020204030204" pitchFamily="34" charset="0"/>
            </a:rPr>
            <a:t>Donc l’incertitude fait grandement son entrée dans la science même !</a:t>
          </a:r>
          <a:endParaRPr lang="fr-FR" sz="1900" dirty="0">
            <a:latin typeface="Calibri" panose="020F0502020204030204" pitchFamily="34" charset="0"/>
            <a:cs typeface="Calibri" panose="020F0502020204030204" pitchFamily="34" charset="0"/>
          </a:endParaRPr>
        </a:p>
      </dgm:t>
    </dgm:pt>
    <dgm:pt modelId="{89C41EC2-1129-4A9A-AAB7-40E145E9E5EA}" type="parTrans" cxnId="{67EA0246-5469-4501-B342-E8CD73438820}">
      <dgm:prSet/>
      <dgm:spPr/>
      <dgm:t>
        <a:bodyPr/>
        <a:lstStyle/>
        <a:p>
          <a:endParaRPr lang="fr-FR"/>
        </a:p>
      </dgm:t>
    </dgm:pt>
    <dgm:pt modelId="{C1FFDB6B-B4AC-4415-9607-49C9E99233D8}" type="sibTrans" cxnId="{67EA0246-5469-4501-B342-E8CD73438820}">
      <dgm:prSet/>
      <dgm:spPr/>
      <dgm:t>
        <a:bodyPr/>
        <a:lstStyle/>
        <a:p>
          <a:endParaRPr lang="fr-FR"/>
        </a:p>
      </dgm:t>
    </dgm:pt>
    <dgm:pt modelId="{E7E6D53B-7515-42D8-A12A-2EB4F1530DD8}">
      <dgm:prSet phldrT="[Texte]" custT="1"/>
      <dgm:spPr/>
      <dgm:t>
        <a:bodyPr/>
        <a:lstStyle/>
        <a:p>
          <a:r>
            <a:rPr lang="fr-CI" sz="2500" b="0" dirty="0">
              <a:effectLst/>
              <a:latin typeface="+mn-lt"/>
              <a:ea typeface="Calibri" panose="020F0502020204030204" pitchFamily="34" charset="0"/>
              <a:cs typeface="Times New Roman" panose="02020603050405020304" pitchFamily="18" charset="0"/>
            </a:rPr>
            <a:t>Les théories du chaos </a:t>
          </a:r>
          <a:endParaRPr lang="fr-FR" sz="2500" b="0" dirty="0">
            <a:latin typeface="+mn-lt"/>
          </a:endParaRPr>
        </a:p>
      </dgm:t>
    </dgm:pt>
    <dgm:pt modelId="{B7CB72E6-6C74-46F3-9AE8-D5796041AF80}" type="sibTrans" cxnId="{A4E16F83-CF8A-4C2E-B6A9-C7D6CED2DD05}">
      <dgm:prSet/>
      <dgm:spPr/>
      <dgm:t>
        <a:bodyPr/>
        <a:lstStyle/>
        <a:p>
          <a:endParaRPr lang="fr-FR"/>
        </a:p>
      </dgm:t>
    </dgm:pt>
    <dgm:pt modelId="{753C3AC9-A24D-4394-BC66-CF1C28A42D6B}" type="parTrans" cxnId="{A4E16F83-CF8A-4C2E-B6A9-C7D6CED2DD05}">
      <dgm:prSet/>
      <dgm:spPr/>
      <dgm:t>
        <a:bodyPr/>
        <a:lstStyle/>
        <a:p>
          <a:endParaRPr lang="fr-FR"/>
        </a:p>
      </dgm:t>
    </dgm:pt>
    <dgm:pt modelId="{CB2C7AA7-6736-445B-B4D7-18AD98A3CBBE}" type="pres">
      <dgm:prSet presAssocID="{4DEA9388-C019-423A-9CE1-082094AEF005}" presName="vert0" presStyleCnt="0">
        <dgm:presLayoutVars>
          <dgm:dir/>
          <dgm:animOne val="branch"/>
          <dgm:animLvl val="lvl"/>
        </dgm:presLayoutVars>
      </dgm:prSet>
      <dgm:spPr/>
    </dgm:pt>
    <dgm:pt modelId="{48C70F0F-4A12-4DC1-B7D9-5CBCD6855BD7}" type="pres">
      <dgm:prSet presAssocID="{E7E6D53B-7515-42D8-A12A-2EB4F1530DD8}" presName="thickLine" presStyleLbl="alignNode1" presStyleIdx="0" presStyleCnt="1"/>
      <dgm:spPr/>
    </dgm:pt>
    <dgm:pt modelId="{53CECEC9-BE63-4A4A-83E5-F7FE92935DC7}" type="pres">
      <dgm:prSet presAssocID="{E7E6D53B-7515-42D8-A12A-2EB4F1530DD8}" presName="horz1" presStyleCnt="0"/>
      <dgm:spPr/>
    </dgm:pt>
    <dgm:pt modelId="{A838B802-DDDB-41AE-B8F9-C907554D8793}" type="pres">
      <dgm:prSet presAssocID="{E7E6D53B-7515-42D8-A12A-2EB4F1530DD8}" presName="tx1" presStyleLbl="revTx" presStyleIdx="0" presStyleCnt="2"/>
      <dgm:spPr/>
    </dgm:pt>
    <dgm:pt modelId="{9F706000-BC33-45AD-A9A0-6B97860677DE}" type="pres">
      <dgm:prSet presAssocID="{E7E6D53B-7515-42D8-A12A-2EB4F1530DD8}" presName="vert1" presStyleCnt="0"/>
      <dgm:spPr/>
    </dgm:pt>
    <dgm:pt modelId="{BF0E3962-D21B-4120-AF83-72CCC8DD8614}" type="pres">
      <dgm:prSet presAssocID="{289006B4-FDD6-42C9-A6E7-8B18CD5266D7}" presName="vertSpace2a" presStyleCnt="0"/>
      <dgm:spPr/>
    </dgm:pt>
    <dgm:pt modelId="{05591A5B-74E0-4410-87B0-75DDB9FDD5FC}" type="pres">
      <dgm:prSet presAssocID="{289006B4-FDD6-42C9-A6E7-8B18CD5266D7}" presName="horz2" presStyleCnt="0"/>
      <dgm:spPr/>
    </dgm:pt>
    <dgm:pt modelId="{0212A8C1-EA12-455E-9138-21DE2C281B5D}" type="pres">
      <dgm:prSet presAssocID="{289006B4-FDD6-42C9-A6E7-8B18CD5266D7}" presName="horzSpace2" presStyleCnt="0"/>
      <dgm:spPr/>
    </dgm:pt>
    <dgm:pt modelId="{E9D754FC-D2B7-4F19-A317-6B77A4B02839}" type="pres">
      <dgm:prSet presAssocID="{289006B4-FDD6-42C9-A6E7-8B18CD5266D7}" presName="tx2" presStyleLbl="revTx" presStyleIdx="1" presStyleCnt="2"/>
      <dgm:spPr/>
    </dgm:pt>
    <dgm:pt modelId="{AD41E8DF-99A1-48D3-9899-3BF2DC220577}" type="pres">
      <dgm:prSet presAssocID="{289006B4-FDD6-42C9-A6E7-8B18CD5266D7}" presName="vert2" presStyleCnt="0"/>
      <dgm:spPr/>
    </dgm:pt>
    <dgm:pt modelId="{E28DFCB2-86D1-45BD-BC56-80CF5B3C0D41}" type="pres">
      <dgm:prSet presAssocID="{289006B4-FDD6-42C9-A6E7-8B18CD5266D7}" presName="thinLine2b" presStyleLbl="callout" presStyleIdx="0" presStyleCnt="1"/>
      <dgm:spPr/>
    </dgm:pt>
    <dgm:pt modelId="{73ADF087-56E3-495D-81A8-E8C0AF824261}" type="pres">
      <dgm:prSet presAssocID="{289006B4-FDD6-42C9-A6E7-8B18CD5266D7}" presName="vertSpace2b" presStyleCnt="0"/>
      <dgm:spPr/>
    </dgm:pt>
  </dgm:ptLst>
  <dgm:cxnLst>
    <dgm:cxn modelId="{67EA0246-5469-4501-B342-E8CD73438820}" srcId="{E7E6D53B-7515-42D8-A12A-2EB4F1530DD8}" destId="{289006B4-FDD6-42C9-A6E7-8B18CD5266D7}" srcOrd="0" destOrd="0" parTransId="{89C41EC2-1129-4A9A-AAB7-40E145E9E5EA}" sibTransId="{C1FFDB6B-B4AC-4415-9607-49C9E99233D8}"/>
    <dgm:cxn modelId="{A4E16F83-CF8A-4C2E-B6A9-C7D6CED2DD05}" srcId="{4DEA9388-C019-423A-9CE1-082094AEF005}" destId="{E7E6D53B-7515-42D8-A12A-2EB4F1530DD8}" srcOrd="0" destOrd="0" parTransId="{753C3AC9-A24D-4394-BC66-CF1C28A42D6B}" sibTransId="{B7CB72E6-6C74-46F3-9AE8-D5796041AF80}"/>
    <dgm:cxn modelId="{877A19A1-68E5-43F5-8078-9E1C267585FA}" type="presOf" srcId="{E7E6D53B-7515-42D8-A12A-2EB4F1530DD8}" destId="{A838B802-DDDB-41AE-B8F9-C907554D8793}" srcOrd="0" destOrd="0" presId="urn:microsoft.com/office/officeart/2008/layout/LinedList"/>
    <dgm:cxn modelId="{427629A9-B131-4AA0-9E25-6C0AC82CE0D3}" type="presOf" srcId="{4DEA9388-C019-423A-9CE1-082094AEF005}" destId="{CB2C7AA7-6736-445B-B4D7-18AD98A3CBBE}" srcOrd="0" destOrd="0" presId="urn:microsoft.com/office/officeart/2008/layout/LinedList"/>
    <dgm:cxn modelId="{FB58F8E5-CFF2-451A-8E29-7DF2BF167A3F}" type="presOf" srcId="{289006B4-FDD6-42C9-A6E7-8B18CD5266D7}" destId="{E9D754FC-D2B7-4F19-A317-6B77A4B02839}" srcOrd="0" destOrd="0" presId="urn:microsoft.com/office/officeart/2008/layout/LinedList"/>
    <dgm:cxn modelId="{24488B7C-8263-457C-B722-3D798300D97C}" type="presParOf" srcId="{CB2C7AA7-6736-445B-B4D7-18AD98A3CBBE}" destId="{48C70F0F-4A12-4DC1-B7D9-5CBCD6855BD7}" srcOrd="0" destOrd="0" presId="urn:microsoft.com/office/officeart/2008/layout/LinedList"/>
    <dgm:cxn modelId="{B127CBCE-6012-403E-820C-9CC99C0269C6}" type="presParOf" srcId="{CB2C7AA7-6736-445B-B4D7-18AD98A3CBBE}" destId="{53CECEC9-BE63-4A4A-83E5-F7FE92935DC7}" srcOrd="1" destOrd="0" presId="urn:microsoft.com/office/officeart/2008/layout/LinedList"/>
    <dgm:cxn modelId="{22DE215A-63C5-4B8B-9B31-39D9D61E794C}" type="presParOf" srcId="{53CECEC9-BE63-4A4A-83E5-F7FE92935DC7}" destId="{A838B802-DDDB-41AE-B8F9-C907554D8793}" srcOrd="0" destOrd="0" presId="urn:microsoft.com/office/officeart/2008/layout/LinedList"/>
    <dgm:cxn modelId="{DAD3110B-1184-4537-BBD0-738208C2729F}" type="presParOf" srcId="{53CECEC9-BE63-4A4A-83E5-F7FE92935DC7}" destId="{9F706000-BC33-45AD-A9A0-6B97860677DE}" srcOrd="1" destOrd="0" presId="urn:microsoft.com/office/officeart/2008/layout/LinedList"/>
    <dgm:cxn modelId="{70F49058-0B12-4563-A76C-809DD469E287}" type="presParOf" srcId="{9F706000-BC33-45AD-A9A0-6B97860677DE}" destId="{BF0E3962-D21B-4120-AF83-72CCC8DD8614}" srcOrd="0" destOrd="0" presId="urn:microsoft.com/office/officeart/2008/layout/LinedList"/>
    <dgm:cxn modelId="{B9139D4F-91DA-4222-89FB-F9355A67C527}" type="presParOf" srcId="{9F706000-BC33-45AD-A9A0-6B97860677DE}" destId="{05591A5B-74E0-4410-87B0-75DDB9FDD5FC}" srcOrd="1" destOrd="0" presId="urn:microsoft.com/office/officeart/2008/layout/LinedList"/>
    <dgm:cxn modelId="{94BE194E-E57C-40BC-9D09-BC8746372B2F}" type="presParOf" srcId="{05591A5B-74E0-4410-87B0-75DDB9FDD5FC}" destId="{0212A8C1-EA12-455E-9138-21DE2C281B5D}" srcOrd="0" destOrd="0" presId="urn:microsoft.com/office/officeart/2008/layout/LinedList"/>
    <dgm:cxn modelId="{F819678D-68C2-4DDD-8C35-E9333E5B0DB5}" type="presParOf" srcId="{05591A5B-74E0-4410-87B0-75DDB9FDD5FC}" destId="{E9D754FC-D2B7-4F19-A317-6B77A4B02839}" srcOrd="1" destOrd="0" presId="urn:microsoft.com/office/officeart/2008/layout/LinedList"/>
    <dgm:cxn modelId="{FCB9291B-046B-4DC2-8BC9-3207C2F108CC}" type="presParOf" srcId="{05591A5B-74E0-4410-87B0-75DDB9FDD5FC}" destId="{AD41E8DF-99A1-48D3-9899-3BF2DC220577}" srcOrd="2" destOrd="0" presId="urn:microsoft.com/office/officeart/2008/layout/LinedList"/>
    <dgm:cxn modelId="{40C0BF45-7E43-4C30-AA60-6EEB497BA476}" type="presParOf" srcId="{9F706000-BC33-45AD-A9A0-6B97860677DE}" destId="{E28DFCB2-86D1-45BD-BC56-80CF5B3C0D41}" srcOrd="2" destOrd="0" presId="urn:microsoft.com/office/officeart/2008/layout/LinedList"/>
    <dgm:cxn modelId="{5E526F08-C079-4588-B92A-CEEEA1C269AA}" type="presParOf" srcId="{9F706000-BC33-45AD-A9A0-6B97860677DE}" destId="{73ADF087-56E3-495D-81A8-E8C0AF824261}"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53D991D-EBF3-40F9-ADC7-9254DF5DB232}" type="doc">
      <dgm:prSet loTypeId="urn:microsoft.com/office/officeart/2008/layout/VerticalCurvedList" loCatId="list" qsTypeId="urn:microsoft.com/office/officeart/2005/8/quickstyle/simple4" qsCatId="simple" csTypeId="urn:microsoft.com/office/officeart/2005/8/colors/accent1_2" csCatId="accent1" phldr="1"/>
      <dgm:spPr/>
      <dgm:t>
        <a:bodyPr/>
        <a:lstStyle/>
        <a:p>
          <a:endParaRPr lang="fr-FR"/>
        </a:p>
      </dgm:t>
    </dgm:pt>
    <dgm:pt modelId="{060C42B4-4DD4-4BF1-98AF-F52815438C91}">
      <dgm:prSet phldrT="[Texte]" custT="1"/>
      <dgm:spPr/>
      <dgm:t>
        <a:bodyPr/>
        <a:lstStyle/>
        <a:p>
          <a:r>
            <a:rPr lang="fr-CI" sz="1900" dirty="0">
              <a:latin typeface="Calibri" panose="020F0502020204030204" pitchFamily="34" charset="0"/>
              <a:cs typeface="Calibri" panose="020F0502020204030204" pitchFamily="34" charset="0"/>
            </a:rPr>
            <a:t>Communiquer une information, un message</a:t>
          </a:r>
          <a:endParaRPr lang="fr-FR" sz="1900" dirty="0">
            <a:latin typeface="Calibri" panose="020F0502020204030204" pitchFamily="34" charset="0"/>
            <a:cs typeface="Calibri" panose="020F0502020204030204" pitchFamily="34" charset="0"/>
          </a:endParaRPr>
        </a:p>
      </dgm:t>
    </dgm:pt>
    <dgm:pt modelId="{24DE303A-A23B-47E8-9642-8E7AF2234A5B}" type="parTrans" cxnId="{9010CDD4-E254-4302-B17C-3C6E6909AEAE}">
      <dgm:prSet/>
      <dgm:spPr/>
      <dgm:t>
        <a:bodyPr/>
        <a:lstStyle/>
        <a:p>
          <a:endParaRPr lang="fr-FR" sz="1900">
            <a:latin typeface="Calibri" panose="020F0502020204030204" pitchFamily="34" charset="0"/>
            <a:cs typeface="Calibri" panose="020F0502020204030204" pitchFamily="34" charset="0"/>
          </a:endParaRPr>
        </a:p>
      </dgm:t>
    </dgm:pt>
    <dgm:pt modelId="{3E523D3F-9FDA-45FB-89AA-C20343909F22}" type="sibTrans" cxnId="{9010CDD4-E254-4302-B17C-3C6E6909AEAE}">
      <dgm:prSet/>
      <dgm:spPr/>
      <dgm:t>
        <a:bodyPr/>
        <a:lstStyle/>
        <a:p>
          <a:endParaRPr lang="fr-FR" sz="1900">
            <a:latin typeface="Calibri" panose="020F0502020204030204" pitchFamily="34" charset="0"/>
            <a:cs typeface="Calibri" panose="020F0502020204030204" pitchFamily="34" charset="0"/>
          </a:endParaRPr>
        </a:p>
      </dgm:t>
    </dgm:pt>
    <dgm:pt modelId="{3BA0967B-C047-41F9-ACF6-7A9EC1910B1B}">
      <dgm:prSet phldrT="[Texte]" custT="1"/>
      <dgm:spPr/>
      <dgm:t>
        <a:bodyPr/>
        <a:lstStyle/>
        <a:p>
          <a:r>
            <a:rPr lang="fr-CI" sz="1900" dirty="0">
              <a:latin typeface="Calibri" panose="020F0502020204030204" pitchFamily="34" charset="0"/>
              <a:cs typeface="Calibri" panose="020F0502020204030204" pitchFamily="34" charset="0"/>
            </a:rPr>
            <a:t>Techniques pour transmettre et diffuser ces informations</a:t>
          </a:r>
          <a:endParaRPr lang="fr-FR" sz="1900" dirty="0">
            <a:latin typeface="Calibri" panose="020F0502020204030204" pitchFamily="34" charset="0"/>
            <a:cs typeface="Calibri" panose="020F0502020204030204" pitchFamily="34" charset="0"/>
          </a:endParaRPr>
        </a:p>
      </dgm:t>
    </dgm:pt>
    <dgm:pt modelId="{BFEDAD44-7FD2-4246-974B-A072B6F78EEE}" type="parTrans" cxnId="{7F0E5FBA-D55A-455C-8685-4730CE7E75A4}">
      <dgm:prSet/>
      <dgm:spPr/>
      <dgm:t>
        <a:bodyPr/>
        <a:lstStyle/>
        <a:p>
          <a:endParaRPr lang="fr-FR" sz="1900">
            <a:latin typeface="Calibri" panose="020F0502020204030204" pitchFamily="34" charset="0"/>
            <a:cs typeface="Calibri" panose="020F0502020204030204" pitchFamily="34" charset="0"/>
          </a:endParaRPr>
        </a:p>
      </dgm:t>
    </dgm:pt>
    <dgm:pt modelId="{6A55F316-FA48-46C1-A78B-B1D54DDE52F7}" type="sibTrans" cxnId="{7F0E5FBA-D55A-455C-8685-4730CE7E75A4}">
      <dgm:prSet/>
      <dgm:spPr/>
      <dgm:t>
        <a:bodyPr/>
        <a:lstStyle/>
        <a:p>
          <a:endParaRPr lang="fr-FR" sz="1900">
            <a:latin typeface="Calibri" panose="020F0502020204030204" pitchFamily="34" charset="0"/>
            <a:cs typeface="Calibri" panose="020F0502020204030204" pitchFamily="34" charset="0"/>
          </a:endParaRPr>
        </a:p>
      </dgm:t>
    </dgm:pt>
    <dgm:pt modelId="{7B94A6F2-4440-4EF2-B17C-58473EDC15AB}">
      <dgm:prSet phldrT="[Texte]" custT="1"/>
      <dgm:spPr/>
      <dgm:t>
        <a:bodyPr/>
        <a:lstStyle/>
        <a:p>
          <a:r>
            <a:rPr lang="fr-CI" sz="1900" dirty="0">
              <a:latin typeface="Calibri" panose="020F0502020204030204" pitchFamily="34" charset="0"/>
              <a:cs typeface="Calibri" panose="020F0502020204030204" pitchFamily="34" charset="0"/>
            </a:rPr>
            <a:t>Programme inscrit dans les structures naturelles et qui guident le fonctionnement (notamment des vivants). L’information génétique, physique, chimique.</a:t>
          </a:r>
          <a:endParaRPr lang="fr-FR" sz="1900" dirty="0">
            <a:latin typeface="Calibri" panose="020F0502020204030204" pitchFamily="34" charset="0"/>
            <a:cs typeface="Calibri" panose="020F0502020204030204" pitchFamily="34" charset="0"/>
          </a:endParaRPr>
        </a:p>
      </dgm:t>
    </dgm:pt>
    <dgm:pt modelId="{7F49CEF7-6FA2-4F08-AE1A-F8D34C628BA8}" type="parTrans" cxnId="{67A22CBE-7A14-475B-9433-21323DD2DF75}">
      <dgm:prSet/>
      <dgm:spPr/>
      <dgm:t>
        <a:bodyPr/>
        <a:lstStyle/>
        <a:p>
          <a:endParaRPr lang="fr-FR" sz="1900">
            <a:latin typeface="Calibri" panose="020F0502020204030204" pitchFamily="34" charset="0"/>
            <a:cs typeface="Calibri" panose="020F0502020204030204" pitchFamily="34" charset="0"/>
          </a:endParaRPr>
        </a:p>
      </dgm:t>
    </dgm:pt>
    <dgm:pt modelId="{79F9FE51-92E7-40C0-B0B9-1D7B66FE1021}" type="sibTrans" cxnId="{67A22CBE-7A14-475B-9433-21323DD2DF75}">
      <dgm:prSet/>
      <dgm:spPr/>
      <dgm:t>
        <a:bodyPr/>
        <a:lstStyle/>
        <a:p>
          <a:endParaRPr lang="fr-FR" sz="1900">
            <a:latin typeface="Calibri" panose="020F0502020204030204" pitchFamily="34" charset="0"/>
            <a:cs typeface="Calibri" panose="020F0502020204030204" pitchFamily="34" charset="0"/>
          </a:endParaRPr>
        </a:p>
      </dgm:t>
    </dgm:pt>
    <dgm:pt modelId="{372B2541-DEF8-4206-B0D4-A0A98FEFF4A7}" type="pres">
      <dgm:prSet presAssocID="{853D991D-EBF3-40F9-ADC7-9254DF5DB232}" presName="Name0" presStyleCnt="0">
        <dgm:presLayoutVars>
          <dgm:chMax val="7"/>
          <dgm:chPref val="7"/>
          <dgm:dir/>
        </dgm:presLayoutVars>
      </dgm:prSet>
      <dgm:spPr/>
    </dgm:pt>
    <dgm:pt modelId="{719D3E77-17D7-4565-8C18-F86BC6EE380F}" type="pres">
      <dgm:prSet presAssocID="{853D991D-EBF3-40F9-ADC7-9254DF5DB232}" presName="Name1" presStyleCnt="0"/>
      <dgm:spPr/>
    </dgm:pt>
    <dgm:pt modelId="{F37BE311-90F4-459E-8025-0631BEDD5FE1}" type="pres">
      <dgm:prSet presAssocID="{853D991D-EBF3-40F9-ADC7-9254DF5DB232}" presName="cycle" presStyleCnt="0"/>
      <dgm:spPr/>
    </dgm:pt>
    <dgm:pt modelId="{1BDC6A98-7540-48D5-923F-63FB90BA2725}" type="pres">
      <dgm:prSet presAssocID="{853D991D-EBF3-40F9-ADC7-9254DF5DB232}" presName="srcNode" presStyleLbl="node1" presStyleIdx="0" presStyleCnt="3"/>
      <dgm:spPr/>
    </dgm:pt>
    <dgm:pt modelId="{9EC277A6-D59A-4F7B-97E9-0938D3D0E882}" type="pres">
      <dgm:prSet presAssocID="{853D991D-EBF3-40F9-ADC7-9254DF5DB232}" presName="conn" presStyleLbl="parChTrans1D2" presStyleIdx="0" presStyleCnt="1"/>
      <dgm:spPr/>
    </dgm:pt>
    <dgm:pt modelId="{B692A650-8223-4166-95EB-2769D9F65742}" type="pres">
      <dgm:prSet presAssocID="{853D991D-EBF3-40F9-ADC7-9254DF5DB232}" presName="extraNode" presStyleLbl="node1" presStyleIdx="0" presStyleCnt="3"/>
      <dgm:spPr/>
    </dgm:pt>
    <dgm:pt modelId="{7787F904-8211-49C4-B3D9-70A67B8F810C}" type="pres">
      <dgm:prSet presAssocID="{853D991D-EBF3-40F9-ADC7-9254DF5DB232}" presName="dstNode" presStyleLbl="node1" presStyleIdx="0" presStyleCnt="3"/>
      <dgm:spPr/>
    </dgm:pt>
    <dgm:pt modelId="{791F5EF3-977B-47A3-B407-A9AED871D1B5}" type="pres">
      <dgm:prSet presAssocID="{060C42B4-4DD4-4BF1-98AF-F52815438C91}" presName="text_1" presStyleLbl="node1" presStyleIdx="0" presStyleCnt="3">
        <dgm:presLayoutVars>
          <dgm:bulletEnabled val="1"/>
        </dgm:presLayoutVars>
      </dgm:prSet>
      <dgm:spPr/>
    </dgm:pt>
    <dgm:pt modelId="{2EC02FC2-9176-4879-9C02-173A70FC7467}" type="pres">
      <dgm:prSet presAssocID="{060C42B4-4DD4-4BF1-98AF-F52815438C91}" presName="accent_1" presStyleCnt="0"/>
      <dgm:spPr/>
    </dgm:pt>
    <dgm:pt modelId="{ACEA9281-AC54-4FC3-8D43-9BE3230D42C1}" type="pres">
      <dgm:prSet presAssocID="{060C42B4-4DD4-4BF1-98AF-F52815438C91}" presName="accentRepeatNode" presStyleLbl="solidFgAcc1" presStyleIdx="0" presStyleCnt="3"/>
      <dgm:spPr/>
    </dgm:pt>
    <dgm:pt modelId="{80664375-26FF-4C35-B397-88F098FDEB44}" type="pres">
      <dgm:prSet presAssocID="{3BA0967B-C047-41F9-ACF6-7A9EC1910B1B}" presName="text_2" presStyleLbl="node1" presStyleIdx="1" presStyleCnt="3">
        <dgm:presLayoutVars>
          <dgm:bulletEnabled val="1"/>
        </dgm:presLayoutVars>
      </dgm:prSet>
      <dgm:spPr/>
    </dgm:pt>
    <dgm:pt modelId="{F0E15336-53CA-44D0-BF0C-191D0DAD9FDA}" type="pres">
      <dgm:prSet presAssocID="{3BA0967B-C047-41F9-ACF6-7A9EC1910B1B}" presName="accent_2" presStyleCnt="0"/>
      <dgm:spPr/>
    </dgm:pt>
    <dgm:pt modelId="{41CA5929-2D51-4DE6-88DA-DE23678793CC}" type="pres">
      <dgm:prSet presAssocID="{3BA0967B-C047-41F9-ACF6-7A9EC1910B1B}" presName="accentRepeatNode" presStyleLbl="solidFgAcc1" presStyleIdx="1" presStyleCnt="3"/>
      <dgm:spPr/>
    </dgm:pt>
    <dgm:pt modelId="{EF84C044-C6BB-408C-8731-E35684221202}" type="pres">
      <dgm:prSet presAssocID="{7B94A6F2-4440-4EF2-B17C-58473EDC15AB}" presName="text_3" presStyleLbl="node1" presStyleIdx="2" presStyleCnt="3">
        <dgm:presLayoutVars>
          <dgm:bulletEnabled val="1"/>
        </dgm:presLayoutVars>
      </dgm:prSet>
      <dgm:spPr/>
    </dgm:pt>
    <dgm:pt modelId="{459E1B52-0468-4416-8941-856C5C2E27A4}" type="pres">
      <dgm:prSet presAssocID="{7B94A6F2-4440-4EF2-B17C-58473EDC15AB}" presName="accent_3" presStyleCnt="0"/>
      <dgm:spPr/>
    </dgm:pt>
    <dgm:pt modelId="{C0B6ABFA-24E4-40A9-899D-540917895468}" type="pres">
      <dgm:prSet presAssocID="{7B94A6F2-4440-4EF2-B17C-58473EDC15AB}" presName="accentRepeatNode" presStyleLbl="solidFgAcc1" presStyleIdx="2" presStyleCnt="3"/>
      <dgm:spPr/>
    </dgm:pt>
  </dgm:ptLst>
  <dgm:cxnLst>
    <dgm:cxn modelId="{E466D800-E2B5-45AE-883A-4F4F2EDF255E}" type="presOf" srcId="{3E523D3F-9FDA-45FB-89AA-C20343909F22}" destId="{9EC277A6-D59A-4F7B-97E9-0938D3D0E882}" srcOrd="0" destOrd="0" presId="urn:microsoft.com/office/officeart/2008/layout/VerticalCurvedList"/>
    <dgm:cxn modelId="{0279B518-7373-4250-A202-6FF2E2B31300}" type="presOf" srcId="{853D991D-EBF3-40F9-ADC7-9254DF5DB232}" destId="{372B2541-DEF8-4206-B0D4-A0A98FEFF4A7}" srcOrd="0" destOrd="0" presId="urn:microsoft.com/office/officeart/2008/layout/VerticalCurvedList"/>
    <dgm:cxn modelId="{B1A95B9D-BDB8-47A7-B028-34F36FBEB91B}" type="presOf" srcId="{060C42B4-4DD4-4BF1-98AF-F52815438C91}" destId="{791F5EF3-977B-47A3-B407-A9AED871D1B5}" srcOrd="0" destOrd="0" presId="urn:microsoft.com/office/officeart/2008/layout/VerticalCurvedList"/>
    <dgm:cxn modelId="{FF31EFB6-2E81-4CFA-AA85-2E9CBA84D8B5}" type="presOf" srcId="{7B94A6F2-4440-4EF2-B17C-58473EDC15AB}" destId="{EF84C044-C6BB-408C-8731-E35684221202}" srcOrd="0" destOrd="0" presId="urn:microsoft.com/office/officeart/2008/layout/VerticalCurvedList"/>
    <dgm:cxn modelId="{7F0E5FBA-D55A-455C-8685-4730CE7E75A4}" srcId="{853D991D-EBF3-40F9-ADC7-9254DF5DB232}" destId="{3BA0967B-C047-41F9-ACF6-7A9EC1910B1B}" srcOrd="1" destOrd="0" parTransId="{BFEDAD44-7FD2-4246-974B-A072B6F78EEE}" sibTransId="{6A55F316-FA48-46C1-A78B-B1D54DDE52F7}"/>
    <dgm:cxn modelId="{67A22CBE-7A14-475B-9433-21323DD2DF75}" srcId="{853D991D-EBF3-40F9-ADC7-9254DF5DB232}" destId="{7B94A6F2-4440-4EF2-B17C-58473EDC15AB}" srcOrd="2" destOrd="0" parTransId="{7F49CEF7-6FA2-4F08-AE1A-F8D34C628BA8}" sibTransId="{79F9FE51-92E7-40C0-B0B9-1D7B66FE1021}"/>
    <dgm:cxn modelId="{9010CDD4-E254-4302-B17C-3C6E6909AEAE}" srcId="{853D991D-EBF3-40F9-ADC7-9254DF5DB232}" destId="{060C42B4-4DD4-4BF1-98AF-F52815438C91}" srcOrd="0" destOrd="0" parTransId="{24DE303A-A23B-47E8-9642-8E7AF2234A5B}" sibTransId="{3E523D3F-9FDA-45FB-89AA-C20343909F22}"/>
    <dgm:cxn modelId="{2B1B54EC-6F26-46AF-BCF3-DFE0166C3A01}" type="presOf" srcId="{3BA0967B-C047-41F9-ACF6-7A9EC1910B1B}" destId="{80664375-26FF-4C35-B397-88F098FDEB44}" srcOrd="0" destOrd="0" presId="urn:microsoft.com/office/officeart/2008/layout/VerticalCurvedList"/>
    <dgm:cxn modelId="{D12889EE-3FEA-420B-BB1A-2C6767A1B280}" type="presParOf" srcId="{372B2541-DEF8-4206-B0D4-A0A98FEFF4A7}" destId="{719D3E77-17D7-4565-8C18-F86BC6EE380F}" srcOrd="0" destOrd="0" presId="urn:microsoft.com/office/officeart/2008/layout/VerticalCurvedList"/>
    <dgm:cxn modelId="{0B11F5CC-090D-4C6F-91A2-FC6AF57CE019}" type="presParOf" srcId="{719D3E77-17D7-4565-8C18-F86BC6EE380F}" destId="{F37BE311-90F4-459E-8025-0631BEDD5FE1}" srcOrd="0" destOrd="0" presId="urn:microsoft.com/office/officeart/2008/layout/VerticalCurvedList"/>
    <dgm:cxn modelId="{8D817B87-3A83-4CA7-B098-EE4CB1754934}" type="presParOf" srcId="{F37BE311-90F4-459E-8025-0631BEDD5FE1}" destId="{1BDC6A98-7540-48D5-923F-63FB90BA2725}" srcOrd="0" destOrd="0" presId="urn:microsoft.com/office/officeart/2008/layout/VerticalCurvedList"/>
    <dgm:cxn modelId="{AF280381-79B7-411F-855C-433C31956ACB}" type="presParOf" srcId="{F37BE311-90F4-459E-8025-0631BEDD5FE1}" destId="{9EC277A6-D59A-4F7B-97E9-0938D3D0E882}" srcOrd="1" destOrd="0" presId="urn:microsoft.com/office/officeart/2008/layout/VerticalCurvedList"/>
    <dgm:cxn modelId="{87F4BFA8-D8FF-434F-9089-A8A7039DC483}" type="presParOf" srcId="{F37BE311-90F4-459E-8025-0631BEDD5FE1}" destId="{B692A650-8223-4166-95EB-2769D9F65742}" srcOrd="2" destOrd="0" presId="urn:microsoft.com/office/officeart/2008/layout/VerticalCurvedList"/>
    <dgm:cxn modelId="{DCE40F10-0CDF-4CDD-B231-A1690A5E0956}" type="presParOf" srcId="{F37BE311-90F4-459E-8025-0631BEDD5FE1}" destId="{7787F904-8211-49C4-B3D9-70A67B8F810C}" srcOrd="3" destOrd="0" presId="urn:microsoft.com/office/officeart/2008/layout/VerticalCurvedList"/>
    <dgm:cxn modelId="{E67A2C40-E0CA-4722-B30F-A167446D17B1}" type="presParOf" srcId="{719D3E77-17D7-4565-8C18-F86BC6EE380F}" destId="{791F5EF3-977B-47A3-B407-A9AED871D1B5}" srcOrd="1" destOrd="0" presId="urn:microsoft.com/office/officeart/2008/layout/VerticalCurvedList"/>
    <dgm:cxn modelId="{1E617C4B-46E3-4D0F-A17A-AECC77F9C59F}" type="presParOf" srcId="{719D3E77-17D7-4565-8C18-F86BC6EE380F}" destId="{2EC02FC2-9176-4879-9C02-173A70FC7467}" srcOrd="2" destOrd="0" presId="urn:microsoft.com/office/officeart/2008/layout/VerticalCurvedList"/>
    <dgm:cxn modelId="{EEDA3904-8E09-4C83-81FC-3C7CB6E4915A}" type="presParOf" srcId="{2EC02FC2-9176-4879-9C02-173A70FC7467}" destId="{ACEA9281-AC54-4FC3-8D43-9BE3230D42C1}" srcOrd="0" destOrd="0" presId="urn:microsoft.com/office/officeart/2008/layout/VerticalCurvedList"/>
    <dgm:cxn modelId="{1B6E30AB-CA0E-49FA-B09C-7DF5FFA0530B}" type="presParOf" srcId="{719D3E77-17D7-4565-8C18-F86BC6EE380F}" destId="{80664375-26FF-4C35-B397-88F098FDEB44}" srcOrd="3" destOrd="0" presId="urn:microsoft.com/office/officeart/2008/layout/VerticalCurvedList"/>
    <dgm:cxn modelId="{1C78A572-F260-44D8-8A9D-66C94422D6DA}" type="presParOf" srcId="{719D3E77-17D7-4565-8C18-F86BC6EE380F}" destId="{F0E15336-53CA-44D0-BF0C-191D0DAD9FDA}" srcOrd="4" destOrd="0" presId="urn:microsoft.com/office/officeart/2008/layout/VerticalCurvedList"/>
    <dgm:cxn modelId="{46488905-8AA9-46BE-881A-7F75C964D829}" type="presParOf" srcId="{F0E15336-53CA-44D0-BF0C-191D0DAD9FDA}" destId="{41CA5929-2D51-4DE6-88DA-DE23678793CC}" srcOrd="0" destOrd="0" presId="urn:microsoft.com/office/officeart/2008/layout/VerticalCurvedList"/>
    <dgm:cxn modelId="{F9FF95ED-E351-4031-A7FA-1B27740092EA}" type="presParOf" srcId="{719D3E77-17D7-4565-8C18-F86BC6EE380F}" destId="{EF84C044-C6BB-408C-8731-E35684221202}" srcOrd="5" destOrd="0" presId="urn:microsoft.com/office/officeart/2008/layout/VerticalCurvedList"/>
    <dgm:cxn modelId="{A47BB3A9-9A09-4328-9091-D093E7040FC0}" type="presParOf" srcId="{719D3E77-17D7-4565-8C18-F86BC6EE380F}" destId="{459E1B52-0468-4416-8941-856C5C2E27A4}" srcOrd="6" destOrd="0" presId="urn:microsoft.com/office/officeart/2008/layout/VerticalCurvedList"/>
    <dgm:cxn modelId="{BC44A700-2D9A-4EB0-AEEF-E80AA3098F17}" type="presParOf" srcId="{459E1B52-0468-4416-8941-856C5C2E27A4}" destId="{C0B6ABFA-24E4-40A9-899D-540917895468}"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105E2ACE-42F9-406E-8F83-282A98D60C2F}" type="doc">
      <dgm:prSet loTypeId="urn:microsoft.com/office/officeart/2005/8/layout/vProcess5" loCatId="process" qsTypeId="urn:microsoft.com/office/officeart/2005/8/quickstyle/simple5" qsCatId="simple" csTypeId="urn:microsoft.com/office/officeart/2005/8/colors/accent1_2" csCatId="accent1" phldr="1"/>
      <dgm:spPr/>
      <dgm:t>
        <a:bodyPr/>
        <a:lstStyle/>
        <a:p>
          <a:endParaRPr lang="fr-FR"/>
        </a:p>
      </dgm:t>
    </dgm:pt>
    <dgm:pt modelId="{6A254CB5-8030-44F9-B376-D940F8185923}">
      <dgm:prSet phldrT="[Texte]" custT="1"/>
      <dgm:spPr/>
      <dgm:t>
        <a:bodyPr/>
        <a:lstStyle/>
        <a:p>
          <a:pPr algn="just"/>
          <a:r>
            <a:rPr lang="fr-CI" sz="1900" dirty="0">
              <a:solidFill>
                <a:schemeClr val="tx1"/>
              </a:solidFill>
              <a:latin typeface="Calibri" panose="020F0502020204030204" pitchFamily="34" charset="0"/>
              <a:cs typeface="Calibri" panose="020F0502020204030204" pitchFamily="34" charset="0"/>
            </a:rPr>
            <a:t>Les méthodes des sciences se construisent logiquement en fonction de leurs objectifs. Par conséquent, les hypothèses doivent être soumises à l’épreuve de la vérification expérimentale, aussi bien de la connaissance des objets que du contrôle de leur fonctionnement</a:t>
          </a:r>
          <a:endParaRPr lang="fr-FR" sz="1900" dirty="0">
            <a:solidFill>
              <a:schemeClr val="tx1"/>
            </a:solidFill>
            <a:latin typeface="Calibri" panose="020F0502020204030204" pitchFamily="34" charset="0"/>
            <a:cs typeface="Calibri" panose="020F0502020204030204" pitchFamily="34" charset="0"/>
          </a:endParaRPr>
        </a:p>
      </dgm:t>
    </dgm:pt>
    <dgm:pt modelId="{CA5A45A7-3EFA-4C21-B14B-2672C0477793}" type="parTrans" cxnId="{16ADE59D-9497-44CF-9B5B-9AAD39920B1B}">
      <dgm:prSet/>
      <dgm:spPr/>
      <dgm:t>
        <a:bodyPr/>
        <a:lstStyle/>
        <a:p>
          <a:pPr algn="just"/>
          <a:endParaRPr lang="fr-FR">
            <a:solidFill>
              <a:schemeClr val="tx1"/>
            </a:solidFill>
          </a:endParaRPr>
        </a:p>
      </dgm:t>
    </dgm:pt>
    <dgm:pt modelId="{BF74DC1E-5ADC-4F4D-9A72-A76B79E24A6A}" type="sibTrans" cxnId="{16ADE59D-9497-44CF-9B5B-9AAD39920B1B}">
      <dgm:prSet/>
      <dgm:spPr/>
      <dgm:t>
        <a:bodyPr/>
        <a:lstStyle/>
        <a:p>
          <a:pPr algn="just"/>
          <a:endParaRPr lang="fr-FR" dirty="0">
            <a:solidFill>
              <a:schemeClr val="tx1"/>
            </a:solidFill>
          </a:endParaRPr>
        </a:p>
      </dgm:t>
    </dgm:pt>
    <dgm:pt modelId="{9A7F9D3E-1BC5-4783-B68A-FADF23ADB1AE}">
      <dgm:prSet phldrT="[Texte]" custT="1"/>
      <dgm:spPr/>
      <dgm:t>
        <a:bodyPr/>
        <a:lstStyle/>
        <a:p>
          <a:pPr algn="just"/>
          <a:endParaRPr lang="fr-CI" sz="1900" dirty="0">
            <a:solidFill>
              <a:schemeClr val="tx1"/>
            </a:solidFill>
            <a:latin typeface="Calibri" panose="020F0502020204030204" pitchFamily="34" charset="0"/>
            <a:cs typeface="Calibri" panose="020F0502020204030204" pitchFamily="34" charset="0"/>
          </a:endParaRPr>
        </a:p>
        <a:p>
          <a:pPr algn="just"/>
          <a:r>
            <a:rPr lang="fr-CI" sz="1900" dirty="0">
              <a:solidFill>
                <a:schemeClr val="tx1"/>
              </a:solidFill>
              <a:latin typeface="Calibri" panose="020F0502020204030204" pitchFamily="34" charset="0"/>
              <a:cs typeface="Calibri" panose="020F0502020204030204" pitchFamily="34" charset="0"/>
            </a:rPr>
            <a:t>La réalité est donnée aux scientifiques. Mais l’objet scientifique qu’il en fait est construit par lui. Chaque science « construit» son objet en effectuant la coupe de la réalité à laquelle va s’intéresser et que la définit et constitue en tant que science.</a:t>
          </a:r>
          <a:endParaRPr lang="en-US" sz="1900" dirty="0">
            <a:solidFill>
              <a:schemeClr val="tx1"/>
            </a:solidFill>
            <a:latin typeface="Calibri" panose="020F0502020204030204" pitchFamily="34" charset="0"/>
            <a:cs typeface="Calibri" panose="020F0502020204030204" pitchFamily="34" charset="0"/>
          </a:endParaRPr>
        </a:p>
        <a:p>
          <a:pPr algn="just"/>
          <a:endParaRPr lang="fr-FR" sz="1900" dirty="0">
            <a:solidFill>
              <a:schemeClr val="tx1"/>
            </a:solidFill>
            <a:latin typeface="Calibri" panose="020F0502020204030204" pitchFamily="34" charset="0"/>
            <a:cs typeface="Calibri" panose="020F0502020204030204" pitchFamily="34" charset="0"/>
          </a:endParaRPr>
        </a:p>
      </dgm:t>
    </dgm:pt>
    <dgm:pt modelId="{EFADE80E-33B8-419B-A1A2-B84DC8C1328C}" type="parTrans" cxnId="{1B5859AE-8E9D-4391-9CBB-6FEBD688B5BF}">
      <dgm:prSet/>
      <dgm:spPr/>
      <dgm:t>
        <a:bodyPr/>
        <a:lstStyle/>
        <a:p>
          <a:pPr algn="just"/>
          <a:endParaRPr lang="fr-FR">
            <a:solidFill>
              <a:schemeClr val="tx1"/>
            </a:solidFill>
          </a:endParaRPr>
        </a:p>
      </dgm:t>
    </dgm:pt>
    <dgm:pt modelId="{3AB1CBC8-38EA-4605-8FBA-7D799D3F3A2C}" type="sibTrans" cxnId="{1B5859AE-8E9D-4391-9CBB-6FEBD688B5BF}">
      <dgm:prSet/>
      <dgm:spPr/>
      <dgm:t>
        <a:bodyPr/>
        <a:lstStyle/>
        <a:p>
          <a:pPr algn="just"/>
          <a:endParaRPr lang="fr-FR">
            <a:solidFill>
              <a:schemeClr val="tx1"/>
            </a:solidFill>
          </a:endParaRPr>
        </a:p>
      </dgm:t>
    </dgm:pt>
    <dgm:pt modelId="{72BD5270-28EF-439C-9827-1DF8A5E70C1F}">
      <dgm:prSet custT="1"/>
      <dgm:spPr/>
      <dgm:t>
        <a:bodyPr/>
        <a:lstStyle/>
        <a:p>
          <a:pPr algn="just"/>
          <a:r>
            <a:rPr lang="fr-CI" sz="1900" dirty="0">
              <a:solidFill>
                <a:schemeClr val="tx1"/>
              </a:solidFill>
              <a:latin typeface="Calibri" panose="020F0502020204030204" pitchFamily="34" charset="0"/>
              <a:cs typeface="Calibri" panose="020F0502020204030204" pitchFamily="34" charset="0"/>
            </a:rPr>
            <a:t>Selon </a:t>
          </a:r>
          <a:r>
            <a:rPr lang="fr-CI" sz="1900" b="1" dirty="0" err="1">
              <a:solidFill>
                <a:schemeClr val="tx1"/>
              </a:solidFill>
              <a:latin typeface="Calibri" panose="020F0502020204030204" pitchFamily="34" charset="0"/>
              <a:cs typeface="Calibri" panose="020F0502020204030204" pitchFamily="34" charset="0"/>
            </a:rPr>
            <a:t>Evandro</a:t>
          </a:r>
          <a:r>
            <a:rPr lang="fr-CI" sz="1900" b="1" dirty="0">
              <a:solidFill>
                <a:schemeClr val="tx1"/>
              </a:solidFill>
              <a:latin typeface="Calibri" panose="020F0502020204030204" pitchFamily="34" charset="0"/>
              <a:cs typeface="Calibri" panose="020F0502020204030204" pitchFamily="34" charset="0"/>
            </a:rPr>
            <a:t> </a:t>
          </a:r>
          <a:r>
            <a:rPr lang="fr-CI" sz="1900" b="1" dirty="0" err="1">
              <a:solidFill>
                <a:schemeClr val="tx1"/>
              </a:solidFill>
              <a:latin typeface="Calibri" panose="020F0502020204030204" pitchFamily="34" charset="0"/>
              <a:cs typeface="Calibri" panose="020F0502020204030204" pitchFamily="34" charset="0"/>
            </a:rPr>
            <a:t>Agazzi</a:t>
          </a:r>
          <a:r>
            <a:rPr lang="fr-CI" sz="1900" b="1" dirty="0">
              <a:solidFill>
                <a:schemeClr val="tx1"/>
              </a:solidFill>
              <a:latin typeface="Calibri" panose="020F0502020204030204" pitchFamily="34" charset="0"/>
              <a:cs typeface="Calibri" panose="020F0502020204030204" pitchFamily="34" charset="0"/>
            </a:rPr>
            <a:t> (1934 - ) </a:t>
          </a:r>
          <a:r>
            <a:rPr lang="fr-CI" sz="1900" dirty="0">
              <a:solidFill>
                <a:schemeClr val="tx1"/>
              </a:solidFill>
              <a:latin typeface="Calibri" panose="020F0502020204030204" pitchFamily="34" charset="0"/>
              <a:cs typeface="Calibri" panose="020F0502020204030204" pitchFamily="34" charset="0"/>
            </a:rPr>
            <a:t>les objets des sciences ne sont pas </a:t>
          </a:r>
          <a:r>
            <a:rPr lang="fr-CI" sz="1900" b="1" i="1" dirty="0">
              <a:solidFill>
                <a:schemeClr val="tx1"/>
              </a:solidFill>
              <a:latin typeface="Calibri" panose="020F0502020204030204" pitchFamily="34" charset="0"/>
              <a:cs typeface="Calibri" panose="020F0502020204030204" pitchFamily="34" charset="0"/>
            </a:rPr>
            <a:t>« les choses »</a:t>
          </a:r>
          <a:r>
            <a:rPr lang="fr-CI" sz="1900" dirty="0">
              <a:solidFill>
                <a:schemeClr val="tx1"/>
              </a:solidFill>
              <a:latin typeface="Calibri" panose="020F0502020204030204" pitchFamily="34" charset="0"/>
              <a:cs typeface="Calibri" panose="020F0502020204030204" pitchFamily="34" charset="0"/>
            </a:rPr>
            <a:t>. Une même chose peut être l’objet de sciences différentes. Chaque discipline scientifique se constitue en adoptant une perspective qui lui est propre. Ce que les classiques appelaient l’objet formel quod.</a:t>
          </a:r>
          <a:endParaRPr lang="en-US" sz="1900" dirty="0">
            <a:solidFill>
              <a:schemeClr val="tx1"/>
            </a:solidFill>
            <a:latin typeface="Calibri" panose="020F0502020204030204" pitchFamily="34" charset="0"/>
            <a:cs typeface="Calibri" panose="020F0502020204030204" pitchFamily="34" charset="0"/>
          </a:endParaRPr>
        </a:p>
      </dgm:t>
    </dgm:pt>
    <dgm:pt modelId="{CD03F75E-41F2-49F9-B00F-3DD34C898111}" type="parTrans" cxnId="{EAA7B333-1C3C-48A6-AB62-10B03D1FBA97}">
      <dgm:prSet/>
      <dgm:spPr/>
      <dgm:t>
        <a:bodyPr/>
        <a:lstStyle/>
        <a:p>
          <a:pPr algn="just"/>
          <a:endParaRPr lang="fr-FR">
            <a:solidFill>
              <a:schemeClr val="tx1"/>
            </a:solidFill>
          </a:endParaRPr>
        </a:p>
      </dgm:t>
    </dgm:pt>
    <dgm:pt modelId="{1654C064-C833-41D9-BB52-47D9589D4520}" type="sibTrans" cxnId="{EAA7B333-1C3C-48A6-AB62-10B03D1FBA97}">
      <dgm:prSet/>
      <dgm:spPr/>
      <dgm:t>
        <a:bodyPr/>
        <a:lstStyle/>
        <a:p>
          <a:pPr algn="just"/>
          <a:endParaRPr lang="fr-FR" dirty="0">
            <a:solidFill>
              <a:schemeClr val="tx1"/>
            </a:solidFill>
          </a:endParaRPr>
        </a:p>
      </dgm:t>
    </dgm:pt>
    <dgm:pt modelId="{D3266DBD-5FC6-43B5-A5F2-26C3C164213C}">
      <dgm:prSet phldrT="[Texte]" custT="1"/>
      <dgm:spPr/>
      <dgm:t>
        <a:bodyPr/>
        <a:lstStyle/>
        <a:p>
          <a:pPr algn="just"/>
          <a:r>
            <a:rPr lang="fr-CI" sz="1900" dirty="0">
              <a:solidFill>
                <a:schemeClr val="tx1"/>
              </a:solidFill>
              <a:latin typeface="Calibri" panose="020F0502020204030204" pitchFamily="34" charset="0"/>
              <a:cs typeface="Calibri" panose="020F0502020204030204" pitchFamily="34" charset="0"/>
            </a:rPr>
            <a:t>La délimitation de l’objet formel quod (la coupe) de la réalité n’est pas toujours ni principalement une limitation d’extension: la biologie, en définissant son objet, laissera pour compte les non vivants. Mais la chimie va s’occuper d’un certain type de réalités qui sont communs aux vivants et aux non-vivants</a:t>
          </a:r>
          <a:endParaRPr lang="en-US" sz="1900" dirty="0">
            <a:solidFill>
              <a:schemeClr val="tx1"/>
            </a:solidFill>
            <a:latin typeface="Calibri" panose="020F0502020204030204" pitchFamily="34" charset="0"/>
            <a:cs typeface="Calibri" panose="020F0502020204030204" pitchFamily="34" charset="0"/>
          </a:endParaRPr>
        </a:p>
      </dgm:t>
    </dgm:pt>
    <dgm:pt modelId="{9234EDB4-DDEA-43D6-9A7E-7AC900817E96}" type="sibTrans" cxnId="{FF7280B1-DC1D-4F96-8DF0-AF4753A87EAC}">
      <dgm:prSet/>
      <dgm:spPr/>
      <dgm:t>
        <a:bodyPr/>
        <a:lstStyle/>
        <a:p>
          <a:pPr algn="just"/>
          <a:endParaRPr lang="fr-FR" dirty="0">
            <a:solidFill>
              <a:schemeClr val="tx1"/>
            </a:solidFill>
          </a:endParaRPr>
        </a:p>
      </dgm:t>
    </dgm:pt>
    <dgm:pt modelId="{C8D12A8F-34F0-4393-985B-3CD478F08732}" type="parTrans" cxnId="{FF7280B1-DC1D-4F96-8DF0-AF4753A87EAC}">
      <dgm:prSet/>
      <dgm:spPr/>
      <dgm:t>
        <a:bodyPr/>
        <a:lstStyle/>
        <a:p>
          <a:pPr algn="just"/>
          <a:endParaRPr lang="fr-FR">
            <a:solidFill>
              <a:schemeClr val="tx1"/>
            </a:solidFill>
          </a:endParaRPr>
        </a:p>
      </dgm:t>
    </dgm:pt>
    <dgm:pt modelId="{5C583DE8-7FFF-432F-A1CC-2737EDA5DB15}" type="pres">
      <dgm:prSet presAssocID="{105E2ACE-42F9-406E-8F83-282A98D60C2F}" presName="outerComposite" presStyleCnt="0">
        <dgm:presLayoutVars>
          <dgm:chMax val="5"/>
          <dgm:dir/>
          <dgm:resizeHandles val="exact"/>
        </dgm:presLayoutVars>
      </dgm:prSet>
      <dgm:spPr/>
    </dgm:pt>
    <dgm:pt modelId="{A9582D62-DF70-48B6-8E2E-5515EFDFB57C}" type="pres">
      <dgm:prSet presAssocID="{105E2ACE-42F9-406E-8F83-282A98D60C2F}" presName="dummyMaxCanvas" presStyleCnt="0">
        <dgm:presLayoutVars/>
      </dgm:prSet>
      <dgm:spPr/>
    </dgm:pt>
    <dgm:pt modelId="{288E600A-587B-4819-B220-00ADD0708B1D}" type="pres">
      <dgm:prSet presAssocID="{105E2ACE-42F9-406E-8F83-282A98D60C2F}" presName="FourNodes_1" presStyleLbl="node1" presStyleIdx="0" presStyleCnt="4" custLinFactNeighborX="0" custLinFactNeighborY="1847">
        <dgm:presLayoutVars>
          <dgm:bulletEnabled val="1"/>
        </dgm:presLayoutVars>
      </dgm:prSet>
      <dgm:spPr/>
    </dgm:pt>
    <dgm:pt modelId="{D8946699-69BF-419C-A600-ABD20D3A221E}" type="pres">
      <dgm:prSet presAssocID="{105E2ACE-42F9-406E-8F83-282A98D60C2F}" presName="FourNodes_2" presStyleLbl="node1" presStyleIdx="1" presStyleCnt="4" custLinFactNeighborX="381" custLinFactNeighborY="-8495">
        <dgm:presLayoutVars>
          <dgm:bulletEnabled val="1"/>
        </dgm:presLayoutVars>
      </dgm:prSet>
      <dgm:spPr/>
    </dgm:pt>
    <dgm:pt modelId="{840ED59D-5DBB-47F6-B85E-9D7B4640A414}" type="pres">
      <dgm:prSet presAssocID="{105E2ACE-42F9-406E-8F83-282A98D60C2F}" presName="FourNodes_3" presStyleLbl="node1" presStyleIdx="2" presStyleCnt="4" custScaleX="99866" custScaleY="118239" custLinFactNeighborX="536" custLinFactNeighborY="-10300">
        <dgm:presLayoutVars>
          <dgm:bulletEnabled val="1"/>
        </dgm:presLayoutVars>
      </dgm:prSet>
      <dgm:spPr/>
    </dgm:pt>
    <dgm:pt modelId="{14C66A12-D066-45D0-B452-E7F1180EA629}" type="pres">
      <dgm:prSet presAssocID="{105E2ACE-42F9-406E-8F83-282A98D60C2F}" presName="FourNodes_4" presStyleLbl="node1" presStyleIdx="3" presStyleCnt="4" custScaleX="101540" custScaleY="116121" custLinFactNeighborX="-385" custLinFactNeighborY="-4030">
        <dgm:presLayoutVars>
          <dgm:bulletEnabled val="1"/>
        </dgm:presLayoutVars>
      </dgm:prSet>
      <dgm:spPr/>
    </dgm:pt>
    <dgm:pt modelId="{EBBD1CFB-72F4-4176-9A7D-E8457E2AEA3B}" type="pres">
      <dgm:prSet presAssocID="{105E2ACE-42F9-406E-8F83-282A98D60C2F}" presName="FourConn_1-2" presStyleLbl="fgAccFollowNode1" presStyleIdx="0" presStyleCnt="3">
        <dgm:presLayoutVars>
          <dgm:bulletEnabled val="1"/>
        </dgm:presLayoutVars>
      </dgm:prSet>
      <dgm:spPr/>
    </dgm:pt>
    <dgm:pt modelId="{A6E7CF93-C43B-445F-BE71-230AE5A1AA20}" type="pres">
      <dgm:prSet presAssocID="{105E2ACE-42F9-406E-8F83-282A98D60C2F}" presName="FourConn_2-3" presStyleLbl="fgAccFollowNode1" presStyleIdx="1" presStyleCnt="3">
        <dgm:presLayoutVars>
          <dgm:bulletEnabled val="1"/>
        </dgm:presLayoutVars>
      </dgm:prSet>
      <dgm:spPr/>
    </dgm:pt>
    <dgm:pt modelId="{9139ECB6-BC79-4751-92B0-83679A0541AB}" type="pres">
      <dgm:prSet presAssocID="{105E2ACE-42F9-406E-8F83-282A98D60C2F}" presName="FourConn_3-4" presStyleLbl="fgAccFollowNode1" presStyleIdx="2" presStyleCnt="3">
        <dgm:presLayoutVars>
          <dgm:bulletEnabled val="1"/>
        </dgm:presLayoutVars>
      </dgm:prSet>
      <dgm:spPr/>
    </dgm:pt>
    <dgm:pt modelId="{21593AA5-218E-4B3D-B61A-7DFF9D351EFA}" type="pres">
      <dgm:prSet presAssocID="{105E2ACE-42F9-406E-8F83-282A98D60C2F}" presName="FourNodes_1_text" presStyleLbl="node1" presStyleIdx="3" presStyleCnt="4">
        <dgm:presLayoutVars>
          <dgm:bulletEnabled val="1"/>
        </dgm:presLayoutVars>
      </dgm:prSet>
      <dgm:spPr/>
    </dgm:pt>
    <dgm:pt modelId="{990E1C49-2373-49EC-B7F2-0616D8BDA72B}" type="pres">
      <dgm:prSet presAssocID="{105E2ACE-42F9-406E-8F83-282A98D60C2F}" presName="FourNodes_2_text" presStyleLbl="node1" presStyleIdx="3" presStyleCnt="4">
        <dgm:presLayoutVars>
          <dgm:bulletEnabled val="1"/>
        </dgm:presLayoutVars>
      </dgm:prSet>
      <dgm:spPr/>
    </dgm:pt>
    <dgm:pt modelId="{77CDCBD1-0C03-4A5F-9B48-1A8B77DB75B7}" type="pres">
      <dgm:prSet presAssocID="{105E2ACE-42F9-406E-8F83-282A98D60C2F}" presName="FourNodes_3_text" presStyleLbl="node1" presStyleIdx="3" presStyleCnt="4">
        <dgm:presLayoutVars>
          <dgm:bulletEnabled val="1"/>
        </dgm:presLayoutVars>
      </dgm:prSet>
      <dgm:spPr/>
    </dgm:pt>
    <dgm:pt modelId="{FE8C654F-850C-4EBE-BA5F-32CE4128DD27}" type="pres">
      <dgm:prSet presAssocID="{105E2ACE-42F9-406E-8F83-282A98D60C2F}" presName="FourNodes_4_text" presStyleLbl="node1" presStyleIdx="3" presStyleCnt="4">
        <dgm:presLayoutVars>
          <dgm:bulletEnabled val="1"/>
        </dgm:presLayoutVars>
      </dgm:prSet>
      <dgm:spPr/>
    </dgm:pt>
  </dgm:ptLst>
  <dgm:cxnLst>
    <dgm:cxn modelId="{BBF36105-361A-4F8C-AF14-17334F30F274}" type="presOf" srcId="{1654C064-C833-41D9-BB52-47D9589D4520}" destId="{A6E7CF93-C43B-445F-BE71-230AE5A1AA20}" srcOrd="0" destOrd="0" presId="urn:microsoft.com/office/officeart/2005/8/layout/vProcess5"/>
    <dgm:cxn modelId="{74F33D0B-FEC6-432A-A5C2-C011369D9702}" type="presOf" srcId="{9A7F9D3E-1BC5-4783-B68A-FADF23ADB1AE}" destId="{14C66A12-D066-45D0-B452-E7F1180EA629}" srcOrd="0" destOrd="0" presId="urn:microsoft.com/office/officeart/2005/8/layout/vProcess5"/>
    <dgm:cxn modelId="{CDD16332-8E28-4953-9133-89FD2101EA33}" type="presOf" srcId="{72BD5270-28EF-439C-9827-1DF8A5E70C1F}" destId="{D8946699-69BF-419C-A600-ABD20D3A221E}" srcOrd="0" destOrd="0" presId="urn:microsoft.com/office/officeart/2005/8/layout/vProcess5"/>
    <dgm:cxn modelId="{EAA7B333-1C3C-48A6-AB62-10B03D1FBA97}" srcId="{105E2ACE-42F9-406E-8F83-282A98D60C2F}" destId="{72BD5270-28EF-439C-9827-1DF8A5E70C1F}" srcOrd="1" destOrd="0" parTransId="{CD03F75E-41F2-49F9-B00F-3DD34C898111}" sibTransId="{1654C064-C833-41D9-BB52-47D9589D4520}"/>
    <dgm:cxn modelId="{0291146F-FA9D-4B81-A661-C3A1A88538D5}" type="presOf" srcId="{D3266DBD-5FC6-43B5-A5F2-26C3C164213C}" destId="{77CDCBD1-0C03-4A5F-9B48-1A8B77DB75B7}" srcOrd="1" destOrd="0" presId="urn:microsoft.com/office/officeart/2005/8/layout/vProcess5"/>
    <dgm:cxn modelId="{9342B157-CA7A-423F-8658-AC790F060E3F}" type="presOf" srcId="{BF74DC1E-5ADC-4F4D-9A72-A76B79E24A6A}" destId="{EBBD1CFB-72F4-4176-9A7D-E8457E2AEA3B}" srcOrd="0" destOrd="0" presId="urn:microsoft.com/office/officeart/2005/8/layout/vProcess5"/>
    <dgm:cxn modelId="{296F8191-44B6-4ED7-A104-40ACDFD32FC1}" type="presOf" srcId="{D3266DBD-5FC6-43B5-A5F2-26C3C164213C}" destId="{840ED59D-5DBB-47F6-B85E-9D7B4640A414}" srcOrd="0" destOrd="0" presId="urn:microsoft.com/office/officeart/2005/8/layout/vProcess5"/>
    <dgm:cxn modelId="{F6CB4692-269E-4A16-9C79-88B798483350}" type="presOf" srcId="{6A254CB5-8030-44F9-B376-D940F8185923}" destId="{288E600A-587B-4819-B220-00ADD0708B1D}" srcOrd="0" destOrd="0" presId="urn:microsoft.com/office/officeart/2005/8/layout/vProcess5"/>
    <dgm:cxn modelId="{61DD9F97-AC33-4075-A3D2-9A300AA97092}" type="presOf" srcId="{72BD5270-28EF-439C-9827-1DF8A5E70C1F}" destId="{990E1C49-2373-49EC-B7F2-0616D8BDA72B}" srcOrd="1" destOrd="0" presId="urn:microsoft.com/office/officeart/2005/8/layout/vProcess5"/>
    <dgm:cxn modelId="{16ADE59D-9497-44CF-9B5B-9AAD39920B1B}" srcId="{105E2ACE-42F9-406E-8F83-282A98D60C2F}" destId="{6A254CB5-8030-44F9-B376-D940F8185923}" srcOrd="0" destOrd="0" parTransId="{CA5A45A7-3EFA-4C21-B14B-2672C0477793}" sibTransId="{BF74DC1E-5ADC-4F4D-9A72-A76B79E24A6A}"/>
    <dgm:cxn modelId="{506B16A3-AD9E-4836-8202-D1F9E82FA67E}" type="presOf" srcId="{105E2ACE-42F9-406E-8F83-282A98D60C2F}" destId="{5C583DE8-7FFF-432F-A1CC-2737EDA5DB15}" srcOrd="0" destOrd="0" presId="urn:microsoft.com/office/officeart/2005/8/layout/vProcess5"/>
    <dgm:cxn modelId="{1B5859AE-8E9D-4391-9CBB-6FEBD688B5BF}" srcId="{105E2ACE-42F9-406E-8F83-282A98D60C2F}" destId="{9A7F9D3E-1BC5-4783-B68A-FADF23ADB1AE}" srcOrd="3" destOrd="0" parTransId="{EFADE80E-33B8-419B-A1A2-B84DC8C1328C}" sibTransId="{3AB1CBC8-38EA-4605-8FBA-7D799D3F3A2C}"/>
    <dgm:cxn modelId="{FF7280B1-DC1D-4F96-8DF0-AF4753A87EAC}" srcId="{105E2ACE-42F9-406E-8F83-282A98D60C2F}" destId="{D3266DBD-5FC6-43B5-A5F2-26C3C164213C}" srcOrd="2" destOrd="0" parTransId="{C8D12A8F-34F0-4393-985B-3CD478F08732}" sibTransId="{9234EDB4-DDEA-43D6-9A7E-7AC900817E96}"/>
    <dgm:cxn modelId="{C39476D1-FF38-49DD-9F9A-7ECE97FE6693}" type="presOf" srcId="{6A254CB5-8030-44F9-B376-D940F8185923}" destId="{21593AA5-218E-4B3D-B61A-7DFF9D351EFA}" srcOrd="1" destOrd="0" presId="urn:microsoft.com/office/officeart/2005/8/layout/vProcess5"/>
    <dgm:cxn modelId="{B3176AF1-864F-4F30-847A-590F5F0376F7}" type="presOf" srcId="{9234EDB4-DDEA-43D6-9A7E-7AC900817E96}" destId="{9139ECB6-BC79-4751-92B0-83679A0541AB}" srcOrd="0" destOrd="0" presId="urn:microsoft.com/office/officeart/2005/8/layout/vProcess5"/>
    <dgm:cxn modelId="{A130E7F5-0135-4931-AF9C-8797AA3E17E2}" type="presOf" srcId="{9A7F9D3E-1BC5-4783-B68A-FADF23ADB1AE}" destId="{FE8C654F-850C-4EBE-BA5F-32CE4128DD27}" srcOrd="1" destOrd="0" presId="urn:microsoft.com/office/officeart/2005/8/layout/vProcess5"/>
    <dgm:cxn modelId="{6D17794A-ED5E-4305-B7D5-E9DC16E6AFE0}" type="presParOf" srcId="{5C583DE8-7FFF-432F-A1CC-2737EDA5DB15}" destId="{A9582D62-DF70-48B6-8E2E-5515EFDFB57C}" srcOrd="0" destOrd="0" presId="urn:microsoft.com/office/officeart/2005/8/layout/vProcess5"/>
    <dgm:cxn modelId="{E4DBC5B0-BAA4-4B91-99D5-3CBC6A97838A}" type="presParOf" srcId="{5C583DE8-7FFF-432F-A1CC-2737EDA5DB15}" destId="{288E600A-587B-4819-B220-00ADD0708B1D}" srcOrd="1" destOrd="0" presId="urn:microsoft.com/office/officeart/2005/8/layout/vProcess5"/>
    <dgm:cxn modelId="{DDB5BD69-42CA-48E6-8A5E-6D0E9B386EC7}" type="presParOf" srcId="{5C583DE8-7FFF-432F-A1CC-2737EDA5DB15}" destId="{D8946699-69BF-419C-A600-ABD20D3A221E}" srcOrd="2" destOrd="0" presId="urn:microsoft.com/office/officeart/2005/8/layout/vProcess5"/>
    <dgm:cxn modelId="{407F768D-0C7C-405D-B448-70F75589948B}" type="presParOf" srcId="{5C583DE8-7FFF-432F-A1CC-2737EDA5DB15}" destId="{840ED59D-5DBB-47F6-B85E-9D7B4640A414}" srcOrd="3" destOrd="0" presId="urn:microsoft.com/office/officeart/2005/8/layout/vProcess5"/>
    <dgm:cxn modelId="{082488B9-38A3-4204-9B94-FFDD60DB2057}" type="presParOf" srcId="{5C583DE8-7FFF-432F-A1CC-2737EDA5DB15}" destId="{14C66A12-D066-45D0-B452-E7F1180EA629}" srcOrd="4" destOrd="0" presId="urn:microsoft.com/office/officeart/2005/8/layout/vProcess5"/>
    <dgm:cxn modelId="{D67B75FC-29C7-4ECA-914B-E76271F4AB39}" type="presParOf" srcId="{5C583DE8-7FFF-432F-A1CC-2737EDA5DB15}" destId="{EBBD1CFB-72F4-4176-9A7D-E8457E2AEA3B}" srcOrd="5" destOrd="0" presId="urn:microsoft.com/office/officeart/2005/8/layout/vProcess5"/>
    <dgm:cxn modelId="{ECD3C9CC-CA84-4F14-BAAA-C66B01DFC93B}" type="presParOf" srcId="{5C583DE8-7FFF-432F-A1CC-2737EDA5DB15}" destId="{A6E7CF93-C43B-445F-BE71-230AE5A1AA20}" srcOrd="6" destOrd="0" presId="urn:microsoft.com/office/officeart/2005/8/layout/vProcess5"/>
    <dgm:cxn modelId="{CE9B0185-D45F-462C-B605-EBC5C0488187}" type="presParOf" srcId="{5C583DE8-7FFF-432F-A1CC-2737EDA5DB15}" destId="{9139ECB6-BC79-4751-92B0-83679A0541AB}" srcOrd="7" destOrd="0" presId="urn:microsoft.com/office/officeart/2005/8/layout/vProcess5"/>
    <dgm:cxn modelId="{58E7C440-414F-4231-8493-0C90C24FAA35}" type="presParOf" srcId="{5C583DE8-7FFF-432F-A1CC-2737EDA5DB15}" destId="{21593AA5-218E-4B3D-B61A-7DFF9D351EFA}" srcOrd="8" destOrd="0" presId="urn:microsoft.com/office/officeart/2005/8/layout/vProcess5"/>
    <dgm:cxn modelId="{8E7F3B38-65C1-455B-9D42-11DD543AE8FD}" type="presParOf" srcId="{5C583DE8-7FFF-432F-A1CC-2737EDA5DB15}" destId="{990E1C49-2373-49EC-B7F2-0616D8BDA72B}" srcOrd="9" destOrd="0" presId="urn:microsoft.com/office/officeart/2005/8/layout/vProcess5"/>
    <dgm:cxn modelId="{AAEC470C-2DEC-4A6B-9C4F-9A5962901603}" type="presParOf" srcId="{5C583DE8-7FFF-432F-A1CC-2737EDA5DB15}" destId="{77CDCBD1-0C03-4A5F-9B48-1A8B77DB75B7}" srcOrd="10" destOrd="0" presId="urn:microsoft.com/office/officeart/2005/8/layout/vProcess5"/>
    <dgm:cxn modelId="{8CAF7AED-4CB4-489F-A4D7-ED0DDC8465A0}" type="presParOf" srcId="{5C583DE8-7FFF-432F-A1CC-2737EDA5DB15}" destId="{FE8C654F-850C-4EBE-BA5F-32CE4128DD27}" srcOrd="11" destOrd="0" presId="urn:microsoft.com/office/officeart/2005/8/layout/vProcess5"/>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F52A574C-D394-4925-BDE4-75CFB744F299}" type="doc">
      <dgm:prSet loTypeId="urn:microsoft.com/office/officeart/2005/8/layout/chevron2" loCatId="process" qsTypeId="urn:microsoft.com/office/officeart/2005/8/quickstyle/simple5" qsCatId="simple" csTypeId="urn:microsoft.com/office/officeart/2005/8/colors/accent1_2" csCatId="accent1" phldr="1"/>
      <dgm:spPr/>
      <dgm:t>
        <a:bodyPr/>
        <a:lstStyle/>
        <a:p>
          <a:endParaRPr lang="fr-FR"/>
        </a:p>
      </dgm:t>
    </dgm:pt>
    <dgm:pt modelId="{99241B34-C66A-4A80-BFD8-3530362D2A90}">
      <dgm:prSet phldrT="[Texte]" custT="1"/>
      <dgm:spPr/>
      <dgm:t>
        <a:bodyPr/>
        <a:lstStyle/>
        <a:p>
          <a:endParaRPr lang="fr-CI" sz="1900" dirty="0">
            <a:latin typeface="Calibri" panose="020F0502020204030204" pitchFamily="34" charset="0"/>
            <a:cs typeface="Calibri" panose="020F0502020204030204" pitchFamily="34" charset="0"/>
          </a:endParaRPr>
        </a:p>
        <a:p>
          <a:r>
            <a:rPr lang="fr-CI" sz="1800" dirty="0">
              <a:latin typeface="Calibri" panose="020F0502020204030204" pitchFamily="34" charset="0"/>
              <a:cs typeface="Calibri" panose="020F0502020204030204" pitchFamily="34" charset="0"/>
            </a:rPr>
            <a:t>Vérification de la validité des théories</a:t>
          </a:r>
          <a:endParaRPr lang="fr-FR" sz="1800" dirty="0"/>
        </a:p>
      </dgm:t>
    </dgm:pt>
    <dgm:pt modelId="{A98B9BCE-E80F-40F6-BDBF-CFF93FB78E75}" type="parTrans" cxnId="{1A72DE8F-2653-4AC4-AADE-C663B47A5878}">
      <dgm:prSet/>
      <dgm:spPr/>
      <dgm:t>
        <a:bodyPr/>
        <a:lstStyle/>
        <a:p>
          <a:endParaRPr lang="fr-FR" sz="1900"/>
        </a:p>
      </dgm:t>
    </dgm:pt>
    <dgm:pt modelId="{A0C916EB-670B-4FC2-95E8-98F66CFF1B0E}" type="sibTrans" cxnId="{1A72DE8F-2653-4AC4-AADE-C663B47A5878}">
      <dgm:prSet/>
      <dgm:spPr/>
      <dgm:t>
        <a:bodyPr/>
        <a:lstStyle/>
        <a:p>
          <a:endParaRPr lang="fr-FR" sz="1900"/>
        </a:p>
      </dgm:t>
    </dgm:pt>
    <dgm:pt modelId="{FFBFB9F2-1E47-4F0F-AA47-D295FA3DD99D}">
      <dgm:prSet phldrT="[Texte]" custT="1"/>
      <dgm:spPr/>
      <dgm:t>
        <a:bodyPr/>
        <a:lstStyle/>
        <a:p>
          <a:pPr algn="just"/>
          <a:r>
            <a:rPr lang="fr-CI" sz="1900" dirty="0">
              <a:latin typeface="Calibri" panose="020F0502020204030204" pitchFamily="34" charset="0"/>
              <a:cs typeface="Calibri" panose="020F0502020204030204" pitchFamily="34" charset="0"/>
            </a:rPr>
            <a:t>La vérification de la validité des théories est fondamentale dans le développement de la science, et une bonne partie des questions que se pose la philosophie de la science appartient à ce domaine. </a:t>
          </a:r>
          <a:r>
            <a:rPr lang="fr-FR" sz="1900" dirty="0">
              <a:latin typeface="Calibri" panose="020F0502020204030204" pitchFamily="34" charset="0"/>
              <a:cs typeface="Calibri" panose="020F0502020204030204" pitchFamily="34" charset="0"/>
            </a:rPr>
            <a:t>Cette  validité est axé sur la distinction entre </a:t>
          </a:r>
          <a:r>
            <a:rPr lang="fr-CI" sz="1900" dirty="0">
              <a:latin typeface="Calibri" panose="020F0502020204030204" pitchFamily="34" charset="0"/>
              <a:cs typeface="Calibri" panose="020F0502020204030204" pitchFamily="34" charset="0"/>
            </a:rPr>
            <a:t>entre le contexte de la découverte et celui de la justification </a:t>
          </a:r>
          <a:endParaRPr lang="fr-FR" sz="1900" dirty="0"/>
        </a:p>
      </dgm:t>
    </dgm:pt>
    <dgm:pt modelId="{D0C3775C-2E4E-4D34-A38D-4C712A623F41}" type="parTrans" cxnId="{3458B69A-767E-4A72-9A25-84CEB5ECED38}">
      <dgm:prSet/>
      <dgm:spPr/>
      <dgm:t>
        <a:bodyPr/>
        <a:lstStyle/>
        <a:p>
          <a:endParaRPr lang="fr-FR" sz="1900"/>
        </a:p>
      </dgm:t>
    </dgm:pt>
    <dgm:pt modelId="{75B06032-08F2-45F9-B6A2-31FEBFBB5C1E}" type="sibTrans" cxnId="{3458B69A-767E-4A72-9A25-84CEB5ECED38}">
      <dgm:prSet/>
      <dgm:spPr/>
      <dgm:t>
        <a:bodyPr/>
        <a:lstStyle/>
        <a:p>
          <a:endParaRPr lang="fr-FR" sz="1900"/>
        </a:p>
      </dgm:t>
    </dgm:pt>
    <dgm:pt modelId="{ED729F69-E80E-4B6E-8120-E679A1C95DEC}">
      <dgm:prSet phldrT="[Texte]" custT="1"/>
      <dgm:spPr/>
      <dgm:t>
        <a:bodyPr/>
        <a:lstStyle/>
        <a:p>
          <a:endParaRPr lang="fr-CI" sz="1900" dirty="0">
            <a:latin typeface="Calibri" panose="020F0502020204030204" pitchFamily="34" charset="0"/>
            <a:cs typeface="Calibri" panose="020F0502020204030204" pitchFamily="34" charset="0"/>
          </a:endParaRPr>
        </a:p>
        <a:p>
          <a:r>
            <a:rPr lang="fr-CI" sz="1800" dirty="0">
              <a:latin typeface="Calibri" panose="020F0502020204030204" pitchFamily="34" charset="0"/>
              <a:cs typeface="Calibri" panose="020F0502020204030204" pitchFamily="34" charset="0"/>
            </a:rPr>
            <a:t>Construction de l’objet et proposition de théories</a:t>
          </a:r>
          <a:endParaRPr lang="fr-FR" sz="1800" dirty="0"/>
        </a:p>
      </dgm:t>
    </dgm:pt>
    <dgm:pt modelId="{802BE609-2DA8-4EE6-9FEE-39F918C4C9DB}" type="parTrans" cxnId="{0412694B-C7FE-484F-91C4-2003EFA6D2D2}">
      <dgm:prSet/>
      <dgm:spPr/>
      <dgm:t>
        <a:bodyPr/>
        <a:lstStyle/>
        <a:p>
          <a:endParaRPr lang="fr-FR" sz="1900"/>
        </a:p>
      </dgm:t>
    </dgm:pt>
    <dgm:pt modelId="{79B8AE65-7482-462D-809F-1CE769EAC9F8}" type="sibTrans" cxnId="{0412694B-C7FE-484F-91C4-2003EFA6D2D2}">
      <dgm:prSet/>
      <dgm:spPr/>
      <dgm:t>
        <a:bodyPr/>
        <a:lstStyle/>
        <a:p>
          <a:endParaRPr lang="fr-FR" sz="1900"/>
        </a:p>
      </dgm:t>
    </dgm:pt>
    <dgm:pt modelId="{967A6AF3-E4D0-4742-9A19-AA390D7D93B3}">
      <dgm:prSet phldrT="[Texte]" custT="1"/>
      <dgm:spPr/>
      <dgm:t>
        <a:bodyPr/>
        <a:lstStyle/>
        <a:p>
          <a:pPr algn="just"/>
          <a:r>
            <a:rPr lang="fr-CI" sz="1900" b="1" dirty="0">
              <a:latin typeface="Calibri" panose="020F0502020204030204" pitchFamily="34" charset="0"/>
              <a:cs typeface="Calibri" panose="020F0502020204030204" pitchFamily="34" charset="0"/>
            </a:rPr>
            <a:t>Lorsque nous disons que la construction est l’un des aspects fondamentaux de la méthode scientifique,</a:t>
          </a:r>
          <a:r>
            <a:rPr lang="fr-CI" sz="1900" dirty="0">
              <a:latin typeface="Calibri" panose="020F0502020204030204" pitchFamily="34" charset="0"/>
              <a:cs typeface="Calibri" panose="020F0502020204030204" pitchFamily="34" charset="0"/>
            </a:rPr>
            <a:t> nous visons le contexte dans lequel les théories sont bâties : quels sont les problèmes qu’elles sont censées résoudre, quel est le type de théories choisi et pour quoi. Ainsi c’est par la construction des objets et des théories de la science que nous pouvons envisager avec des chances de succès la vérification de leur validité.</a:t>
          </a:r>
          <a:endParaRPr lang="fr-FR" sz="1900" dirty="0"/>
        </a:p>
      </dgm:t>
    </dgm:pt>
    <dgm:pt modelId="{072D0857-E709-46CA-B449-40580B4A2AF8}" type="parTrans" cxnId="{7D7F0D6B-8640-4941-A474-C0C684238B77}">
      <dgm:prSet/>
      <dgm:spPr/>
      <dgm:t>
        <a:bodyPr/>
        <a:lstStyle/>
        <a:p>
          <a:endParaRPr lang="fr-FR" sz="1900"/>
        </a:p>
      </dgm:t>
    </dgm:pt>
    <dgm:pt modelId="{0B5381AB-BFA0-44E9-A3AB-01EBF919B3E4}" type="sibTrans" cxnId="{7D7F0D6B-8640-4941-A474-C0C684238B77}">
      <dgm:prSet/>
      <dgm:spPr/>
      <dgm:t>
        <a:bodyPr/>
        <a:lstStyle/>
        <a:p>
          <a:endParaRPr lang="fr-FR" sz="1900"/>
        </a:p>
      </dgm:t>
    </dgm:pt>
    <dgm:pt modelId="{EE8CC2CE-8599-4C3E-A7F5-4DC1F2A89907}" type="pres">
      <dgm:prSet presAssocID="{F52A574C-D394-4925-BDE4-75CFB744F299}" presName="linearFlow" presStyleCnt="0">
        <dgm:presLayoutVars>
          <dgm:dir/>
          <dgm:animLvl val="lvl"/>
          <dgm:resizeHandles val="exact"/>
        </dgm:presLayoutVars>
      </dgm:prSet>
      <dgm:spPr/>
    </dgm:pt>
    <dgm:pt modelId="{4AED3105-F3D9-4C61-9ECB-8C5D2C911BE3}" type="pres">
      <dgm:prSet presAssocID="{99241B34-C66A-4A80-BFD8-3530362D2A90}" presName="composite" presStyleCnt="0"/>
      <dgm:spPr/>
    </dgm:pt>
    <dgm:pt modelId="{B728CF91-D46F-476C-A8A0-672538116E80}" type="pres">
      <dgm:prSet presAssocID="{99241B34-C66A-4A80-BFD8-3530362D2A90}" presName="parentText" presStyleLbl="alignNode1" presStyleIdx="0" presStyleCnt="2" custScaleX="109617">
        <dgm:presLayoutVars>
          <dgm:chMax val="1"/>
          <dgm:bulletEnabled val="1"/>
        </dgm:presLayoutVars>
      </dgm:prSet>
      <dgm:spPr/>
    </dgm:pt>
    <dgm:pt modelId="{26364971-78E7-4FBD-8E0E-3F8A84BFA235}" type="pres">
      <dgm:prSet presAssocID="{99241B34-C66A-4A80-BFD8-3530362D2A90}" presName="descendantText" presStyleLbl="alignAcc1" presStyleIdx="0" presStyleCnt="2" custLinFactNeighborX="0" custLinFactNeighborY="-5128">
        <dgm:presLayoutVars>
          <dgm:bulletEnabled val="1"/>
        </dgm:presLayoutVars>
      </dgm:prSet>
      <dgm:spPr/>
    </dgm:pt>
    <dgm:pt modelId="{B6FC3BC8-13FE-41B9-ACC6-7D700BB86331}" type="pres">
      <dgm:prSet presAssocID="{A0C916EB-670B-4FC2-95E8-98F66CFF1B0E}" presName="sp" presStyleCnt="0"/>
      <dgm:spPr/>
    </dgm:pt>
    <dgm:pt modelId="{75527FD1-7C72-4D27-AC6B-F5AA70DAC871}" type="pres">
      <dgm:prSet presAssocID="{ED729F69-E80E-4B6E-8120-E679A1C95DEC}" presName="composite" presStyleCnt="0"/>
      <dgm:spPr/>
    </dgm:pt>
    <dgm:pt modelId="{49FA342D-9EC3-4ADB-BE2A-7C408DAFC16F}" type="pres">
      <dgm:prSet presAssocID="{ED729F69-E80E-4B6E-8120-E679A1C95DEC}" presName="parentText" presStyleLbl="alignNode1" presStyleIdx="1" presStyleCnt="2" custScaleX="106892" custLinFactNeighborY="-11132">
        <dgm:presLayoutVars>
          <dgm:chMax val="1"/>
          <dgm:bulletEnabled val="1"/>
        </dgm:presLayoutVars>
      </dgm:prSet>
      <dgm:spPr/>
    </dgm:pt>
    <dgm:pt modelId="{866029F1-8DE4-4781-B6C3-2AFB6752E50B}" type="pres">
      <dgm:prSet presAssocID="{ED729F69-E80E-4B6E-8120-E679A1C95DEC}" presName="descendantText" presStyleLbl="alignAcc1" presStyleIdx="1" presStyleCnt="2" custScaleY="127833" custLinFactNeighborY="-17138">
        <dgm:presLayoutVars>
          <dgm:bulletEnabled val="1"/>
        </dgm:presLayoutVars>
      </dgm:prSet>
      <dgm:spPr/>
    </dgm:pt>
  </dgm:ptLst>
  <dgm:cxnLst>
    <dgm:cxn modelId="{1E2E4828-A7C6-4ABF-A276-A7961544B3D1}" type="presOf" srcId="{967A6AF3-E4D0-4742-9A19-AA390D7D93B3}" destId="{866029F1-8DE4-4781-B6C3-2AFB6752E50B}" srcOrd="0" destOrd="0" presId="urn:microsoft.com/office/officeart/2005/8/layout/chevron2"/>
    <dgm:cxn modelId="{7D7F0D6B-8640-4941-A474-C0C684238B77}" srcId="{ED729F69-E80E-4B6E-8120-E679A1C95DEC}" destId="{967A6AF3-E4D0-4742-9A19-AA390D7D93B3}" srcOrd="0" destOrd="0" parTransId="{072D0857-E709-46CA-B449-40580B4A2AF8}" sibTransId="{0B5381AB-BFA0-44E9-A3AB-01EBF919B3E4}"/>
    <dgm:cxn modelId="{0412694B-C7FE-484F-91C4-2003EFA6D2D2}" srcId="{F52A574C-D394-4925-BDE4-75CFB744F299}" destId="{ED729F69-E80E-4B6E-8120-E679A1C95DEC}" srcOrd="1" destOrd="0" parTransId="{802BE609-2DA8-4EE6-9FEE-39F918C4C9DB}" sibTransId="{79B8AE65-7482-462D-809F-1CE769EAC9F8}"/>
    <dgm:cxn modelId="{4339B48E-9942-4E64-BEAD-BC3BE2817087}" type="presOf" srcId="{99241B34-C66A-4A80-BFD8-3530362D2A90}" destId="{B728CF91-D46F-476C-A8A0-672538116E80}" srcOrd="0" destOrd="0" presId="urn:microsoft.com/office/officeart/2005/8/layout/chevron2"/>
    <dgm:cxn modelId="{1A72DE8F-2653-4AC4-AADE-C663B47A5878}" srcId="{F52A574C-D394-4925-BDE4-75CFB744F299}" destId="{99241B34-C66A-4A80-BFD8-3530362D2A90}" srcOrd="0" destOrd="0" parTransId="{A98B9BCE-E80F-40F6-BDBF-CFF93FB78E75}" sibTransId="{A0C916EB-670B-4FC2-95E8-98F66CFF1B0E}"/>
    <dgm:cxn modelId="{3458B69A-767E-4A72-9A25-84CEB5ECED38}" srcId="{99241B34-C66A-4A80-BFD8-3530362D2A90}" destId="{FFBFB9F2-1E47-4F0F-AA47-D295FA3DD99D}" srcOrd="0" destOrd="0" parTransId="{D0C3775C-2E4E-4D34-A38D-4C712A623F41}" sibTransId="{75B06032-08F2-45F9-B6A2-31FEBFBB5C1E}"/>
    <dgm:cxn modelId="{B664C9A9-FD5B-4C8C-A581-C0C737CA4C45}" type="presOf" srcId="{F52A574C-D394-4925-BDE4-75CFB744F299}" destId="{EE8CC2CE-8599-4C3E-A7F5-4DC1F2A89907}" srcOrd="0" destOrd="0" presId="urn:microsoft.com/office/officeart/2005/8/layout/chevron2"/>
    <dgm:cxn modelId="{69836CE6-8F5C-48B7-B671-FDC313B76942}" type="presOf" srcId="{FFBFB9F2-1E47-4F0F-AA47-D295FA3DD99D}" destId="{26364971-78E7-4FBD-8E0E-3F8A84BFA235}" srcOrd="0" destOrd="0" presId="urn:microsoft.com/office/officeart/2005/8/layout/chevron2"/>
    <dgm:cxn modelId="{D28A9CFA-EBDF-477B-9C24-606D207167EF}" type="presOf" srcId="{ED729F69-E80E-4B6E-8120-E679A1C95DEC}" destId="{49FA342D-9EC3-4ADB-BE2A-7C408DAFC16F}" srcOrd="0" destOrd="0" presId="urn:microsoft.com/office/officeart/2005/8/layout/chevron2"/>
    <dgm:cxn modelId="{61D8B91D-8F08-4952-B0FC-117E605B99B8}" type="presParOf" srcId="{EE8CC2CE-8599-4C3E-A7F5-4DC1F2A89907}" destId="{4AED3105-F3D9-4C61-9ECB-8C5D2C911BE3}" srcOrd="0" destOrd="0" presId="urn:microsoft.com/office/officeart/2005/8/layout/chevron2"/>
    <dgm:cxn modelId="{89B423D1-88E1-4FE5-8A57-E6539B1A9AF4}" type="presParOf" srcId="{4AED3105-F3D9-4C61-9ECB-8C5D2C911BE3}" destId="{B728CF91-D46F-476C-A8A0-672538116E80}" srcOrd="0" destOrd="0" presId="urn:microsoft.com/office/officeart/2005/8/layout/chevron2"/>
    <dgm:cxn modelId="{286D0A14-9505-4CE5-8FBF-2041D4DC56F1}" type="presParOf" srcId="{4AED3105-F3D9-4C61-9ECB-8C5D2C911BE3}" destId="{26364971-78E7-4FBD-8E0E-3F8A84BFA235}" srcOrd="1" destOrd="0" presId="urn:microsoft.com/office/officeart/2005/8/layout/chevron2"/>
    <dgm:cxn modelId="{2A33DB1C-79D6-4CD0-9C6A-E55648CC61AC}" type="presParOf" srcId="{EE8CC2CE-8599-4C3E-A7F5-4DC1F2A89907}" destId="{B6FC3BC8-13FE-41B9-ACC6-7D700BB86331}" srcOrd="1" destOrd="0" presId="urn:microsoft.com/office/officeart/2005/8/layout/chevron2"/>
    <dgm:cxn modelId="{27AE537C-68E3-408C-AEA5-03E08D0F163B}" type="presParOf" srcId="{EE8CC2CE-8599-4C3E-A7F5-4DC1F2A89907}" destId="{75527FD1-7C72-4D27-AC6B-F5AA70DAC871}" srcOrd="2" destOrd="0" presId="urn:microsoft.com/office/officeart/2005/8/layout/chevron2"/>
    <dgm:cxn modelId="{088E8047-6689-4973-B9F5-8EB19AF9306B}" type="presParOf" srcId="{75527FD1-7C72-4D27-AC6B-F5AA70DAC871}" destId="{49FA342D-9EC3-4ADB-BE2A-7C408DAFC16F}" srcOrd="0" destOrd="0" presId="urn:microsoft.com/office/officeart/2005/8/layout/chevron2"/>
    <dgm:cxn modelId="{DC916BF1-2BA2-4121-BC06-F77EB388FD0D}" type="presParOf" srcId="{75527FD1-7C72-4D27-AC6B-F5AA70DAC871}" destId="{866029F1-8DE4-4781-B6C3-2AFB6752E50B}"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23F23490-AF33-45AB-A536-F5D2A12A37F9}" type="doc">
      <dgm:prSet loTypeId="urn:microsoft.com/office/officeart/2005/8/layout/default" loCatId="list" qsTypeId="urn:microsoft.com/office/officeart/2005/8/quickstyle/simple5" qsCatId="simple" csTypeId="urn:microsoft.com/office/officeart/2005/8/colors/accent1_2" csCatId="accent1" phldr="1"/>
      <dgm:spPr>
        <a:scene3d>
          <a:camera prst="perspectiveContrastingRightFacing" fov="2400000">
            <a:rot lat="0" lon="21000000" rev="0"/>
          </a:camera>
          <a:lightRig rig="threePt" dir="t"/>
        </a:scene3d>
      </dgm:spPr>
      <dgm:t>
        <a:bodyPr/>
        <a:lstStyle/>
        <a:p>
          <a:endParaRPr lang="fr-FR"/>
        </a:p>
      </dgm:t>
    </dgm:pt>
    <dgm:pt modelId="{30A17301-9312-4E4B-B00A-A254658EC524}">
      <dgm:prSet phldrT="[Texte]" custT="1"/>
      <dgm:spPr>
        <a:solidFill>
          <a:schemeClr val="tx1">
            <a:lumMod val="85000"/>
            <a:lumOff val="15000"/>
          </a:schemeClr>
        </a:solidFill>
      </dgm:spPr>
      <dgm:t>
        <a:bodyPr/>
        <a:lstStyle/>
        <a:p>
          <a:pPr algn="just"/>
          <a:r>
            <a:rPr lang="fr-CI" sz="1900" dirty="0">
              <a:latin typeface="Calibri" panose="020F0502020204030204" pitchFamily="34" charset="0"/>
              <a:cs typeface="Calibri" panose="020F0502020204030204" pitchFamily="34" charset="0"/>
            </a:rPr>
            <a:t>Les résultats de l’application de la méthode scientifique à une discipline sont les constructions scientifiques qui se présentent habituellement comme un ensemble de propositions, de modèles et de théories. La loi d’Ohm ou la théorie de la relativité d’Einstein son des constructions de ce type.</a:t>
          </a:r>
          <a:endParaRPr lang="fr-FR" sz="1900" dirty="0">
            <a:latin typeface="Calibri" panose="020F0502020204030204" pitchFamily="34" charset="0"/>
            <a:cs typeface="Calibri" panose="020F0502020204030204" pitchFamily="34" charset="0"/>
          </a:endParaRPr>
        </a:p>
      </dgm:t>
    </dgm:pt>
    <dgm:pt modelId="{CDD7BD92-634C-4CF6-B3D8-4A9714CD122A}" type="parTrans" cxnId="{E3D1AEFB-4A22-4B2B-8B63-FD954581B4F6}">
      <dgm:prSet/>
      <dgm:spPr/>
      <dgm:t>
        <a:bodyPr/>
        <a:lstStyle/>
        <a:p>
          <a:endParaRPr lang="fr-FR"/>
        </a:p>
      </dgm:t>
    </dgm:pt>
    <dgm:pt modelId="{4829C33C-3F8E-4F3F-8769-55EAE4541B4B}" type="sibTrans" cxnId="{E3D1AEFB-4A22-4B2B-8B63-FD954581B4F6}">
      <dgm:prSet/>
      <dgm:spPr/>
      <dgm:t>
        <a:bodyPr/>
        <a:lstStyle/>
        <a:p>
          <a:endParaRPr lang="fr-FR"/>
        </a:p>
      </dgm:t>
    </dgm:pt>
    <dgm:pt modelId="{03EC5E20-F71C-4205-B849-95BFC15F90F3}">
      <dgm:prSet phldrT="[Texte]" custT="1"/>
      <dgm:spPr/>
      <dgm:t>
        <a:bodyPr/>
        <a:lstStyle/>
        <a:p>
          <a:pPr algn="just"/>
          <a:r>
            <a:rPr lang="fr-CI" sz="1900" dirty="0">
              <a:latin typeface="Calibri" panose="020F0502020204030204" pitchFamily="34" charset="0"/>
              <a:cs typeface="Calibri" panose="020F0502020204030204" pitchFamily="34" charset="0"/>
            </a:rPr>
            <a:t>Très souvent, lorsque nous parlons de la science en général, ou d’une science particulière, nous sommes en train de parler, parfois sans nous en rendre compte, de l’ensemble des constructions qui appartiennent à cette science</a:t>
          </a:r>
          <a:r>
            <a:rPr lang="fr-CI" sz="1900" dirty="0"/>
            <a:t>.</a:t>
          </a:r>
          <a:endParaRPr lang="fr-FR" sz="1900" dirty="0"/>
        </a:p>
      </dgm:t>
    </dgm:pt>
    <dgm:pt modelId="{72F3A649-A2A6-4C33-B600-5F71721A1B7D}" type="parTrans" cxnId="{20ABE253-13B2-4B24-950C-BD055D44C8B9}">
      <dgm:prSet/>
      <dgm:spPr/>
      <dgm:t>
        <a:bodyPr/>
        <a:lstStyle/>
        <a:p>
          <a:endParaRPr lang="fr-FR"/>
        </a:p>
      </dgm:t>
    </dgm:pt>
    <dgm:pt modelId="{E5BB288F-091D-4A53-B676-763C0E797C18}" type="sibTrans" cxnId="{20ABE253-13B2-4B24-950C-BD055D44C8B9}">
      <dgm:prSet/>
      <dgm:spPr/>
      <dgm:t>
        <a:bodyPr/>
        <a:lstStyle/>
        <a:p>
          <a:endParaRPr lang="fr-FR"/>
        </a:p>
      </dgm:t>
    </dgm:pt>
    <dgm:pt modelId="{ABC602BD-A708-449B-8C9C-BA921F90DF06}">
      <dgm:prSet phldrT="[Texte]" custT="1"/>
      <dgm:spPr>
        <a:solidFill>
          <a:schemeClr val="bg1">
            <a:lumMod val="85000"/>
          </a:schemeClr>
        </a:solidFill>
      </dgm:spPr>
      <dgm:t>
        <a:bodyPr/>
        <a:lstStyle/>
        <a:p>
          <a:pPr algn="just"/>
          <a:r>
            <a:rPr lang="fr-CI" sz="1900" dirty="0">
              <a:solidFill>
                <a:schemeClr val="tx1"/>
              </a:solidFill>
              <a:latin typeface="Calibri" panose="020F0502020204030204" pitchFamily="34" charset="0"/>
              <a:cs typeface="Calibri" panose="020F0502020204030204" pitchFamily="34" charset="0"/>
            </a:rPr>
            <a:t>Des équivoques se produisent souvent lorsque l’on perd de vue que les constructions scientifiques doivent être interprétées dans le contexte des objectifs et des méthodes qui leur donnent une signification.</a:t>
          </a:r>
          <a:endParaRPr lang="fr-FR" sz="1900" dirty="0">
            <a:solidFill>
              <a:schemeClr val="tx1"/>
            </a:solidFill>
            <a:latin typeface="Calibri" panose="020F0502020204030204" pitchFamily="34" charset="0"/>
            <a:cs typeface="Calibri" panose="020F0502020204030204" pitchFamily="34" charset="0"/>
          </a:endParaRPr>
        </a:p>
      </dgm:t>
    </dgm:pt>
    <dgm:pt modelId="{DAC8BA73-198A-422C-B10C-090DD9779969}" type="parTrans" cxnId="{4E44D558-7409-4CD7-94D4-8524A7BA7839}">
      <dgm:prSet/>
      <dgm:spPr/>
      <dgm:t>
        <a:bodyPr/>
        <a:lstStyle/>
        <a:p>
          <a:endParaRPr lang="fr-FR"/>
        </a:p>
      </dgm:t>
    </dgm:pt>
    <dgm:pt modelId="{5759C21E-4375-44FC-9EE1-79A9148F96C1}" type="sibTrans" cxnId="{4E44D558-7409-4CD7-94D4-8524A7BA7839}">
      <dgm:prSet/>
      <dgm:spPr/>
      <dgm:t>
        <a:bodyPr/>
        <a:lstStyle/>
        <a:p>
          <a:endParaRPr lang="fr-FR"/>
        </a:p>
      </dgm:t>
    </dgm:pt>
    <dgm:pt modelId="{9AA15ADD-8CE3-4CCA-9101-4BCA5D693293}" type="pres">
      <dgm:prSet presAssocID="{23F23490-AF33-45AB-A536-F5D2A12A37F9}" presName="diagram" presStyleCnt="0">
        <dgm:presLayoutVars>
          <dgm:dir/>
          <dgm:resizeHandles val="exact"/>
        </dgm:presLayoutVars>
      </dgm:prSet>
      <dgm:spPr/>
    </dgm:pt>
    <dgm:pt modelId="{D8847387-F643-4280-A4AC-05EA74BF79C2}" type="pres">
      <dgm:prSet presAssocID="{30A17301-9312-4E4B-B00A-A254658EC524}" presName="node" presStyleLbl="node1" presStyleIdx="0" presStyleCnt="3" custScaleX="99167" custScaleY="103275" custLinFactNeighborX="2038" custLinFactNeighborY="-38226">
        <dgm:presLayoutVars>
          <dgm:bulletEnabled val="1"/>
        </dgm:presLayoutVars>
      </dgm:prSet>
      <dgm:spPr/>
    </dgm:pt>
    <dgm:pt modelId="{9480563A-4A15-4097-830A-B5B415B22543}" type="pres">
      <dgm:prSet presAssocID="{4829C33C-3F8E-4F3F-8769-55EAE4541B4B}" presName="sibTrans" presStyleCnt="0"/>
      <dgm:spPr/>
    </dgm:pt>
    <dgm:pt modelId="{2CF680E5-81D1-493A-B98D-F499BD9876E8}" type="pres">
      <dgm:prSet presAssocID="{03EC5E20-F71C-4205-B849-95BFC15F90F3}" presName="node" presStyleLbl="node1" presStyleIdx="1" presStyleCnt="3" custLinFactNeighborX="-1566" custLinFactNeighborY="31348">
        <dgm:presLayoutVars>
          <dgm:bulletEnabled val="1"/>
        </dgm:presLayoutVars>
      </dgm:prSet>
      <dgm:spPr/>
    </dgm:pt>
    <dgm:pt modelId="{585D39A6-A732-4251-B45D-668592311B76}" type="pres">
      <dgm:prSet presAssocID="{E5BB288F-091D-4A53-B676-763C0E797C18}" presName="sibTrans" presStyleCnt="0"/>
      <dgm:spPr/>
    </dgm:pt>
    <dgm:pt modelId="{FDE69EAB-57AD-4698-9380-52C70549AAD1}" type="pres">
      <dgm:prSet presAssocID="{ABC602BD-A708-449B-8C9C-BA921F90DF06}" presName="node" presStyleLbl="node1" presStyleIdx="2" presStyleCnt="3" custLinFactNeighborX="-4283" custLinFactNeighborY="-37084">
        <dgm:presLayoutVars>
          <dgm:bulletEnabled val="1"/>
        </dgm:presLayoutVars>
      </dgm:prSet>
      <dgm:spPr/>
    </dgm:pt>
  </dgm:ptLst>
  <dgm:cxnLst>
    <dgm:cxn modelId="{D3AD154B-CD7B-44CF-8726-A45DDD89030F}" type="presOf" srcId="{03EC5E20-F71C-4205-B849-95BFC15F90F3}" destId="{2CF680E5-81D1-493A-B98D-F499BD9876E8}" srcOrd="0" destOrd="0" presId="urn:microsoft.com/office/officeart/2005/8/layout/default"/>
    <dgm:cxn modelId="{20ABE253-13B2-4B24-950C-BD055D44C8B9}" srcId="{23F23490-AF33-45AB-A536-F5D2A12A37F9}" destId="{03EC5E20-F71C-4205-B849-95BFC15F90F3}" srcOrd="1" destOrd="0" parTransId="{72F3A649-A2A6-4C33-B600-5F71721A1B7D}" sibTransId="{E5BB288F-091D-4A53-B676-763C0E797C18}"/>
    <dgm:cxn modelId="{4E44D558-7409-4CD7-94D4-8524A7BA7839}" srcId="{23F23490-AF33-45AB-A536-F5D2A12A37F9}" destId="{ABC602BD-A708-449B-8C9C-BA921F90DF06}" srcOrd="2" destOrd="0" parTransId="{DAC8BA73-198A-422C-B10C-090DD9779969}" sibTransId="{5759C21E-4375-44FC-9EE1-79A9148F96C1}"/>
    <dgm:cxn modelId="{CE00EC8F-E737-454E-A1E1-B0C564CEAA9C}" type="presOf" srcId="{30A17301-9312-4E4B-B00A-A254658EC524}" destId="{D8847387-F643-4280-A4AC-05EA74BF79C2}" srcOrd="0" destOrd="0" presId="urn:microsoft.com/office/officeart/2005/8/layout/default"/>
    <dgm:cxn modelId="{196AECC3-03D9-4DC1-9FE8-528727E6B610}" type="presOf" srcId="{23F23490-AF33-45AB-A536-F5D2A12A37F9}" destId="{9AA15ADD-8CE3-4CCA-9101-4BCA5D693293}" srcOrd="0" destOrd="0" presId="urn:microsoft.com/office/officeart/2005/8/layout/default"/>
    <dgm:cxn modelId="{AA702ECE-7638-41AD-801F-D54BB59E831A}" type="presOf" srcId="{ABC602BD-A708-449B-8C9C-BA921F90DF06}" destId="{FDE69EAB-57AD-4698-9380-52C70549AAD1}" srcOrd="0" destOrd="0" presId="urn:microsoft.com/office/officeart/2005/8/layout/default"/>
    <dgm:cxn modelId="{E3D1AEFB-4A22-4B2B-8B63-FD954581B4F6}" srcId="{23F23490-AF33-45AB-A536-F5D2A12A37F9}" destId="{30A17301-9312-4E4B-B00A-A254658EC524}" srcOrd="0" destOrd="0" parTransId="{CDD7BD92-634C-4CF6-B3D8-4A9714CD122A}" sibTransId="{4829C33C-3F8E-4F3F-8769-55EAE4541B4B}"/>
    <dgm:cxn modelId="{0C04E6FD-2E58-4EE6-9FBE-AA783ADFFAE1}" type="presParOf" srcId="{9AA15ADD-8CE3-4CCA-9101-4BCA5D693293}" destId="{D8847387-F643-4280-A4AC-05EA74BF79C2}" srcOrd="0" destOrd="0" presId="urn:microsoft.com/office/officeart/2005/8/layout/default"/>
    <dgm:cxn modelId="{56D24B90-4A35-433F-8426-4E75338B1E0F}" type="presParOf" srcId="{9AA15ADD-8CE3-4CCA-9101-4BCA5D693293}" destId="{9480563A-4A15-4097-830A-B5B415B22543}" srcOrd="1" destOrd="0" presId="urn:microsoft.com/office/officeart/2005/8/layout/default"/>
    <dgm:cxn modelId="{C67BCE73-BF54-46FC-81C2-D0CA615D366A}" type="presParOf" srcId="{9AA15ADD-8CE3-4CCA-9101-4BCA5D693293}" destId="{2CF680E5-81D1-493A-B98D-F499BD9876E8}" srcOrd="2" destOrd="0" presId="urn:microsoft.com/office/officeart/2005/8/layout/default"/>
    <dgm:cxn modelId="{1F79D761-5628-414C-82CE-FE8211EB94CA}" type="presParOf" srcId="{9AA15ADD-8CE3-4CCA-9101-4BCA5D693293}" destId="{585D39A6-A732-4251-B45D-668592311B76}" srcOrd="3" destOrd="0" presId="urn:microsoft.com/office/officeart/2005/8/layout/default"/>
    <dgm:cxn modelId="{19963920-C4D4-4857-A28E-23618A1E9DD4}" type="presParOf" srcId="{9AA15ADD-8CE3-4CCA-9101-4BCA5D693293}" destId="{FDE69EAB-57AD-4698-9380-52C70549AAD1}"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E2AB658F-B590-4C18-A25B-1E8A8B3B3E2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83191F6A-A0E7-4661-84C2-537F61EE743A}" type="pres">
      <dgm:prSet presAssocID="{E2AB658F-B590-4C18-A25B-1E8A8B3B3E27}" presName="linear" presStyleCnt="0">
        <dgm:presLayoutVars>
          <dgm:animLvl val="lvl"/>
          <dgm:resizeHandles val="exact"/>
        </dgm:presLayoutVars>
      </dgm:prSet>
      <dgm:spPr/>
    </dgm:pt>
  </dgm:ptLst>
  <dgm:cxnLst>
    <dgm:cxn modelId="{31B2E3A3-8B4C-4561-BB6F-83973542DF5D}" type="presOf" srcId="{E2AB658F-B590-4C18-A25B-1E8A8B3B3E27}" destId="{83191F6A-A0E7-4661-84C2-537F61EE743A}"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48CDD085-329C-4D45-ADF7-586E074E1718}" type="doc">
      <dgm:prSet loTypeId="urn:microsoft.com/office/officeart/2005/8/layout/vList2" loCatId="list" qsTypeId="urn:microsoft.com/office/officeart/2005/8/quickstyle/simple5" qsCatId="simple" csTypeId="urn:microsoft.com/office/officeart/2005/8/colors/accent1_2" csCatId="accent1" phldr="1"/>
      <dgm:spPr/>
      <dgm:t>
        <a:bodyPr/>
        <a:lstStyle/>
        <a:p>
          <a:endParaRPr lang="fr-FR"/>
        </a:p>
      </dgm:t>
    </dgm:pt>
    <dgm:pt modelId="{020204DA-C268-4771-A7FF-43F7612A2CBF}">
      <dgm:prSet phldrT="[Texte]" custT="1"/>
      <dgm:spPr/>
      <dgm:t>
        <a:bodyPr/>
        <a:lstStyle/>
        <a:p>
          <a:pPr algn="just"/>
          <a:r>
            <a:rPr lang="fr-CI" sz="1900" dirty="0">
              <a:latin typeface="Calibri" panose="020F0502020204030204" pitchFamily="34" charset="0"/>
              <a:cs typeface="Calibri" panose="020F0502020204030204" pitchFamily="34" charset="0"/>
            </a:rPr>
            <a:t>Le premier consiste en affirmer que la théorie de la relativité a démontré qu’au fond, tout est de l’énergie « concentrée », parce que l’on a vérifié l’équivalence entre la matière et l’énergie. </a:t>
          </a:r>
          <a:endParaRPr lang="fr-FR" sz="1900" dirty="0">
            <a:latin typeface="Calibri" panose="020F0502020204030204" pitchFamily="34" charset="0"/>
            <a:cs typeface="Calibri" panose="020F0502020204030204" pitchFamily="34" charset="0"/>
          </a:endParaRPr>
        </a:p>
      </dgm:t>
    </dgm:pt>
    <dgm:pt modelId="{C6BD8D8D-801D-4404-9006-942A3FAFA4A0}" type="parTrans" cxnId="{51A193AC-D8FC-4DF2-AD04-4D7FC538227D}">
      <dgm:prSet/>
      <dgm:spPr/>
      <dgm:t>
        <a:bodyPr/>
        <a:lstStyle/>
        <a:p>
          <a:pPr algn="just"/>
          <a:endParaRPr lang="fr-FR"/>
        </a:p>
      </dgm:t>
    </dgm:pt>
    <dgm:pt modelId="{4DA89B41-F3F8-42EF-8EC4-45F635A4C2F6}" type="sibTrans" cxnId="{51A193AC-D8FC-4DF2-AD04-4D7FC538227D}">
      <dgm:prSet/>
      <dgm:spPr/>
      <dgm:t>
        <a:bodyPr/>
        <a:lstStyle/>
        <a:p>
          <a:pPr algn="just"/>
          <a:endParaRPr lang="fr-FR"/>
        </a:p>
      </dgm:t>
    </dgm:pt>
    <dgm:pt modelId="{65FBDCA1-7A9B-4EB6-B1FE-24B98E68CEFF}">
      <dgm:prSet phldrT="[Texte]" custT="1"/>
      <dgm:spPr/>
      <dgm:t>
        <a:bodyPr/>
        <a:lstStyle/>
        <a:p>
          <a:pPr algn="just"/>
          <a:r>
            <a:rPr lang="fr-CI" sz="1900" dirty="0">
              <a:latin typeface="Calibri" panose="020F0502020204030204" pitchFamily="34" charset="0"/>
              <a:cs typeface="Calibri" panose="020F0502020204030204" pitchFamily="34" charset="0"/>
            </a:rPr>
            <a:t>En réalité, ce que cette théorie dit c’est qu’il y a un rapport entre les grandeurs « masse » (concept qui n’est pas équivalent à celui de « matière ») et « énergie » (concept bien défini dans un contexte précis, et qui n’est pas non plus équivalent à l’idée intuitive correspondante), en prenant ces deux grandeurs telles qu’elles sont définies dans la physique mathématique.</a:t>
          </a:r>
          <a:endParaRPr lang="fr-FR" sz="1900" dirty="0">
            <a:latin typeface="Calibri" panose="020F0502020204030204" pitchFamily="34" charset="0"/>
            <a:cs typeface="Calibri" panose="020F0502020204030204" pitchFamily="34" charset="0"/>
          </a:endParaRPr>
        </a:p>
      </dgm:t>
    </dgm:pt>
    <dgm:pt modelId="{C9CE91E3-D602-40C6-9289-7ADDDAEA6802}" type="parTrans" cxnId="{78B1C01F-6F72-420F-AD79-AD496299D0DB}">
      <dgm:prSet/>
      <dgm:spPr/>
      <dgm:t>
        <a:bodyPr/>
        <a:lstStyle/>
        <a:p>
          <a:pPr algn="just"/>
          <a:endParaRPr lang="fr-FR"/>
        </a:p>
      </dgm:t>
    </dgm:pt>
    <dgm:pt modelId="{4FE8B510-ABA7-4F4C-9F88-A56A0CAC1472}" type="sibTrans" cxnId="{78B1C01F-6F72-420F-AD79-AD496299D0DB}">
      <dgm:prSet/>
      <dgm:spPr/>
      <dgm:t>
        <a:bodyPr/>
        <a:lstStyle/>
        <a:p>
          <a:pPr algn="just"/>
          <a:endParaRPr lang="fr-FR"/>
        </a:p>
      </dgm:t>
    </dgm:pt>
    <dgm:pt modelId="{C71EC509-9E16-4B28-9DAB-863BFA4182A6}">
      <dgm:prSet phldrT="[Texte]" custT="1"/>
      <dgm:spPr/>
      <dgm:t>
        <a:bodyPr/>
        <a:lstStyle/>
        <a:p>
          <a:pPr algn="just"/>
          <a:r>
            <a:rPr lang="fr-CI" sz="1900" dirty="0">
              <a:latin typeface="Calibri" panose="020F0502020204030204" pitchFamily="34" charset="0"/>
              <a:cs typeface="Calibri" panose="020F0502020204030204" pitchFamily="34" charset="0"/>
            </a:rPr>
            <a:t>Le deuxième consiste en affirmer que la théorie de la relativité a montré que « tout est relatif » et dépend du point de vue adopté.</a:t>
          </a:r>
          <a:endParaRPr lang="fr-FR" sz="1900" dirty="0">
            <a:latin typeface="Calibri" panose="020F0502020204030204" pitchFamily="34" charset="0"/>
            <a:cs typeface="Calibri" panose="020F0502020204030204" pitchFamily="34" charset="0"/>
          </a:endParaRPr>
        </a:p>
      </dgm:t>
    </dgm:pt>
    <dgm:pt modelId="{348291C3-FE71-47A7-8D27-71772E754C56}" type="parTrans" cxnId="{B76CD8E9-43F9-4F35-B74D-B0B3B19169DA}">
      <dgm:prSet/>
      <dgm:spPr/>
      <dgm:t>
        <a:bodyPr/>
        <a:lstStyle/>
        <a:p>
          <a:pPr algn="just"/>
          <a:endParaRPr lang="fr-FR"/>
        </a:p>
      </dgm:t>
    </dgm:pt>
    <dgm:pt modelId="{60F3CF57-6F05-48C2-BA88-FCF971B8B6C4}" type="sibTrans" cxnId="{B76CD8E9-43F9-4F35-B74D-B0B3B19169DA}">
      <dgm:prSet/>
      <dgm:spPr/>
      <dgm:t>
        <a:bodyPr/>
        <a:lstStyle/>
        <a:p>
          <a:pPr algn="just"/>
          <a:endParaRPr lang="fr-FR"/>
        </a:p>
      </dgm:t>
    </dgm:pt>
    <dgm:pt modelId="{502D7437-A6B3-48D7-80D0-ACC8406EEC29}">
      <dgm:prSet phldrT="[Texte]" custT="1"/>
      <dgm:spPr/>
      <dgm:t>
        <a:bodyPr/>
        <a:lstStyle/>
        <a:p>
          <a:pPr algn="just"/>
          <a:r>
            <a:rPr lang="fr-CI" sz="1900" dirty="0">
              <a:latin typeface="Calibri" panose="020F0502020204030204" pitchFamily="34" charset="0"/>
              <a:cs typeface="Calibri" panose="020F0502020204030204" pitchFamily="34" charset="0"/>
            </a:rPr>
            <a:t>Ce n’est pas non plus vrai. La relativité dont il est ici question concerne des systèmes de coordonnées et la théorie permet, justement, de passer d’un système à un autre en gardant la validité des lois physiques et même certaines grandeurs.</a:t>
          </a:r>
          <a:endParaRPr lang="fr-FR" sz="1900" dirty="0">
            <a:latin typeface="Calibri" panose="020F0502020204030204" pitchFamily="34" charset="0"/>
            <a:cs typeface="Calibri" panose="020F0502020204030204" pitchFamily="34" charset="0"/>
          </a:endParaRPr>
        </a:p>
      </dgm:t>
    </dgm:pt>
    <dgm:pt modelId="{76432869-DDFA-4E82-95A2-F32F7317D5AA}" type="parTrans" cxnId="{F88272C7-E876-4AA1-BC6A-7CC39293C2D1}">
      <dgm:prSet/>
      <dgm:spPr/>
      <dgm:t>
        <a:bodyPr/>
        <a:lstStyle/>
        <a:p>
          <a:pPr algn="just"/>
          <a:endParaRPr lang="fr-FR"/>
        </a:p>
      </dgm:t>
    </dgm:pt>
    <dgm:pt modelId="{588218E5-760A-497B-B45D-DD86567CE579}" type="sibTrans" cxnId="{F88272C7-E876-4AA1-BC6A-7CC39293C2D1}">
      <dgm:prSet/>
      <dgm:spPr/>
      <dgm:t>
        <a:bodyPr/>
        <a:lstStyle/>
        <a:p>
          <a:pPr algn="just"/>
          <a:endParaRPr lang="fr-FR"/>
        </a:p>
      </dgm:t>
    </dgm:pt>
    <dgm:pt modelId="{2210CB7F-2886-4ADC-BA50-DFAC701D5D5A}" type="pres">
      <dgm:prSet presAssocID="{48CDD085-329C-4D45-ADF7-586E074E1718}" presName="linear" presStyleCnt="0">
        <dgm:presLayoutVars>
          <dgm:animLvl val="lvl"/>
          <dgm:resizeHandles val="exact"/>
        </dgm:presLayoutVars>
      </dgm:prSet>
      <dgm:spPr/>
    </dgm:pt>
    <dgm:pt modelId="{694B0E4E-0FE9-412B-B188-DC60597B46EC}" type="pres">
      <dgm:prSet presAssocID="{020204DA-C268-4771-A7FF-43F7612A2CBF}" presName="parentText" presStyleLbl="node1" presStyleIdx="0" presStyleCnt="2" custScaleX="60084" custScaleY="72697" custLinFactNeighborX="-19958" custLinFactNeighborY="-62681">
        <dgm:presLayoutVars>
          <dgm:chMax val="0"/>
          <dgm:bulletEnabled val="1"/>
        </dgm:presLayoutVars>
      </dgm:prSet>
      <dgm:spPr/>
    </dgm:pt>
    <dgm:pt modelId="{B4B1DD7A-2668-4E47-8A74-4F41579F59C6}" type="pres">
      <dgm:prSet presAssocID="{020204DA-C268-4771-A7FF-43F7612A2CBF}" presName="childText" presStyleLbl="revTx" presStyleIdx="0" presStyleCnt="2" custLinFactNeighborY="-47337">
        <dgm:presLayoutVars>
          <dgm:bulletEnabled val="1"/>
        </dgm:presLayoutVars>
      </dgm:prSet>
      <dgm:spPr/>
    </dgm:pt>
    <dgm:pt modelId="{35BF8387-4FD4-4A02-A157-78289C9D1E68}" type="pres">
      <dgm:prSet presAssocID="{C71EC509-9E16-4B28-9DAB-863BFA4182A6}" presName="parentText" presStyleLbl="node1" presStyleIdx="1" presStyleCnt="2" custScaleX="60488" custScaleY="72517" custLinFactNeighborX="-19756" custLinFactNeighborY="-42427">
        <dgm:presLayoutVars>
          <dgm:chMax val="0"/>
          <dgm:bulletEnabled val="1"/>
        </dgm:presLayoutVars>
      </dgm:prSet>
      <dgm:spPr/>
    </dgm:pt>
    <dgm:pt modelId="{8008851B-C301-42A8-A3DB-F199CEC0FC29}" type="pres">
      <dgm:prSet presAssocID="{C71EC509-9E16-4B28-9DAB-863BFA4182A6}" presName="childText" presStyleLbl="revTx" presStyleIdx="1" presStyleCnt="2" custLinFactNeighborY="-20038">
        <dgm:presLayoutVars>
          <dgm:bulletEnabled val="1"/>
        </dgm:presLayoutVars>
      </dgm:prSet>
      <dgm:spPr/>
    </dgm:pt>
  </dgm:ptLst>
  <dgm:cxnLst>
    <dgm:cxn modelId="{DB8A3E0A-E6C1-4354-A9A0-E0EAF2C8949F}" type="presOf" srcId="{C71EC509-9E16-4B28-9DAB-863BFA4182A6}" destId="{35BF8387-4FD4-4A02-A157-78289C9D1E68}" srcOrd="0" destOrd="0" presId="urn:microsoft.com/office/officeart/2005/8/layout/vList2"/>
    <dgm:cxn modelId="{5A7BD61E-C01C-4E25-8E6B-B6F4FAF3B4C6}" type="presOf" srcId="{020204DA-C268-4771-A7FF-43F7612A2CBF}" destId="{694B0E4E-0FE9-412B-B188-DC60597B46EC}" srcOrd="0" destOrd="0" presId="urn:microsoft.com/office/officeart/2005/8/layout/vList2"/>
    <dgm:cxn modelId="{78B1C01F-6F72-420F-AD79-AD496299D0DB}" srcId="{020204DA-C268-4771-A7FF-43F7612A2CBF}" destId="{65FBDCA1-7A9B-4EB6-B1FE-24B98E68CEFF}" srcOrd="0" destOrd="0" parTransId="{C9CE91E3-D602-40C6-9289-7ADDDAEA6802}" sibTransId="{4FE8B510-ABA7-4F4C-9F88-A56A0CAC1472}"/>
    <dgm:cxn modelId="{C2C9C357-8EFE-49B8-9404-D2A8B6F5E6F4}" type="presOf" srcId="{502D7437-A6B3-48D7-80D0-ACC8406EEC29}" destId="{8008851B-C301-42A8-A3DB-F199CEC0FC29}" srcOrd="0" destOrd="0" presId="urn:microsoft.com/office/officeart/2005/8/layout/vList2"/>
    <dgm:cxn modelId="{40953378-D08B-4D6E-AC1A-31288E5C091C}" type="presOf" srcId="{48CDD085-329C-4D45-ADF7-586E074E1718}" destId="{2210CB7F-2886-4ADC-BA50-DFAC701D5D5A}" srcOrd="0" destOrd="0" presId="urn:microsoft.com/office/officeart/2005/8/layout/vList2"/>
    <dgm:cxn modelId="{51A193AC-D8FC-4DF2-AD04-4D7FC538227D}" srcId="{48CDD085-329C-4D45-ADF7-586E074E1718}" destId="{020204DA-C268-4771-A7FF-43F7612A2CBF}" srcOrd="0" destOrd="0" parTransId="{C6BD8D8D-801D-4404-9006-942A3FAFA4A0}" sibTransId="{4DA89B41-F3F8-42EF-8EC4-45F635A4C2F6}"/>
    <dgm:cxn modelId="{F88272C7-E876-4AA1-BC6A-7CC39293C2D1}" srcId="{C71EC509-9E16-4B28-9DAB-863BFA4182A6}" destId="{502D7437-A6B3-48D7-80D0-ACC8406EEC29}" srcOrd="0" destOrd="0" parTransId="{76432869-DDFA-4E82-95A2-F32F7317D5AA}" sibTransId="{588218E5-760A-497B-B45D-DD86567CE579}"/>
    <dgm:cxn modelId="{B76CD8E9-43F9-4F35-B74D-B0B3B19169DA}" srcId="{48CDD085-329C-4D45-ADF7-586E074E1718}" destId="{C71EC509-9E16-4B28-9DAB-863BFA4182A6}" srcOrd="1" destOrd="0" parTransId="{348291C3-FE71-47A7-8D27-71772E754C56}" sibTransId="{60F3CF57-6F05-48C2-BA88-FCF971B8B6C4}"/>
    <dgm:cxn modelId="{85B778FC-19F2-45B8-B78E-07E730BD458F}" type="presOf" srcId="{65FBDCA1-7A9B-4EB6-B1FE-24B98E68CEFF}" destId="{B4B1DD7A-2668-4E47-8A74-4F41579F59C6}" srcOrd="0" destOrd="0" presId="urn:microsoft.com/office/officeart/2005/8/layout/vList2"/>
    <dgm:cxn modelId="{F7BB6CE1-B395-428B-8764-0A09B554F904}" type="presParOf" srcId="{2210CB7F-2886-4ADC-BA50-DFAC701D5D5A}" destId="{694B0E4E-0FE9-412B-B188-DC60597B46EC}" srcOrd="0" destOrd="0" presId="urn:microsoft.com/office/officeart/2005/8/layout/vList2"/>
    <dgm:cxn modelId="{C659CD9E-DDBE-4EC3-89FD-C2499F5AD905}" type="presParOf" srcId="{2210CB7F-2886-4ADC-BA50-DFAC701D5D5A}" destId="{B4B1DD7A-2668-4E47-8A74-4F41579F59C6}" srcOrd="1" destOrd="0" presId="urn:microsoft.com/office/officeart/2005/8/layout/vList2"/>
    <dgm:cxn modelId="{0EADE6D9-EC9C-4956-8105-5C7A36D9105A}" type="presParOf" srcId="{2210CB7F-2886-4ADC-BA50-DFAC701D5D5A}" destId="{35BF8387-4FD4-4A02-A157-78289C9D1E68}" srcOrd="2" destOrd="0" presId="urn:microsoft.com/office/officeart/2005/8/layout/vList2"/>
    <dgm:cxn modelId="{B009809B-FDA4-48B3-9D76-CCD1AB2FE37C}" type="presParOf" srcId="{2210CB7F-2886-4ADC-BA50-DFAC701D5D5A}" destId="{8008851B-C301-42A8-A3DB-F199CEC0FC29}" srcOrd="3"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23F23490-AF33-45AB-A536-F5D2A12A37F9}"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fr-FR"/>
        </a:p>
      </dgm:t>
    </dgm:pt>
    <dgm:pt modelId="{9AA15ADD-8CE3-4CCA-9101-4BCA5D693293}" type="pres">
      <dgm:prSet presAssocID="{23F23490-AF33-45AB-A536-F5D2A12A37F9}" presName="diagram" presStyleCnt="0">
        <dgm:presLayoutVars>
          <dgm:dir/>
          <dgm:resizeHandles val="exact"/>
        </dgm:presLayoutVars>
      </dgm:prSet>
      <dgm:spPr/>
    </dgm:pt>
  </dgm:ptLst>
  <dgm:cxnLst>
    <dgm:cxn modelId="{196AECC3-03D9-4DC1-9FE8-528727E6B610}" type="presOf" srcId="{23F23490-AF33-45AB-A536-F5D2A12A37F9}" destId="{9AA15ADD-8CE3-4CCA-9101-4BCA5D693293}" srcOrd="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E2AB658F-B590-4C18-A25B-1E8A8B3B3E2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83191F6A-A0E7-4661-84C2-537F61EE743A}" type="pres">
      <dgm:prSet presAssocID="{E2AB658F-B590-4C18-A25B-1E8A8B3B3E27}" presName="linear" presStyleCnt="0">
        <dgm:presLayoutVars>
          <dgm:animLvl val="lvl"/>
          <dgm:resizeHandles val="exact"/>
        </dgm:presLayoutVars>
      </dgm:prSet>
      <dgm:spPr/>
    </dgm:pt>
  </dgm:ptLst>
  <dgm:cxnLst>
    <dgm:cxn modelId="{31B2E3A3-8B4C-4561-BB6F-83973542DF5D}" type="presOf" srcId="{E2AB658F-B590-4C18-A25B-1E8A8B3B3E27}" destId="{83191F6A-A0E7-4661-84C2-537F61EE743A}"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D65368BD-7C3D-4B54-8FF7-17BA041313A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2CC63DDE-DF1A-49BC-8089-40B0914A1D93}">
      <dgm:prSet phldrT="[Texte]" custT="1"/>
      <dgm:spPr/>
      <dgm:t>
        <a:bodyPr/>
        <a:lstStyle/>
        <a:p>
          <a:pPr algn="ctr"/>
          <a:r>
            <a:rPr lang="fr-CI" sz="1900" b="1" dirty="0">
              <a:solidFill>
                <a:schemeClr val="bg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Les objectifs </a:t>
          </a:r>
          <a:endParaRPr lang="fr-FR" sz="1900" b="1" dirty="0">
            <a:solidFill>
              <a:schemeClr val="bg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dgm:t>
    </dgm:pt>
    <dgm:pt modelId="{F86211FD-06CE-4379-9CFD-6F7478CFCAFD}" type="parTrans" cxnId="{D37226E6-C942-4D04-88C9-75566ECF7782}">
      <dgm:prSet/>
      <dgm:spPr/>
      <dgm:t>
        <a:bodyPr/>
        <a:lstStyle/>
        <a:p>
          <a:endParaRPr lang="fr-FR"/>
        </a:p>
      </dgm:t>
    </dgm:pt>
    <dgm:pt modelId="{67DCDE26-E688-4D72-B537-DB0EE1EEC95A}" type="sibTrans" cxnId="{D37226E6-C942-4D04-88C9-75566ECF7782}">
      <dgm:prSet/>
      <dgm:spPr/>
      <dgm:t>
        <a:bodyPr/>
        <a:lstStyle/>
        <a:p>
          <a:endParaRPr lang="fr-FR"/>
        </a:p>
      </dgm:t>
    </dgm:pt>
    <dgm:pt modelId="{09AD718F-B490-44D4-A9C0-B00845977B76}">
      <dgm:prSet phldrT="[Texte]" custT="1"/>
      <dgm:spPr/>
      <dgm:t>
        <a:bodyPr/>
        <a:lstStyle/>
        <a:p>
          <a:pPr algn="just"/>
          <a:r>
            <a:rPr lang="fr-CI" sz="1900" dirty="0">
              <a:latin typeface="Calibri" panose="020F0502020204030204" pitchFamily="34" charset="0"/>
              <a:cs typeface="Calibri" panose="020F0502020204030204" pitchFamily="34" charset="0"/>
            </a:rPr>
            <a:t>Nous avons caractérisé les sciences en fonction de leurs objectifs, ce qui suppose les considérer comme une activité humaine qui vise ces objectifs, et le reste (les méthodes et les constructions) en fonction d’eux. Il est intéressant de rappeler ici la caractérisation classique que la scolastique faisait des sciences en fonction de leurs objets, matériel, formel quod et formel quo. </a:t>
          </a:r>
          <a:endParaRPr lang="fr-FR" sz="1900" dirty="0">
            <a:latin typeface="Calibri" panose="020F0502020204030204" pitchFamily="34" charset="0"/>
            <a:cs typeface="Calibri" panose="020F0502020204030204" pitchFamily="34" charset="0"/>
          </a:endParaRPr>
        </a:p>
      </dgm:t>
    </dgm:pt>
    <dgm:pt modelId="{A6282B72-978C-4604-964E-9E8F43DB171C}" type="parTrans" cxnId="{3238E2FB-98DB-4389-AEC6-2EC3066BB452}">
      <dgm:prSet/>
      <dgm:spPr/>
      <dgm:t>
        <a:bodyPr/>
        <a:lstStyle/>
        <a:p>
          <a:endParaRPr lang="fr-FR"/>
        </a:p>
      </dgm:t>
    </dgm:pt>
    <dgm:pt modelId="{6C9C2380-E792-4587-BF4D-5138647A28AC}" type="sibTrans" cxnId="{3238E2FB-98DB-4389-AEC6-2EC3066BB452}">
      <dgm:prSet/>
      <dgm:spPr/>
      <dgm:t>
        <a:bodyPr/>
        <a:lstStyle/>
        <a:p>
          <a:endParaRPr lang="fr-FR"/>
        </a:p>
      </dgm:t>
    </dgm:pt>
    <dgm:pt modelId="{EADDB93C-ECF9-4CF1-9C08-0E89CC04A2DE}">
      <dgm:prSet phldrT="[Texte]" custT="1"/>
      <dgm:spPr/>
      <dgm:t>
        <a:bodyPr/>
        <a:lstStyle/>
        <a:p>
          <a:pPr algn="just"/>
          <a:r>
            <a:rPr lang="fr-CI" sz="1900" dirty="0">
              <a:latin typeface="Calibri" panose="020F0502020204030204" pitchFamily="34" charset="0"/>
              <a:cs typeface="Calibri" panose="020F0502020204030204" pitchFamily="34" charset="0"/>
            </a:rPr>
            <a:t>La caractérisation scolastique et celle que nous sommes en train de développer, fondée sur les objectifs et donc aussi sur les méthodes sont en fait complémentaires</a:t>
          </a:r>
          <a:r>
            <a:rPr lang="fr-CI" sz="1900" dirty="0"/>
            <a:t>.</a:t>
          </a:r>
          <a:endParaRPr lang="fr-FR" sz="1900" dirty="0">
            <a:latin typeface="Calibri" panose="020F0502020204030204" pitchFamily="34" charset="0"/>
            <a:cs typeface="Calibri" panose="020F0502020204030204" pitchFamily="34" charset="0"/>
          </a:endParaRPr>
        </a:p>
      </dgm:t>
    </dgm:pt>
    <dgm:pt modelId="{43408C54-172F-42A5-9BE6-EBF2106799FD}" type="parTrans" cxnId="{E0C4566E-131C-4821-B2C0-6BE27FD7A3B7}">
      <dgm:prSet/>
      <dgm:spPr/>
      <dgm:t>
        <a:bodyPr/>
        <a:lstStyle/>
        <a:p>
          <a:endParaRPr lang="fr-FR"/>
        </a:p>
      </dgm:t>
    </dgm:pt>
    <dgm:pt modelId="{22F06172-C2E2-4A40-B9FF-4DA7B5C3D096}" type="sibTrans" cxnId="{E0C4566E-131C-4821-B2C0-6BE27FD7A3B7}">
      <dgm:prSet/>
      <dgm:spPr/>
      <dgm:t>
        <a:bodyPr/>
        <a:lstStyle/>
        <a:p>
          <a:endParaRPr lang="fr-FR"/>
        </a:p>
      </dgm:t>
    </dgm:pt>
    <dgm:pt modelId="{790F6334-1040-447F-A145-160AD65C4134}">
      <dgm:prSet phldrT="[Texte]" custT="1"/>
      <dgm:spPr/>
      <dgm:t>
        <a:bodyPr/>
        <a:lstStyle/>
        <a:p>
          <a:pPr algn="just"/>
          <a:endParaRPr lang="fr-FR" sz="1900" dirty="0">
            <a:latin typeface="Calibri" panose="020F0502020204030204" pitchFamily="34" charset="0"/>
            <a:cs typeface="Calibri" panose="020F0502020204030204" pitchFamily="34" charset="0"/>
          </a:endParaRPr>
        </a:p>
      </dgm:t>
    </dgm:pt>
    <dgm:pt modelId="{064B393D-6D61-4F6E-94E8-923DAD205807}" type="parTrans" cxnId="{54852390-EF8F-4925-9E22-6A77061950C1}">
      <dgm:prSet/>
      <dgm:spPr/>
      <dgm:t>
        <a:bodyPr/>
        <a:lstStyle/>
        <a:p>
          <a:endParaRPr lang="fr-FR"/>
        </a:p>
      </dgm:t>
    </dgm:pt>
    <dgm:pt modelId="{02A0871F-BD18-4623-99D8-941052C8A862}" type="sibTrans" cxnId="{54852390-EF8F-4925-9E22-6A77061950C1}">
      <dgm:prSet/>
      <dgm:spPr/>
      <dgm:t>
        <a:bodyPr/>
        <a:lstStyle/>
        <a:p>
          <a:endParaRPr lang="fr-FR"/>
        </a:p>
      </dgm:t>
    </dgm:pt>
    <dgm:pt modelId="{28A8D448-D79C-4779-B1D6-664C089EB381}" type="pres">
      <dgm:prSet presAssocID="{D65368BD-7C3D-4B54-8FF7-17BA041313A5}" presName="linear" presStyleCnt="0">
        <dgm:presLayoutVars>
          <dgm:animLvl val="lvl"/>
          <dgm:resizeHandles val="exact"/>
        </dgm:presLayoutVars>
      </dgm:prSet>
      <dgm:spPr/>
    </dgm:pt>
    <dgm:pt modelId="{8807C940-AC6B-4796-BE15-32F876685B8B}" type="pres">
      <dgm:prSet presAssocID="{2CC63DDE-DF1A-49BC-8089-40B0914A1D93}" presName="parentText" presStyleLbl="node1" presStyleIdx="0" presStyleCnt="1" custScaleX="43442" custScaleY="60876" custLinFactNeighborX="-264" custLinFactNeighborY="-46441">
        <dgm:presLayoutVars>
          <dgm:chMax val="0"/>
          <dgm:bulletEnabled val="1"/>
        </dgm:presLayoutVars>
      </dgm:prSet>
      <dgm:spPr/>
    </dgm:pt>
    <dgm:pt modelId="{73F40891-3FE9-46AE-8536-233E359B77B4}" type="pres">
      <dgm:prSet presAssocID="{2CC63DDE-DF1A-49BC-8089-40B0914A1D93}" presName="childText" presStyleLbl="revTx" presStyleIdx="0" presStyleCnt="1" custScaleX="93242" custLinFactNeighborY="-52277">
        <dgm:presLayoutVars>
          <dgm:bulletEnabled val="1"/>
        </dgm:presLayoutVars>
      </dgm:prSet>
      <dgm:spPr/>
    </dgm:pt>
  </dgm:ptLst>
  <dgm:cxnLst>
    <dgm:cxn modelId="{8041B109-ACCD-4364-8B0F-4BE8ECCA5EFA}" type="presOf" srcId="{EADDB93C-ECF9-4CF1-9C08-0E89CC04A2DE}" destId="{73F40891-3FE9-46AE-8536-233E359B77B4}" srcOrd="0" destOrd="2" presId="urn:microsoft.com/office/officeart/2005/8/layout/vList2"/>
    <dgm:cxn modelId="{2C21EF22-FB14-451D-AE1B-4273E2044558}" type="presOf" srcId="{790F6334-1040-447F-A145-160AD65C4134}" destId="{73F40891-3FE9-46AE-8536-233E359B77B4}" srcOrd="0" destOrd="1" presId="urn:microsoft.com/office/officeart/2005/8/layout/vList2"/>
    <dgm:cxn modelId="{E0C4566E-131C-4821-B2C0-6BE27FD7A3B7}" srcId="{2CC63DDE-DF1A-49BC-8089-40B0914A1D93}" destId="{EADDB93C-ECF9-4CF1-9C08-0E89CC04A2DE}" srcOrd="2" destOrd="0" parTransId="{43408C54-172F-42A5-9BE6-EBF2106799FD}" sibTransId="{22F06172-C2E2-4A40-B9FF-4DA7B5C3D096}"/>
    <dgm:cxn modelId="{64A74658-4A96-4EBB-AA33-1F6F70090BCB}" type="presOf" srcId="{2CC63DDE-DF1A-49BC-8089-40B0914A1D93}" destId="{8807C940-AC6B-4796-BE15-32F876685B8B}" srcOrd="0" destOrd="0" presId="urn:microsoft.com/office/officeart/2005/8/layout/vList2"/>
    <dgm:cxn modelId="{54852390-EF8F-4925-9E22-6A77061950C1}" srcId="{2CC63DDE-DF1A-49BC-8089-40B0914A1D93}" destId="{790F6334-1040-447F-A145-160AD65C4134}" srcOrd="1" destOrd="0" parTransId="{064B393D-6D61-4F6E-94E8-923DAD205807}" sibTransId="{02A0871F-BD18-4623-99D8-941052C8A862}"/>
    <dgm:cxn modelId="{D37226E6-C942-4D04-88C9-75566ECF7782}" srcId="{D65368BD-7C3D-4B54-8FF7-17BA041313A5}" destId="{2CC63DDE-DF1A-49BC-8089-40B0914A1D93}" srcOrd="0" destOrd="0" parTransId="{F86211FD-06CE-4379-9CFD-6F7478CFCAFD}" sibTransId="{67DCDE26-E688-4D72-B537-DB0EE1EEC95A}"/>
    <dgm:cxn modelId="{5695DFF1-5502-46B4-B552-66E0B7DE014E}" type="presOf" srcId="{D65368BD-7C3D-4B54-8FF7-17BA041313A5}" destId="{28A8D448-D79C-4779-B1D6-664C089EB381}" srcOrd="0" destOrd="0" presId="urn:microsoft.com/office/officeart/2005/8/layout/vList2"/>
    <dgm:cxn modelId="{3238E2FB-98DB-4389-AEC6-2EC3066BB452}" srcId="{2CC63DDE-DF1A-49BC-8089-40B0914A1D93}" destId="{09AD718F-B490-44D4-A9C0-B00845977B76}" srcOrd="0" destOrd="0" parTransId="{A6282B72-978C-4604-964E-9E8F43DB171C}" sibTransId="{6C9C2380-E792-4587-BF4D-5138647A28AC}"/>
    <dgm:cxn modelId="{9362A6FD-6E81-4C28-AC75-0C3EB65042E8}" type="presOf" srcId="{09AD718F-B490-44D4-A9C0-B00845977B76}" destId="{73F40891-3FE9-46AE-8536-233E359B77B4}" srcOrd="0" destOrd="0" presId="urn:microsoft.com/office/officeart/2005/8/layout/vList2"/>
    <dgm:cxn modelId="{8ABAEFAD-18F2-4304-A314-C17EEE6B2C51}" type="presParOf" srcId="{28A8D448-D79C-4779-B1D6-664C089EB381}" destId="{8807C940-AC6B-4796-BE15-32F876685B8B}" srcOrd="0" destOrd="0" presId="urn:microsoft.com/office/officeart/2005/8/layout/vList2"/>
    <dgm:cxn modelId="{C93447FA-54DC-436A-9BFB-1037871EE0A6}" type="presParOf" srcId="{28A8D448-D79C-4779-B1D6-664C089EB381}" destId="{73F40891-3FE9-46AE-8536-233E359B77B4}"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D65368BD-7C3D-4B54-8FF7-17BA041313A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1ECC2269-3D2F-4247-B36F-4477DBC45F08}">
      <dgm:prSet phldrT="[Texte]" custT="1"/>
      <dgm:spPr/>
      <dgm:t>
        <a:bodyPr/>
        <a:lstStyle/>
        <a:p>
          <a:pPr algn="ctr"/>
          <a:r>
            <a:rPr lang="fr-FR" sz="1900" b="1" dirty="0">
              <a:solidFill>
                <a:schemeClr val="bg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Les objets</a:t>
          </a:r>
        </a:p>
      </dgm:t>
    </dgm:pt>
    <dgm:pt modelId="{3AE0F594-89CA-4471-AE1D-F20C38E86C94}" type="parTrans" cxnId="{8296F184-6387-43F9-8116-90B931F53331}">
      <dgm:prSet/>
      <dgm:spPr/>
      <dgm:t>
        <a:bodyPr/>
        <a:lstStyle/>
        <a:p>
          <a:endParaRPr lang="fr-FR"/>
        </a:p>
      </dgm:t>
    </dgm:pt>
    <dgm:pt modelId="{9A9CAB99-0E75-4345-A35B-5BF46ACDBDEC}" type="sibTrans" cxnId="{8296F184-6387-43F9-8116-90B931F53331}">
      <dgm:prSet/>
      <dgm:spPr/>
      <dgm:t>
        <a:bodyPr/>
        <a:lstStyle/>
        <a:p>
          <a:endParaRPr lang="fr-FR"/>
        </a:p>
      </dgm:t>
    </dgm:pt>
    <dgm:pt modelId="{28A8D448-D79C-4779-B1D6-664C089EB381}" type="pres">
      <dgm:prSet presAssocID="{D65368BD-7C3D-4B54-8FF7-17BA041313A5}" presName="linear" presStyleCnt="0">
        <dgm:presLayoutVars>
          <dgm:animLvl val="lvl"/>
          <dgm:resizeHandles val="exact"/>
        </dgm:presLayoutVars>
      </dgm:prSet>
      <dgm:spPr/>
    </dgm:pt>
    <dgm:pt modelId="{023008AA-EB48-461E-ABD0-36597E98AA63}" type="pres">
      <dgm:prSet presAssocID="{1ECC2269-3D2F-4247-B36F-4477DBC45F08}" presName="parentText" presStyleLbl="node1" presStyleIdx="0" presStyleCnt="1" custScaleX="45732" custScaleY="59145" custLinFactY="-57337" custLinFactNeighborX="-330" custLinFactNeighborY="-100000">
        <dgm:presLayoutVars>
          <dgm:chMax val="0"/>
          <dgm:bulletEnabled val="1"/>
        </dgm:presLayoutVars>
      </dgm:prSet>
      <dgm:spPr/>
    </dgm:pt>
  </dgm:ptLst>
  <dgm:cxnLst>
    <dgm:cxn modelId="{EC0C7225-B13D-44A8-A88F-BB6F3F8246A7}" type="presOf" srcId="{1ECC2269-3D2F-4247-B36F-4477DBC45F08}" destId="{023008AA-EB48-461E-ABD0-36597E98AA63}" srcOrd="0" destOrd="0" presId="urn:microsoft.com/office/officeart/2005/8/layout/vList2"/>
    <dgm:cxn modelId="{8296F184-6387-43F9-8116-90B931F53331}" srcId="{D65368BD-7C3D-4B54-8FF7-17BA041313A5}" destId="{1ECC2269-3D2F-4247-B36F-4477DBC45F08}" srcOrd="0" destOrd="0" parTransId="{3AE0F594-89CA-4471-AE1D-F20C38E86C94}" sibTransId="{9A9CAB99-0E75-4345-A35B-5BF46ACDBDEC}"/>
    <dgm:cxn modelId="{5695DFF1-5502-46B4-B552-66E0B7DE014E}" type="presOf" srcId="{D65368BD-7C3D-4B54-8FF7-17BA041313A5}" destId="{28A8D448-D79C-4779-B1D6-664C089EB381}" srcOrd="0" destOrd="0" presId="urn:microsoft.com/office/officeart/2005/8/layout/vList2"/>
    <dgm:cxn modelId="{C98D2A3B-F364-4404-8B72-2E87C1E98A05}" type="presParOf" srcId="{28A8D448-D79C-4779-B1D6-664C089EB381}" destId="{023008AA-EB48-461E-ABD0-36597E98AA6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DF9F1356-7834-43D1-8728-13E277FCD4E2}"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fr-FR"/>
        </a:p>
      </dgm:t>
    </dgm:pt>
    <dgm:pt modelId="{7416C547-302B-4F4F-92A3-C2E348C2540C}">
      <dgm:prSet phldrT="[Texte]" custT="1"/>
      <dgm:spPr/>
      <dgm:t>
        <a:bodyPr/>
        <a:lstStyle/>
        <a:p>
          <a:r>
            <a:rPr lang="fr-CI" sz="1900" b="1" dirty="0"/>
            <a:t>1. La métaphysique et les sciences particulières chez Aristote</a:t>
          </a:r>
          <a:endParaRPr lang="fr-FR" sz="1900" dirty="0"/>
        </a:p>
      </dgm:t>
    </dgm:pt>
    <dgm:pt modelId="{12AB222B-3749-4BA1-8F40-2550019632CE}" type="parTrans" cxnId="{55BE0A26-ABD6-408A-A063-603E1EED7ADF}">
      <dgm:prSet/>
      <dgm:spPr/>
      <dgm:t>
        <a:bodyPr/>
        <a:lstStyle/>
        <a:p>
          <a:endParaRPr lang="fr-FR" sz="1900"/>
        </a:p>
      </dgm:t>
    </dgm:pt>
    <dgm:pt modelId="{C796A3F6-E048-415F-B839-708725F9385E}" type="sibTrans" cxnId="{55BE0A26-ABD6-408A-A063-603E1EED7ADF}">
      <dgm:prSet/>
      <dgm:spPr/>
      <dgm:t>
        <a:bodyPr/>
        <a:lstStyle/>
        <a:p>
          <a:endParaRPr lang="fr-FR" sz="1900"/>
        </a:p>
      </dgm:t>
    </dgm:pt>
    <dgm:pt modelId="{FD4B7FA7-D992-4EBD-A04C-9E5664243A44}">
      <dgm:prSet phldrT="[Texte]" custT="1"/>
      <dgm:spPr/>
      <dgm:t>
        <a:bodyPr/>
        <a:lstStyle/>
        <a:p>
          <a:r>
            <a:rPr lang="fr-CI" sz="1900" dirty="0"/>
            <a:t>2. </a:t>
          </a:r>
          <a:r>
            <a:rPr lang="fr-CI" sz="1900" b="1" dirty="0"/>
            <a:t>La science selon le rationalisme et l’empirisme</a:t>
          </a:r>
          <a:r>
            <a:rPr lang="fr-CI" sz="1900" dirty="0"/>
            <a:t> </a:t>
          </a:r>
          <a:endParaRPr lang="fr-FR" sz="1900" dirty="0"/>
        </a:p>
      </dgm:t>
    </dgm:pt>
    <dgm:pt modelId="{82FB8103-2729-4FDF-85CA-FDFC98C6835A}" type="parTrans" cxnId="{BB4B6663-919E-43B4-89D9-2C64AD80BDC7}">
      <dgm:prSet/>
      <dgm:spPr/>
      <dgm:t>
        <a:bodyPr/>
        <a:lstStyle/>
        <a:p>
          <a:endParaRPr lang="fr-FR" sz="1900"/>
        </a:p>
      </dgm:t>
    </dgm:pt>
    <dgm:pt modelId="{5A98FD09-3F78-426A-9449-657D23AFE0F6}" type="sibTrans" cxnId="{BB4B6663-919E-43B4-89D9-2C64AD80BDC7}">
      <dgm:prSet/>
      <dgm:spPr/>
      <dgm:t>
        <a:bodyPr/>
        <a:lstStyle/>
        <a:p>
          <a:endParaRPr lang="fr-FR" sz="1900"/>
        </a:p>
      </dgm:t>
    </dgm:pt>
    <dgm:pt modelId="{F494BEFE-255B-4247-8C21-9042B047C52D}">
      <dgm:prSet phldrT="[Texte]" custT="1"/>
      <dgm:spPr/>
      <dgm:t>
        <a:bodyPr/>
        <a:lstStyle/>
        <a:p>
          <a:r>
            <a:rPr lang="fr-CI" sz="1900" b="1" dirty="0"/>
            <a:t>3. L’épistémologie positiviste </a:t>
          </a:r>
          <a:endParaRPr lang="fr-FR" sz="1900" dirty="0"/>
        </a:p>
      </dgm:t>
    </dgm:pt>
    <dgm:pt modelId="{6A5D6DE6-D34A-4850-8FE2-831D56EC6DCB}" type="parTrans" cxnId="{A462EF5A-A731-4830-AC31-CD177FB7886B}">
      <dgm:prSet/>
      <dgm:spPr/>
      <dgm:t>
        <a:bodyPr/>
        <a:lstStyle/>
        <a:p>
          <a:endParaRPr lang="fr-FR" sz="1900"/>
        </a:p>
      </dgm:t>
    </dgm:pt>
    <dgm:pt modelId="{87F9B8C2-33F1-4F07-A9EB-1E6B72D974D0}" type="sibTrans" cxnId="{A462EF5A-A731-4830-AC31-CD177FB7886B}">
      <dgm:prSet/>
      <dgm:spPr/>
      <dgm:t>
        <a:bodyPr/>
        <a:lstStyle/>
        <a:p>
          <a:endParaRPr lang="fr-FR" sz="1900"/>
        </a:p>
      </dgm:t>
    </dgm:pt>
    <dgm:pt modelId="{5C31C7E8-EF3C-4A52-81C8-73A1C903FAA9}" type="pres">
      <dgm:prSet presAssocID="{DF9F1356-7834-43D1-8728-13E277FCD4E2}" presName="linear" presStyleCnt="0">
        <dgm:presLayoutVars>
          <dgm:dir/>
          <dgm:animLvl val="lvl"/>
          <dgm:resizeHandles val="exact"/>
        </dgm:presLayoutVars>
      </dgm:prSet>
      <dgm:spPr/>
    </dgm:pt>
    <dgm:pt modelId="{8CAAE09D-579D-4F5F-A556-4E5CF9FAF1AF}" type="pres">
      <dgm:prSet presAssocID="{7416C547-302B-4F4F-92A3-C2E348C2540C}" presName="parentLin" presStyleCnt="0"/>
      <dgm:spPr/>
    </dgm:pt>
    <dgm:pt modelId="{10F69394-590C-4484-B99C-B9AC7A384498}" type="pres">
      <dgm:prSet presAssocID="{7416C547-302B-4F4F-92A3-C2E348C2540C}" presName="parentLeftMargin" presStyleLbl="node1" presStyleIdx="0" presStyleCnt="3"/>
      <dgm:spPr/>
    </dgm:pt>
    <dgm:pt modelId="{0E451ABD-0CE1-4E21-B3FA-A888E78C9F6C}" type="pres">
      <dgm:prSet presAssocID="{7416C547-302B-4F4F-92A3-C2E348C2540C}" presName="parentText" presStyleLbl="node1" presStyleIdx="0" presStyleCnt="3" custScaleX="121060">
        <dgm:presLayoutVars>
          <dgm:chMax val="0"/>
          <dgm:bulletEnabled val="1"/>
        </dgm:presLayoutVars>
      </dgm:prSet>
      <dgm:spPr/>
    </dgm:pt>
    <dgm:pt modelId="{6724883B-B7ED-4505-B3A0-5667C7334D4A}" type="pres">
      <dgm:prSet presAssocID="{7416C547-302B-4F4F-92A3-C2E348C2540C}" presName="negativeSpace" presStyleCnt="0"/>
      <dgm:spPr/>
    </dgm:pt>
    <dgm:pt modelId="{1B1ED14C-28A9-41D5-9F41-7CFCA6DB0D4C}" type="pres">
      <dgm:prSet presAssocID="{7416C547-302B-4F4F-92A3-C2E348C2540C}" presName="childText" presStyleLbl="conFgAcc1" presStyleIdx="0" presStyleCnt="3">
        <dgm:presLayoutVars>
          <dgm:bulletEnabled val="1"/>
        </dgm:presLayoutVars>
      </dgm:prSet>
      <dgm:spPr/>
    </dgm:pt>
    <dgm:pt modelId="{90B770CC-A973-4065-84BB-87896D7107EE}" type="pres">
      <dgm:prSet presAssocID="{C796A3F6-E048-415F-B839-708725F9385E}" presName="spaceBetweenRectangles" presStyleCnt="0"/>
      <dgm:spPr/>
    </dgm:pt>
    <dgm:pt modelId="{F2B452B6-BF5E-456B-A2B5-890724646BD5}" type="pres">
      <dgm:prSet presAssocID="{FD4B7FA7-D992-4EBD-A04C-9E5664243A44}" presName="parentLin" presStyleCnt="0"/>
      <dgm:spPr/>
    </dgm:pt>
    <dgm:pt modelId="{4B4748FB-CE37-4FE4-A594-F1BED5D4369E}" type="pres">
      <dgm:prSet presAssocID="{FD4B7FA7-D992-4EBD-A04C-9E5664243A44}" presName="parentLeftMargin" presStyleLbl="node1" presStyleIdx="0" presStyleCnt="3"/>
      <dgm:spPr/>
    </dgm:pt>
    <dgm:pt modelId="{FD0C5DCA-9997-42A1-99AB-7BA725618326}" type="pres">
      <dgm:prSet presAssocID="{FD4B7FA7-D992-4EBD-A04C-9E5664243A44}" presName="parentText" presStyleLbl="node1" presStyleIdx="1" presStyleCnt="3" custScaleX="120771">
        <dgm:presLayoutVars>
          <dgm:chMax val="0"/>
          <dgm:bulletEnabled val="1"/>
        </dgm:presLayoutVars>
      </dgm:prSet>
      <dgm:spPr/>
    </dgm:pt>
    <dgm:pt modelId="{DA165464-C4A8-4FDF-821A-BD708D801CE3}" type="pres">
      <dgm:prSet presAssocID="{FD4B7FA7-D992-4EBD-A04C-9E5664243A44}" presName="negativeSpace" presStyleCnt="0"/>
      <dgm:spPr/>
    </dgm:pt>
    <dgm:pt modelId="{2463DCF4-86AE-4D92-9144-98000F70D049}" type="pres">
      <dgm:prSet presAssocID="{FD4B7FA7-D992-4EBD-A04C-9E5664243A44}" presName="childText" presStyleLbl="conFgAcc1" presStyleIdx="1" presStyleCnt="3">
        <dgm:presLayoutVars>
          <dgm:bulletEnabled val="1"/>
        </dgm:presLayoutVars>
      </dgm:prSet>
      <dgm:spPr/>
    </dgm:pt>
    <dgm:pt modelId="{F441BCBA-3CA0-4798-9F7A-F6EAFA32A6CC}" type="pres">
      <dgm:prSet presAssocID="{5A98FD09-3F78-426A-9449-657D23AFE0F6}" presName="spaceBetweenRectangles" presStyleCnt="0"/>
      <dgm:spPr/>
    </dgm:pt>
    <dgm:pt modelId="{2B9DCA50-58EC-4254-8F01-834D8BC557C6}" type="pres">
      <dgm:prSet presAssocID="{F494BEFE-255B-4247-8C21-9042B047C52D}" presName="parentLin" presStyleCnt="0"/>
      <dgm:spPr/>
    </dgm:pt>
    <dgm:pt modelId="{FE48B580-FF3C-4B52-A743-3BE7C1AB297A}" type="pres">
      <dgm:prSet presAssocID="{F494BEFE-255B-4247-8C21-9042B047C52D}" presName="parentLeftMargin" presStyleLbl="node1" presStyleIdx="1" presStyleCnt="3"/>
      <dgm:spPr/>
    </dgm:pt>
    <dgm:pt modelId="{866417AB-0477-4BF3-8070-E44C66C79577}" type="pres">
      <dgm:prSet presAssocID="{F494BEFE-255B-4247-8C21-9042B047C52D}" presName="parentText" presStyleLbl="node1" presStyleIdx="2" presStyleCnt="3" custScaleX="120771">
        <dgm:presLayoutVars>
          <dgm:chMax val="0"/>
          <dgm:bulletEnabled val="1"/>
        </dgm:presLayoutVars>
      </dgm:prSet>
      <dgm:spPr/>
    </dgm:pt>
    <dgm:pt modelId="{4E00191D-902F-446A-B2A4-108AB367E760}" type="pres">
      <dgm:prSet presAssocID="{F494BEFE-255B-4247-8C21-9042B047C52D}" presName="negativeSpace" presStyleCnt="0"/>
      <dgm:spPr/>
    </dgm:pt>
    <dgm:pt modelId="{DB34CDC7-8507-47D1-8ED9-80E4B907A06E}" type="pres">
      <dgm:prSet presAssocID="{F494BEFE-255B-4247-8C21-9042B047C52D}" presName="childText" presStyleLbl="conFgAcc1" presStyleIdx="2" presStyleCnt="3">
        <dgm:presLayoutVars>
          <dgm:bulletEnabled val="1"/>
        </dgm:presLayoutVars>
      </dgm:prSet>
      <dgm:spPr/>
    </dgm:pt>
  </dgm:ptLst>
  <dgm:cxnLst>
    <dgm:cxn modelId="{55BE0A26-ABD6-408A-A063-603E1EED7ADF}" srcId="{DF9F1356-7834-43D1-8728-13E277FCD4E2}" destId="{7416C547-302B-4F4F-92A3-C2E348C2540C}" srcOrd="0" destOrd="0" parTransId="{12AB222B-3749-4BA1-8F40-2550019632CE}" sibTransId="{C796A3F6-E048-415F-B839-708725F9385E}"/>
    <dgm:cxn modelId="{BB4B6663-919E-43B4-89D9-2C64AD80BDC7}" srcId="{DF9F1356-7834-43D1-8728-13E277FCD4E2}" destId="{FD4B7FA7-D992-4EBD-A04C-9E5664243A44}" srcOrd="1" destOrd="0" parTransId="{82FB8103-2729-4FDF-85CA-FDFC98C6835A}" sibTransId="{5A98FD09-3F78-426A-9449-657D23AFE0F6}"/>
    <dgm:cxn modelId="{335E4D6D-7237-42E9-8264-C1A51E056E6A}" type="presOf" srcId="{7416C547-302B-4F4F-92A3-C2E348C2540C}" destId="{0E451ABD-0CE1-4E21-B3FA-A888E78C9F6C}" srcOrd="1" destOrd="0" presId="urn:microsoft.com/office/officeart/2005/8/layout/list1"/>
    <dgm:cxn modelId="{A462EF5A-A731-4830-AC31-CD177FB7886B}" srcId="{DF9F1356-7834-43D1-8728-13E277FCD4E2}" destId="{F494BEFE-255B-4247-8C21-9042B047C52D}" srcOrd="2" destOrd="0" parTransId="{6A5D6DE6-D34A-4850-8FE2-831D56EC6DCB}" sibTransId="{87F9B8C2-33F1-4F07-A9EB-1E6B72D974D0}"/>
    <dgm:cxn modelId="{56E5CC9D-6BCB-4FD8-BDC2-0D50D946CE90}" type="presOf" srcId="{DF9F1356-7834-43D1-8728-13E277FCD4E2}" destId="{5C31C7E8-EF3C-4A52-81C8-73A1C903FAA9}" srcOrd="0" destOrd="0" presId="urn:microsoft.com/office/officeart/2005/8/layout/list1"/>
    <dgm:cxn modelId="{B766B2A8-C3AD-4E34-8D50-E465A1B77B72}" type="presOf" srcId="{FD4B7FA7-D992-4EBD-A04C-9E5664243A44}" destId="{4B4748FB-CE37-4FE4-A594-F1BED5D4369E}" srcOrd="0" destOrd="0" presId="urn:microsoft.com/office/officeart/2005/8/layout/list1"/>
    <dgm:cxn modelId="{622527BF-C735-41D5-B864-C01C4DC86104}" type="presOf" srcId="{FD4B7FA7-D992-4EBD-A04C-9E5664243A44}" destId="{FD0C5DCA-9997-42A1-99AB-7BA725618326}" srcOrd="1" destOrd="0" presId="urn:microsoft.com/office/officeart/2005/8/layout/list1"/>
    <dgm:cxn modelId="{F4B57AC6-00F8-4843-A938-E9D9EEE4670D}" type="presOf" srcId="{F494BEFE-255B-4247-8C21-9042B047C52D}" destId="{866417AB-0477-4BF3-8070-E44C66C79577}" srcOrd="1" destOrd="0" presId="urn:microsoft.com/office/officeart/2005/8/layout/list1"/>
    <dgm:cxn modelId="{94E392CA-D02F-4BD0-9E7F-17FFA944F898}" type="presOf" srcId="{7416C547-302B-4F4F-92A3-C2E348C2540C}" destId="{10F69394-590C-4484-B99C-B9AC7A384498}" srcOrd="0" destOrd="0" presId="urn:microsoft.com/office/officeart/2005/8/layout/list1"/>
    <dgm:cxn modelId="{3B4C35DD-FF85-423A-9E91-65487123A789}" type="presOf" srcId="{F494BEFE-255B-4247-8C21-9042B047C52D}" destId="{FE48B580-FF3C-4B52-A743-3BE7C1AB297A}" srcOrd="0" destOrd="0" presId="urn:microsoft.com/office/officeart/2005/8/layout/list1"/>
    <dgm:cxn modelId="{579FEBF6-1087-4D42-AE3E-7E4F45169140}" type="presParOf" srcId="{5C31C7E8-EF3C-4A52-81C8-73A1C903FAA9}" destId="{8CAAE09D-579D-4F5F-A556-4E5CF9FAF1AF}" srcOrd="0" destOrd="0" presId="urn:microsoft.com/office/officeart/2005/8/layout/list1"/>
    <dgm:cxn modelId="{3FBDE202-8D75-4337-A4A2-97987860AB2C}" type="presParOf" srcId="{8CAAE09D-579D-4F5F-A556-4E5CF9FAF1AF}" destId="{10F69394-590C-4484-B99C-B9AC7A384498}" srcOrd="0" destOrd="0" presId="urn:microsoft.com/office/officeart/2005/8/layout/list1"/>
    <dgm:cxn modelId="{00880C10-9341-4EAD-BF7F-6240BF61B0E1}" type="presParOf" srcId="{8CAAE09D-579D-4F5F-A556-4E5CF9FAF1AF}" destId="{0E451ABD-0CE1-4E21-B3FA-A888E78C9F6C}" srcOrd="1" destOrd="0" presId="urn:microsoft.com/office/officeart/2005/8/layout/list1"/>
    <dgm:cxn modelId="{1F648129-9F2A-4BD2-ADE1-6FECD554E695}" type="presParOf" srcId="{5C31C7E8-EF3C-4A52-81C8-73A1C903FAA9}" destId="{6724883B-B7ED-4505-B3A0-5667C7334D4A}" srcOrd="1" destOrd="0" presId="urn:microsoft.com/office/officeart/2005/8/layout/list1"/>
    <dgm:cxn modelId="{19942C2D-C652-427E-A10B-8202D77E6B04}" type="presParOf" srcId="{5C31C7E8-EF3C-4A52-81C8-73A1C903FAA9}" destId="{1B1ED14C-28A9-41D5-9F41-7CFCA6DB0D4C}" srcOrd="2" destOrd="0" presId="urn:microsoft.com/office/officeart/2005/8/layout/list1"/>
    <dgm:cxn modelId="{1422EA95-6689-4DDF-8087-32132F1B5472}" type="presParOf" srcId="{5C31C7E8-EF3C-4A52-81C8-73A1C903FAA9}" destId="{90B770CC-A973-4065-84BB-87896D7107EE}" srcOrd="3" destOrd="0" presId="urn:microsoft.com/office/officeart/2005/8/layout/list1"/>
    <dgm:cxn modelId="{0C044570-5792-4341-9BBC-2AA156138154}" type="presParOf" srcId="{5C31C7E8-EF3C-4A52-81C8-73A1C903FAA9}" destId="{F2B452B6-BF5E-456B-A2B5-890724646BD5}" srcOrd="4" destOrd="0" presId="urn:microsoft.com/office/officeart/2005/8/layout/list1"/>
    <dgm:cxn modelId="{8D669F4A-9D8F-45EA-B9E8-4D9F98305F4F}" type="presParOf" srcId="{F2B452B6-BF5E-456B-A2B5-890724646BD5}" destId="{4B4748FB-CE37-4FE4-A594-F1BED5D4369E}" srcOrd="0" destOrd="0" presId="urn:microsoft.com/office/officeart/2005/8/layout/list1"/>
    <dgm:cxn modelId="{CCDC7265-6FAF-4A34-A061-C2D940404BA9}" type="presParOf" srcId="{F2B452B6-BF5E-456B-A2B5-890724646BD5}" destId="{FD0C5DCA-9997-42A1-99AB-7BA725618326}" srcOrd="1" destOrd="0" presId="urn:microsoft.com/office/officeart/2005/8/layout/list1"/>
    <dgm:cxn modelId="{1C1D31F5-2E6A-4E73-BEB5-7A2D9438CD3E}" type="presParOf" srcId="{5C31C7E8-EF3C-4A52-81C8-73A1C903FAA9}" destId="{DA165464-C4A8-4FDF-821A-BD708D801CE3}" srcOrd="5" destOrd="0" presId="urn:microsoft.com/office/officeart/2005/8/layout/list1"/>
    <dgm:cxn modelId="{12ACD2C3-E09C-45ED-86C5-EDC91FFEBE4F}" type="presParOf" srcId="{5C31C7E8-EF3C-4A52-81C8-73A1C903FAA9}" destId="{2463DCF4-86AE-4D92-9144-98000F70D049}" srcOrd="6" destOrd="0" presId="urn:microsoft.com/office/officeart/2005/8/layout/list1"/>
    <dgm:cxn modelId="{44FD84E3-7DD2-44A9-8CEB-D751B4324351}" type="presParOf" srcId="{5C31C7E8-EF3C-4A52-81C8-73A1C903FAA9}" destId="{F441BCBA-3CA0-4798-9F7A-F6EAFA32A6CC}" srcOrd="7" destOrd="0" presId="urn:microsoft.com/office/officeart/2005/8/layout/list1"/>
    <dgm:cxn modelId="{5AC55756-3D79-4CA4-931C-8A6439E0AC4E}" type="presParOf" srcId="{5C31C7E8-EF3C-4A52-81C8-73A1C903FAA9}" destId="{2B9DCA50-58EC-4254-8F01-834D8BC557C6}" srcOrd="8" destOrd="0" presId="urn:microsoft.com/office/officeart/2005/8/layout/list1"/>
    <dgm:cxn modelId="{CDB3DA4D-7F4D-4F16-8515-8BBA4D226998}" type="presParOf" srcId="{2B9DCA50-58EC-4254-8F01-834D8BC557C6}" destId="{FE48B580-FF3C-4B52-A743-3BE7C1AB297A}" srcOrd="0" destOrd="0" presId="urn:microsoft.com/office/officeart/2005/8/layout/list1"/>
    <dgm:cxn modelId="{7B26193F-0B23-45F0-A969-DA8A3668C33E}" type="presParOf" srcId="{2B9DCA50-58EC-4254-8F01-834D8BC557C6}" destId="{866417AB-0477-4BF3-8070-E44C66C79577}" srcOrd="1" destOrd="0" presId="urn:microsoft.com/office/officeart/2005/8/layout/list1"/>
    <dgm:cxn modelId="{7783850A-A664-4E68-A979-E9E082CAEA09}" type="presParOf" srcId="{5C31C7E8-EF3C-4A52-81C8-73A1C903FAA9}" destId="{4E00191D-902F-446A-B2A4-108AB367E760}" srcOrd="9" destOrd="0" presId="urn:microsoft.com/office/officeart/2005/8/layout/list1"/>
    <dgm:cxn modelId="{48240774-5587-4A75-8F23-7E2D37D9EC17}" type="presParOf" srcId="{5C31C7E8-EF3C-4A52-81C8-73A1C903FAA9}" destId="{DB34CDC7-8507-47D1-8ED9-80E4B907A06E}"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F81C7DD6-A5C7-49AA-AAAF-CB8AD2B67B7B}"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fr-FR"/>
        </a:p>
      </dgm:t>
    </dgm:pt>
    <dgm:pt modelId="{3474CEAC-3ABB-4D12-B131-007919AB9B70}">
      <dgm:prSet phldrT="[Texte]" custT="1"/>
      <dgm:spPr/>
      <dgm:t>
        <a:bodyPr/>
        <a:lstStyle/>
        <a:p>
          <a:r>
            <a:rPr lang="fr-CI" sz="1900" b="1"/>
            <a:t>Ernst Mach (1838-1916)</a:t>
          </a:r>
          <a:r>
            <a:rPr lang="fr-CI" sz="1900"/>
            <a:t>, </a:t>
          </a:r>
          <a:endParaRPr lang="fr-FR" sz="1900"/>
        </a:p>
      </dgm:t>
    </dgm:pt>
    <dgm:pt modelId="{27F79BD6-3DD9-42BF-ADD3-CE4B11A715F0}" type="parTrans" cxnId="{712CC045-F45E-461F-B916-1C6F3167853E}">
      <dgm:prSet/>
      <dgm:spPr/>
      <dgm:t>
        <a:bodyPr/>
        <a:lstStyle/>
        <a:p>
          <a:endParaRPr lang="fr-FR" sz="1900"/>
        </a:p>
      </dgm:t>
    </dgm:pt>
    <dgm:pt modelId="{28F44BD3-6727-4200-B29F-E0677FE0A8DD}" type="sibTrans" cxnId="{712CC045-F45E-461F-B916-1C6F3167853E}">
      <dgm:prSet/>
      <dgm:spPr/>
      <dgm:t>
        <a:bodyPr/>
        <a:lstStyle/>
        <a:p>
          <a:endParaRPr lang="fr-FR" sz="1900"/>
        </a:p>
      </dgm:t>
    </dgm:pt>
    <dgm:pt modelId="{391708E6-ACEF-43D4-8FCA-40E6CE9D65E7}">
      <dgm:prSet phldrT="[Texte]" custT="1"/>
      <dgm:spPr/>
      <dgm:t>
        <a:bodyPr/>
        <a:lstStyle/>
        <a:p>
          <a:r>
            <a:rPr lang="fr-CI" sz="1900" dirty="0">
              <a:latin typeface="Calibri" panose="020F0502020204030204" pitchFamily="34" charset="0"/>
              <a:cs typeface="Calibri" panose="020F0502020204030204" pitchFamily="34" charset="0"/>
            </a:rPr>
            <a:t>physicien et historien de la science, titulaire de la chaire de Philosophie des Sciences Inductives (remarquez le nom) créée pour lui en 1895 à l’université de Vienne, exerça une grande influence sur les milieux universitaires qui créèrent plus tard le Cercle de Vienne. Des œuvres importantes de Mach, concernant notre sujet, sont : La mécanique. Exposé historique et critique de son développement (1883) ; Analyse des sensations (1886) ; La connaissance et l'erreur (1905).</a:t>
          </a:r>
          <a:endParaRPr lang="fr-FR" sz="1900" dirty="0">
            <a:latin typeface="Calibri" panose="020F0502020204030204" pitchFamily="34" charset="0"/>
            <a:cs typeface="Calibri" panose="020F0502020204030204" pitchFamily="34" charset="0"/>
          </a:endParaRPr>
        </a:p>
      </dgm:t>
    </dgm:pt>
    <dgm:pt modelId="{5AE062E0-081F-4655-9CE2-0C6DDE9572E6}" type="parTrans" cxnId="{C6C34128-3C31-4334-A720-F60D07812D64}">
      <dgm:prSet/>
      <dgm:spPr/>
      <dgm:t>
        <a:bodyPr/>
        <a:lstStyle/>
        <a:p>
          <a:endParaRPr lang="fr-FR" sz="1900"/>
        </a:p>
      </dgm:t>
    </dgm:pt>
    <dgm:pt modelId="{97469148-0DFF-4D17-8357-D2B8F6116615}" type="sibTrans" cxnId="{C6C34128-3C31-4334-A720-F60D07812D64}">
      <dgm:prSet/>
      <dgm:spPr/>
      <dgm:t>
        <a:bodyPr/>
        <a:lstStyle/>
        <a:p>
          <a:endParaRPr lang="fr-FR" sz="1900"/>
        </a:p>
      </dgm:t>
    </dgm:pt>
    <dgm:pt modelId="{BF86C617-7AA7-4568-814A-891697912001}" type="pres">
      <dgm:prSet presAssocID="{F81C7DD6-A5C7-49AA-AAAF-CB8AD2B67B7B}" presName="Name0" presStyleCnt="0">
        <dgm:presLayoutVars>
          <dgm:dir/>
          <dgm:animLvl val="lvl"/>
          <dgm:resizeHandles val="exact"/>
        </dgm:presLayoutVars>
      </dgm:prSet>
      <dgm:spPr/>
    </dgm:pt>
    <dgm:pt modelId="{6692E7BF-1345-4A14-B151-06AC51E0BB68}" type="pres">
      <dgm:prSet presAssocID="{3474CEAC-3ABB-4D12-B131-007919AB9B70}" presName="linNode" presStyleCnt="0"/>
      <dgm:spPr/>
    </dgm:pt>
    <dgm:pt modelId="{26D6943B-B66D-4B2D-AA18-DF8538114F1B}" type="pres">
      <dgm:prSet presAssocID="{3474CEAC-3ABB-4D12-B131-007919AB9B70}" presName="parentText" presStyleLbl="node1" presStyleIdx="0" presStyleCnt="1" custScaleX="67666" custScaleY="81138" custLinFactNeighborX="156">
        <dgm:presLayoutVars>
          <dgm:chMax val="1"/>
          <dgm:bulletEnabled val="1"/>
        </dgm:presLayoutVars>
      </dgm:prSet>
      <dgm:spPr/>
    </dgm:pt>
    <dgm:pt modelId="{5F5D41F7-E3A1-4CA5-BD2C-6D07099CE9E3}" type="pres">
      <dgm:prSet presAssocID="{3474CEAC-3ABB-4D12-B131-007919AB9B70}" presName="descendantText" presStyleLbl="alignAccFollowNode1" presStyleIdx="0" presStyleCnt="1" custScaleX="117032" custScaleY="90761" custLinFactNeighborX="-1589">
        <dgm:presLayoutVars>
          <dgm:bulletEnabled val="1"/>
        </dgm:presLayoutVars>
      </dgm:prSet>
      <dgm:spPr/>
    </dgm:pt>
  </dgm:ptLst>
  <dgm:cxnLst>
    <dgm:cxn modelId="{C6C34128-3C31-4334-A720-F60D07812D64}" srcId="{3474CEAC-3ABB-4D12-B131-007919AB9B70}" destId="{391708E6-ACEF-43D4-8FCA-40E6CE9D65E7}" srcOrd="0" destOrd="0" parTransId="{5AE062E0-081F-4655-9CE2-0C6DDE9572E6}" sibTransId="{97469148-0DFF-4D17-8357-D2B8F6116615}"/>
    <dgm:cxn modelId="{712CC045-F45E-461F-B916-1C6F3167853E}" srcId="{F81C7DD6-A5C7-49AA-AAAF-CB8AD2B67B7B}" destId="{3474CEAC-3ABB-4D12-B131-007919AB9B70}" srcOrd="0" destOrd="0" parTransId="{27F79BD6-3DD9-42BF-ADD3-CE4B11A715F0}" sibTransId="{28F44BD3-6727-4200-B29F-E0677FE0A8DD}"/>
    <dgm:cxn modelId="{9C4C5687-E526-4765-BDEB-F7AD0AE33F09}" type="presOf" srcId="{3474CEAC-3ABB-4D12-B131-007919AB9B70}" destId="{26D6943B-B66D-4B2D-AA18-DF8538114F1B}" srcOrd="0" destOrd="0" presId="urn:microsoft.com/office/officeart/2005/8/layout/vList5"/>
    <dgm:cxn modelId="{23175E94-0447-4A4D-B08D-8D971EF5E4CA}" type="presOf" srcId="{F81C7DD6-A5C7-49AA-AAAF-CB8AD2B67B7B}" destId="{BF86C617-7AA7-4568-814A-891697912001}" srcOrd="0" destOrd="0" presId="urn:microsoft.com/office/officeart/2005/8/layout/vList5"/>
    <dgm:cxn modelId="{732B96FC-C32B-48A4-AC68-2BD6EB5A29EF}" type="presOf" srcId="{391708E6-ACEF-43D4-8FCA-40E6CE9D65E7}" destId="{5F5D41F7-E3A1-4CA5-BD2C-6D07099CE9E3}" srcOrd="0" destOrd="0" presId="urn:microsoft.com/office/officeart/2005/8/layout/vList5"/>
    <dgm:cxn modelId="{64472F1D-D39C-4B9C-9F9E-B09858D5A93B}" type="presParOf" srcId="{BF86C617-7AA7-4568-814A-891697912001}" destId="{6692E7BF-1345-4A14-B151-06AC51E0BB68}" srcOrd="0" destOrd="0" presId="urn:microsoft.com/office/officeart/2005/8/layout/vList5"/>
    <dgm:cxn modelId="{2A3BBED2-AAB0-4EC7-8261-5FE50985DFBB}" type="presParOf" srcId="{6692E7BF-1345-4A14-B151-06AC51E0BB68}" destId="{26D6943B-B66D-4B2D-AA18-DF8538114F1B}" srcOrd="0" destOrd="0" presId="urn:microsoft.com/office/officeart/2005/8/layout/vList5"/>
    <dgm:cxn modelId="{517E9A49-6500-4AAF-BDA2-B9FF698DF3A5}" type="presParOf" srcId="{6692E7BF-1345-4A14-B151-06AC51E0BB68}" destId="{5F5D41F7-E3A1-4CA5-BD2C-6D07099CE9E3}"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F81C7DD6-A5C7-49AA-AAAF-CB8AD2B67B7B}"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fr-FR"/>
        </a:p>
      </dgm:t>
    </dgm:pt>
    <dgm:pt modelId="{3474CEAC-3ABB-4D12-B131-007919AB9B70}">
      <dgm:prSet phldrT="[Texte]" custT="1"/>
      <dgm:spPr/>
      <dgm:t>
        <a:bodyPr/>
        <a:lstStyle/>
        <a:p>
          <a:r>
            <a:rPr lang="fr-CI" sz="1900" b="1" dirty="0"/>
            <a:t>Phénoméniste</a:t>
          </a:r>
          <a:r>
            <a:rPr lang="fr-CI" sz="1900" dirty="0"/>
            <a:t> </a:t>
          </a:r>
          <a:endParaRPr lang="fr-FR" sz="1900" dirty="0"/>
        </a:p>
      </dgm:t>
    </dgm:pt>
    <dgm:pt modelId="{27F79BD6-3DD9-42BF-ADD3-CE4B11A715F0}" type="parTrans" cxnId="{712CC045-F45E-461F-B916-1C6F3167853E}">
      <dgm:prSet/>
      <dgm:spPr/>
      <dgm:t>
        <a:bodyPr/>
        <a:lstStyle/>
        <a:p>
          <a:endParaRPr lang="fr-FR" sz="1900"/>
        </a:p>
      </dgm:t>
    </dgm:pt>
    <dgm:pt modelId="{28F44BD3-6727-4200-B29F-E0677FE0A8DD}" type="sibTrans" cxnId="{712CC045-F45E-461F-B916-1C6F3167853E}">
      <dgm:prSet/>
      <dgm:spPr/>
      <dgm:t>
        <a:bodyPr/>
        <a:lstStyle/>
        <a:p>
          <a:endParaRPr lang="fr-FR" sz="1900"/>
        </a:p>
      </dgm:t>
    </dgm:pt>
    <dgm:pt modelId="{391708E6-ACEF-43D4-8FCA-40E6CE9D65E7}">
      <dgm:prSet phldrT="[Texte]" custT="1"/>
      <dgm:spPr/>
      <dgm:t>
        <a:bodyPr/>
        <a:lstStyle/>
        <a:p>
          <a:r>
            <a:rPr lang="fr-CI" sz="1800" dirty="0">
              <a:latin typeface="Calibri" panose="020F0502020204030204" pitchFamily="34" charset="0"/>
              <a:cs typeface="Calibri" panose="020F0502020204030204" pitchFamily="34" charset="0"/>
            </a:rPr>
            <a:t>Mach soutient une attitude </a:t>
          </a:r>
          <a:r>
            <a:rPr lang="fr-CI" sz="1800" b="1" dirty="0">
              <a:latin typeface="Calibri" panose="020F0502020204030204" pitchFamily="34" charset="0"/>
              <a:cs typeface="Calibri" panose="020F0502020204030204" pitchFamily="34" charset="0"/>
            </a:rPr>
            <a:t>phénoméniste</a:t>
          </a:r>
          <a:r>
            <a:rPr lang="fr-CI" sz="1800" dirty="0">
              <a:latin typeface="Calibri" panose="020F0502020204030204" pitchFamily="34" charset="0"/>
              <a:cs typeface="Calibri" panose="020F0502020204030204" pitchFamily="34" charset="0"/>
            </a:rPr>
            <a:t> : la science ne s’occupe que des phénomènes, des apparences telles qu’elles se présentent à l’expérience ; toute prétention d’atteindre une réalité « au-delà » des apparences serait une prétention « métaphysique », vaine et vouée à l’échec. Pour cette raison, Mach s’est toujours opposé à la théorie atomique car pour lui les atomes étaient des objets métaphysiques hors d’atteinte pour l’expérimentation, qui pour cette raison devaient être laissés en dehors de toute considération scientifique.</a:t>
          </a:r>
          <a:endParaRPr lang="fr-FR" sz="1800" dirty="0">
            <a:latin typeface="Calibri" panose="020F0502020204030204" pitchFamily="34" charset="0"/>
            <a:cs typeface="Calibri" panose="020F0502020204030204" pitchFamily="34" charset="0"/>
          </a:endParaRPr>
        </a:p>
      </dgm:t>
    </dgm:pt>
    <dgm:pt modelId="{5AE062E0-081F-4655-9CE2-0C6DDE9572E6}" type="parTrans" cxnId="{C6C34128-3C31-4334-A720-F60D07812D64}">
      <dgm:prSet/>
      <dgm:spPr/>
      <dgm:t>
        <a:bodyPr/>
        <a:lstStyle/>
        <a:p>
          <a:endParaRPr lang="fr-FR" sz="1900"/>
        </a:p>
      </dgm:t>
    </dgm:pt>
    <dgm:pt modelId="{97469148-0DFF-4D17-8357-D2B8F6116615}" type="sibTrans" cxnId="{C6C34128-3C31-4334-A720-F60D07812D64}">
      <dgm:prSet/>
      <dgm:spPr/>
      <dgm:t>
        <a:bodyPr/>
        <a:lstStyle/>
        <a:p>
          <a:endParaRPr lang="fr-FR" sz="1900"/>
        </a:p>
      </dgm:t>
    </dgm:pt>
    <dgm:pt modelId="{328D1FA8-3FE8-4FAB-84ED-3482E2117DB7}">
      <dgm:prSet phldrT="[Texte]" custT="1"/>
      <dgm:spPr/>
      <dgm:t>
        <a:bodyPr/>
        <a:lstStyle/>
        <a:p>
          <a:r>
            <a:rPr lang="fr-FR" sz="1900" b="1" kern="1200" dirty="0">
              <a:solidFill>
                <a:prstClr val="white"/>
              </a:solidFill>
              <a:latin typeface="Century Gothic" panose="020B0502020202020204"/>
              <a:ea typeface="+mn-ea"/>
              <a:cs typeface="+mn-cs"/>
            </a:rPr>
            <a:t>Instrumentaliste</a:t>
          </a:r>
          <a:endParaRPr lang="fr-FR" sz="1900" kern="1200" dirty="0">
            <a:latin typeface="Calibri" panose="020F0502020204030204" pitchFamily="34" charset="0"/>
            <a:cs typeface="Calibri" panose="020F0502020204030204" pitchFamily="34" charset="0"/>
          </a:endParaRPr>
        </a:p>
      </dgm:t>
    </dgm:pt>
    <dgm:pt modelId="{BB5F6DCC-5B0F-45AF-9787-44D42B0F5394}" type="parTrans" cxnId="{0515CB2C-0ACD-4A78-BC55-DC265C467927}">
      <dgm:prSet/>
      <dgm:spPr/>
      <dgm:t>
        <a:bodyPr/>
        <a:lstStyle/>
        <a:p>
          <a:endParaRPr lang="fr-FR"/>
        </a:p>
      </dgm:t>
    </dgm:pt>
    <dgm:pt modelId="{1CC86D2F-C826-4183-A467-BF948BD530B7}" type="sibTrans" cxnId="{0515CB2C-0ACD-4A78-BC55-DC265C467927}">
      <dgm:prSet/>
      <dgm:spPr/>
      <dgm:t>
        <a:bodyPr/>
        <a:lstStyle/>
        <a:p>
          <a:endParaRPr lang="fr-FR"/>
        </a:p>
      </dgm:t>
    </dgm:pt>
    <dgm:pt modelId="{9514C3C2-0DD0-4DF0-8C34-1AFBC5B142BA}">
      <dgm:prSet phldrT="[Texte]" custT="1"/>
      <dgm:spPr/>
      <dgm:t>
        <a:bodyPr/>
        <a:lstStyle/>
        <a:p>
          <a:pPr>
            <a:buFont typeface="Symbol" panose="05050102010706020507" pitchFamily="18" charset="2"/>
            <a:buChar char=""/>
          </a:pPr>
          <a:r>
            <a:rPr lang="fr-CI" sz="1900" dirty="0">
              <a:latin typeface="Calibri" panose="020F0502020204030204" pitchFamily="34" charset="0"/>
              <a:cs typeface="Calibri" panose="020F0502020204030204" pitchFamily="34" charset="0"/>
            </a:rPr>
            <a:t>La position de Mach est aussi </a:t>
          </a:r>
          <a:r>
            <a:rPr lang="fr-CI" sz="1900" b="1" dirty="0">
              <a:latin typeface="Calibri" panose="020F0502020204030204" pitchFamily="34" charset="0"/>
              <a:cs typeface="Calibri" panose="020F0502020204030204" pitchFamily="34" charset="0"/>
            </a:rPr>
            <a:t>instrumentaliste</a:t>
          </a:r>
          <a:r>
            <a:rPr lang="fr-CI" sz="1900" dirty="0">
              <a:latin typeface="Calibri" panose="020F0502020204030204" pitchFamily="34" charset="0"/>
              <a:cs typeface="Calibri" panose="020F0502020204030204" pitchFamily="34" charset="0"/>
            </a:rPr>
            <a:t> : la science a comme finalité l’économie de la pensée : pouvoir énoncer des lois et des théories qui permettent d’épargner de nombreuses expériences, mais dont il est impossible de dire si elles sont vraies ou fausses. La science ne serait qu’un instrument utile pour que l’homme puisse s’adapter à son milieu. La science de Mach ne prétend qu’être utile, sans chercher à être vraie.</a:t>
          </a:r>
          <a:endParaRPr lang="fr-FR" sz="1900" dirty="0">
            <a:latin typeface="Calibri" panose="020F0502020204030204" pitchFamily="34" charset="0"/>
            <a:cs typeface="Calibri" panose="020F0502020204030204" pitchFamily="34" charset="0"/>
          </a:endParaRPr>
        </a:p>
      </dgm:t>
    </dgm:pt>
    <dgm:pt modelId="{BF3AE075-9921-4CF9-B3E1-CC296E35B99B}" type="parTrans" cxnId="{F2029726-0CCC-482C-90E1-56127EA1DE63}">
      <dgm:prSet/>
      <dgm:spPr/>
      <dgm:t>
        <a:bodyPr/>
        <a:lstStyle/>
        <a:p>
          <a:endParaRPr lang="fr-FR"/>
        </a:p>
      </dgm:t>
    </dgm:pt>
    <dgm:pt modelId="{2F46569D-62A6-47D3-8983-544E96A86693}" type="sibTrans" cxnId="{F2029726-0CCC-482C-90E1-56127EA1DE63}">
      <dgm:prSet/>
      <dgm:spPr/>
      <dgm:t>
        <a:bodyPr/>
        <a:lstStyle/>
        <a:p>
          <a:endParaRPr lang="fr-FR"/>
        </a:p>
      </dgm:t>
    </dgm:pt>
    <dgm:pt modelId="{BF86C617-7AA7-4568-814A-891697912001}" type="pres">
      <dgm:prSet presAssocID="{F81C7DD6-A5C7-49AA-AAAF-CB8AD2B67B7B}" presName="Name0" presStyleCnt="0">
        <dgm:presLayoutVars>
          <dgm:dir/>
          <dgm:animLvl val="lvl"/>
          <dgm:resizeHandles val="exact"/>
        </dgm:presLayoutVars>
      </dgm:prSet>
      <dgm:spPr/>
    </dgm:pt>
    <dgm:pt modelId="{6692E7BF-1345-4A14-B151-06AC51E0BB68}" type="pres">
      <dgm:prSet presAssocID="{3474CEAC-3ABB-4D12-B131-007919AB9B70}" presName="linNode" presStyleCnt="0"/>
      <dgm:spPr/>
    </dgm:pt>
    <dgm:pt modelId="{26D6943B-B66D-4B2D-AA18-DF8538114F1B}" type="pres">
      <dgm:prSet presAssocID="{3474CEAC-3ABB-4D12-B131-007919AB9B70}" presName="parentText" presStyleLbl="node1" presStyleIdx="0" presStyleCnt="2" custScaleX="67666" custScaleY="72294" custLinFactNeighborX="156">
        <dgm:presLayoutVars>
          <dgm:chMax val="1"/>
          <dgm:bulletEnabled val="1"/>
        </dgm:presLayoutVars>
      </dgm:prSet>
      <dgm:spPr/>
    </dgm:pt>
    <dgm:pt modelId="{5F5D41F7-E3A1-4CA5-BD2C-6D07099CE9E3}" type="pres">
      <dgm:prSet presAssocID="{3474CEAC-3ABB-4D12-B131-007919AB9B70}" presName="descendantText" presStyleLbl="alignAccFollowNode1" presStyleIdx="0" presStyleCnt="2" custScaleX="117032" custScaleY="94101" custLinFactNeighborX="-1589">
        <dgm:presLayoutVars>
          <dgm:bulletEnabled val="1"/>
        </dgm:presLayoutVars>
      </dgm:prSet>
      <dgm:spPr/>
    </dgm:pt>
    <dgm:pt modelId="{7CFD6635-ECC6-4C8D-BE42-EFB87E335A39}" type="pres">
      <dgm:prSet presAssocID="{28F44BD3-6727-4200-B29F-E0677FE0A8DD}" presName="sp" presStyleCnt="0"/>
      <dgm:spPr/>
    </dgm:pt>
    <dgm:pt modelId="{4B151D8F-BCBD-45F8-ACD7-02FF7DA8D400}" type="pres">
      <dgm:prSet presAssocID="{328D1FA8-3FE8-4FAB-84ED-3482E2117DB7}" presName="linNode" presStyleCnt="0"/>
      <dgm:spPr/>
    </dgm:pt>
    <dgm:pt modelId="{AD70A291-9824-4DC3-BC14-BC325D6ACD38}" type="pres">
      <dgm:prSet presAssocID="{328D1FA8-3FE8-4FAB-84ED-3482E2117DB7}" presName="parentText" presStyleLbl="node1" presStyleIdx="1" presStyleCnt="2" custScaleX="92001" custScaleY="79928" custLinFactNeighborY="22">
        <dgm:presLayoutVars>
          <dgm:chMax val="1"/>
          <dgm:bulletEnabled val="1"/>
        </dgm:presLayoutVars>
      </dgm:prSet>
      <dgm:spPr/>
    </dgm:pt>
    <dgm:pt modelId="{39C2284A-7419-499B-8921-2037CE3B7B16}" type="pres">
      <dgm:prSet presAssocID="{328D1FA8-3FE8-4FAB-84ED-3482E2117DB7}" presName="descendantText" presStyleLbl="alignAccFollowNode1" presStyleIdx="1" presStyleCnt="2" custScaleX="161960" custLinFactNeighborX="-3426">
        <dgm:presLayoutVars>
          <dgm:bulletEnabled val="1"/>
        </dgm:presLayoutVars>
      </dgm:prSet>
      <dgm:spPr/>
    </dgm:pt>
  </dgm:ptLst>
  <dgm:cxnLst>
    <dgm:cxn modelId="{F2029726-0CCC-482C-90E1-56127EA1DE63}" srcId="{328D1FA8-3FE8-4FAB-84ED-3482E2117DB7}" destId="{9514C3C2-0DD0-4DF0-8C34-1AFBC5B142BA}" srcOrd="0" destOrd="0" parTransId="{BF3AE075-9921-4CF9-B3E1-CC296E35B99B}" sibTransId="{2F46569D-62A6-47D3-8983-544E96A86693}"/>
    <dgm:cxn modelId="{C6C34128-3C31-4334-A720-F60D07812D64}" srcId="{3474CEAC-3ABB-4D12-B131-007919AB9B70}" destId="{391708E6-ACEF-43D4-8FCA-40E6CE9D65E7}" srcOrd="0" destOrd="0" parTransId="{5AE062E0-081F-4655-9CE2-0C6DDE9572E6}" sibTransId="{97469148-0DFF-4D17-8357-D2B8F6116615}"/>
    <dgm:cxn modelId="{0515CB2C-0ACD-4A78-BC55-DC265C467927}" srcId="{F81C7DD6-A5C7-49AA-AAAF-CB8AD2B67B7B}" destId="{328D1FA8-3FE8-4FAB-84ED-3482E2117DB7}" srcOrd="1" destOrd="0" parTransId="{BB5F6DCC-5B0F-45AF-9787-44D42B0F5394}" sibTransId="{1CC86D2F-C826-4183-A467-BF948BD530B7}"/>
    <dgm:cxn modelId="{712CC045-F45E-461F-B916-1C6F3167853E}" srcId="{F81C7DD6-A5C7-49AA-AAAF-CB8AD2B67B7B}" destId="{3474CEAC-3ABB-4D12-B131-007919AB9B70}" srcOrd="0" destOrd="0" parTransId="{27F79BD6-3DD9-42BF-ADD3-CE4B11A715F0}" sibTransId="{28F44BD3-6727-4200-B29F-E0677FE0A8DD}"/>
    <dgm:cxn modelId="{3CBDFF7E-E9A9-4852-97FC-56D590276751}" type="presOf" srcId="{328D1FA8-3FE8-4FAB-84ED-3482E2117DB7}" destId="{AD70A291-9824-4DC3-BC14-BC325D6ACD38}" srcOrd="0" destOrd="0" presId="urn:microsoft.com/office/officeart/2005/8/layout/vList5"/>
    <dgm:cxn modelId="{9C4C5687-E526-4765-BDEB-F7AD0AE33F09}" type="presOf" srcId="{3474CEAC-3ABB-4D12-B131-007919AB9B70}" destId="{26D6943B-B66D-4B2D-AA18-DF8538114F1B}" srcOrd="0" destOrd="0" presId="urn:microsoft.com/office/officeart/2005/8/layout/vList5"/>
    <dgm:cxn modelId="{23175E94-0447-4A4D-B08D-8D971EF5E4CA}" type="presOf" srcId="{F81C7DD6-A5C7-49AA-AAAF-CB8AD2B67B7B}" destId="{BF86C617-7AA7-4568-814A-891697912001}" srcOrd="0" destOrd="0" presId="urn:microsoft.com/office/officeart/2005/8/layout/vList5"/>
    <dgm:cxn modelId="{252353F5-402D-4A50-842A-2BC9E50ECC4E}" type="presOf" srcId="{9514C3C2-0DD0-4DF0-8C34-1AFBC5B142BA}" destId="{39C2284A-7419-499B-8921-2037CE3B7B16}" srcOrd="0" destOrd="0" presId="urn:microsoft.com/office/officeart/2005/8/layout/vList5"/>
    <dgm:cxn modelId="{732B96FC-C32B-48A4-AC68-2BD6EB5A29EF}" type="presOf" srcId="{391708E6-ACEF-43D4-8FCA-40E6CE9D65E7}" destId="{5F5D41F7-E3A1-4CA5-BD2C-6D07099CE9E3}" srcOrd="0" destOrd="0" presId="urn:microsoft.com/office/officeart/2005/8/layout/vList5"/>
    <dgm:cxn modelId="{64472F1D-D39C-4B9C-9F9E-B09858D5A93B}" type="presParOf" srcId="{BF86C617-7AA7-4568-814A-891697912001}" destId="{6692E7BF-1345-4A14-B151-06AC51E0BB68}" srcOrd="0" destOrd="0" presId="urn:microsoft.com/office/officeart/2005/8/layout/vList5"/>
    <dgm:cxn modelId="{2A3BBED2-AAB0-4EC7-8261-5FE50985DFBB}" type="presParOf" srcId="{6692E7BF-1345-4A14-B151-06AC51E0BB68}" destId="{26D6943B-B66D-4B2D-AA18-DF8538114F1B}" srcOrd="0" destOrd="0" presId="urn:microsoft.com/office/officeart/2005/8/layout/vList5"/>
    <dgm:cxn modelId="{517E9A49-6500-4AAF-BDA2-B9FF698DF3A5}" type="presParOf" srcId="{6692E7BF-1345-4A14-B151-06AC51E0BB68}" destId="{5F5D41F7-E3A1-4CA5-BD2C-6D07099CE9E3}" srcOrd="1" destOrd="0" presId="urn:microsoft.com/office/officeart/2005/8/layout/vList5"/>
    <dgm:cxn modelId="{C69AA9AB-A1FC-4965-BD90-9F2DB4814900}" type="presParOf" srcId="{BF86C617-7AA7-4568-814A-891697912001}" destId="{7CFD6635-ECC6-4C8D-BE42-EFB87E335A39}" srcOrd="1" destOrd="0" presId="urn:microsoft.com/office/officeart/2005/8/layout/vList5"/>
    <dgm:cxn modelId="{2DCD2AB5-B8B1-481D-A410-2F3293466699}" type="presParOf" srcId="{BF86C617-7AA7-4568-814A-891697912001}" destId="{4B151D8F-BCBD-45F8-ACD7-02FF7DA8D400}" srcOrd="2" destOrd="0" presId="urn:microsoft.com/office/officeart/2005/8/layout/vList5"/>
    <dgm:cxn modelId="{FEF1EA19-9522-4D90-8904-C405DFDA3E8E}" type="presParOf" srcId="{4B151D8F-BCBD-45F8-ACD7-02FF7DA8D400}" destId="{AD70A291-9824-4DC3-BC14-BC325D6ACD38}" srcOrd="0" destOrd="0" presId="urn:microsoft.com/office/officeart/2005/8/layout/vList5"/>
    <dgm:cxn modelId="{AE0107E2-D663-4D43-86B2-503D02F48CE2}" type="presParOf" srcId="{4B151D8F-BCBD-45F8-ACD7-02FF7DA8D400}" destId="{39C2284A-7419-499B-8921-2037CE3B7B16}"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87899FB5-179C-4501-918E-53A2E6FDCBD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32E55DDD-E8E0-4AA7-9A21-55DE28C2659B}">
      <dgm:prSet phldrT="[Texte]" custT="1"/>
      <dgm:spPr/>
      <dgm:t>
        <a:bodyPr/>
        <a:lstStyle/>
        <a:p>
          <a:r>
            <a:rPr lang="fr-CI" sz="1900" dirty="0"/>
            <a:t>Quelle est la valeur de la connaissance scientifique ? </a:t>
          </a:r>
          <a:endParaRPr lang="fr-FR" sz="1900" dirty="0"/>
        </a:p>
      </dgm:t>
    </dgm:pt>
    <dgm:pt modelId="{AB704A7D-315B-4597-80C6-2AFE3E54C3DE}" type="parTrans" cxnId="{14258E57-9F11-4E42-B51F-1A83B047F2A9}">
      <dgm:prSet/>
      <dgm:spPr/>
      <dgm:t>
        <a:bodyPr/>
        <a:lstStyle/>
        <a:p>
          <a:endParaRPr lang="fr-FR" sz="1900"/>
        </a:p>
      </dgm:t>
    </dgm:pt>
    <dgm:pt modelId="{26A08988-B142-4E87-A5DA-C76F01FB86B6}" type="sibTrans" cxnId="{14258E57-9F11-4E42-B51F-1A83B047F2A9}">
      <dgm:prSet/>
      <dgm:spPr/>
      <dgm:t>
        <a:bodyPr/>
        <a:lstStyle/>
        <a:p>
          <a:endParaRPr lang="fr-FR" sz="1900"/>
        </a:p>
      </dgm:t>
    </dgm:pt>
    <dgm:pt modelId="{C847E616-02DC-485C-AD0A-D149780E7A5F}">
      <dgm:prSet phldrT="[Texte]" custT="1"/>
      <dgm:spPr/>
      <dgm:t>
        <a:bodyPr/>
        <a:lstStyle/>
        <a:p>
          <a:r>
            <a:rPr lang="fr-CI" sz="1900" dirty="0">
              <a:latin typeface="Calibri" panose="020F0502020204030204" pitchFamily="34" charset="0"/>
              <a:cs typeface="Calibri" panose="020F0502020204030204" pitchFamily="34" charset="0"/>
            </a:rPr>
            <a:t>On veut donner un concept de réalisme et se pas cantonner dans le conventionnalisme et instrumentalisme) </a:t>
          </a:r>
          <a:endParaRPr lang="fr-FR" sz="1900" dirty="0">
            <a:latin typeface="Calibri" panose="020F0502020204030204" pitchFamily="34" charset="0"/>
            <a:cs typeface="Calibri" panose="020F0502020204030204" pitchFamily="34" charset="0"/>
          </a:endParaRPr>
        </a:p>
      </dgm:t>
    </dgm:pt>
    <dgm:pt modelId="{32D88CCF-BFE5-4FA3-8583-6EC49B760B38}" type="parTrans" cxnId="{DB0F886F-7EB3-497F-9BA9-8FE79B7DF5DB}">
      <dgm:prSet/>
      <dgm:spPr/>
      <dgm:t>
        <a:bodyPr/>
        <a:lstStyle/>
        <a:p>
          <a:endParaRPr lang="fr-FR" sz="1900"/>
        </a:p>
      </dgm:t>
    </dgm:pt>
    <dgm:pt modelId="{3A2EEED9-5CAF-4425-8FB5-C8F5CA2B6A67}" type="sibTrans" cxnId="{DB0F886F-7EB3-497F-9BA9-8FE79B7DF5DB}">
      <dgm:prSet/>
      <dgm:spPr/>
      <dgm:t>
        <a:bodyPr/>
        <a:lstStyle/>
        <a:p>
          <a:endParaRPr lang="fr-FR" sz="1900"/>
        </a:p>
      </dgm:t>
    </dgm:pt>
    <dgm:pt modelId="{88F460E3-4911-4AEE-B61E-3AD80FD2E78E}">
      <dgm:prSet phldrT="[Texte]" custT="1"/>
      <dgm:spPr/>
      <dgm:t>
        <a:bodyPr/>
        <a:lstStyle/>
        <a:p>
          <a:r>
            <a:rPr lang="fr-CI" sz="1900" dirty="0"/>
            <a:t>Quelles sont les répercussions sociales de la science ?</a:t>
          </a:r>
          <a:endParaRPr lang="fr-FR" sz="1900" dirty="0"/>
        </a:p>
      </dgm:t>
    </dgm:pt>
    <dgm:pt modelId="{37C3BE5F-4729-4898-912C-A88FA7B4305C}" type="parTrans" cxnId="{8B044A9C-8F22-43E2-896C-C504ED203F6F}">
      <dgm:prSet/>
      <dgm:spPr/>
      <dgm:t>
        <a:bodyPr/>
        <a:lstStyle/>
        <a:p>
          <a:endParaRPr lang="fr-FR" sz="1900"/>
        </a:p>
      </dgm:t>
    </dgm:pt>
    <dgm:pt modelId="{ACFB00AE-E8AA-41BB-B60C-7C5C6AF22E7C}" type="sibTrans" cxnId="{8B044A9C-8F22-43E2-896C-C504ED203F6F}">
      <dgm:prSet/>
      <dgm:spPr/>
      <dgm:t>
        <a:bodyPr/>
        <a:lstStyle/>
        <a:p>
          <a:endParaRPr lang="fr-FR" sz="1900"/>
        </a:p>
      </dgm:t>
    </dgm:pt>
    <dgm:pt modelId="{5C37611C-ECB9-46D6-867B-2A665C448C1E}">
      <dgm:prSet phldrT="[Texte]" custT="1"/>
      <dgm:spPr/>
      <dgm:t>
        <a:bodyPr/>
        <a:lstStyle/>
        <a:p>
          <a:r>
            <a:rPr lang="fr-CI" sz="1900" dirty="0">
              <a:latin typeface="Calibri" panose="020F0502020204030204" pitchFamily="34" charset="0"/>
              <a:cs typeface="Calibri" panose="020F0502020204030204" pitchFamily="34" charset="0"/>
            </a:rPr>
            <a:t>Plusieurs auteurs ont tenté, dans un grand débats scientifiques international, de répondre à ces questions. Il faut comprendre que ces questionnements sont provoqués par les incertitudes mêmes que le progrès scientifique a provoquées. Ce sont : </a:t>
          </a:r>
          <a:r>
            <a:rPr lang="fr-CI" sz="1900" b="1" dirty="0">
              <a:latin typeface="Calibri" panose="020F0502020204030204" pitchFamily="34" charset="0"/>
              <a:cs typeface="Calibri" panose="020F0502020204030204" pitchFamily="34" charset="0"/>
            </a:rPr>
            <a:t>Karl Popper, Thomas Kuhn, Imre </a:t>
          </a:r>
          <a:r>
            <a:rPr lang="fr-CI" sz="1900" b="1" dirty="0" err="1">
              <a:latin typeface="Calibri" panose="020F0502020204030204" pitchFamily="34" charset="0"/>
              <a:cs typeface="Calibri" panose="020F0502020204030204" pitchFamily="34" charset="0"/>
            </a:rPr>
            <a:t>Lakatos</a:t>
          </a:r>
          <a:r>
            <a:rPr lang="fr-CI" sz="1900" b="1" dirty="0">
              <a:latin typeface="Calibri" panose="020F0502020204030204" pitchFamily="34" charset="0"/>
              <a:cs typeface="Calibri" panose="020F0502020204030204" pitchFamily="34" charset="0"/>
            </a:rPr>
            <a:t> et Paul Feyerabend.</a:t>
          </a:r>
          <a:endParaRPr lang="fr-FR" sz="1900" b="1" dirty="0">
            <a:latin typeface="Calibri" panose="020F0502020204030204" pitchFamily="34" charset="0"/>
            <a:cs typeface="Calibri" panose="020F0502020204030204" pitchFamily="34" charset="0"/>
          </a:endParaRPr>
        </a:p>
      </dgm:t>
    </dgm:pt>
    <dgm:pt modelId="{0A360AEF-8E98-4968-B0F2-9DE5DD8CCD3E}" type="parTrans" cxnId="{5982FED8-A9F7-4B93-93AF-339C477B1918}">
      <dgm:prSet/>
      <dgm:spPr/>
      <dgm:t>
        <a:bodyPr/>
        <a:lstStyle/>
        <a:p>
          <a:endParaRPr lang="fr-FR" sz="1900"/>
        </a:p>
      </dgm:t>
    </dgm:pt>
    <dgm:pt modelId="{D1E703F1-0530-4630-A67C-0C771FF3D477}" type="sibTrans" cxnId="{5982FED8-A9F7-4B93-93AF-339C477B1918}">
      <dgm:prSet/>
      <dgm:spPr/>
      <dgm:t>
        <a:bodyPr/>
        <a:lstStyle/>
        <a:p>
          <a:endParaRPr lang="fr-FR" sz="1900"/>
        </a:p>
      </dgm:t>
    </dgm:pt>
    <dgm:pt modelId="{BA664E69-FD90-4F5E-9789-452653345EDC}">
      <dgm:prSet phldrT="[Texte]" custT="1"/>
      <dgm:spPr/>
      <dgm:t>
        <a:bodyPr/>
        <a:lstStyle/>
        <a:p>
          <a:endParaRPr lang="fr-FR" sz="1900" dirty="0">
            <a:latin typeface="Calibri" panose="020F0502020204030204" pitchFamily="34" charset="0"/>
            <a:cs typeface="Calibri" panose="020F0502020204030204" pitchFamily="34" charset="0"/>
          </a:endParaRPr>
        </a:p>
      </dgm:t>
    </dgm:pt>
    <dgm:pt modelId="{A3230169-B1AE-4DEE-831D-9870C0F0B55B}" type="parTrans" cxnId="{BBD1F2DD-A43E-431F-8ABD-81E1E9B7F7FA}">
      <dgm:prSet/>
      <dgm:spPr/>
      <dgm:t>
        <a:bodyPr/>
        <a:lstStyle/>
        <a:p>
          <a:endParaRPr lang="fr-FR"/>
        </a:p>
      </dgm:t>
    </dgm:pt>
    <dgm:pt modelId="{5A8A998E-F973-428C-8683-1F7E0E049A6B}" type="sibTrans" cxnId="{BBD1F2DD-A43E-431F-8ABD-81E1E9B7F7FA}">
      <dgm:prSet/>
      <dgm:spPr/>
      <dgm:t>
        <a:bodyPr/>
        <a:lstStyle/>
        <a:p>
          <a:endParaRPr lang="fr-FR"/>
        </a:p>
      </dgm:t>
    </dgm:pt>
    <dgm:pt modelId="{6398D1BB-41CF-436A-BAB3-84C8A19807B9}">
      <dgm:prSet phldrT="[Texte]" custT="1"/>
      <dgm:spPr/>
      <dgm:t>
        <a:bodyPr/>
        <a:lstStyle/>
        <a:p>
          <a:endParaRPr lang="fr-FR" sz="1900" dirty="0">
            <a:latin typeface="Calibri" panose="020F0502020204030204" pitchFamily="34" charset="0"/>
            <a:cs typeface="Calibri" panose="020F0502020204030204" pitchFamily="34" charset="0"/>
          </a:endParaRPr>
        </a:p>
      </dgm:t>
    </dgm:pt>
    <dgm:pt modelId="{079B6149-9351-439C-BE47-1EFE77DD251D}" type="parTrans" cxnId="{53C21A2A-2513-442D-B2F3-357C45B78743}">
      <dgm:prSet/>
      <dgm:spPr/>
      <dgm:t>
        <a:bodyPr/>
        <a:lstStyle/>
        <a:p>
          <a:endParaRPr lang="fr-FR"/>
        </a:p>
      </dgm:t>
    </dgm:pt>
    <dgm:pt modelId="{36765A1A-961D-4FAB-8B7A-23E7907625D0}" type="sibTrans" cxnId="{53C21A2A-2513-442D-B2F3-357C45B78743}">
      <dgm:prSet/>
      <dgm:spPr/>
      <dgm:t>
        <a:bodyPr/>
        <a:lstStyle/>
        <a:p>
          <a:endParaRPr lang="fr-FR"/>
        </a:p>
      </dgm:t>
    </dgm:pt>
    <dgm:pt modelId="{6C81DBA8-3E31-489D-A08D-B54F70ADC5E4}" type="pres">
      <dgm:prSet presAssocID="{87899FB5-179C-4501-918E-53A2E6FDCBDE}" presName="linear" presStyleCnt="0">
        <dgm:presLayoutVars>
          <dgm:animLvl val="lvl"/>
          <dgm:resizeHandles val="exact"/>
        </dgm:presLayoutVars>
      </dgm:prSet>
      <dgm:spPr/>
    </dgm:pt>
    <dgm:pt modelId="{7DB0DC2F-0609-49C7-8236-633D54D141F6}" type="pres">
      <dgm:prSet presAssocID="{32E55DDD-E8E0-4AA7-9A21-55DE28C2659B}" presName="parentText" presStyleLbl="node1" presStyleIdx="0" presStyleCnt="2" custScaleY="45963">
        <dgm:presLayoutVars>
          <dgm:chMax val="0"/>
          <dgm:bulletEnabled val="1"/>
        </dgm:presLayoutVars>
      </dgm:prSet>
      <dgm:spPr/>
    </dgm:pt>
    <dgm:pt modelId="{420FD1BC-756D-434F-92C0-4CEAC010B0CC}" type="pres">
      <dgm:prSet presAssocID="{32E55DDD-E8E0-4AA7-9A21-55DE28C2659B}" presName="childText" presStyleLbl="revTx" presStyleIdx="0" presStyleCnt="2">
        <dgm:presLayoutVars>
          <dgm:bulletEnabled val="1"/>
        </dgm:presLayoutVars>
      </dgm:prSet>
      <dgm:spPr/>
    </dgm:pt>
    <dgm:pt modelId="{B616CE23-363C-4A9C-AE09-8B835649FDF7}" type="pres">
      <dgm:prSet presAssocID="{88F460E3-4911-4AEE-B61E-3AD80FD2E78E}" presName="parentText" presStyleLbl="node1" presStyleIdx="1" presStyleCnt="2" custScaleY="47054">
        <dgm:presLayoutVars>
          <dgm:chMax val="0"/>
          <dgm:bulletEnabled val="1"/>
        </dgm:presLayoutVars>
      </dgm:prSet>
      <dgm:spPr/>
    </dgm:pt>
    <dgm:pt modelId="{C5EAD3AA-505D-4ABE-9106-16075D412E71}" type="pres">
      <dgm:prSet presAssocID="{88F460E3-4911-4AEE-B61E-3AD80FD2E78E}" presName="childText" presStyleLbl="revTx" presStyleIdx="1" presStyleCnt="2">
        <dgm:presLayoutVars>
          <dgm:bulletEnabled val="1"/>
        </dgm:presLayoutVars>
      </dgm:prSet>
      <dgm:spPr/>
    </dgm:pt>
  </dgm:ptLst>
  <dgm:cxnLst>
    <dgm:cxn modelId="{0F6BFD00-F6F7-490E-AA50-222838B2B028}" type="presOf" srcId="{88F460E3-4911-4AEE-B61E-3AD80FD2E78E}" destId="{B616CE23-363C-4A9C-AE09-8B835649FDF7}" srcOrd="0" destOrd="0" presId="urn:microsoft.com/office/officeart/2005/8/layout/vList2"/>
    <dgm:cxn modelId="{F9B1EB0E-CAC0-4DA8-8583-1A63398915F7}" type="presOf" srcId="{6398D1BB-41CF-436A-BAB3-84C8A19807B9}" destId="{C5EAD3AA-505D-4ABE-9106-16075D412E71}" srcOrd="0" destOrd="0" presId="urn:microsoft.com/office/officeart/2005/8/layout/vList2"/>
    <dgm:cxn modelId="{BB3E7525-01E7-4F7F-A2ED-6F43F9F0B0D2}" type="presOf" srcId="{5C37611C-ECB9-46D6-867B-2A665C448C1E}" destId="{C5EAD3AA-505D-4ABE-9106-16075D412E71}" srcOrd="0" destOrd="1" presId="urn:microsoft.com/office/officeart/2005/8/layout/vList2"/>
    <dgm:cxn modelId="{53C21A2A-2513-442D-B2F3-357C45B78743}" srcId="{88F460E3-4911-4AEE-B61E-3AD80FD2E78E}" destId="{6398D1BB-41CF-436A-BAB3-84C8A19807B9}" srcOrd="0" destOrd="0" parTransId="{079B6149-9351-439C-BE47-1EFE77DD251D}" sibTransId="{36765A1A-961D-4FAB-8B7A-23E7907625D0}"/>
    <dgm:cxn modelId="{499B685C-0D4A-4389-AD1F-4432503B459B}" type="presOf" srcId="{C847E616-02DC-485C-AD0A-D149780E7A5F}" destId="{420FD1BC-756D-434F-92C0-4CEAC010B0CC}" srcOrd="0" destOrd="1" presId="urn:microsoft.com/office/officeart/2005/8/layout/vList2"/>
    <dgm:cxn modelId="{DB0F886F-7EB3-497F-9BA9-8FE79B7DF5DB}" srcId="{32E55DDD-E8E0-4AA7-9A21-55DE28C2659B}" destId="{C847E616-02DC-485C-AD0A-D149780E7A5F}" srcOrd="1" destOrd="0" parTransId="{32D88CCF-BFE5-4FA3-8583-6EC49B760B38}" sibTransId="{3A2EEED9-5CAF-4425-8FB5-C8F5CA2B6A67}"/>
    <dgm:cxn modelId="{14258E57-9F11-4E42-B51F-1A83B047F2A9}" srcId="{87899FB5-179C-4501-918E-53A2E6FDCBDE}" destId="{32E55DDD-E8E0-4AA7-9A21-55DE28C2659B}" srcOrd="0" destOrd="0" parTransId="{AB704A7D-315B-4597-80C6-2AFE3E54C3DE}" sibTransId="{26A08988-B142-4E87-A5DA-C76F01FB86B6}"/>
    <dgm:cxn modelId="{8B044A9C-8F22-43E2-896C-C504ED203F6F}" srcId="{87899FB5-179C-4501-918E-53A2E6FDCBDE}" destId="{88F460E3-4911-4AEE-B61E-3AD80FD2E78E}" srcOrd="1" destOrd="0" parTransId="{37C3BE5F-4729-4898-912C-A88FA7B4305C}" sibTransId="{ACFB00AE-E8AA-41BB-B60C-7C5C6AF22E7C}"/>
    <dgm:cxn modelId="{1DAFB2A1-B8E1-445D-8D90-2667DDEFF158}" type="presOf" srcId="{32E55DDD-E8E0-4AA7-9A21-55DE28C2659B}" destId="{7DB0DC2F-0609-49C7-8236-633D54D141F6}" srcOrd="0" destOrd="0" presId="urn:microsoft.com/office/officeart/2005/8/layout/vList2"/>
    <dgm:cxn modelId="{C1FCB3C9-C312-4F3E-9359-4B00A559342A}" type="presOf" srcId="{BA664E69-FD90-4F5E-9789-452653345EDC}" destId="{420FD1BC-756D-434F-92C0-4CEAC010B0CC}" srcOrd="0" destOrd="0" presId="urn:microsoft.com/office/officeart/2005/8/layout/vList2"/>
    <dgm:cxn modelId="{C82D37D6-C6DB-4CA6-9677-E17B91DA9B80}" type="presOf" srcId="{87899FB5-179C-4501-918E-53A2E6FDCBDE}" destId="{6C81DBA8-3E31-489D-A08D-B54F70ADC5E4}" srcOrd="0" destOrd="0" presId="urn:microsoft.com/office/officeart/2005/8/layout/vList2"/>
    <dgm:cxn modelId="{5982FED8-A9F7-4B93-93AF-339C477B1918}" srcId="{88F460E3-4911-4AEE-B61E-3AD80FD2E78E}" destId="{5C37611C-ECB9-46D6-867B-2A665C448C1E}" srcOrd="1" destOrd="0" parTransId="{0A360AEF-8E98-4968-B0F2-9DE5DD8CCD3E}" sibTransId="{D1E703F1-0530-4630-A67C-0C771FF3D477}"/>
    <dgm:cxn modelId="{BBD1F2DD-A43E-431F-8ABD-81E1E9B7F7FA}" srcId="{32E55DDD-E8E0-4AA7-9A21-55DE28C2659B}" destId="{BA664E69-FD90-4F5E-9789-452653345EDC}" srcOrd="0" destOrd="0" parTransId="{A3230169-B1AE-4DEE-831D-9870C0F0B55B}" sibTransId="{5A8A998E-F973-428C-8683-1F7E0E049A6B}"/>
    <dgm:cxn modelId="{21472DC7-E6B7-44F1-919B-332EB634F11A}" type="presParOf" srcId="{6C81DBA8-3E31-489D-A08D-B54F70ADC5E4}" destId="{7DB0DC2F-0609-49C7-8236-633D54D141F6}" srcOrd="0" destOrd="0" presId="urn:microsoft.com/office/officeart/2005/8/layout/vList2"/>
    <dgm:cxn modelId="{A9AC296D-4FF5-48AD-84ED-92F44DFC2AE0}" type="presParOf" srcId="{6C81DBA8-3E31-489D-A08D-B54F70ADC5E4}" destId="{420FD1BC-756D-434F-92C0-4CEAC010B0CC}" srcOrd="1" destOrd="0" presId="urn:microsoft.com/office/officeart/2005/8/layout/vList2"/>
    <dgm:cxn modelId="{99D00E09-4740-435D-8350-E6D5044E3A83}" type="presParOf" srcId="{6C81DBA8-3E31-489D-A08D-B54F70ADC5E4}" destId="{B616CE23-363C-4A9C-AE09-8B835649FDF7}" srcOrd="2" destOrd="0" presId="urn:microsoft.com/office/officeart/2005/8/layout/vList2"/>
    <dgm:cxn modelId="{5FF432C6-BCD7-41DC-9541-D826FD4E404E}" type="presParOf" srcId="{6C81DBA8-3E31-489D-A08D-B54F70ADC5E4}" destId="{C5EAD3AA-505D-4ABE-9106-16075D412E71}"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5FC4FAA6-E0CE-4A60-8004-15B9099030D4}"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fr-FR"/>
        </a:p>
      </dgm:t>
    </dgm:pt>
    <dgm:pt modelId="{62A0EEF5-12E9-463A-841E-B1F09840656C}">
      <dgm:prSet phldrT="[Texte]"/>
      <dgm:spPr/>
      <dgm:t>
        <a:bodyPr/>
        <a:lstStyle/>
        <a:p>
          <a:r>
            <a:rPr lang="fr-CI" b="1" dirty="0"/>
            <a:t>Karl R. Popper et son rationalisme</a:t>
          </a:r>
          <a:endParaRPr lang="fr-FR" dirty="0"/>
        </a:p>
      </dgm:t>
    </dgm:pt>
    <dgm:pt modelId="{5354B826-2CFE-4398-A911-A762CAE4A64C}" type="parTrans" cxnId="{302EBA1D-A539-484E-92E8-11C2B4F1E231}">
      <dgm:prSet/>
      <dgm:spPr/>
      <dgm:t>
        <a:bodyPr/>
        <a:lstStyle/>
        <a:p>
          <a:endParaRPr lang="fr-FR"/>
        </a:p>
      </dgm:t>
    </dgm:pt>
    <dgm:pt modelId="{FAC099DB-828B-4351-A1AE-22A9FDBEEC4B}" type="sibTrans" cxnId="{302EBA1D-A539-484E-92E8-11C2B4F1E231}">
      <dgm:prSet/>
      <dgm:spPr/>
      <dgm:t>
        <a:bodyPr/>
        <a:lstStyle/>
        <a:p>
          <a:endParaRPr lang="fr-FR"/>
        </a:p>
      </dgm:t>
    </dgm:pt>
    <dgm:pt modelId="{12900389-1EAA-477B-9987-9945366AF0DC}">
      <dgm:prSet phldrT="[Texte]" custT="1"/>
      <dgm:spPr/>
      <dgm:t>
        <a:bodyPr/>
        <a:lstStyle/>
        <a:p>
          <a:pPr algn="just"/>
          <a:r>
            <a:rPr lang="fr-CI" sz="1850" dirty="0">
              <a:latin typeface="Calibri" panose="020F0502020204030204" pitchFamily="34" charset="0"/>
              <a:cs typeface="Calibri" panose="020F0502020204030204" pitchFamily="34" charset="0"/>
            </a:rPr>
            <a:t>Karl R. Popper (1902-1994) est concitoyen et contemporain des hommes du Cercle de Vienne avec qui il partage avec l’intérêt pour la philosophie de la science mais, tout en étant agnostique (de famille juive convertie au protestantisme), il accorde de l’importance aux problèmes métaphysiques.</a:t>
          </a:r>
        </a:p>
        <a:p>
          <a:pPr algn="just"/>
          <a:endParaRPr lang="fr-FR" sz="1850" dirty="0">
            <a:latin typeface="Calibri" panose="020F0502020204030204" pitchFamily="34" charset="0"/>
            <a:cs typeface="Calibri" panose="020F0502020204030204" pitchFamily="34" charset="0"/>
          </a:endParaRPr>
        </a:p>
        <a:p>
          <a:pPr algn="just"/>
          <a:r>
            <a:rPr lang="fr-CI" sz="1850" dirty="0">
              <a:latin typeface="Calibri" panose="020F0502020204030204" pitchFamily="34" charset="0"/>
              <a:cs typeface="Calibri" panose="020F0502020204030204" pitchFamily="34" charset="0"/>
            </a:rPr>
            <a:t>Pour lui la philosophie de la science et l’éthique sociale sont liées. Il soutient, contrairement aux néopositivistes, que les théories scientifiques ne peuvent jamais être vérifiées. </a:t>
          </a:r>
          <a:endParaRPr lang="fr-FR" sz="1850" dirty="0">
            <a:latin typeface="Calibri" panose="020F0502020204030204" pitchFamily="34" charset="0"/>
            <a:cs typeface="Calibri" panose="020F0502020204030204" pitchFamily="34" charset="0"/>
          </a:endParaRPr>
        </a:p>
        <a:p>
          <a:pPr algn="just"/>
          <a:r>
            <a:rPr lang="fr-CI" sz="1850" dirty="0">
              <a:latin typeface="Calibri" panose="020F0502020204030204" pitchFamily="34" charset="0"/>
              <a:cs typeface="Calibri" panose="020F0502020204030204" pitchFamily="34" charset="0"/>
            </a:rPr>
            <a:t>Il insiste sur le caractère conjectural de notre connaissance. Cependant nous ne pouvons pas nier que malgré le caractère limité de notre connaissance, nous ne parvenons pas à de vraies certitudes. Sinon, il n’y aura pas de voitures qui fonctionnent même si elles peuvent faire des accidents.</a:t>
          </a:r>
        </a:p>
        <a:p>
          <a:pPr algn="just"/>
          <a:endParaRPr lang="fr-FR" sz="1850" dirty="0">
            <a:latin typeface="Calibri" panose="020F0502020204030204" pitchFamily="34" charset="0"/>
            <a:cs typeface="Calibri" panose="020F0502020204030204" pitchFamily="34" charset="0"/>
          </a:endParaRPr>
        </a:p>
        <a:p>
          <a:pPr algn="just"/>
          <a:r>
            <a:rPr lang="fr-CI" sz="1850" dirty="0">
              <a:latin typeface="Calibri" panose="020F0502020204030204" pitchFamily="34" charset="0"/>
              <a:cs typeface="Calibri" panose="020F0502020204030204" pitchFamily="34" charset="0"/>
            </a:rPr>
            <a:t>Le rationalisme critique de Popper est valable et utile dans la mesure où il invite à l’ouverture mentale devant de nouvelles expériences. Il constitue un bon antidote contre le refus non seulement d’aller plus loin, mais aussi de compter sur d’autres domaines de la science.</a:t>
          </a:r>
          <a:endParaRPr lang="fr-FR" sz="1850" dirty="0">
            <a:latin typeface="Calibri" panose="020F0502020204030204" pitchFamily="34" charset="0"/>
            <a:cs typeface="Calibri" panose="020F0502020204030204" pitchFamily="34" charset="0"/>
          </a:endParaRPr>
        </a:p>
      </dgm:t>
    </dgm:pt>
    <dgm:pt modelId="{CB181881-FB92-4D38-B0A5-76690E1D18E2}" type="parTrans" cxnId="{4168CC84-B92B-44C7-872E-88A316826334}">
      <dgm:prSet/>
      <dgm:spPr/>
      <dgm:t>
        <a:bodyPr/>
        <a:lstStyle/>
        <a:p>
          <a:endParaRPr lang="fr-FR"/>
        </a:p>
      </dgm:t>
    </dgm:pt>
    <dgm:pt modelId="{13EA1173-5E76-4B10-877A-2A110D9523B1}" type="sibTrans" cxnId="{4168CC84-B92B-44C7-872E-88A316826334}">
      <dgm:prSet/>
      <dgm:spPr/>
      <dgm:t>
        <a:bodyPr/>
        <a:lstStyle/>
        <a:p>
          <a:endParaRPr lang="fr-FR"/>
        </a:p>
      </dgm:t>
    </dgm:pt>
    <dgm:pt modelId="{7E774602-78A1-48C7-BC92-D265856C40DF}" type="pres">
      <dgm:prSet presAssocID="{5FC4FAA6-E0CE-4A60-8004-15B9099030D4}" presName="vert0" presStyleCnt="0">
        <dgm:presLayoutVars>
          <dgm:dir/>
          <dgm:animOne val="branch"/>
          <dgm:animLvl val="lvl"/>
        </dgm:presLayoutVars>
      </dgm:prSet>
      <dgm:spPr/>
    </dgm:pt>
    <dgm:pt modelId="{93FF7C33-EE94-4012-BD45-F39920F4CB6F}" type="pres">
      <dgm:prSet presAssocID="{62A0EEF5-12E9-463A-841E-B1F09840656C}" presName="thickLine" presStyleLbl="alignNode1" presStyleIdx="0" presStyleCnt="1"/>
      <dgm:spPr/>
    </dgm:pt>
    <dgm:pt modelId="{D50BE3C7-2E2D-4A65-8C76-0508631D3649}" type="pres">
      <dgm:prSet presAssocID="{62A0EEF5-12E9-463A-841E-B1F09840656C}" presName="horz1" presStyleCnt="0"/>
      <dgm:spPr/>
    </dgm:pt>
    <dgm:pt modelId="{AF5D6CDB-5CEE-4492-8519-D4C3254F2237}" type="pres">
      <dgm:prSet presAssocID="{62A0EEF5-12E9-463A-841E-B1F09840656C}" presName="tx1" presStyleLbl="revTx" presStyleIdx="0" presStyleCnt="2"/>
      <dgm:spPr/>
    </dgm:pt>
    <dgm:pt modelId="{EBE96285-BC60-4304-AAC7-D57A27A91B17}" type="pres">
      <dgm:prSet presAssocID="{62A0EEF5-12E9-463A-841E-B1F09840656C}" presName="vert1" presStyleCnt="0"/>
      <dgm:spPr/>
    </dgm:pt>
    <dgm:pt modelId="{08460664-9ED0-4778-A0CA-B56CBF7EF264}" type="pres">
      <dgm:prSet presAssocID="{12900389-1EAA-477B-9987-9945366AF0DC}" presName="vertSpace2a" presStyleCnt="0"/>
      <dgm:spPr/>
    </dgm:pt>
    <dgm:pt modelId="{BE001B17-65DF-4B53-AE60-32D2ACB36DF2}" type="pres">
      <dgm:prSet presAssocID="{12900389-1EAA-477B-9987-9945366AF0DC}" presName="horz2" presStyleCnt="0"/>
      <dgm:spPr/>
    </dgm:pt>
    <dgm:pt modelId="{E95E7868-A1B8-4279-BF68-D0F674C65AFC}" type="pres">
      <dgm:prSet presAssocID="{12900389-1EAA-477B-9987-9945366AF0DC}" presName="horzSpace2" presStyleCnt="0"/>
      <dgm:spPr/>
    </dgm:pt>
    <dgm:pt modelId="{43B1B0C8-57E0-4946-AE37-4BE7236A38CE}" type="pres">
      <dgm:prSet presAssocID="{12900389-1EAA-477B-9987-9945366AF0DC}" presName="tx2" presStyleLbl="revTx" presStyleIdx="1" presStyleCnt="2" custLinFactNeighborY="-4127"/>
      <dgm:spPr/>
    </dgm:pt>
    <dgm:pt modelId="{A0EAE59F-CDF5-4A36-9CE8-0E4F59AD0095}" type="pres">
      <dgm:prSet presAssocID="{12900389-1EAA-477B-9987-9945366AF0DC}" presName="vert2" presStyleCnt="0"/>
      <dgm:spPr/>
    </dgm:pt>
    <dgm:pt modelId="{0CE3C4DE-7650-4401-B694-D01624DC0160}" type="pres">
      <dgm:prSet presAssocID="{12900389-1EAA-477B-9987-9945366AF0DC}" presName="thinLine2b" presStyleLbl="callout" presStyleIdx="0" presStyleCnt="1" custLinFactNeighborY="56537"/>
      <dgm:spPr/>
    </dgm:pt>
    <dgm:pt modelId="{C91B5D22-2932-483B-BA17-759CA8C37E31}" type="pres">
      <dgm:prSet presAssocID="{12900389-1EAA-477B-9987-9945366AF0DC}" presName="vertSpace2b" presStyleCnt="0"/>
      <dgm:spPr/>
    </dgm:pt>
  </dgm:ptLst>
  <dgm:cxnLst>
    <dgm:cxn modelId="{1EFBA51B-7E4B-40D0-99D1-BC3553306526}" type="presOf" srcId="{62A0EEF5-12E9-463A-841E-B1F09840656C}" destId="{AF5D6CDB-5CEE-4492-8519-D4C3254F2237}" srcOrd="0" destOrd="0" presId="urn:microsoft.com/office/officeart/2008/layout/LinedList"/>
    <dgm:cxn modelId="{302EBA1D-A539-484E-92E8-11C2B4F1E231}" srcId="{5FC4FAA6-E0CE-4A60-8004-15B9099030D4}" destId="{62A0EEF5-12E9-463A-841E-B1F09840656C}" srcOrd="0" destOrd="0" parTransId="{5354B826-2CFE-4398-A911-A762CAE4A64C}" sibTransId="{FAC099DB-828B-4351-A1AE-22A9FDBEEC4B}"/>
    <dgm:cxn modelId="{4168CC84-B92B-44C7-872E-88A316826334}" srcId="{62A0EEF5-12E9-463A-841E-B1F09840656C}" destId="{12900389-1EAA-477B-9987-9945366AF0DC}" srcOrd="0" destOrd="0" parTransId="{CB181881-FB92-4D38-B0A5-76690E1D18E2}" sibTransId="{13EA1173-5E76-4B10-877A-2A110D9523B1}"/>
    <dgm:cxn modelId="{31F86897-366D-49A2-A34F-A7A28387F9B2}" type="presOf" srcId="{12900389-1EAA-477B-9987-9945366AF0DC}" destId="{43B1B0C8-57E0-4946-AE37-4BE7236A38CE}" srcOrd="0" destOrd="0" presId="urn:microsoft.com/office/officeart/2008/layout/LinedList"/>
    <dgm:cxn modelId="{448A36B0-7DE3-4EEE-B216-83180DAF4443}" type="presOf" srcId="{5FC4FAA6-E0CE-4A60-8004-15B9099030D4}" destId="{7E774602-78A1-48C7-BC92-D265856C40DF}" srcOrd="0" destOrd="0" presId="urn:microsoft.com/office/officeart/2008/layout/LinedList"/>
    <dgm:cxn modelId="{2DDB3B5B-A561-453A-9092-4B514F3A452B}" type="presParOf" srcId="{7E774602-78A1-48C7-BC92-D265856C40DF}" destId="{93FF7C33-EE94-4012-BD45-F39920F4CB6F}" srcOrd="0" destOrd="0" presId="urn:microsoft.com/office/officeart/2008/layout/LinedList"/>
    <dgm:cxn modelId="{2B23759D-4B22-4FA6-90FB-A7265F28BFCC}" type="presParOf" srcId="{7E774602-78A1-48C7-BC92-D265856C40DF}" destId="{D50BE3C7-2E2D-4A65-8C76-0508631D3649}" srcOrd="1" destOrd="0" presId="urn:microsoft.com/office/officeart/2008/layout/LinedList"/>
    <dgm:cxn modelId="{0F787F93-D0B4-40E0-A573-B44153F45944}" type="presParOf" srcId="{D50BE3C7-2E2D-4A65-8C76-0508631D3649}" destId="{AF5D6CDB-5CEE-4492-8519-D4C3254F2237}" srcOrd="0" destOrd="0" presId="urn:microsoft.com/office/officeart/2008/layout/LinedList"/>
    <dgm:cxn modelId="{51CB319A-DA09-46D6-BA0D-6E8E6816AFCE}" type="presParOf" srcId="{D50BE3C7-2E2D-4A65-8C76-0508631D3649}" destId="{EBE96285-BC60-4304-AAC7-D57A27A91B17}" srcOrd="1" destOrd="0" presId="urn:microsoft.com/office/officeart/2008/layout/LinedList"/>
    <dgm:cxn modelId="{1F63A4A0-50AB-43A1-97E6-573AE56F48E0}" type="presParOf" srcId="{EBE96285-BC60-4304-AAC7-D57A27A91B17}" destId="{08460664-9ED0-4778-A0CA-B56CBF7EF264}" srcOrd="0" destOrd="0" presId="urn:microsoft.com/office/officeart/2008/layout/LinedList"/>
    <dgm:cxn modelId="{A40130C6-7DC3-48CA-BA5A-CF07B1D4A495}" type="presParOf" srcId="{EBE96285-BC60-4304-AAC7-D57A27A91B17}" destId="{BE001B17-65DF-4B53-AE60-32D2ACB36DF2}" srcOrd="1" destOrd="0" presId="urn:microsoft.com/office/officeart/2008/layout/LinedList"/>
    <dgm:cxn modelId="{681B2EF7-E641-484C-95A9-7695279B0443}" type="presParOf" srcId="{BE001B17-65DF-4B53-AE60-32D2ACB36DF2}" destId="{E95E7868-A1B8-4279-BF68-D0F674C65AFC}" srcOrd="0" destOrd="0" presId="urn:microsoft.com/office/officeart/2008/layout/LinedList"/>
    <dgm:cxn modelId="{5FC8EAB9-3DEB-4F22-A334-BAF00709657A}" type="presParOf" srcId="{BE001B17-65DF-4B53-AE60-32D2ACB36DF2}" destId="{43B1B0C8-57E0-4946-AE37-4BE7236A38CE}" srcOrd="1" destOrd="0" presId="urn:microsoft.com/office/officeart/2008/layout/LinedList"/>
    <dgm:cxn modelId="{B48CA41A-E194-40D4-A960-0D1E7C524A7A}" type="presParOf" srcId="{BE001B17-65DF-4B53-AE60-32D2ACB36DF2}" destId="{A0EAE59F-CDF5-4A36-9CE8-0E4F59AD0095}" srcOrd="2" destOrd="0" presId="urn:microsoft.com/office/officeart/2008/layout/LinedList"/>
    <dgm:cxn modelId="{5251BED6-28FF-40C3-8307-3680C792A837}" type="presParOf" srcId="{EBE96285-BC60-4304-AAC7-D57A27A91B17}" destId="{0CE3C4DE-7650-4401-B694-D01624DC0160}" srcOrd="2" destOrd="0" presId="urn:microsoft.com/office/officeart/2008/layout/LinedList"/>
    <dgm:cxn modelId="{1379D21A-44D5-4790-938F-37BB58C07EBF}" type="presParOf" srcId="{EBE96285-BC60-4304-AAC7-D57A27A91B17}" destId="{C91B5D22-2932-483B-BA17-759CA8C37E31}"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5FC4FAA6-E0CE-4A60-8004-15B9099030D4}"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fr-FR"/>
        </a:p>
      </dgm:t>
    </dgm:pt>
    <dgm:pt modelId="{62A0EEF5-12E9-463A-841E-B1F09840656C}">
      <dgm:prSet phldrT="[Texte]"/>
      <dgm:spPr/>
      <dgm:t>
        <a:bodyPr/>
        <a:lstStyle/>
        <a:p>
          <a:r>
            <a:rPr lang="fr-CI" b="1" dirty="0"/>
            <a:t>La philosophie, l’histoire et la sociologie de la science chez Thomas S. Kuhn</a:t>
          </a:r>
          <a:endParaRPr lang="fr-FR" dirty="0"/>
        </a:p>
      </dgm:t>
    </dgm:pt>
    <dgm:pt modelId="{5354B826-2CFE-4398-A911-A762CAE4A64C}" type="parTrans" cxnId="{302EBA1D-A539-484E-92E8-11C2B4F1E231}">
      <dgm:prSet/>
      <dgm:spPr/>
      <dgm:t>
        <a:bodyPr/>
        <a:lstStyle/>
        <a:p>
          <a:endParaRPr lang="fr-FR"/>
        </a:p>
      </dgm:t>
    </dgm:pt>
    <dgm:pt modelId="{FAC099DB-828B-4351-A1AE-22A9FDBEEC4B}" type="sibTrans" cxnId="{302EBA1D-A539-484E-92E8-11C2B4F1E231}">
      <dgm:prSet/>
      <dgm:spPr/>
      <dgm:t>
        <a:bodyPr/>
        <a:lstStyle/>
        <a:p>
          <a:endParaRPr lang="fr-FR"/>
        </a:p>
      </dgm:t>
    </dgm:pt>
    <dgm:pt modelId="{12900389-1EAA-477B-9987-9945366AF0DC}">
      <dgm:prSet phldrT="[Texte]" custT="1"/>
      <dgm:spPr/>
      <dgm:t>
        <a:bodyPr/>
        <a:lstStyle/>
        <a:p>
          <a:pPr algn="just"/>
          <a:r>
            <a:rPr lang="fr-CI" sz="1850" dirty="0">
              <a:latin typeface="Calibri" panose="020F0502020204030204" pitchFamily="34" charset="0"/>
              <a:cs typeface="Calibri" panose="020F0502020204030204" pitchFamily="34" charset="0"/>
            </a:rPr>
            <a:t>Thomas S. Kuhn (1922-1996) analyse les sciences de la nature en examinant leur développement historique réel et en étudiant le comportement des scientifiques : comment ils utilisent, acceptent ou rejettent les théories scientifiques. Il parle de deux types d’activité scientifique : </a:t>
          </a:r>
          <a:endParaRPr lang="fr-FR" sz="1850" dirty="0">
            <a:latin typeface="Calibri" panose="020F0502020204030204" pitchFamily="34" charset="0"/>
            <a:cs typeface="Calibri" panose="020F0502020204030204" pitchFamily="34" charset="0"/>
          </a:endParaRPr>
        </a:p>
        <a:p>
          <a:pPr algn="just">
            <a:buFont typeface="Symbol" panose="05050102010706020507" pitchFamily="18" charset="2"/>
            <a:buChar char=""/>
          </a:pPr>
          <a:r>
            <a:rPr lang="fr-CI" sz="1850" dirty="0">
              <a:latin typeface="Calibri" panose="020F0502020204030204" pitchFamily="34" charset="0"/>
              <a:cs typeface="Calibri" panose="020F0502020204030204" pitchFamily="34" charset="0"/>
            </a:rPr>
            <a:t>la « science normale » : lorsque la communauté scientifique admet certaines théories sans discussion et cherche donc à résoudre le problème. En 1965 eut lieu un débat célèbre entre Popper et Kuhn, à Londres, à l’occasion d’un congrès international de philosophie de la science. Popper admet que la « science normale » existe, ce qu’il regrette, il ressent de la compassion mâtinée de mépris pour ce scientifique « normal » incapable de mettre en question son travail.</a:t>
          </a:r>
          <a:endParaRPr lang="fr-FR" sz="1850" dirty="0">
            <a:latin typeface="Calibri" panose="020F0502020204030204" pitchFamily="34" charset="0"/>
            <a:cs typeface="Calibri" panose="020F0502020204030204" pitchFamily="34" charset="0"/>
          </a:endParaRPr>
        </a:p>
        <a:p>
          <a:pPr algn="just">
            <a:buFont typeface="Symbol" panose="05050102010706020507" pitchFamily="18" charset="2"/>
            <a:buChar char=""/>
          </a:pPr>
          <a:r>
            <a:rPr lang="fr-CI" sz="1850" dirty="0">
              <a:latin typeface="Calibri" panose="020F0502020204030204" pitchFamily="34" charset="0"/>
              <a:cs typeface="Calibri" panose="020F0502020204030204" pitchFamily="34" charset="0"/>
            </a:rPr>
            <a:t>la « science extraordinaire », au sein de laquelle se produisent les « révolutions scientifiques». Kuhn, qui se démarque de façon explicite de la vision des positivistes et de celle de Popper, prétend avaliser sa conception du progrès scientifique avec des exemples tirés de l’histoire de la science ; le succès de ses théories provoqua un grand engouement pour les études historiques ; </a:t>
          </a:r>
          <a:r>
            <a:rPr lang="fr-CI" sz="1850" b="1" dirty="0">
              <a:latin typeface="Calibri" panose="020F0502020204030204" pitchFamily="34" charset="0"/>
              <a:cs typeface="Calibri" panose="020F0502020204030204" pitchFamily="34" charset="0"/>
            </a:rPr>
            <a:t>l’épistémologie s’est déplacée du terrain logique vers celui de l’histoire.</a:t>
          </a:r>
          <a:endParaRPr lang="fr-FR" sz="1850" dirty="0">
            <a:latin typeface="Calibri" panose="020F0502020204030204" pitchFamily="34" charset="0"/>
            <a:cs typeface="Calibri" panose="020F0502020204030204" pitchFamily="34" charset="0"/>
          </a:endParaRPr>
        </a:p>
        <a:p>
          <a:pPr algn="just"/>
          <a:r>
            <a:rPr lang="fr-CI" sz="1850" dirty="0">
              <a:latin typeface="Calibri" panose="020F0502020204030204" pitchFamily="34" charset="0"/>
              <a:cs typeface="Calibri" panose="020F0502020204030204" pitchFamily="34" charset="0"/>
            </a:rPr>
            <a:t>En revanche, le grand danger de l’analyse sociologique et historique est d’oublier que </a:t>
          </a:r>
          <a:r>
            <a:rPr lang="fr-CI" sz="1850" b="1" dirty="0">
              <a:latin typeface="Calibri" panose="020F0502020204030204" pitchFamily="34" charset="0"/>
              <a:cs typeface="Calibri" panose="020F0502020204030204" pitchFamily="34" charset="0"/>
            </a:rPr>
            <a:t>l’objectif central de la science est la recherche de la vérité</a:t>
          </a:r>
          <a:r>
            <a:rPr lang="fr-CI" sz="1850" dirty="0">
              <a:latin typeface="Calibri" panose="020F0502020204030204" pitchFamily="34" charset="0"/>
              <a:cs typeface="Calibri" panose="020F0502020204030204" pitchFamily="34" charset="0"/>
            </a:rPr>
            <a:t>. En fait, Kuhn ne parle guère de la vérité dans ses écrits.</a:t>
          </a:r>
          <a:endParaRPr lang="fr-FR" sz="1850" dirty="0">
            <a:latin typeface="Calibri" panose="020F0502020204030204" pitchFamily="34" charset="0"/>
            <a:cs typeface="Calibri" panose="020F0502020204030204" pitchFamily="34" charset="0"/>
          </a:endParaRPr>
        </a:p>
      </dgm:t>
    </dgm:pt>
    <dgm:pt modelId="{CB181881-FB92-4D38-B0A5-76690E1D18E2}" type="parTrans" cxnId="{4168CC84-B92B-44C7-872E-88A316826334}">
      <dgm:prSet/>
      <dgm:spPr/>
      <dgm:t>
        <a:bodyPr/>
        <a:lstStyle/>
        <a:p>
          <a:endParaRPr lang="fr-FR"/>
        </a:p>
      </dgm:t>
    </dgm:pt>
    <dgm:pt modelId="{13EA1173-5E76-4B10-877A-2A110D9523B1}" type="sibTrans" cxnId="{4168CC84-B92B-44C7-872E-88A316826334}">
      <dgm:prSet/>
      <dgm:spPr/>
      <dgm:t>
        <a:bodyPr/>
        <a:lstStyle/>
        <a:p>
          <a:endParaRPr lang="fr-FR"/>
        </a:p>
      </dgm:t>
    </dgm:pt>
    <dgm:pt modelId="{7E774602-78A1-48C7-BC92-D265856C40DF}" type="pres">
      <dgm:prSet presAssocID="{5FC4FAA6-E0CE-4A60-8004-15B9099030D4}" presName="vert0" presStyleCnt="0">
        <dgm:presLayoutVars>
          <dgm:dir/>
          <dgm:animOne val="branch"/>
          <dgm:animLvl val="lvl"/>
        </dgm:presLayoutVars>
      </dgm:prSet>
      <dgm:spPr/>
    </dgm:pt>
    <dgm:pt modelId="{93FF7C33-EE94-4012-BD45-F39920F4CB6F}" type="pres">
      <dgm:prSet presAssocID="{62A0EEF5-12E9-463A-841E-B1F09840656C}" presName="thickLine" presStyleLbl="alignNode1" presStyleIdx="0" presStyleCnt="1"/>
      <dgm:spPr/>
    </dgm:pt>
    <dgm:pt modelId="{D50BE3C7-2E2D-4A65-8C76-0508631D3649}" type="pres">
      <dgm:prSet presAssocID="{62A0EEF5-12E9-463A-841E-B1F09840656C}" presName="horz1" presStyleCnt="0"/>
      <dgm:spPr/>
    </dgm:pt>
    <dgm:pt modelId="{AF5D6CDB-5CEE-4492-8519-D4C3254F2237}" type="pres">
      <dgm:prSet presAssocID="{62A0EEF5-12E9-463A-841E-B1F09840656C}" presName="tx1" presStyleLbl="revTx" presStyleIdx="0" presStyleCnt="2"/>
      <dgm:spPr/>
    </dgm:pt>
    <dgm:pt modelId="{EBE96285-BC60-4304-AAC7-D57A27A91B17}" type="pres">
      <dgm:prSet presAssocID="{62A0EEF5-12E9-463A-841E-B1F09840656C}" presName="vert1" presStyleCnt="0"/>
      <dgm:spPr/>
    </dgm:pt>
    <dgm:pt modelId="{08460664-9ED0-4778-A0CA-B56CBF7EF264}" type="pres">
      <dgm:prSet presAssocID="{12900389-1EAA-477B-9987-9945366AF0DC}" presName="vertSpace2a" presStyleCnt="0"/>
      <dgm:spPr/>
    </dgm:pt>
    <dgm:pt modelId="{BE001B17-65DF-4B53-AE60-32D2ACB36DF2}" type="pres">
      <dgm:prSet presAssocID="{12900389-1EAA-477B-9987-9945366AF0DC}" presName="horz2" presStyleCnt="0"/>
      <dgm:spPr/>
    </dgm:pt>
    <dgm:pt modelId="{E95E7868-A1B8-4279-BF68-D0F674C65AFC}" type="pres">
      <dgm:prSet presAssocID="{12900389-1EAA-477B-9987-9945366AF0DC}" presName="horzSpace2" presStyleCnt="0"/>
      <dgm:spPr/>
    </dgm:pt>
    <dgm:pt modelId="{43B1B0C8-57E0-4946-AE37-4BE7236A38CE}" type="pres">
      <dgm:prSet presAssocID="{12900389-1EAA-477B-9987-9945366AF0DC}" presName="tx2" presStyleLbl="revTx" presStyleIdx="1" presStyleCnt="2" custLinFactNeighborY="-4126"/>
      <dgm:spPr/>
    </dgm:pt>
    <dgm:pt modelId="{A0EAE59F-CDF5-4A36-9CE8-0E4F59AD0095}" type="pres">
      <dgm:prSet presAssocID="{12900389-1EAA-477B-9987-9945366AF0DC}" presName="vert2" presStyleCnt="0"/>
      <dgm:spPr/>
    </dgm:pt>
    <dgm:pt modelId="{0CE3C4DE-7650-4401-B694-D01624DC0160}" type="pres">
      <dgm:prSet presAssocID="{12900389-1EAA-477B-9987-9945366AF0DC}" presName="thinLine2b" presStyleLbl="callout" presStyleIdx="0" presStyleCnt="1" custLinFactNeighborY="56537"/>
      <dgm:spPr/>
    </dgm:pt>
    <dgm:pt modelId="{C91B5D22-2932-483B-BA17-759CA8C37E31}" type="pres">
      <dgm:prSet presAssocID="{12900389-1EAA-477B-9987-9945366AF0DC}" presName="vertSpace2b" presStyleCnt="0"/>
      <dgm:spPr/>
    </dgm:pt>
  </dgm:ptLst>
  <dgm:cxnLst>
    <dgm:cxn modelId="{1EFBA51B-7E4B-40D0-99D1-BC3553306526}" type="presOf" srcId="{62A0EEF5-12E9-463A-841E-B1F09840656C}" destId="{AF5D6CDB-5CEE-4492-8519-D4C3254F2237}" srcOrd="0" destOrd="0" presId="urn:microsoft.com/office/officeart/2008/layout/LinedList"/>
    <dgm:cxn modelId="{302EBA1D-A539-484E-92E8-11C2B4F1E231}" srcId="{5FC4FAA6-E0CE-4A60-8004-15B9099030D4}" destId="{62A0EEF5-12E9-463A-841E-B1F09840656C}" srcOrd="0" destOrd="0" parTransId="{5354B826-2CFE-4398-A911-A762CAE4A64C}" sibTransId="{FAC099DB-828B-4351-A1AE-22A9FDBEEC4B}"/>
    <dgm:cxn modelId="{4168CC84-B92B-44C7-872E-88A316826334}" srcId="{62A0EEF5-12E9-463A-841E-B1F09840656C}" destId="{12900389-1EAA-477B-9987-9945366AF0DC}" srcOrd="0" destOrd="0" parTransId="{CB181881-FB92-4D38-B0A5-76690E1D18E2}" sibTransId="{13EA1173-5E76-4B10-877A-2A110D9523B1}"/>
    <dgm:cxn modelId="{31F86897-366D-49A2-A34F-A7A28387F9B2}" type="presOf" srcId="{12900389-1EAA-477B-9987-9945366AF0DC}" destId="{43B1B0C8-57E0-4946-AE37-4BE7236A38CE}" srcOrd="0" destOrd="0" presId="urn:microsoft.com/office/officeart/2008/layout/LinedList"/>
    <dgm:cxn modelId="{448A36B0-7DE3-4EEE-B216-83180DAF4443}" type="presOf" srcId="{5FC4FAA6-E0CE-4A60-8004-15B9099030D4}" destId="{7E774602-78A1-48C7-BC92-D265856C40DF}" srcOrd="0" destOrd="0" presId="urn:microsoft.com/office/officeart/2008/layout/LinedList"/>
    <dgm:cxn modelId="{2DDB3B5B-A561-453A-9092-4B514F3A452B}" type="presParOf" srcId="{7E774602-78A1-48C7-BC92-D265856C40DF}" destId="{93FF7C33-EE94-4012-BD45-F39920F4CB6F}" srcOrd="0" destOrd="0" presId="urn:microsoft.com/office/officeart/2008/layout/LinedList"/>
    <dgm:cxn modelId="{2B23759D-4B22-4FA6-90FB-A7265F28BFCC}" type="presParOf" srcId="{7E774602-78A1-48C7-BC92-D265856C40DF}" destId="{D50BE3C7-2E2D-4A65-8C76-0508631D3649}" srcOrd="1" destOrd="0" presId="urn:microsoft.com/office/officeart/2008/layout/LinedList"/>
    <dgm:cxn modelId="{0F787F93-D0B4-40E0-A573-B44153F45944}" type="presParOf" srcId="{D50BE3C7-2E2D-4A65-8C76-0508631D3649}" destId="{AF5D6CDB-5CEE-4492-8519-D4C3254F2237}" srcOrd="0" destOrd="0" presId="urn:microsoft.com/office/officeart/2008/layout/LinedList"/>
    <dgm:cxn modelId="{51CB319A-DA09-46D6-BA0D-6E8E6816AFCE}" type="presParOf" srcId="{D50BE3C7-2E2D-4A65-8C76-0508631D3649}" destId="{EBE96285-BC60-4304-AAC7-D57A27A91B17}" srcOrd="1" destOrd="0" presId="urn:microsoft.com/office/officeart/2008/layout/LinedList"/>
    <dgm:cxn modelId="{1F63A4A0-50AB-43A1-97E6-573AE56F48E0}" type="presParOf" srcId="{EBE96285-BC60-4304-AAC7-D57A27A91B17}" destId="{08460664-9ED0-4778-A0CA-B56CBF7EF264}" srcOrd="0" destOrd="0" presId="urn:microsoft.com/office/officeart/2008/layout/LinedList"/>
    <dgm:cxn modelId="{A40130C6-7DC3-48CA-BA5A-CF07B1D4A495}" type="presParOf" srcId="{EBE96285-BC60-4304-AAC7-D57A27A91B17}" destId="{BE001B17-65DF-4B53-AE60-32D2ACB36DF2}" srcOrd="1" destOrd="0" presId="urn:microsoft.com/office/officeart/2008/layout/LinedList"/>
    <dgm:cxn modelId="{681B2EF7-E641-484C-95A9-7695279B0443}" type="presParOf" srcId="{BE001B17-65DF-4B53-AE60-32D2ACB36DF2}" destId="{E95E7868-A1B8-4279-BF68-D0F674C65AFC}" srcOrd="0" destOrd="0" presId="urn:microsoft.com/office/officeart/2008/layout/LinedList"/>
    <dgm:cxn modelId="{5FC8EAB9-3DEB-4F22-A334-BAF00709657A}" type="presParOf" srcId="{BE001B17-65DF-4B53-AE60-32D2ACB36DF2}" destId="{43B1B0C8-57E0-4946-AE37-4BE7236A38CE}" srcOrd="1" destOrd="0" presId="urn:microsoft.com/office/officeart/2008/layout/LinedList"/>
    <dgm:cxn modelId="{B48CA41A-E194-40D4-A960-0D1E7C524A7A}" type="presParOf" srcId="{BE001B17-65DF-4B53-AE60-32D2ACB36DF2}" destId="{A0EAE59F-CDF5-4A36-9CE8-0E4F59AD0095}" srcOrd="2" destOrd="0" presId="urn:microsoft.com/office/officeart/2008/layout/LinedList"/>
    <dgm:cxn modelId="{5251BED6-28FF-40C3-8307-3680C792A837}" type="presParOf" srcId="{EBE96285-BC60-4304-AAC7-D57A27A91B17}" destId="{0CE3C4DE-7650-4401-B694-D01624DC0160}" srcOrd="2" destOrd="0" presId="urn:microsoft.com/office/officeart/2008/layout/LinedList"/>
    <dgm:cxn modelId="{1379D21A-44D5-4790-938F-37BB58C07EBF}" type="presParOf" srcId="{EBE96285-BC60-4304-AAC7-D57A27A91B17}" destId="{C91B5D22-2932-483B-BA17-759CA8C37E31}"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5FC4FAA6-E0CE-4A60-8004-15B9099030D4}"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fr-FR"/>
        </a:p>
      </dgm:t>
    </dgm:pt>
    <dgm:pt modelId="{62A0EEF5-12E9-463A-841E-B1F09840656C}">
      <dgm:prSet phldrT="[Texte]"/>
      <dgm:spPr/>
      <dgm:t>
        <a:bodyPr/>
        <a:lstStyle/>
        <a:p>
          <a:r>
            <a:rPr lang="fr-CI" b="1" dirty="0"/>
            <a:t>Paul Feyerabend (1924-1994)</a:t>
          </a:r>
          <a:endParaRPr lang="fr-FR" dirty="0"/>
        </a:p>
      </dgm:t>
    </dgm:pt>
    <dgm:pt modelId="{5354B826-2CFE-4398-A911-A762CAE4A64C}" type="parTrans" cxnId="{302EBA1D-A539-484E-92E8-11C2B4F1E231}">
      <dgm:prSet/>
      <dgm:spPr/>
      <dgm:t>
        <a:bodyPr/>
        <a:lstStyle/>
        <a:p>
          <a:endParaRPr lang="fr-FR"/>
        </a:p>
      </dgm:t>
    </dgm:pt>
    <dgm:pt modelId="{FAC099DB-828B-4351-A1AE-22A9FDBEEC4B}" type="sibTrans" cxnId="{302EBA1D-A539-484E-92E8-11C2B4F1E231}">
      <dgm:prSet/>
      <dgm:spPr/>
      <dgm:t>
        <a:bodyPr/>
        <a:lstStyle/>
        <a:p>
          <a:endParaRPr lang="fr-FR"/>
        </a:p>
      </dgm:t>
    </dgm:pt>
    <dgm:pt modelId="{12900389-1EAA-477B-9987-9945366AF0DC}">
      <dgm:prSet phldrT="[Texte]" custT="1"/>
      <dgm:spPr/>
      <dgm:t>
        <a:bodyPr/>
        <a:lstStyle/>
        <a:p>
          <a:pPr algn="just"/>
          <a:r>
            <a:rPr lang="fr-CI" sz="1850" b="0" dirty="0">
              <a:latin typeface="Calibri" panose="020F0502020204030204" pitchFamily="34" charset="0"/>
              <a:cs typeface="Calibri" panose="020F0502020204030204" pitchFamily="34" charset="0"/>
            </a:rPr>
            <a:t>Il </a:t>
          </a:r>
          <a:r>
            <a:rPr lang="fr-CI" sz="1850" dirty="0">
              <a:latin typeface="Calibri" panose="020F0502020204030204" pitchFamily="34" charset="0"/>
              <a:cs typeface="Calibri" panose="020F0502020204030204" pitchFamily="34" charset="0"/>
            </a:rPr>
            <a:t>est aussi viennois. Il travailla avec Popper en 1952-53. Puis il enseigna à Berkeley et à Zurich. Il soutient d'abord que la </a:t>
          </a:r>
          <a:r>
            <a:rPr lang="fr-CI" sz="1850" u="sng" dirty="0">
              <a:latin typeface="Calibri" panose="020F0502020204030204" pitchFamily="34" charset="0"/>
              <a:cs typeface="Calibri" panose="020F0502020204030204" pitchFamily="34" charset="0"/>
            </a:rPr>
            <a:t>Philosophie de la science doit dire aux scientifiques comment doivent-ils travailler</a:t>
          </a:r>
          <a:r>
            <a:rPr lang="fr-CI" sz="1850" dirty="0">
              <a:latin typeface="Calibri" panose="020F0502020204030204" pitchFamily="34" charset="0"/>
              <a:cs typeface="Calibri" panose="020F0502020204030204" pitchFamily="34" charset="0"/>
            </a:rPr>
            <a:t>. </a:t>
          </a:r>
        </a:p>
        <a:p>
          <a:pPr algn="just"/>
          <a:endParaRPr lang="fr-FR" sz="1850" dirty="0">
            <a:latin typeface="Calibri" panose="020F0502020204030204" pitchFamily="34" charset="0"/>
            <a:cs typeface="Calibri" panose="020F0502020204030204" pitchFamily="34" charset="0"/>
          </a:endParaRPr>
        </a:p>
        <a:p>
          <a:pPr algn="just"/>
          <a:r>
            <a:rPr lang="fr-CI" sz="1850" dirty="0">
              <a:latin typeface="Calibri" panose="020F0502020204030204" pitchFamily="34" charset="0"/>
              <a:cs typeface="Calibri" panose="020F0502020204030204" pitchFamily="34" charset="0"/>
            </a:rPr>
            <a:t>Feyerabend change d’orientation vers 1970. </a:t>
          </a:r>
          <a:r>
            <a:rPr lang="fr-CI" sz="1850" b="1" dirty="0">
              <a:latin typeface="Calibri" panose="020F0502020204030204" pitchFamily="34" charset="0"/>
              <a:cs typeface="Calibri" panose="020F0502020204030204" pitchFamily="34" charset="0"/>
            </a:rPr>
            <a:t>Il perçoit les difficultés que présentent sa théorie et l’influence du scientisme sur la philosophie de la science</a:t>
          </a:r>
          <a:r>
            <a:rPr lang="fr-CI" sz="1850" dirty="0">
              <a:latin typeface="Calibri" panose="020F0502020204030204" pitchFamily="34" charset="0"/>
              <a:cs typeface="Calibri" panose="020F0502020204030204" pitchFamily="34" charset="0"/>
            </a:rPr>
            <a:t>.</a:t>
          </a:r>
          <a:endParaRPr lang="fr-FR" sz="1850" dirty="0">
            <a:latin typeface="Calibri" panose="020F0502020204030204" pitchFamily="34" charset="0"/>
            <a:cs typeface="Calibri" panose="020F0502020204030204" pitchFamily="34" charset="0"/>
          </a:endParaRPr>
        </a:p>
        <a:p>
          <a:pPr algn="just"/>
          <a:r>
            <a:rPr lang="fr-CI" sz="1850" dirty="0">
              <a:latin typeface="Calibri" panose="020F0502020204030204" pitchFamily="34" charset="0"/>
              <a:cs typeface="Calibri" panose="020F0502020204030204" pitchFamily="34" charset="0"/>
            </a:rPr>
            <a:t>Comme une réaction, </a:t>
          </a:r>
          <a:r>
            <a:rPr lang="fr-CI" sz="1850" b="1" dirty="0">
              <a:latin typeface="Calibri" panose="020F0502020204030204" pitchFamily="34" charset="0"/>
              <a:cs typeface="Calibri" panose="020F0502020204030204" pitchFamily="34" charset="0"/>
            </a:rPr>
            <a:t>il affirme qu’on ne peut jamais dicter des normes à la science et que le projet de fonder une théorie de la rationalité sur une méthodologie telle que celle de Popper ne peut conduire qu’à l’échec</a:t>
          </a:r>
          <a:r>
            <a:rPr lang="fr-CI" sz="1850" dirty="0">
              <a:latin typeface="Calibri" panose="020F0502020204030204" pitchFamily="34" charset="0"/>
              <a:cs typeface="Calibri" panose="020F0502020204030204" pitchFamily="34" charset="0"/>
            </a:rPr>
            <a:t>. Il soutient alors une attitude qu’il appelle </a:t>
          </a:r>
          <a:r>
            <a:rPr lang="fr-CI" sz="1850" u="sng" dirty="0">
              <a:latin typeface="Calibri" panose="020F0502020204030204" pitchFamily="34" charset="0"/>
              <a:cs typeface="Calibri" panose="020F0502020204030204" pitchFamily="34" charset="0"/>
            </a:rPr>
            <a:t>théorie anarchiste de la connaissance. Le seul principe admis est : « tout est bon ». </a:t>
          </a:r>
        </a:p>
        <a:p>
          <a:pPr algn="just"/>
          <a:endParaRPr lang="fr-FR" sz="1850" dirty="0">
            <a:latin typeface="Calibri" panose="020F0502020204030204" pitchFamily="34" charset="0"/>
            <a:cs typeface="Calibri" panose="020F0502020204030204" pitchFamily="34" charset="0"/>
          </a:endParaRPr>
        </a:p>
        <a:p>
          <a:pPr algn="just"/>
          <a:r>
            <a:rPr lang="fr-CI" sz="1850" dirty="0">
              <a:latin typeface="Calibri" panose="020F0502020204030204" pitchFamily="34" charset="0"/>
              <a:cs typeface="Calibri" panose="020F0502020204030204" pitchFamily="34" charset="0"/>
            </a:rPr>
            <a:t>Après ces courants ci-dessus, d’autres apparaissent et montrent comment la réflexion sur la science tient une grande place dans la vie des hommes. </a:t>
          </a:r>
          <a:endParaRPr lang="fr-FR" sz="1850" dirty="0">
            <a:latin typeface="Calibri" panose="020F0502020204030204" pitchFamily="34" charset="0"/>
            <a:cs typeface="Calibri" panose="020F0502020204030204" pitchFamily="34" charset="0"/>
          </a:endParaRPr>
        </a:p>
      </dgm:t>
    </dgm:pt>
    <dgm:pt modelId="{CB181881-FB92-4D38-B0A5-76690E1D18E2}" type="parTrans" cxnId="{4168CC84-B92B-44C7-872E-88A316826334}">
      <dgm:prSet/>
      <dgm:spPr/>
      <dgm:t>
        <a:bodyPr/>
        <a:lstStyle/>
        <a:p>
          <a:endParaRPr lang="fr-FR"/>
        </a:p>
      </dgm:t>
    </dgm:pt>
    <dgm:pt modelId="{13EA1173-5E76-4B10-877A-2A110D9523B1}" type="sibTrans" cxnId="{4168CC84-B92B-44C7-872E-88A316826334}">
      <dgm:prSet/>
      <dgm:spPr/>
      <dgm:t>
        <a:bodyPr/>
        <a:lstStyle/>
        <a:p>
          <a:endParaRPr lang="fr-FR"/>
        </a:p>
      </dgm:t>
    </dgm:pt>
    <dgm:pt modelId="{7E774602-78A1-48C7-BC92-D265856C40DF}" type="pres">
      <dgm:prSet presAssocID="{5FC4FAA6-E0CE-4A60-8004-15B9099030D4}" presName="vert0" presStyleCnt="0">
        <dgm:presLayoutVars>
          <dgm:dir/>
          <dgm:animOne val="branch"/>
          <dgm:animLvl val="lvl"/>
        </dgm:presLayoutVars>
      </dgm:prSet>
      <dgm:spPr/>
    </dgm:pt>
    <dgm:pt modelId="{93FF7C33-EE94-4012-BD45-F39920F4CB6F}" type="pres">
      <dgm:prSet presAssocID="{62A0EEF5-12E9-463A-841E-B1F09840656C}" presName="thickLine" presStyleLbl="alignNode1" presStyleIdx="0" presStyleCnt="1"/>
      <dgm:spPr/>
    </dgm:pt>
    <dgm:pt modelId="{D50BE3C7-2E2D-4A65-8C76-0508631D3649}" type="pres">
      <dgm:prSet presAssocID="{62A0EEF5-12E9-463A-841E-B1F09840656C}" presName="horz1" presStyleCnt="0"/>
      <dgm:spPr/>
    </dgm:pt>
    <dgm:pt modelId="{AF5D6CDB-5CEE-4492-8519-D4C3254F2237}" type="pres">
      <dgm:prSet presAssocID="{62A0EEF5-12E9-463A-841E-B1F09840656C}" presName="tx1" presStyleLbl="revTx" presStyleIdx="0" presStyleCnt="2"/>
      <dgm:spPr/>
    </dgm:pt>
    <dgm:pt modelId="{EBE96285-BC60-4304-AAC7-D57A27A91B17}" type="pres">
      <dgm:prSet presAssocID="{62A0EEF5-12E9-463A-841E-B1F09840656C}" presName="vert1" presStyleCnt="0"/>
      <dgm:spPr/>
    </dgm:pt>
    <dgm:pt modelId="{08460664-9ED0-4778-A0CA-B56CBF7EF264}" type="pres">
      <dgm:prSet presAssocID="{12900389-1EAA-477B-9987-9945366AF0DC}" presName="vertSpace2a" presStyleCnt="0"/>
      <dgm:spPr/>
    </dgm:pt>
    <dgm:pt modelId="{BE001B17-65DF-4B53-AE60-32D2ACB36DF2}" type="pres">
      <dgm:prSet presAssocID="{12900389-1EAA-477B-9987-9945366AF0DC}" presName="horz2" presStyleCnt="0"/>
      <dgm:spPr/>
    </dgm:pt>
    <dgm:pt modelId="{E95E7868-A1B8-4279-BF68-D0F674C65AFC}" type="pres">
      <dgm:prSet presAssocID="{12900389-1EAA-477B-9987-9945366AF0DC}" presName="horzSpace2" presStyleCnt="0"/>
      <dgm:spPr/>
    </dgm:pt>
    <dgm:pt modelId="{43B1B0C8-57E0-4946-AE37-4BE7236A38CE}" type="pres">
      <dgm:prSet presAssocID="{12900389-1EAA-477B-9987-9945366AF0DC}" presName="tx2" presStyleLbl="revTx" presStyleIdx="1" presStyleCnt="2" custLinFactNeighborY="-4126"/>
      <dgm:spPr/>
    </dgm:pt>
    <dgm:pt modelId="{A0EAE59F-CDF5-4A36-9CE8-0E4F59AD0095}" type="pres">
      <dgm:prSet presAssocID="{12900389-1EAA-477B-9987-9945366AF0DC}" presName="vert2" presStyleCnt="0"/>
      <dgm:spPr/>
    </dgm:pt>
    <dgm:pt modelId="{0CE3C4DE-7650-4401-B694-D01624DC0160}" type="pres">
      <dgm:prSet presAssocID="{12900389-1EAA-477B-9987-9945366AF0DC}" presName="thinLine2b" presStyleLbl="callout" presStyleIdx="0" presStyleCnt="1" custLinFactNeighborY="56537"/>
      <dgm:spPr/>
    </dgm:pt>
    <dgm:pt modelId="{C91B5D22-2932-483B-BA17-759CA8C37E31}" type="pres">
      <dgm:prSet presAssocID="{12900389-1EAA-477B-9987-9945366AF0DC}" presName="vertSpace2b" presStyleCnt="0"/>
      <dgm:spPr/>
    </dgm:pt>
  </dgm:ptLst>
  <dgm:cxnLst>
    <dgm:cxn modelId="{1EFBA51B-7E4B-40D0-99D1-BC3553306526}" type="presOf" srcId="{62A0EEF5-12E9-463A-841E-B1F09840656C}" destId="{AF5D6CDB-5CEE-4492-8519-D4C3254F2237}" srcOrd="0" destOrd="0" presId="urn:microsoft.com/office/officeart/2008/layout/LinedList"/>
    <dgm:cxn modelId="{302EBA1D-A539-484E-92E8-11C2B4F1E231}" srcId="{5FC4FAA6-E0CE-4A60-8004-15B9099030D4}" destId="{62A0EEF5-12E9-463A-841E-B1F09840656C}" srcOrd="0" destOrd="0" parTransId="{5354B826-2CFE-4398-A911-A762CAE4A64C}" sibTransId="{FAC099DB-828B-4351-A1AE-22A9FDBEEC4B}"/>
    <dgm:cxn modelId="{4168CC84-B92B-44C7-872E-88A316826334}" srcId="{62A0EEF5-12E9-463A-841E-B1F09840656C}" destId="{12900389-1EAA-477B-9987-9945366AF0DC}" srcOrd="0" destOrd="0" parTransId="{CB181881-FB92-4D38-B0A5-76690E1D18E2}" sibTransId="{13EA1173-5E76-4B10-877A-2A110D9523B1}"/>
    <dgm:cxn modelId="{31F86897-366D-49A2-A34F-A7A28387F9B2}" type="presOf" srcId="{12900389-1EAA-477B-9987-9945366AF0DC}" destId="{43B1B0C8-57E0-4946-AE37-4BE7236A38CE}" srcOrd="0" destOrd="0" presId="urn:microsoft.com/office/officeart/2008/layout/LinedList"/>
    <dgm:cxn modelId="{448A36B0-7DE3-4EEE-B216-83180DAF4443}" type="presOf" srcId="{5FC4FAA6-E0CE-4A60-8004-15B9099030D4}" destId="{7E774602-78A1-48C7-BC92-D265856C40DF}" srcOrd="0" destOrd="0" presId="urn:microsoft.com/office/officeart/2008/layout/LinedList"/>
    <dgm:cxn modelId="{2DDB3B5B-A561-453A-9092-4B514F3A452B}" type="presParOf" srcId="{7E774602-78A1-48C7-BC92-D265856C40DF}" destId="{93FF7C33-EE94-4012-BD45-F39920F4CB6F}" srcOrd="0" destOrd="0" presId="urn:microsoft.com/office/officeart/2008/layout/LinedList"/>
    <dgm:cxn modelId="{2B23759D-4B22-4FA6-90FB-A7265F28BFCC}" type="presParOf" srcId="{7E774602-78A1-48C7-BC92-D265856C40DF}" destId="{D50BE3C7-2E2D-4A65-8C76-0508631D3649}" srcOrd="1" destOrd="0" presId="urn:microsoft.com/office/officeart/2008/layout/LinedList"/>
    <dgm:cxn modelId="{0F787F93-D0B4-40E0-A573-B44153F45944}" type="presParOf" srcId="{D50BE3C7-2E2D-4A65-8C76-0508631D3649}" destId="{AF5D6CDB-5CEE-4492-8519-D4C3254F2237}" srcOrd="0" destOrd="0" presId="urn:microsoft.com/office/officeart/2008/layout/LinedList"/>
    <dgm:cxn modelId="{51CB319A-DA09-46D6-BA0D-6E8E6816AFCE}" type="presParOf" srcId="{D50BE3C7-2E2D-4A65-8C76-0508631D3649}" destId="{EBE96285-BC60-4304-AAC7-D57A27A91B17}" srcOrd="1" destOrd="0" presId="urn:microsoft.com/office/officeart/2008/layout/LinedList"/>
    <dgm:cxn modelId="{1F63A4A0-50AB-43A1-97E6-573AE56F48E0}" type="presParOf" srcId="{EBE96285-BC60-4304-AAC7-D57A27A91B17}" destId="{08460664-9ED0-4778-A0CA-B56CBF7EF264}" srcOrd="0" destOrd="0" presId="urn:microsoft.com/office/officeart/2008/layout/LinedList"/>
    <dgm:cxn modelId="{A40130C6-7DC3-48CA-BA5A-CF07B1D4A495}" type="presParOf" srcId="{EBE96285-BC60-4304-AAC7-D57A27A91B17}" destId="{BE001B17-65DF-4B53-AE60-32D2ACB36DF2}" srcOrd="1" destOrd="0" presId="urn:microsoft.com/office/officeart/2008/layout/LinedList"/>
    <dgm:cxn modelId="{681B2EF7-E641-484C-95A9-7695279B0443}" type="presParOf" srcId="{BE001B17-65DF-4B53-AE60-32D2ACB36DF2}" destId="{E95E7868-A1B8-4279-BF68-D0F674C65AFC}" srcOrd="0" destOrd="0" presId="urn:microsoft.com/office/officeart/2008/layout/LinedList"/>
    <dgm:cxn modelId="{5FC8EAB9-3DEB-4F22-A334-BAF00709657A}" type="presParOf" srcId="{BE001B17-65DF-4B53-AE60-32D2ACB36DF2}" destId="{43B1B0C8-57E0-4946-AE37-4BE7236A38CE}" srcOrd="1" destOrd="0" presId="urn:microsoft.com/office/officeart/2008/layout/LinedList"/>
    <dgm:cxn modelId="{B48CA41A-E194-40D4-A960-0D1E7C524A7A}" type="presParOf" srcId="{BE001B17-65DF-4B53-AE60-32D2ACB36DF2}" destId="{A0EAE59F-CDF5-4A36-9CE8-0E4F59AD0095}" srcOrd="2" destOrd="0" presId="urn:microsoft.com/office/officeart/2008/layout/LinedList"/>
    <dgm:cxn modelId="{5251BED6-28FF-40C3-8307-3680C792A837}" type="presParOf" srcId="{EBE96285-BC60-4304-AAC7-D57A27A91B17}" destId="{0CE3C4DE-7650-4401-B694-D01624DC0160}" srcOrd="2" destOrd="0" presId="urn:microsoft.com/office/officeart/2008/layout/LinedList"/>
    <dgm:cxn modelId="{1379D21A-44D5-4790-938F-37BB58C07EBF}" type="presParOf" srcId="{EBE96285-BC60-4304-AAC7-D57A27A91B17}" destId="{C91B5D22-2932-483B-BA17-759CA8C37E31}"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A2CC6A5C-A6CE-4794-9B7B-A1828D9EADE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87007A41-9CA4-40E6-BD5C-27C2620FF810}">
      <dgm:prSet phldrT="[Texte]"/>
      <dgm:spPr/>
      <dgm:t>
        <a:bodyPr/>
        <a:lstStyle/>
        <a:p>
          <a:r>
            <a:rPr lang="fr-CI" b="1" dirty="0"/>
            <a:t>Le réalisme scientifique</a:t>
          </a:r>
          <a:endParaRPr lang="fr-FR" dirty="0"/>
        </a:p>
      </dgm:t>
    </dgm:pt>
    <dgm:pt modelId="{33009C38-BD63-4682-A8F6-27FA25931429}" type="parTrans" cxnId="{4D1264AD-EABE-4A4B-9C88-FBB428F1E86A}">
      <dgm:prSet/>
      <dgm:spPr/>
      <dgm:t>
        <a:bodyPr/>
        <a:lstStyle/>
        <a:p>
          <a:endParaRPr lang="fr-FR"/>
        </a:p>
      </dgm:t>
    </dgm:pt>
    <dgm:pt modelId="{C4BA59E0-1C32-44D6-B582-C20B77577058}" type="sibTrans" cxnId="{4D1264AD-EABE-4A4B-9C88-FBB428F1E86A}">
      <dgm:prSet/>
      <dgm:spPr/>
      <dgm:t>
        <a:bodyPr/>
        <a:lstStyle/>
        <a:p>
          <a:endParaRPr lang="fr-FR"/>
        </a:p>
      </dgm:t>
    </dgm:pt>
    <dgm:pt modelId="{91146E49-8DE1-4C30-8133-A984E9A7FF2A}">
      <dgm:prSet phldrT="[Texte]" custT="1"/>
      <dgm:spPr/>
      <dgm:t>
        <a:bodyPr/>
        <a:lstStyle/>
        <a:p>
          <a:r>
            <a:rPr lang="fr-CI" sz="1900" dirty="0">
              <a:latin typeface="Calibri" panose="020F0502020204030204" pitchFamily="34" charset="0"/>
              <a:cs typeface="Calibri" panose="020F0502020204030204" pitchFamily="34" charset="0"/>
            </a:rPr>
            <a:t>Le réalisme affirme l’existence réelle des entités, des propriétés et des processus, tels qu’ils sont présentés par les théories scientifiques et que la science fournit une connaissance vraie de la réalité. En plus de cela, ce succès est fondé sur la convergence de différentes théories, qui donnent une quantité incroyable de coïncidences donnant des résultats satisfaisants. Mais </a:t>
          </a:r>
          <a:r>
            <a:rPr lang="fr-CI" sz="1900" b="1" dirty="0">
              <a:latin typeface="Calibri" panose="020F0502020204030204" pitchFamily="34" charset="0"/>
              <a:cs typeface="Calibri" panose="020F0502020204030204" pitchFamily="34" charset="0"/>
            </a:rPr>
            <a:t>ce réalisme a été nié par Bas C. Van </a:t>
          </a:r>
          <a:r>
            <a:rPr lang="fr-CI" sz="1900" b="1" dirty="0" err="1">
              <a:latin typeface="Calibri" panose="020F0502020204030204" pitchFamily="34" charset="0"/>
              <a:cs typeface="Calibri" panose="020F0502020204030204" pitchFamily="34" charset="0"/>
            </a:rPr>
            <a:t>Fraassen</a:t>
          </a:r>
          <a:r>
            <a:rPr lang="fr-CI" sz="1900" b="1" dirty="0">
              <a:latin typeface="Calibri" panose="020F0502020204030204" pitchFamily="34" charset="0"/>
              <a:cs typeface="Calibri" panose="020F0502020204030204" pitchFamily="34" charset="0"/>
            </a:rPr>
            <a:t>  et Larry </a:t>
          </a:r>
          <a:r>
            <a:rPr lang="fr-CI" sz="1900" b="1" dirty="0" err="1">
              <a:latin typeface="Calibri" panose="020F0502020204030204" pitchFamily="34" charset="0"/>
              <a:cs typeface="Calibri" panose="020F0502020204030204" pitchFamily="34" charset="0"/>
            </a:rPr>
            <a:t>Laudan</a:t>
          </a:r>
          <a:r>
            <a:rPr lang="fr-CI" sz="1900" b="1" dirty="0">
              <a:latin typeface="Calibri" panose="020F0502020204030204" pitchFamily="34" charset="0"/>
              <a:cs typeface="Calibri" panose="020F0502020204030204" pitchFamily="34" charset="0"/>
            </a:rPr>
            <a:t>  dans la deuxième moitié du XXème s. </a:t>
          </a:r>
          <a:endParaRPr lang="fr-FR" sz="1900" dirty="0">
            <a:latin typeface="Calibri" panose="020F0502020204030204" pitchFamily="34" charset="0"/>
            <a:cs typeface="Calibri" panose="020F0502020204030204" pitchFamily="34" charset="0"/>
          </a:endParaRPr>
        </a:p>
      </dgm:t>
    </dgm:pt>
    <dgm:pt modelId="{134DACB6-20CD-4F84-8368-31427D4BE0A6}" type="parTrans" cxnId="{37D16301-62DF-43D7-8DFF-C82CE5617394}">
      <dgm:prSet/>
      <dgm:spPr/>
      <dgm:t>
        <a:bodyPr/>
        <a:lstStyle/>
        <a:p>
          <a:endParaRPr lang="fr-FR"/>
        </a:p>
      </dgm:t>
    </dgm:pt>
    <dgm:pt modelId="{ACA02902-4CEF-4497-A090-9B08EB70B9A8}" type="sibTrans" cxnId="{37D16301-62DF-43D7-8DFF-C82CE5617394}">
      <dgm:prSet/>
      <dgm:spPr/>
      <dgm:t>
        <a:bodyPr/>
        <a:lstStyle/>
        <a:p>
          <a:endParaRPr lang="fr-FR"/>
        </a:p>
      </dgm:t>
    </dgm:pt>
    <dgm:pt modelId="{C5F17273-6E4C-42B6-B4F9-1CB6F03E16B4}">
      <dgm:prSet phldrT="[Texte]" custT="1"/>
      <dgm:spPr/>
      <dgm:t>
        <a:bodyPr/>
        <a:lstStyle/>
        <a:p>
          <a:endParaRPr lang="fr-FR" sz="1900" dirty="0">
            <a:latin typeface="Calibri" panose="020F0502020204030204" pitchFamily="34" charset="0"/>
            <a:cs typeface="Calibri" panose="020F0502020204030204" pitchFamily="34" charset="0"/>
          </a:endParaRPr>
        </a:p>
      </dgm:t>
    </dgm:pt>
    <dgm:pt modelId="{00F75F26-DF89-4D09-A2E8-7253E273FAE5}" type="parTrans" cxnId="{75155017-049F-44CA-B0BF-D90F07F7CAD2}">
      <dgm:prSet/>
      <dgm:spPr/>
      <dgm:t>
        <a:bodyPr/>
        <a:lstStyle/>
        <a:p>
          <a:endParaRPr lang="fr-FR"/>
        </a:p>
      </dgm:t>
    </dgm:pt>
    <dgm:pt modelId="{549B8523-4744-4E0B-B671-CC540F67E132}" type="sibTrans" cxnId="{75155017-049F-44CA-B0BF-D90F07F7CAD2}">
      <dgm:prSet/>
      <dgm:spPr/>
      <dgm:t>
        <a:bodyPr/>
        <a:lstStyle/>
        <a:p>
          <a:endParaRPr lang="fr-FR"/>
        </a:p>
      </dgm:t>
    </dgm:pt>
    <dgm:pt modelId="{A53C7E5F-02C6-43F7-8C14-F5B531248B9E}" type="pres">
      <dgm:prSet presAssocID="{A2CC6A5C-A6CE-4794-9B7B-A1828D9EADE3}" presName="linear" presStyleCnt="0">
        <dgm:presLayoutVars>
          <dgm:animLvl val="lvl"/>
          <dgm:resizeHandles val="exact"/>
        </dgm:presLayoutVars>
      </dgm:prSet>
      <dgm:spPr/>
    </dgm:pt>
    <dgm:pt modelId="{649F80F7-861F-4817-8221-2003992468A9}" type="pres">
      <dgm:prSet presAssocID="{87007A41-9CA4-40E6-BD5C-27C2620FF810}" presName="parentText" presStyleLbl="node1" presStyleIdx="0" presStyleCnt="1" custScaleY="29888">
        <dgm:presLayoutVars>
          <dgm:chMax val="0"/>
          <dgm:bulletEnabled val="1"/>
        </dgm:presLayoutVars>
      </dgm:prSet>
      <dgm:spPr/>
    </dgm:pt>
    <dgm:pt modelId="{30C0A05C-28B3-4B97-BABB-F8E1230DAA52}" type="pres">
      <dgm:prSet presAssocID="{87007A41-9CA4-40E6-BD5C-27C2620FF810}" presName="childText" presStyleLbl="revTx" presStyleIdx="0" presStyleCnt="1">
        <dgm:presLayoutVars>
          <dgm:bulletEnabled val="1"/>
        </dgm:presLayoutVars>
      </dgm:prSet>
      <dgm:spPr/>
    </dgm:pt>
  </dgm:ptLst>
  <dgm:cxnLst>
    <dgm:cxn modelId="{37D16301-62DF-43D7-8DFF-C82CE5617394}" srcId="{87007A41-9CA4-40E6-BD5C-27C2620FF810}" destId="{91146E49-8DE1-4C30-8133-A984E9A7FF2A}" srcOrd="1" destOrd="0" parTransId="{134DACB6-20CD-4F84-8368-31427D4BE0A6}" sibTransId="{ACA02902-4CEF-4497-A090-9B08EB70B9A8}"/>
    <dgm:cxn modelId="{93485213-14F9-4777-BF1E-B147A69A58D5}" type="presOf" srcId="{87007A41-9CA4-40E6-BD5C-27C2620FF810}" destId="{649F80F7-861F-4817-8221-2003992468A9}" srcOrd="0" destOrd="0" presId="urn:microsoft.com/office/officeart/2005/8/layout/vList2"/>
    <dgm:cxn modelId="{75155017-049F-44CA-B0BF-D90F07F7CAD2}" srcId="{87007A41-9CA4-40E6-BD5C-27C2620FF810}" destId="{C5F17273-6E4C-42B6-B4F9-1CB6F03E16B4}" srcOrd="0" destOrd="0" parTransId="{00F75F26-DF89-4D09-A2E8-7253E273FAE5}" sibTransId="{549B8523-4744-4E0B-B671-CC540F67E132}"/>
    <dgm:cxn modelId="{312A2643-9FDD-4CFA-B98E-C7F1EA3C715E}" type="presOf" srcId="{A2CC6A5C-A6CE-4794-9B7B-A1828D9EADE3}" destId="{A53C7E5F-02C6-43F7-8C14-F5B531248B9E}" srcOrd="0" destOrd="0" presId="urn:microsoft.com/office/officeart/2005/8/layout/vList2"/>
    <dgm:cxn modelId="{3CBDD547-2FE3-466C-946B-5AD0772EEB03}" type="presOf" srcId="{C5F17273-6E4C-42B6-B4F9-1CB6F03E16B4}" destId="{30C0A05C-28B3-4B97-BABB-F8E1230DAA52}" srcOrd="0" destOrd="0" presId="urn:microsoft.com/office/officeart/2005/8/layout/vList2"/>
    <dgm:cxn modelId="{59FEE5A9-F244-47B3-9953-50CE1B620C65}" type="presOf" srcId="{91146E49-8DE1-4C30-8133-A984E9A7FF2A}" destId="{30C0A05C-28B3-4B97-BABB-F8E1230DAA52}" srcOrd="0" destOrd="1" presId="urn:microsoft.com/office/officeart/2005/8/layout/vList2"/>
    <dgm:cxn modelId="{4D1264AD-EABE-4A4B-9C88-FBB428F1E86A}" srcId="{A2CC6A5C-A6CE-4794-9B7B-A1828D9EADE3}" destId="{87007A41-9CA4-40E6-BD5C-27C2620FF810}" srcOrd="0" destOrd="0" parTransId="{33009C38-BD63-4682-A8F6-27FA25931429}" sibTransId="{C4BA59E0-1C32-44D6-B582-C20B77577058}"/>
    <dgm:cxn modelId="{6FEB5152-37AF-4E12-9AC9-E2C3FD8C973C}" type="presParOf" srcId="{A53C7E5F-02C6-43F7-8C14-F5B531248B9E}" destId="{649F80F7-861F-4817-8221-2003992468A9}" srcOrd="0" destOrd="0" presId="urn:microsoft.com/office/officeart/2005/8/layout/vList2"/>
    <dgm:cxn modelId="{7F4A95E9-1F92-4A15-A7C6-652C6606214A}" type="presParOf" srcId="{A53C7E5F-02C6-43F7-8C14-F5B531248B9E}" destId="{30C0A05C-28B3-4B97-BABB-F8E1230DAA52}"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A2CC6A5C-A6CE-4794-9B7B-A1828D9EADE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87007A41-9CA4-40E6-BD5C-27C2620FF810}">
      <dgm:prSet phldrT="[Texte]"/>
      <dgm:spPr/>
      <dgm:t>
        <a:bodyPr/>
        <a:lstStyle/>
        <a:p>
          <a:r>
            <a:rPr lang="fr-CI" b="1" dirty="0"/>
            <a:t>Le réalisme scientifique</a:t>
          </a:r>
          <a:endParaRPr lang="fr-FR" dirty="0"/>
        </a:p>
      </dgm:t>
    </dgm:pt>
    <dgm:pt modelId="{33009C38-BD63-4682-A8F6-27FA25931429}" type="parTrans" cxnId="{4D1264AD-EABE-4A4B-9C88-FBB428F1E86A}">
      <dgm:prSet/>
      <dgm:spPr/>
      <dgm:t>
        <a:bodyPr/>
        <a:lstStyle/>
        <a:p>
          <a:endParaRPr lang="fr-FR"/>
        </a:p>
      </dgm:t>
    </dgm:pt>
    <dgm:pt modelId="{C4BA59E0-1C32-44D6-B582-C20B77577058}" type="sibTrans" cxnId="{4D1264AD-EABE-4A4B-9C88-FBB428F1E86A}">
      <dgm:prSet/>
      <dgm:spPr/>
      <dgm:t>
        <a:bodyPr/>
        <a:lstStyle/>
        <a:p>
          <a:endParaRPr lang="fr-FR"/>
        </a:p>
      </dgm:t>
    </dgm:pt>
    <dgm:pt modelId="{91146E49-8DE1-4C30-8133-A984E9A7FF2A}">
      <dgm:prSet phldrT="[Texte]" custT="1"/>
      <dgm:spPr/>
      <dgm:t>
        <a:bodyPr/>
        <a:lstStyle/>
        <a:p>
          <a:r>
            <a:rPr lang="fr-CI" sz="1900" dirty="0">
              <a:latin typeface="Calibri" panose="020F0502020204030204" pitchFamily="34" charset="0"/>
              <a:cs typeface="Calibri" panose="020F0502020204030204" pitchFamily="34" charset="0"/>
            </a:rPr>
            <a:t>Ronald </a:t>
          </a:r>
          <a:r>
            <a:rPr lang="fr-CI" sz="1900" dirty="0" err="1">
              <a:latin typeface="Calibri" panose="020F0502020204030204" pitchFamily="34" charset="0"/>
              <a:cs typeface="Calibri" panose="020F0502020204030204" pitchFamily="34" charset="0"/>
            </a:rPr>
            <a:t>Giere</a:t>
          </a:r>
          <a:r>
            <a:rPr lang="fr-CI" sz="1900" dirty="0">
              <a:latin typeface="Calibri" panose="020F0502020204030204" pitchFamily="34" charset="0"/>
              <a:cs typeface="Calibri" panose="020F0502020204030204" pitchFamily="34" charset="0"/>
            </a:rPr>
            <a:t>  qui a raisonné contre le schéma de Bas C. Van </a:t>
          </a:r>
          <a:r>
            <a:rPr lang="fr-CI" sz="1900" dirty="0" err="1">
              <a:latin typeface="Calibri" panose="020F0502020204030204" pitchFamily="34" charset="0"/>
              <a:cs typeface="Calibri" panose="020F0502020204030204" pitchFamily="34" charset="0"/>
            </a:rPr>
            <a:t>Fraassen</a:t>
          </a:r>
          <a:r>
            <a:rPr lang="fr-CI" sz="1900" dirty="0">
              <a:latin typeface="Calibri" panose="020F0502020204030204" pitchFamily="34" charset="0"/>
              <a:cs typeface="Calibri" panose="020F0502020204030204" pitchFamily="34" charset="0"/>
            </a:rPr>
            <a:t>. Ronald propose que tout ce que l’on demande aux théories scientifiques c’est qu’elles collent aux données empiriques et non qu’elles soient vraies. Par conséquent, ce nouveau type d’empirisme renouvelle la vieille tradition selon laquelle l’objectif de la science expérimentale consiste en « sauver les phénomènes ». </a:t>
          </a:r>
          <a:endParaRPr lang="fr-FR" sz="1900" dirty="0">
            <a:latin typeface="Calibri" panose="020F0502020204030204" pitchFamily="34" charset="0"/>
            <a:cs typeface="Calibri" panose="020F0502020204030204" pitchFamily="34" charset="0"/>
          </a:endParaRPr>
        </a:p>
      </dgm:t>
    </dgm:pt>
    <dgm:pt modelId="{134DACB6-20CD-4F84-8368-31427D4BE0A6}" type="parTrans" cxnId="{37D16301-62DF-43D7-8DFF-C82CE5617394}">
      <dgm:prSet/>
      <dgm:spPr/>
      <dgm:t>
        <a:bodyPr/>
        <a:lstStyle/>
        <a:p>
          <a:endParaRPr lang="fr-FR"/>
        </a:p>
      </dgm:t>
    </dgm:pt>
    <dgm:pt modelId="{ACA02902-4CEF-4497-A090-9B08EB70B9A8}" type="sibTrans" cxnId="{37D16301-62DF-43D7-8DFF-C82CE5617394}">
      <dgm:prSet/>
      <dgm:spPr/>
      <dgm:t>
        <a:bodyPr/>
        <a:lstStyle/>
        <a:p>
          <a:endParaRPr lang="fr-FR"/>
        </a:p>
      </dgm:t>
    </dgm:pt>
    <dgm:pt modelId="{8BA6B697-DD37-4BF5-BD79-E54C83BE7064}">
      <dgm:prSet phldrT="[Texte]" custT="1"/>
      <dgm:spPr/>
      <dgm:t>
        <a:bodyPr/>
        <a:lstStyle/>
        <a:p>
          <a:endParaRPr lang="fr-FR" sz="1900" dirty="0">
            <a:latin typeface="Calibri" panose="020F0502020204030204" pitchFamily="34" charset="0"/>
            <a:cs typeface="Calibri" panose="020F0502020204030204" pitchFamily="34" charset="0"/>
          </a:endParaRPr>
        </a:p>
      </dgm:t>
    </dgm:pt>
    <dgm:pt modelId="{9F79052B-18D6-4CA9-AE69-E042AABE333B}" type="parTrans" cxnId="{853BD6F1-381F-40F6-9ECA-64BE2D8C407A}">
      <dgm:prSet/>
      <dgm:spPr/>
      <dgm:t>
        <a:bodyPr/>
        <a:lstStyle/>
        <a:p>
          <a:endParaRPr lang="fr-FR"/>
        </a:p>
      </dgm:t>
    </dgm:pt>
    <dgm:pt modelId="{F7321498-ADF3-4EDC-ADF0-809E02DA8634}" type="sibTrans" cxnId="{853BD6F1-381F-40F6-9ECA-64BE2D8C407A}">
      <dgm:prSet/>
      <dgm:spPr/>
      <dgm:t>
        <a:bodyPr/>
        <a:lstStyle/>
        <a:p>
          <a:endParaRPr lang="fr-FR"/>
        </a:p>
      </dgm:t>
    </dgm:pt>
    <dgm:pt modelId="{FFD72FC9-4E4D-4D91-9020-73923B6C27CA}">
      <dgm:prSet custT="1"/>
      <dgm:spPr/>
      <dgm:t>
        <a:bodyPr/>
        <a:lstStyle/>
        <a:p>
          <a:r>
            <a:rPr lang="fr-CI" sz="1900" dirty="0" err="1">
              <a:latin typeface="Calibri" panose="020F0502020204030204" pitchFamily="34" charset="0"/>
              <a:cs typeface="Calibri" panose="020F0502020204030204" pitchFamily="34" charset="0"/>
            </a:rPr>
            <a:t>Giere</a:t>
          </a:r>
          <a:r>
            <a:rPr lang="fr-CI" sz="1900" dirty="0">
              <a:latin typeface="Calibri" panose="020F0502020204030204" pitchFamily="34" charset="0"/>
              <a:cs typeface="Calibri" panose="020F0502020204030204" pitchFamily="34" charset="0"/>
            </a:rPr>
            <a:t> souligne un aspect très important lorsqu’il écrit : « </a:t>
          </a:r>
          <a:r>
            <a:rPr lang="fr-CI" sz="1900" b="1" dirty="0">
              <a:latin typeface="Calibri" panose="020F0502020204030204" pitchFamily="34" charset="0"/>
              <a:cs typeface="Calibri" panose="020F0502020204030204" pitchFamily="34" charset="0"/>
            </a:rPr>
            <a:t>La question est de savoir s’il y a des sciences importantes, ou des périodes importantes dans la vie des sciences importantes, qui correspondent au modèle empiriste. Il semble difficile de nier qu’elles existent. L’astronomie grecque, la thermodynamique vers la fin du XIXème siècle et la théorie quantique au XXème son des candidats évidents. D’autre part, de nombreuses sciences contemporaines, y compris la chimie, la biologie moléculaire et la géologie, semblent être décidemment réalistes </a:t>
          </a:r>
          <a:r>
            <a:rPr lang="fr-CI" sz="1900" dirty="0">
              <a:latin typeface="Calibri" panose="020F0502020204030204" pitchFamily="34" charset="0"/>
              <a:cs typeface="Calibri" panose="020F0502020204030204" pitchFamily="34" charset="0"/>
            </a:rPr>
            <a:t>».</a:t>
          </a:r>
          <a:endParaRPr lang="fr-FR" sz="1900" dirty="0">
            <a:latin typeface="Calibri" panose="020F0502020204030204" pitchFamily="34" charset="0"/>
            <a:cs typeface="Calibri" panose="020F0502020204030204" pitchFamily="34" charset="0"/>
          </a:endParaRPr>
        </a:p>
      </dgm:t>
    </dgm:pt>
    <dgm:pt modelId="{B14F083D-2BEA-4C58-BEFF-67927A8BAA7A}" type="parTrans" cxnId="{4403163A-8D56-4A1E-81C7-5A4CC5AFF7AF}">
      <dgm:prSet/>
      <dgm:spPr/>
      <dgm:t>
        <a:bodyPr/>
        <a:lstStyle/>
        <a:p>
          <a:endParaRPr lang="fr-FR"/>
        </a:p>
      </dgm:t>
    </dgm:pt>
    <dgm:pt modelId="{25D819EA-8AA9-4269-B09B-DF712696879C}" type="sibTrans" cxnId="{4403163A-8D56-4A1E-81C7-5A4CC5AFF7AF}">
      <dgm:prSet/>
      <dgm:spPr/>
      <dgm:t>
        <a:bodyPr/>
        <a:lstStyle/>
        <a:p>
          <a:endParaRPr lang="fr-FR"/>
        </a:p>
      </dgm:t>
    </dgm:pt>
    <dgm:pt modelId="{B23AB080-1E51-4724-8F36-7EBFBDDB2389}">
      <dgm:prSet phldrT="[Texte]" custT="1"/>
      <dgm:spPr/>
      <dgm:t>
        <a:bodyPr/>
        <a:lstStyle/>
        <a:p>
          <a:endParaRPr lang="fr-FR" sz="1900" dirty="0">
            <a:latin typeface="Calibri" panose="020F0502020204030204" pitchFamily="34" charset="0"/>
            <a:cs typeface="Calibri" panose="020F0502020204030204" pitchFamily="34" charset="0"/>
          </a:endParaRPr>
        </a:p>
      </dgm:t>
    </dgm:pt>
    <dgm:pt modelId="{D38DBED7-E65A-4A91-9243-585AE648A322}" type="parTrans" cxnId="{27BCC94B-57B3-4E54-B036-120A4D99367B}">
      <dgm:prSet/>
      <dgm:spPr/>
      <dgm:t>
        <a:bodyPr/>
        <a:lstStyle/>
        <a:p>
          <a:endParaRPr lang="fr-FR"/>
        </a:p>
      </dgm:t>
    </dgm:pt>
    <dgm:pt modelId="{6886A75D-9452-4723-9845-2A848FA7E6FA}" type="sibTrans" cxnId="{27BCC94B-57B3-4E54-B036-120A4D99367B}">
      <dgm:prSet/>
      <dgm:spPr/>
      <dgm:t>
        <a:bodyPr/>
        <a:lstStyle/>
        <a:p>
          <a:endParaRPr lang="fr-FR"/>
        </a:p>
      </dgm:t>
    </dgm:pt>
    <dgm:pt modelId="{8DEEAD8C-43CA-4561-84F5-5BF865A8AC7B}">
      <dgm:prSet phldrT="[Texte]" custT="1"/>
      <dgm:spPr/>
      <dgm:t>
        <a:bodyPr/>
        <a:lstStyle/>
        <a:p>
          <a:r>
            <a:rPr lang="fr-CI" sz="1900" dirty="0">
              <a:latin typeface="Calibri" panose="020F0502020204030204" pitchFamily="34" charset="0"/>
              <a:cs typeface="Calibri" panose="020F0502020204030204" pitchFamily="34" charset="0"/>
            </a:rPr>
            <a:t>Ces auteurs sont entre autres</a:t>
          </a:r>
          <a:endParaRPr lang="fr-FR" sz="1900" dirty="0">
            <a:latin typeface="Calibri" panose="020F0502020204030204" pitchFamily="34" charset="0"/>
            <a:cs typeface="Calibri" panose="020F0502020204030204" pitchFamily="34" charset="0"/>
          </a:endParaRPr>
        </a:p>
      </dgm:t>
    </dgm:pt>
    <dgm:pt modelId="{C42B9438-0800-4046-81A9-1771B40A1BA7}" type="parTrans" cxnId="{6136AB67-14B8-4319-96E2-B080942CA4E0}">
      <dgm:prSet/>
      <dgm:spPr/>
      <dgm:t>
        <a:bodyPr/>
        <a:lstStyle/>
        <a:p>
          <a:endParaRPr lang="fr-FR"/>
        </a:p>
      </dgm:t>
    </dgm:pt>
    <dgm:pt modelId="{8457EE8B-98B2-4856-B10A-3795ED0AC398}" type="sibTrans" cxnId="{6136AB67-14B8-4319-96E2-B080942CA4E0}">
      <dgm:prSet/>
      <dgm:spPr/>
      <dgm:t>
        <a:bodyPr/>
        <a:lstStyle/>
        <a:p>
          <a:endParaRPr lang="fr-FR"/>
        </a:p>
      </dgm:t>
    </dgm:pt>
    <dgm:pt modelId="{60300F80-D624-4934-A133-54E5DEED9F48}">
      <dgm:prSet phldrT="[Texte]" custT="1"/>
      <dgm:spPr/>
      <dgm:t>
        <a:bodyPr/>
        <a:lstStyle/>
        <a:p>
          <a:endParaRPr lang="fr-FR" sz="1900" dirty="0">
            <a:latin typeface="Calibri" panose="020F0502020204030204" pitchFamily="34" charset="0"/>
            <a:cs typeface="Calibri" panose="020F0502020204030204" pitchFamily="34" charset="0"/>
          </a:endParaRPr>
        </a:p>
      </dgm:t>
    </dgm:pt>
    <dgm:pt modelId="{7CC10BF0-3F81-4E1D-917B-F4F62E6671A0}" type="parTrans" cxnId="{26ABD000-ECD4-479F-83EB-76FFCC1EC3F6}">
      <dgm:prSet/>
      <dgm:spPr/>
      <dgm:t>
        <a:bodyPr/>
        <a:lstStyle/>
        <a:p>
          <a:endParaRPr lang="fr-FR"/>
        </a:p>
      </dgm:t>
    </dgm:pt>
    <dgm:pt modelId="{060A4063-3A9F-40B1-A021-09F8AD310E30}" type="sibTrans" cxnId="{26ABD000-ECD4-479F-83EB-76FFCC1EC3F6}">
      <dgm:prSet/>
      <dgm:spPr/>
      <dgm:t>
        <a:bodyPr/>
        <a:lstStyle/>
        <a:p>
          <a:endParaRPr lang="fr-FR"/>
        </a:p>
      </dgm:t>
    </dgm:pt>
    <dgm:pt modelId="{A53C7E5F-02C6-43F7-8C14-F5B531248B9E}" type="pres">
      <dgm:prSet presAssocID="{A2CC6A5C-A6CE-4794-9B7B-A1828D9EADE3}" presName="linear" presStyleCnt="0">
        <dgm:presLayoutVars>
          <dgm:animLvl val="lvl"/>
          <dgm:resizeHandles val="exact"/>
        </dgm:presLayoutVars>
      </dgm:prSet>
      <dgm:spPr/>
    </dgm:pt>
    <dgm:pt modelId="{649F80F7-861F-4817-8221-2003992468A9}" type="pres">
      <dgm:prSet presAssocID="{87007A41-9CA4-40E6-BD5C-27C2620FF810}" presName="parentText" presStyleLbl="node1" presStyleIdx="0" presStyleCnt="1" custScaleY="29888">
        <dgm:presLayoutVars>
          <dgm:chMax val="0"/>
          <dgm:bulletEnabled val="1"/>
        </dgm:presLayoutVars>
      </dgm:prSet>
      <dgm:spPr/>
    </dgm:pt>
    <dgm:pt modelId="{30C0A05C-28B3-4B97-BABB-F8E1230DAA52}" type="pres">
      <dgm:prSet presAssocID="{87007A41-9CA4-40E6-BD5C-27C2620FF810}" presName="childText" presStyleLbl="revTx" presStyleIdx="0" presStyleCnt="1">
        <dgm:presLayoutVars>
          <dgm:bulletEnabled val="1"/>
        </dgm:presLayoutVars>
      </dgm:prSet>
      <dgm:spPr/>
    </dgm:pt>
  </dgm:ptLst>
  <dgm:cxnLst>
    <dgm:cxn modelId="{26ABD000-ECD4-479F-83EB-76FFCC1EC3F6}" srcId="{87007A41-9CA4-40E6-BD5C-27C2620FF810}" destId="{60300F80-D624-4934-A133-54E5DEED9F48}" srcOrd="2" destOrd="0" parTransId="{7CC10BF0-3F81-4E1D-917B-F4F62E6671A0}" sibTransId="{060A4063-3A9F-40B1-A021-09F8AD310E30}"/>
    <dgm:cxn modelId="{37D16301-62DF-43D7-8DFF-C82CE5617394}" srcId="{87007A41-9CA4-40E6-BD5C-27C2620FF810}" destId="{91146E49-8DE1-4C30-8133-A984E9A7FF2A}" srcOrd="3" destOrd="0" parTransId="{134DACB6-20CD-4F84-8368-31427D4BE0A6}" sibTransId="{ACA02902-4CEF-4497-A090-9B08EB70B9A8}"/>
    <dgm:cxn modelId="{AF0D300E-4881-46BB-B862-2A4A5FE9CA34}" type="presOf" srcId="{8DEEAD8C-43CA-4561-84F5-5BF865A8AC7B}" destId="{30C0A05C-28B3-4B97-BABB-F8E1230DAA52}" srcOrd="0" destOrd="1" presId="urn:microsoft.com/office/officeart/2005/8/layout/vList2"/>
    <dgm:cxn modelId="{93485213-14F9-4777-BF1E-B147A69A58D5}" type="presOf" srcId="{87007A41-9CA4-40E6-BD5C-27C2620FF810}" destId="{649F80F7-861F-4817-8221-2003992468A9}" srcOrd="0" destOrd="0" presId="urn:microsoft.com/office/officeart/2005/8/layout/vList2"/>
    <dgm:cxn modelId="{4403163A-8D56-4A1E-81C7-5A4CC5AFF7AF}" srcId="{87007A41-9CA4-40E6-BD5C-27C2620FF810}" destId="{FFD72FC9-4E4D-4D91-9020-73923B6C27CA}" srcOrd="5" destOrd="0" parTransId="{B14F083D-2BEA-4C58-BEFF-67927A8BAA7A}" sibTransId="{25D819EA-8AA9-4269-B09B-DF712696879C}"/>
    <dgm:cxn modelId="{781CAA5F-B57A-42D5-A401-5A6A0424EBC3}" type="presOf" srcId="{60300F80-D624-4934-A133-54E5DEED9F48}" destId="{30C0A05C-28B3-4B97-BABB-F8E1230DAA52}" srcOrd="0" destOrd="2" presId="urn:microsoft.com/office/officeart/2005/8/layout/vList2"/>
    <dgm:cxn modelId="{312A2643-9FDD-4CFA-B98E-C7F1EA3C715E}" type="presOf" srcId="{A2CC6A5C-A6CE-4794-9B7B-A1828D9EADE3}" destId="{A53C7E5F-02C6-43F7-8C14-F5B531248B9E}" srcOrd="0" destOrd="0" presId="urn:microsoft.com/office/officeart/2005/8/layout/vList2"/>
    <dgm:cxn modelId="{6136AB67-14B8-4319-96E2-B080942CA4E0}" srcId="{87007A41-9CA4-40E6-BD5C-27C2620FF810}" destId="{8DEEAD8C-43CA-4561-84F5-5BF865A8AC7B}" srcOrd="1" destOrd="0" parTransId="{C42B9438-0800-4046-81A9-1771B40A1BA7}" sibTransId="{8457EE8B-98B2-4856-B10A-3795ED0AC398}"/>
    <dgm:cxn modelId="{27BCC94B-57B3-4E54-B036-120A4D99367B}" srcId="{87007A41-9CA4-40E6-BD5C-27C2620FF810}" destId="{B23AB080-1E51-4724-8F36-7EBFBDDB2389}" srcOrd="4" destOrd="0" parTransId="{D38DBED7-E65A-4A91-9243-585AE648A322}" sibTransId="{6886A75D-9452-4723-9845-2A848FA7E6FA}"/>
    <dgm:cxn modelId="{158A5B4D-0A39-4975-95CB-3D46776A0038}" type="presOf" srcId="{B23AB080-1E51-4724-8F36-7EBFBDDB2389}" destId="{30C0A05C-28B3-4B97-BABB-F8E1230DAA52}" srcOrd="0" destOrd="4" presId="urn:microsoft.com/office/officeart/2005/8/layout/vList2"/>
    <dgm:cxn modelId="{06725B94-0D09-4EE6-A18C-CEF781C98ACB}" type="presOf" srcId="{FFD72FC9-4E4D-4D91-9020-73923B6C27CA}" destId="{30C0A05C-28B3-4B97-BABB-F8E1230DAA52}" srcOrd="0" destOrd="5" presId="urn:microsoft.com/office/officeart/2005/8/layout/vList2"/>
    <dgm:cxn modelId="{59FEE5A9-F244-47B3-9953-50CE1B620C65}" type="presOf" srcId="{91146E49-8DE1-4C30-8133-A984E9A7FF2A}" destId="{30C0A05C-28B3-4B97-BABB-F8E1230DAA52}" srcOrd="0" destOrd="3" presId="urn:microsoft.com/office/officeart/2005/8/layout/vList2"/>
    <dgm:cxn modelId="{4D1264AD-EABE-4A4B-9C88-FBB428F1E86A}" srcId="{A2CC6A5C-A6CE-4794-9B7B-A1828D9EADE3}" destId="{87007A41-9CA4-40E6-BD5C-27C2620FF810}" srcOrd="0" destOrd="0" parTransId="{33009C38-BD63-4682-A8F6-27FA25931429}" sibTransId="{C4BA59E0-1C32-44D6-B582-C20B77577058}"/>
    <dgm:cxn modelId="{3B9F46DF-897D-4D38-8840-482FAB930576}" type="presOf" srcId="{8BA6B697-DD37-4BF5-BD79-E54C83BE7064}" destId="{30C0A05C-28B3-4B97-BABB-F8E1230DAA52}" srcOrd="0" destOrd="0" presId="urn:microsoft.com/office/officeart/2005/8/layout/vList2"/>
    <dgm:cxn modelId="{853BD6F1-381F-40F6-9ECA-64BE2D8C407A}" srcId="{87007A41-9CA4-40E6-BD5C-27C2620FF810}" destId="{8BA6B697-DD37-4BF5-BD79-E54C83BE7064}" srcOrd="0" destOrd="0" parTransId="{9F79052B-18D6-4CA9-AE69-E042AABE333B}" sibTransId="{F7321498-ADF3-4EDC-ADF0-809E02DA8634}"/>
    <dgm:cxn modelId="{6FEB5152-37AF-4E12-9AC9-E2C3FD8C973C}" type="presParOf" srcId="{A53C7E5F-02C6-43F7-8C14-F5B531248B9E}" destId="{649F80F7-861F-4817-8221-2003992468A9}" srcOrd="0" destOrd="0" presId="urn:microsoft.com/office/officeart/2005/8/layout/vList2"/>
    <dgm:cxn modelId="{7F4A95E9-1F92-4A15-A7C6-652C6606214A}" type="presParOf" srcId="{A53C7E5F-02C6-43F7-8C14-F5B531248B9E}" destId="{30C0A05C-28B3-4B97-BABB-F8E1230DAA52}"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A2CC6A5C-A6CE-4794-9B7B-A1828D9EADE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87007A41-9CA4-40E6-BD5C-27C2620FF810}">
      <dgm:prSet phldrT="[Texte]"/>
      <dgm:spPr/>
      <dgm:t>
        <a:bodyPr/>
        <a:lstStyle/>
        <a:p>
          <a:r>
            <a:rPr lang="fr-CI" b="1" dirty="0"/>
            <a:t>Le réalisme scientifique</a:t>
          </a:r>
          <a:endParaRPr lang="fr-FR" dirty="0"/>
        </a:p>
      </dgm:t>
    </dgm:pt>
    <dgm:pt modelId="{33009C38-BD63-4682-A8F6-27FA25931429}" type="parTrans" cxnId="{4D1264AD-EABE-4A4B-9C88-FBB428F1E86A}">
      <dgm:prSet/>
      <dgm:spPr/>
      <dgm:t>
        <a:bodyPr/>
        <a:lstStyle/>
        <a:p>
          <a:endParaRPr lang="fr-FR"/>
        </a:p>
      </dgm:t>
    </dgm:pt>
    <dgm:pt modelId="{C4BA59E0-1C32-44D6-B582-C20B77577058}" type="sibTrans" cxnId="{4D1264AD-EABE-4A4B-9C88-FBB428F1E86A}">
      <dgm:prSet/>
      <dgm:spPr/>
      <dgm:t>
        <a:bodyPr/>
        <a:lstStyle/>
        <a:p>
          <a:endParaRPr lang="fr-FR"/>
        </a:p>
      </dgm:t>
    </dgm:pt>
    <dgm:pt modelId="{8BA6B697-DD37-4BF5-BD79-E54C83BE7064}">
      <dgm:prSet phldrT="[Texte]" custT="1"/>
      <dgm:spPr/>
      <dgm:t>
        <a:bodyPr/>
        <a:lstStyle/>
        <a:p>
          <a:endParaRPr lang="fr-FR" sz="1900" dirty="0">
            <a:latin typeface="Calibri" panose="020F0502020204030204" pitchFamily="34" charset="0"/>
            <a:cs typeface="Calibri" panose="020F0502020204030204" pitchFamily="34" charset="0"/>
          </a:endParaRPr>
        </a:p>
      </dgm:t>
    </dgm:pt>
    <dgm:pt modelId="{9F79052B-18D6-4CA9-AE69-E042AABE333B}" type="parTrans" cxnId="{853BD6F1-381F-40F6-9ECA-64BE2D8C407A}">
      <dgm:prSet/>
      <dgm:spPr/>
      <dgm:t>
        <a:bodyPr/>
        <a:lstStyle/>
        <a:p>
          <a:endParaRPr lang="fr-FR"/>
        </a:p>
      </dgm:t>
    </dgm:pt>
    <dgm:pt modelId="{F7321498-ADF3-4EDC-ADF0-809E02DA8634}" type="sibTrans" cxnId="{853BD6F1-381F-40F6-9ECA-64BE2D8C407A}">
      <dgm:prSet/>
      <dgm:spPr/>
      <dgm:t>
        <a:bodyPr/>
        <a:lstStyle/>
        <a:p>
          <a:endParaRPr lang="fr-FR"/>
        </a:p>
      </dgm:t>
    </dgm:pt>
    <dgm:pt modelId="{8DEEAD8C-43CA-4561-84F5-5BF865A8AC7B}">
      <dgm:prSet phldrT="[Texte]" custT="1"/>
      <dgm:spPr/>
      <dgm:t>
        <a:bodyPr/>
        <a:lstStyle/>
        <a:p>
          <a:r>
            <a:rPr lang="fr-CI" sz="1900" dirty="0">
              <a:latin typeface="Calibri" panose="020F0502020204030204" pitchFamily="34" charset="0"/>
              <a:cs typeface="Calibri" panose="020F0502020204030204" pitchFamily="34" charset="0"/>
            </a:rPr>
            <a:t>Dans la même ligne, </a:t>
          </a:r>
          <a:r>
            <a:rPr lang="fr-CI" sz="1900" b="1" dirty="0" err="1">
              <a:latin typeface="Calibri" panose="020F0502020204030204" pitchFamily="34" charset="0"/>
              <a:cs typeface="Calibri" panose="020F0502020204030204" pitchFamily="34" charset="0"/>
            </a:rPr>
            <a:t>Ernan</a:t>
          </a:r>
          <a:r>
            <a:rPr lang="fr-CI" sz="1900" b="1" dirty="0">
              <a:latin typeface="Calibri" panose="020F0502020204030204" pitchFamily="34" charset="0"/>
              <a:cs typeface="Calibri" panose="020F0502020204030204" pitchFamily="34" charset="0"/>
            </a:rPr>
            <a:t> </a:t>
          </a:r>
          <a:r>
            <a:rPr lang="fr-CI" sz="1900" b="1" dirty="0" err="1">
              <a:latin typeface="Calibri" panose="020F0502020204030204" pitchFamily="34" charset="0"/>
              <a:cs typeface="Calibri" panose="020F0502020204030204" pitchFamily="34" charset="0"/>
            </a:rPr>
            <a:t>McMullin</a:t>
          </a:r>
          <a:r>
            <a:rPr lang="fr-CI" sz="1900" b="1" dirty="0">
              <a:latin typeface="Calibri" panose="020F0502020204030204" pitchFamily="34" charset="0"/>
              <a:cs typeface="Calibri" panose="020F0502020204030204" pitchFamily="34" charset="0"/>
            </a:rPr>
            <a:t> (1924–2011) </a:t>
          </a:r>
          <a:r>
            <a:rPr lang="fr-CI" sz="1900" dirty="0">
              <a:latin typeface="Calibri" panose="020F0502020204030204" pitchFamily="34" charset="0"/>
              <a:cs typeface="Calibri" panose="020F0502020204030204" pitchFamily="34" charset="0"/>
            </a:rPr>
            <a:t>soutient une forme modérée de réalisme scientifique. Pour lui, certaines sciences donnent des résultats vraiment réalistes : la géologie et la biologie cellulaire. Pour un bon groupe, il s’agit très souvent d’hypothèses et les résultats dépendent de ces hypothèses et d’autres qui peuvent aussi être formulées.</a:t>
          </a:r>
          <a:endParaRPr lang="fr-FR" sz="1900" dirty="0">
            <a:latin typeface="Calibri" panose="020F0502020204030204" pitchFamily="34" charset="0"/>
            <a:cs typeface="Calibri" panose="020F0502020204030204" pitchFamily="34" charset="0"/>
          </a:endParaRPr>
        </a:p>
      </dgm:t>
    </dgm:pt>
    <dgm:pt modelId="{C42B9438-0800-4046-81A9-1771B40A1BA7}" type="parTrans" cxnId="{6136AB67-14B8-4319-96E2-B080942CA4E0}">
      <dgm:prSet/>
      <dgm:spPr/>
      <dgm:t>
        <a:bodyPr/>
        <a:lstStyle/>
        <a:p>
          <a:endParaRPr lang="fr-FR"/>
        </a:p>
      </dgm:t>
    </dgm:pt>
    <dgm:pt modelId="{8457EE8B-98B2-4856-B10A-3795ED0AC398}" type="sibTrans" cxnId="{6136AB67-14B8-4319-96E2-B080942CA4E0}">
      <dgm:prSet/>
      <dgm:spPr/>
      <dgm:t>
        <a:bodyPr/>
        <a:lstStyle/>
        <a:p>
          <a:endParaRPr lang="fr-FR"/>
        </a:p>
      </dgm:t>
    </dgm:pt>
    <dgm:pt modelId="{35C0AAF6-372E-4D0E-9503-76E2C86BD176}">
      <dgm:prSet custT="1"/>
      <dgm:spPr/>
      <dgm:t>
        <a:bodyPr/>
        <a:lstStyle/>
        <a:p>
          <a:r>
            <a:rPr lang="fr-CI" sz="1900" dirty="0">
              <a:latin typeface="Calibri" panose="020F0502020204030204" pitchFamily="34" charset="0"/>
              <a:cs typeface="Calibri" panose="020F0502020204030204" pitchFamily="34" charset="0"/>
            </a:rPr>
            <a:t>Les affirmations de </a:t>
          </a:r>
          <a:r>
            <a:rPr lang="fr-CI" sz="1900" dirty="0" err="1">
              <a:latin typeface="Calibri" panose="020F0502020204030204" pitchFamily="34" charset="0"/>
              <a:cs typeface="Calibri" panose="020F0502020204030204" pitchFamily="34" charset="0"/>
            </a:rPr>
            <a:t>Giere</a:t>
          </a:r>
          <a:r>
            <a:rPr lang="fr-CI" sz="1900" dirty="0">
              <a:latin typeface="Calibri" panose="020F0502020204030204" pitchFamily="34" charset="0"/>
              <a:cs typeface="Calibri" panose="020F0502020204030204" pitchFamily="34" charset="0"/>
            </a:rPr>
            <a:t> et de </a:t>
          </a:r>
          <a:r>
            <a:rPr lang="fr-CI" sz="1900" dirty="0" err="1">
              <a:latin typeface="Calibri" panose="020F0502020204030204" pitchFamily="34" charset="0"/>
              <a:cs typeface="Calibri" panose="020F0502020204030204" pitchFamily="34" charset="0"/>
            </a:rPr>
            <a:t>McMullin</a:t>
          </a:r>
          <a:r>
            <a:rPr lang="fr-CI" sz="1900" dirty="0">
              <a:latin typeface="Calibri" panose="020F0502020204030204" pitchFamily="34" charset="0"/>
              <a:cs typeface="Calibri" panose="020F0502020204030204" pitchFamily="34" charset="0"/>
            </a:rPr>
            <a:t> transmettent un message important : </a:t>
          </a:r>
          <a:r>
            <a:rPr lang="fr-CI" sz="1900" b="1" dirty="0">
              <a:latin typeface="Calibri" panose="020F0502020204030204" pitchFamily="34" charset="0"/>
              <a:cs typeface="Calibri" panose="020F0502020204030204" pitchFamily="34" charset="0"/>
            </a:rPr>
            <a:t>le réalisme dépend du niveau d’organisation de l’objet étudié et des possibilités de l’observer. </a:t>
          </a:r>
          <a:endParaRPr lang="fr-FR" sz="1900" dirty="0">
            <a:latin typeface="Calibri" panose="020F0502020204030204" pitchFamily="34" charset="0"/>
            <a:cs typeface="Calibri" panose="020F0502020204030204" pitchFamily="34" charset="0"/>
          </a:endParaRPr>
        </a:p>
      </dgm:t>
    </dgm:pt>
    <dgm:pt modelId="{8A4CDA66-088B-4717-9440-8B65DD967BA4}" type="parTrans" cxnId="{16C54926-4E26-4A97-BB89-C74E57F4AE20}">
      <dgm:prSet/>
      <dgm:spPr/>
      <dgm:t>
        <a:bodyPr/>
        <a:lstStyle/>
        <a:p>
          <a:endParaRPr lang="fr-FR"/>
        </a:p>
      </dgm:t>
    </dgm:pt>
    <dgm:pt modelId="{8845DE72-D297-4283-91B1-57F1574D2248}" type="sibTrans" cxnId="{16C54926-4E26-4A97-BB89-C74E57F4AE20}">
      <dgm:prSet/>
      <dgm:spPr/>
      <dgm:t>
        <a:bodyPr/>
        <a:lstStyle/>
        <a:p>
          <a:endParaRPr lang="fr-FR"/>
        </a:p>
      </dgm:t>
    </dgm:pt>
    <dgm:pt modelId="{21582DE1-1706-4BA2-8828-8051CFC93969}">
      <dgm:prSet custT="1"/>
      <dgm:spPr/>
      <dgm:t>
        <a:bodyPr/>
        <a:lstStyle/>
        <a:p>
          <a:r>
            <a:rPr lang="fr-CI" sz="1900" dirty="0">
              <a:latin typeface="Calibri" panose="020F0502020204030204" pitchFamily="34" charset="0"/>
              <a:cs typeface="Calibri" panose="020F0502020204030204" pitchFamily="34" charset="0"/>
            </a:rPr>
            <a:t>Nicholas </a:t>
          </a:r>
          <a:r>
            <a:rPr lang="fr-CI" sz="1900" dirty="0" err="1">
              <a:latin typeface="Calibri" panose="020F0502020204030204" pitchFamily="34" charset="0"/>
              <a:cs typeface="Calibri" panose="020F0502020204030204" pitchFamily="34" charset="0"/>
            </a:rPr>
            <a:t>Rescher</a:t>
          </a:r>
          <a:r>
            <a:rPr lang="fr-CI" sz="1900" dirty="0">
              <a:latin typeface="Calibri" panose="020F0502020204030204" pitchFamily="34" charset="0"/>
              <a:cs typeface="Calibri" panose="020F0502020204030204" pitchFamily="34" charset="0"/>
            </a:rPr>
            <a:t> (1928- ) a consacré un livre entier à étudier le réalisme scientifique : Scientific </a:t>
          </a:r>
          <a:r>
            <a:rPr lang="fr-CI" sz="1900" dirty="0" err="1">
              <a:latin typeface="Calibri" panose="020F0502020204030204" pitchFamily="34" charset="0"/>
              <a:cs typeface="Calibri" panose="020F0502020204030204" pitchFamily="34" charset="0"/>
            </a:rPr>
            <a:t>Realism</a:t>
          </a:r>
          <a:r>
            <a:rPr lang="fr-CI" sz="1900" dirty="0">
              <a:latin typeface="Calibri" panose="020F0502020204030204" pitchFamily="34" charset="0"/>
              <a:cs typeface="Calibri" panose="020F0502020204030204" pitchFamily="34" charset="0"/>
            </a:rPr>
            <a:t> : A Critical </a:t>
          </a:r>
          <a:r>
            <a:rPr lang="fr-CI" sz="1900" dirty="0" err="1">
              <a:latin typeface="Calibri" panose="020F0502020204030204" pitchFamily="34" charset="0"/>
              <a:cs typeface="Calibri" panose="020F0502020204030204" pitchFamily="34" charset="0"/>
            </a:rPr>
            <a:t>Reappraisal</a:t>
          </a:r>
          <a:r>
            <a:rPr lang="fr-CI" sz="1900" dirty="0">
              <a:latin typeface="Calibri" panose="020F0502020204030204" pitchFamily="34" charset="0"/>
              <a:cs typeface="Calibri" panose="020F0502020204030204" pitchFamily="34" charset="0"/>
            </a:rPr>
            <a:t> (1987). </a:t>
          </a:r>
          <a:r>
            <a:rPr lang="fr-CI" sz="1900" b="1" dirty="0">
              <a:latin typeface="Calibri" panose="020F0502020204030204" pitchFamily="34" charset="0"/>
              <a:cs typeface="Calibri" panose="020F0502020204030204" pitchFamily="34" charset="0"/>
            </a:rPr>
            <a:t>Il critique ouvertement l’instrumentalisme et soutient que l’objet de la science est étroitement lié au réalisme</a:t>
          </a:r>
          <a:r>
            <a:rPr lang="fr-CI" sz="1900" dirty="0">
              <a:latin typeface="Calibri" panose="020F0502020204030204" pitchFamily="34" charset="0"/>
              <a:cs typeface="Calibri" panose="020F0502020204030204" pitchFamily="34" charset="0"/>
            </a:rPr>
            <a:t>. </a:t>
          </a:r>
          <a:endParaRPr lang="fr-FR" sz="1900" dirty="0">
            <a:latin typeface="Calibri" panose="020F0502020204030204" pitchFamily="34" charset="0"/>
            <a:cs typeface="Calibri" panose="020F0502020204030204" pitchFamily="34" charset="0"/>
          </a:endParaRPr>
        </a:p>
      </dgm:t>
    </dgm:pt>
    <dgm:pt modelId="{EAB123FD-3ED9-474A-9F55-9F3CE04DF666}" type="parTrans" cxnId="{E038B8EE-564A-4FDE-A801-2DF884661A4A}">
      <dgm:prSet/>
      <dgm:spPr/>
      <dgm:t>
        <a:bodyPr/>
        <a:lstStyle/>
        <a:p>
          <a:endParaRPr lang="fr-FR"/>
        </a:p>
      </dgm:t>
    </dgm:pt>
    <dgm:pt modelId="{1D93CC0A-BD01-40C8-8A2D-0365A615DC88}" type="sibTrans" cxnId="{E038B8EE-564A-4FDE-A801-2DF884661A4A}">
      <dgm:prSet/>
      <dgm:spPr/>
      <dgm:t>
        <a:bodyPr/>
        <a:lstStyle/>
        <a:p>
          <a:endParaRPr lang="fr-FR"/>
        </a:p>
      </dgm:t>
    </dgm:pt>
    <dgm:pt modelId="{6B3747CC-73D4-441B-9372-E2CA41D80100}">
      <dgm:prSet custT="1"/>
      <dgm:spPr/>
      <dgm:t>
        <a:bodyPr/>
        <a:lstStyle/>
        <a:p>
          <a:r>
            <a:rPr lang="fr-CI" sz="1900" dirty="0" err="1">
              <a:latin typeface="Calibri" panose="020F0502020204030204" pitchFamily="34" charset="0"/>
              <a:cs typeface="Calibri" panose="020F0502020204030204" pitchFamily="34" charset="0"/>
            </a:rPr>
            <a:t>Rescher</a:t>
          </a:r>
          <a:r>
            <a:rPr lang="fr-CI" sz="1900" dirty="0">
              <a:latin typeface="Calibri" panose="020F0502020204030204" pitchFamily="34" charset="0"/>
              <a:cs typeface="Calibri" panose="020F0502020204030204" pitchFamily="34" charset="0"/>
            </a:rPr>
            <a:t> a raison lorsqu’il dit que l’engagement avec la vérité est essentiel pour définir les objectifs et la nature même de l’entreprise scientifique.</a:t>
          </a:r>
          <a:endParaRPr lang="fr-FR" sz="1900" dirty="0">
            <a:latin typeface="Calibri" panose="020F0502020204030204" pitchFamily="34" charset="0"/>
            <a:cs typeface="Calibri" panose="020F0502020204030204" pitchFamily="34" charset="0"/>
          </a:endParaRPr>
        </a:p>
      </dgm:t>
    </dgm:pt>
    <dgm:pt modelId="{922961C8-B78D-456E-88C0-D948571506E7}" type="parTrans" cxnId="{144E4706-606C-4AF6-85D3-0FD9B46CA143}">
      <dgm:prSet/>
      <dgm:spPr/>
      <dgm:t>
        <a:bodyPr/>
        <a:lstStyle/>
        <a:p>
          <a:endParaRPr lang="fr-FR"/>
        </a:p>
      </dgm:t>
    </dgm:pt>
    <dgm:pt modelId="{E1066D31-5752-4671-90DE-4E92ACB92B78}" type="sibTrans" cxnId="{144E4706-606C-4AF6-85D3-0FD9B46CA143}">
      <dgm:prSet/>
      <dgm:spPr/>
      <dgm:t>
        <a:bodyPr/>
        <a:lstStyle/>
        <a:p>
          <a:endParaRPr lang="fr-FR"/>
        </a:p>
      </dgm:t>
    </dgm:pt>
    <dgm:pt modelId="{0AFF5BB3-A3E8-487B-B792-F8041781AA43}">
      <dgm:prSet phldrT="[Texte]" custT="1"/>
      <dgm:spPr/>
      <dgm:t>
        <a:bodyPr/>
        <a:lstStyle/>
        <a:p>
          <a:endParaRPr lang="fr-FR" sz="1900" dirty="0">
            <a:latin typeface="Calibri" panose="020F0502020204030204" pitchFamily="34" charset="0"/>
            <a:cs typeface="Calibri" panose="020F0502020204030204" pitchFamily="34" charset="0"/>
          </a:endParaRPr>
        </a:p>
      </dgm:t>
    </dgm:pt>
    <dgm:pt modelId="{78AB65A9-9F45-4CAD-ABFD-D8A680C9AED7}" type="parTrans" cxnId="{22DE5BB2-B3F5-4BCF-8CCE-438D8EA11796}">
      <dgm:prSet/>
      <dgm:spPr/>
      <dgm:t>
        <a:bodyPr/>
        <a:lstStyle/>
        <a:p>
          <a:endParaRPr lang="fr-FR"/>
        </a:p>
      </dgm:t>
    </dgm:pt>
    <dgm:pt modelId="{906AF7F3-F2A6-4938-A764-7A7D38C7A563}" type="sibTrans" cxnId="{22DE5BB2-B3F5-4BCF-8CCE-438D8EA11796}">
      <dgm:prSet/>
      <dgm:spPr/>
      <dgm:t>
        <a:bodyPr/>
        <a:lstStyle/>
        <a:p>
          <a:endParaRPr lang="fr-FR"/>
        </a:p>
      </dgm:t>
    </dgm:pt>
    <dgm:pt modelId="{3CA4B52F-A965-4E4C-9238-4FABD9E24B73}">
      <dgm:prSet custT="1"/>
      <dgm:spPr/>
      <dgm:t>
        <a:bodyPr/>
        <a:lstStyle/>
        <a:p>
          <a:endParaRPr lang="fr-FR" sz="1900" dirty="0">
            <a:latin typeface="Calibri" panose="020F0502020204030204" pitchFamily="34" charset="0"/>
            <a:cs typeface="Calibri" panose="020F0502020204030204" pitchFamily="34" charset="0"/>
          </a:endParaRPr>
        </a:p>
      </dgm:t>
    </dgm:pt>
    <dgm:pt modelId="{72DE65F0-4F17-4351-BCAC-234C7D1DAE57}" type="parTrans" cxnId="{B1B4618D-173B-4282-9F46-F335BE3B8B10}">
      <dgm:prSet/>
      <dgm:spPr/>
      <dgm:t>
        <a:bodyPr/>
        <a:lstStyle/>
        <a:p>
          <a:endParaRPr lang="fr-FR"/>
        </a:p>
      </dgm:t>
    </dgm:pt>
    <dgm:pt modelId="{9FEC8F61-CDF3-46E9-925A-3CB7E230DC5A}" type="sibTrans" cxnId="{B1B4618D-173B-4282-9F46-F335BE3B8B10}">
      <dgm:prSet/>
      <dgm:spPr/>
      <dgm:t>
        <a:bodyPr/>
        <a:lstStyle/>
        <a:p>
          <a:endParaRPr lang="fr-FR"/>
        </a:p>
      </dgm:t>
    </dgm:pt>
    <dgm:pt modelId="{E215A9C1-3AED-4C88-9AC5-EC91ED614541}">
      <dgm:prSet custT="1"/>
      <dgm:spPr/>
      <dgm:t>
        <a:bodyPr/>
        <a:lstStyle/>
        <a:p>
          <a:endParaRPr lang="fr-FR" sz="1900" dirty="0">
            <a:latin typeface="Calibri" panose="020F0502020204030204" pitchFamily="34" charset="0"/>
            <a:cs typeface="Calibri" panose="020F0502020204030204" pitchFamily="34" charset="0"/>
          </a:endParaRPr>
        </a:p>
      </dgm:t>
    </dgm:pt>
    <dgm:pt modelId="{EB0D2C48-ADF6-4D5B-844E-85BF23BFA0D0}" type="parTrans" cxnId="{66EA1C35-337E-4923-BA97-A24BA050376E}">
      <dgm:prSet/>
      <dgm:spPr/>
      <dgm:t>
        <a:bodyPr/>
        <a:lstStyle/>
        <a:p>
          <a:endParaRPr lang="fr-FR"/>
        </a:p>
      </dgm:t>
    </dgm:pt>
    <dgm:pt modelId="{940D5F1C-7CBB-48EC-ADA0-27DEDA290BA9}" type="sibTrans" cxnId="{66EA1C35-337E-4923-BA97-A24BA050376E}">
      <dgm:prSet/>
      <dgm:spPr/>
      <dgm:t>
        <a:bodyPr/>
        <a:lstStyle/>
        <a:p>
          <a:endParaRPr lang="fr-FR"/>
        </a:p>
      </dgm:t>
    </dgm:pt>
    <dgm:pt modelId="{A53C7E5F-02C6-43F7-8C14-F5B531248B9E}" type="pres">
      <dgm:prSet presAssocID="{A2CC6A5C-A6CE-4794-9B7B-A1828D9EADE3}" presName="linear" presStyleCnt="0">
        <dgm:presLayoutVars>
          <dgm:animLvl val="lvl"/>
          <dgm:resizeHandles val="exact"/>
        </dgm:presLayoutVars>
      </dgm:prSet>
      <dgm:spPr/>
    </dgm:pt>
    <dgm:pt modelId="{649F80F7-861F-4817-8221-2003992468A9}" type="pres">
      <dgm:prSet presAssocID="{87007A41-9CA4-40E6-BD5C-27C2620FF810}" presName="parentText" presStyleLbl="node1" presStyleIdx="0" presStyleCnt="1" custScaleY="29888">
        <dgm:presLayoutVars>
          <dgm:chMax val="0"/>
          <dgm:bulletEnabled val="1"/>
        </dgm:presLayoutVars>
      </dgm:prSet>
      <dgm:spPr/>
    </dgm:pt>
    <dgm:pt modelId="{30C0A05C-28B3-4B97-BABB-F8E1230DAA52}" type="pres">
      <dgm:prSet presAssocID="{87007A41-9CA4-40E6-BD5C-27C2620FF810}" presName="childText" presStyleLbl="revTx" presStyleIdx="0" presStyleCnt="1">
        <dgm:presLayoutVars>
          <dgm:bulletEnabled val="1"/>
        </dgm:presLayoutVars>
      </dgm:prSet>
      <dgm:spPr/>
    </dgm:pt>
  </dgm:ptLst>
  <dgm:cxnLst>
    <dgm:cxn modelId="{144E4706-606C-4AF6-85D3-0FD9B46CA143}" srcId="{87007A41-9CA4-40E6-BD5C-27C2620FF810}" destId="{6B3747CC-73D4-441B-9372-E2CA41D80100}" srcOrd="7" destOrd="0" parTransId="{922961C8-B78D-456E-88C0-D948571506E7}" sibTransId="{E1066D31-5752-4671-90DE-4E92ACB92B78}"/>
    <dgm:cxn modelId="{AF0D300E-4881-46BB-B862-2A4A5FE9CA34}" type="presOf" srcId="{8DEEAD8C-43CA-4561-84F5-5BF865A8AC7B}" destId="{30C0A05C-28B3-4B97-BABB-F8E1230DAA52}" srcOrd="0" destOrd="1" presId="urn:microsoft.com/office/officeart/2005/8/layout/vList2"/>
    <dgm:cxn modelId="{93485213-14F9-4777-BF1E-B147A69A58D5}" type="presOf" srcId="{87007A41-9CA4-40E6-BD5C-27C2620FF810}" destId="{649F80F7-861F-4817-8221-2003992468A9}" srcOrd="0" destOrd="0" presId="urn:microsoft.com/office/officeart/2005/8/layout/vList2"/>
    <dgm:cxn modelId="{16C54926-4E26-4A97-BB89-C74E57F4AE20}" srcId="{87007A41-9CA4-40E6-BD5C-27C2620FF810}" destId="{35C0AAF6-372E-4D0E-9503-76E2C86BD176}" srcOrd="3" destOrd="0" parTransId="{8A4CDA66-088B-4717-9440-8B65DD967BA4}" sibTransId="{8845DE72-D297-4283-91B1-57F1574D2248}"/>
    <dgm:cxn modelId="{66EA1C35-337E-4923-BA97-A24BA050376E}" srcId="{87007A41-9CA4-40E6-BD5C-27C2620FF810}" destId="{E215A9C1-3AED-4C88-9AC5-EC91ED614541}" srcOrd="4" destOrd="0" parTransId="{EB0D2C48-ADF6-4D5B-844E-85BF23BFA0D0}" sibTransId="{940D5F1C-7CBB-48EC-ADA0-27DEDA290BA9}"/>
    <dgm:cxn modelId="{312A2643-9FDD-4CFA-B98E-C7F1EA3C715E}" type="presOf" srcId="{A2CC6A5C-A6CE-4794-9B7B-A1828D9EADE3}" destId="{A53C7E5F-02C6-43F7-8C14-F5B531248B9E}" srcOrd="0" destOrd="0" presId="urn:microsoft.com/office/officeart/2005/8/layout/vList2"/>
    <dgm:cxn modelId="{6136AB67-14B8-4319-96E2-B080942CA4E0}" srcId="{87007A41-9CA4-40E6-BD5C-27C2620FF810}" destId="{8DEEAD8C-43CA-4561-84F5-5BF865A8AC7B}" srcOrd="1" destOrd="0" parTransId="{C42B9438-0800-4046-81A9-1771B40A1BA7}" sibTransId="{8457EE8B-98B2-4856-B10A-3795ED0AC398}"/>
    <dgm:cxn modelId="{9659C048-C9C4-45B8-8441-836812FEBB1B}" type="presOf" srcId="{6B3747CC-73D4-441B-9372-E2CA41D80100}" destId="{30C0A05C-28B3-4B97-BABB-F8E1230DAA52}" srcOrd="0" destOrd="7" presId="urn:microsoft.com/office/officeart/2005/8/layout/vList2"/>
    <dgm:cxn modelId="{0202AB6A-5473-4084-AEFC-A2545F62C22D}" type="presOf" srcId="{3CA4B52F-A965-4E4C-9238-4FABD9E24B73}" destId="{30C0A05C-28B3-4B97-BABB-F8E1230DAA52}" srcOrd="0" destOrd="6" presId="urn:microsoft.com/office/officeart/2005/8/layout/vList2"/>
    <dgm:cxn modelId="{CCC2A083-F7D7-403C-BF03-7321E294C5BB}" type="presOf" srcId="{21582DE1-1706-4BA2-8828-8051CFC93969}" destId="{30C0A05C-28B3-4B97-BABB-F8E1230DAA52}" srcOrd="0" destOrd="5" presId="urn:microsoft.com/office/officeart/2005/8/layout/vList2"/>
    <dgm:cxn modelId="{5E38C184-03A9-456D-8419-5760005FC648}" type="presOf" srcId="{35C0AAF6-372E-4D0E-9503-76E2C86BD176}" destId="{30C0A05C-28B3-4B97-BABB-F8E1230DAA52}" srcOrd="0" destOrd="3" presId="urn:microsoft.com/office/officeart/2005/8/layout/vList2"/>
    <dgm:cxn modelId="{B1B4618D-173B-4282-9F46-F335BE3B8B10}" srcId="{87007A41-9CA4-40E6-BD5C-27C2620FF810}" destId="{3CA4B52F-A965-4E4C-9238-4FABD9E24B73}" srcOrd="6" destOrd="0" parTransId="{72DE65F0-4F17-4351-BCAC-234C7D1DAE57}" sibTransId="{9FEC8F61-CDF3-46E9-925A-3CB7E230DC5A}"/>
    <dgm:cxn modelId="{4D1264AD-EABE-4A4B-9C88-FBB428F1E86A}" srcId="{A2CC6A5C-A6CE-4794-9B7B-A1828D9EADE3}" destId="{87007A41-9CA4-40E6-BD5C-27C2620FF810}" srcOrd="0" destOrd="0" parTransId="{33009C38-BD63-4682-A8F6-27FA25931429}" sibTransId="{C4BA59E0-1C32-44D6-B582-C20B77577058}"/>
    <dgm:cxn modelId="{22DE5BB2-B3F5-4BCF-8CCE-438D8EA11796}" srcId="{87007A41-9CA4-40E6-BD5C-27C2620FF810}" destId="{0AFF5BB3-A3E8-487B-B792-F8041781AA43}" srcOrd="2" destOrd="0" parTransId="{78AB65A9-9F45-4CAD-ABFD-D8A680C9AED7}" sibTransId="{906AF7F3-F2A6-4938-A764-7A7D38C7A563}"/>
    <dgm:cxn modelId="{1166B5DB-23CC-49E7-8BB2-BD641484BCE0}" type="presOf" srcId="{0AFF5BB3-A3E8-487B-B792-F8041781AA43}" destId="{30C0A05C-28B3-4B97-BABB-F8E1230DAA52}" srcOrd="0" destOrd="2" presId="urn:microsoft.com/office/officeart/2005/8/layout/vList2"/>
    <dgm:cxn modelId="{3B9F46DF-897D-4D38-8840-482FAB930576}" type="presOf" srcId="{8BA6B697-DD37-4BF5-BD79-E54C83BE7064}" destId="{30C0A05C-28B3-4B97-BABB-F8E1230DAA52}" srcOrd="0" destOrd="0" presId="urn:microsoft.com/office/officeart/2005/8/layout/vList2"/>
    <dgm:cxn modelId="{552D2FEB-C2E9-483B-8B39-9DFBA7FD5150}" type="presOf" srcId="{E215A9C1-3AED-4C88-9AC5-EC91ED614541}" destId="{30C0A05C-28B3-4B97-BABB-F8E1230DAA52}" srcOrd="0" destOrd="4" presId="urn:microsoft.com/office/officeart/2005/8/layout/vList2"/>
    <dgm:cxn modelId="{E038B8EE-564A-4FDE-A801-2DF884661A4A}" srcId="{87007A41-9CA4-40E6-BD5C-27C2620FF810}" destId="{21582DE1-1706-4BA2-8828-8051CFC93969}" srcOrd="5" destOrd="0" parTransId="{EAB123FD-3ED9-474A-9F55-9F3CE04DF666}" sibTransId="{1D93CC0A-BD01-40C8-8A2D-0365A615DC88}"/>
    <dgm:cxn modelId="{853BD6F1-381F-40F6-9ECA-64BE2D8C407A}" srcId="{87007A41-9CA4-40E6-BD5C-27C2620FF810}" destId="{8BA6B697-DD37-4BF5-BD79-E54C83BE7064}" srcOrd="0" destOrd="0" parTransId="{9F79052B-18D6-4CA9-AE69-E042AABE333B}" sibTransId="{F7321498-ADF3-4EDC-ADF0-809E02DA8634}"/>
    <dgm:cxn modelId="{6FEB5152-37AF-4E12-9AC9-E2C3FD8C973C}" type="presParOf" srcId="{A53C7E5F-02C6-43F7-8C14-F5B531248B9E}" destId="{649F80F7-861F-4817-8221-2003992468A9}" srcOrd="0" destOrd="0" presId="urn:microsoft.com/office/officeart/2005/8/layout/vList2"/>
    <dgm:cxn modelId="{7F4A95E9-1F92-4A15-A7C6-652C6606214A}" type="presParOf" srcId="{A53C7E5F-02C6-43F7-8C14-F5B531248B9E}" destId="{30C0A05C-28B3-4B97-BABB-F8E1230DAA52}"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CC8B19-6817-46EB-818F-25CA678405C7}">
      <dsp:nvSpPr>
        <dsp:cNvPr id="0" name=""/>
        <dsp:cNvSpPr/>
      </dsp:nvSpPr>
      <dsp:spPr>
        <a:xfrm>
          <a:off x="-11785" y="0"/>
          <a:ext cx="9165169" cy="1382796"/>
        </a:xfrm>
        <a:prstGeom prst="roundRect">
          <a:avLst>
            <a:gd name="adj" fmla="val 10000"/>
          </a:avLst>
        </a:prstGeom>
        <a:gradFill rotWithShape="0">
          <a:gsLst>
            <a:gs pos="0">
              <a:schemeClr val="accent5">
                <a:hueOff val="0"/>
                <a:satOff val="0"/>
                <a:lumOff val="0"/>
                <a:alphaOff val="0"/>
                <a:satMod val="100000"/>
                <a:lumMod val="100000"/>
              </a:schemeClr>
            </a:gs>
            <a:gs pos="50000">
              <a:schemeClr val="accent5">
                <a:hueOff val="0"/>
                <a:satOff val="0"/>
                <a:lumOff val="0"/>
                <a:alphaOff val="0"/>
                <a:shade val="99000"/>
                <a:satMod val="105000"/>
                <a:lumMod val="100000"/>
              </a:schemeClr>
            </a:gs>
            <a:gs pos="100000">
              <a:schemeClr val="accent5">
                <a:hueOff val="0"/>
                <a:satOff val="0"/>
                <a:lumOff val="0"/>
                <a:alphaOff val="0"/>
                <a:shade val="98000"/>
                <a:satMod val="105000"/>
                <a:lumMod val="100000"/>
              </a:schemeClr>
            </a:gs>
          </a:gsLst>
          <a:lin ang="5400000" scaled="0"/>
        </a:gradFill>
        <a:ln>
          <a:noFill/>
        </a:ln>
        <a:effectLst>
          <a:outerShdw blurRad="38100" dist="12700" dir="5400000" algn="ctr" rotWithShape="0">
            <a:srgbClr val="000000">
              <a:alpha val="63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CI" sz="1900" b="1" u="sng" kern="1200" dirty="0">
              <a:effectLst/>
              <a:latin typeface="Calibri" panose="020F0502020204030204" pitchFamily="34" charset="0"/>
              <a:ea typeface="Calibri" panose="020F0502020204030204" pitchFamily="34" charset="0"/>
              <a:cs typeface="Times New Roman" panose="02020603050405020304" pitchFamily="18" charset="0"/>
            </a:rPr>
            <a:t>Définition</a:t>
          </a:r>
          <a:r>
            <a:rPr lang="fr-CI" sz="1900" kern="1200" dirty="0">
              <a:effectLst/>
              <a:latin typeface="Calibri" panose="020F0502020204030204" pitchFamily="34" charset="0"/>
              <a:ea typeface="Calibri" panose="020F0502020204030204" pitchFamily="34" charset="0"/>
              <a:cs typeface="Times New Roman" panose="02020603050405020304" pitchFamily="18" charset="0"/>
            </a:rPr>
            <a:t> : La gravitation, l'une des quatre interactions fondamentales qui régissent l'Univers, est l'interaction physique responsable de l'attraction des corps massifs.</a:t>
          </a:r>
          <a:endParaRPr lang="fr-FR" sz="1900" kern="1200" dirty="0"/>
        </a:p>
      </dsp:txBody>
      <dsp:txXfrm>
        <a:off x="28716" y="40501"/>
        <a:ext cx="7665727" cy="1301794"/>
      </dsp:txXfrm>
    </dsp:sp>
    <dsp:sp modelId="{6C680C54-C935-40E2-8C87-02D785154286}">
      <dsp:nvSpPr>
        <dsp:cNvPr id="0" name=""/>
        <dsp:cNvSpPr/>
      </dsp:nvSpPr>
      <dsp:spPr>
        <a:xfrm>
          <a:off x="816317" y="1553809"/>
          <a:ext cx="9118029" cy="1501703"/>
        </a:xfrm>
        <a:prstGeom prst="roundRect">
          <a:avLst>
            <a:gd name="adj" fmla="val 10000"/>
          </a:avLst>
        </a:prstGeom>
        <a:gradFill rotWithShape="0">
          <a:gsLst>
            <a:gs pos="0">
              <a:schemeClr val="accent5">
                <a:hueOff val="1178392"/>
                <a:satOff val="-5635"/>
                <a:lumOff val="6177"/>
                <a:alphaOff val="0"/>
                <a:satMod val="100000"/>
                <a:lumMod val="100000"/>
              </a:schemeClr>
            </a:gs>
            <a:gs pos="50000">
              <a:schemeClr val="accent5">
                <a:hueOff val="1178392"/>
                <a:satOff val="-5635"/>
                <a:lumOff val="6177"/>
                <a:alphaOff val="0"/>
                <a:shade val="99000"/>
                <a:satMod val="105000"/>
                <a:lumMod val="100000"/>
              </a:schemeClr>
            </a:gs>
            <a:gs pos="100000">
              <a:schemeClr val="accent5">
                <a:hueOff val="1178392"/>
                <a:satOff val="-5635"/>
                <a:lumOff val="6177"/>
                <a:alphaOff val="0"/>
                <a:shade val="98000"/>
                <a:satMod val="105000"/>
                <a:lumMod val="100000"/>
              </a:schemeClr>
            </a:gs>
          </a:gsLst>
          <a:lin ang="5400000" scaled="0"/>
        </a:gradFill>
        <a:ln>
          <a:noFill/>
        </a:ln>
        <a:effectLst>
          <a:outerShdw blurRad="38100" dist="12700" dir="5400000" algn="ctr" rotWithShape="0">
            <a:srgbClr val="000000">
              <a:alpha val="63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CI" sz="1900" b="1" u="sng" kern="1200" dirty="0">
              <a:effectLst/>
              <a:latin typeface="Calibri" panose="020F0502020204030204" pitchFamily="34" charset="0"/>
              <a:ea typeface="Calibri" panose="020F0502020204030204" pitchFamily="34" charset="0"/>
              <a:cs typeface="Times New Roman" panose="02020603050405020304" pitchFamily="18" charset="0"/>
            </a:rPr>
            <a:t>Manifestation</a:t>
          </a:r>
          <a:r>
            <a:rPr lang="fr-CI" sz="1900" kern="1200" dirty="0">
              <a:effectLst/>
              <a:latin typeface="Calibri" panose="020F0502020204030204" pitchFamily="34" charset="0"/>
              <a:ea typeface="Calibri" panose="020F0502020204030204" pitchFamily="34" charset="0"/>
              <a:cs typeface="Times New Roman" panose="02020603050405020304" pitchFamily="18" charset="0"/>
            </a:rPr>
            <a:t> :  Elle se manifeste notamment par l'attraction terrestre qui nous retient au sol, la gravité, qui est responsable de plusieurs manifestations naturelles : les marées, l'orbite des planètes autour du Soleil, la sphéricité de la plupart des corps célestes en sont quelques exemples. </a:t>
          </a:r>
          <a:endParaRPr lang="fr-FR" sz="1900" kern="1200" dirty="0"/>
        </a:p>
      </dsp:txBody>
      <dsp:txXfrm>
        <a:off x="860300" y="1597792"/>
        <a:ext cx="7326713" cy="1413737"/>
      </dsp:txXfrm>
    </dsp:sp>
    <dsp:sp modelId="{F054F885-06ED-481C-B5F7-6E557D50E606}">
      <dsp:nvSpPr>
        <dsp:cNvPr id="0" name=""/>
        <dsp:cNvSpPr/>
      </dsp:nvSpPr>
      <dsp:spPr>
        <a:xfrm>
          <a:off x="1620849" y="3212227"/>
          <a:ext cx="9118029" cy="1382796"/>
        </a:xfrm>
        <a:prstGeom prst="roundRect">
          <a:avLst>
            <a:gd name="adj" fmla="val 10000"/>
          </a:avLst>
        </a:prstGeom>
        <a:gradFill rotWithShape="0">
          <a:gsLst>
            <a:gs pos="0">
              <a:schemeClr val="accent5">
                <a:hueOff val="2356783"/>
                <a:satOff val="-11270"/>
                <a:lumOff val="12353"/>
                <a:alphaOff val="0"/>
                <a:satMod val="100000"/>
                <a:lumMod val="100000"/>
              </a:schemeClr>
            </a:gs>
            <a:gs pos="50000">
              <a:schemeClr val="accent5">
                <a:hueOff val="2356783"/>
                <a:satOff val="-11270"/>
                <a:lumOff val="12353"/>
                <a:alphaOff val="0"/>
                <a:shade val="99000"/>
                <a:satMod val="105000"/>
                <a:lumMod val="100000"/>
              </a:schemeClr>
            </a:gs>
            <a:gs pos="100000">
              <a:schemeClr val="accent5">
                <a:hueOff val="2356783"/>
                <a:satOff val="-11270"/>
                <a:lumOff val="12353"/>
                <a:alphaOff val="0"/>
                <a:shade val="98000"/>
                <a:satMod val="105000"/>
                <a:lumMod val="100000"/>
              </a:schemeClr>
            </a:gs>
          </a:gsLst>
          <a:lin ang="5400000" scaled="0"/>
        </a:gradFill>
        <a:ln>
          <a:noFill/>
        </a:ln>
        <a:effectLst>
          <a:outerShdw blurRad="38100" dist="12700" dir="5400000" algn="ctr" rotWithShape="0">
            <a:srgbClr val="000000">
              <a:alpha val="63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CI" sz="1900" b="1" kern="1200" dirty="0"/>
            <a:t>Plusieurs théories ont tenté de rendre compte de la gravitation</a:t>
          </a:r>
          <a:r>
            <a:rPr lang="fr-CI" sz="1900" kern="1200" dirty="0"/>
            <a:t>. </a:t>
          </a:r>
          <a:endParaRPr lang="fr-FR" sz="1900" kern="1200" dirty="0"/>
        </a:p>
      </dsp:txBody>
      <dsp:txXfrm>
        <a:off x="1661350" y="3252728"/>
        <a:ext cx="7333677" cy="1301794"/>
      </dsp:txXfrm>
    </dsp:sp>
    <dsp:sp modelId="{2FB76E6F-AE93-4BBE-ADBE-C61792A49642}">
      <dsp:nvSpPr>
        <dsp:cNvPr id="0" name=""/>
        <dsp:cNvSpPr/>
      </dsp:nvSpPr>
      <dsp:spPr>
        <a:xfrm>
          <a:off x="8230996" y="1048620"/>
          <a:ext cx="898817" cy="898817"/>
        </a:xfrm>
        <a:prstGeom prst="downArrow">
          <a:avLst>
            <a:gd name="adj1" fmla="val 55000"/>
            <a:gd name="adj2" fmla="val 45000"/>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ln>
        <a:effectLst>
          <a:outerShdw blurRad="38100" dist="12700" dir="5400000" algn="ctr" rotWithShape="0">
            <a:srgbClr val="000000">
              <a:alpha val="63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fr-FR" sz="3600" kern="1200"/>
        </a:p>
      </dsp:txBody>
      <dsp:txXfrm>
        <a:off x="8433230" y="1048620"/>
        <a:ext cx="494349" cy="676360"/>
      </dsp:txXfrm>
    </dsp:sp>
    <dsp:sp modelId="{B0450DFB-F6ED-4616-9296-A75718B48068}">
      <dsp:nvSpPr>
        <dsp:cNvPr id="0" name=""/>
        <dsp:cNvSpPr/>
      </dsp:nvSpPr>
      <dsp:spPr>
        <a:xfrm>
          <a:off x="9035528" y="2652664"/>
          <a:ext cx="898817" cy="898817"/>
        </a:xfrm>
        <a:prstGeom prst="downArrow">
          <a:avLst>
            <a:gd name="adj1" fmla="val 55000"/>
            <a:gd name="adj2" fmla="val 45000"/>
          </a:avLst>
        </a:prstGeom>
        <a:solidFill>
          <a:schemeClr val="accent5">
            <a:tint val="40000"/>
            <a:alpha val="90000"/>
            <a:hueOff val="2605351"/>
            <a:satOff val="4796"/>
            <a:lumOff val="2125"/>
            <a:alphaOff val="0"/>
          </a:schemeClr>
        </a:solidFill>
        <a:ln w="6350" cap="flat" cmpd="sng" algn="ctr">
          <a:solidFill>
            <a:schemeClr val="accent5">
              <a:tint val="40000"/>
              <a:alpha val="90000"/>
              <a:hueOff val="0"/>
              <a:satOff val="0"/>
              <a:lumOff val="0"/>
              <a:alphaOff val="0"/>
            </a:schemeClr>
          </a:solidFill>
          <a:prstDash val="solid"/>
        </a:ln>
        <a:effectLst>
          <a:outerShdw blurRad="38100" dist="12700" dir="5400000" algn="ctr" rotWithShape="0">
            <a:srgbClr val="000000">
              <a:alpha val="63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fr-FR" sz="3600" kern="1200"/>
        </a:p>
      </dsp:txBody>
      <dsp:txXfrm>
        <a:off x="9237762" y="2652664"/>
        <a:ext cx="494349" cy="6763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D42933-A63C-4298-8679-26311BF29E88}">
      <dsp:nvSpPr>
        <dsp:cNvPr id="0" name=""/>
        <dsp:cNvSpPr/>
      </dsp:nvSpPr>
      <dsp:spPr>
        <a:xfrm>
          <a:off x="0" y="250966"/>
          <a:ext cx="10829730" cy="506727"/>
        </a:xfrm>
        <a:prstGeom prst="roundRect">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CI" sz="1900" kern="1200" dirty="0"/>
            <a:t>La loi universelle de la gravitation ou loi de l'attraction universelle</a:t>
          </a:r>
          <a:endParaRPr lang="fr-FR" sz="1900" kern="1200" dirty="0"/>
        </a:p>
      </dsp:txBody>
      <dsp:txXfrm>
        <a:off x="24736" y="275702"/>
        <a:ext cx="10780258" cy="457255"/>
      </dsp:txXfrm>
    </dsp:sp>
    <dsp:sp modelId="{E8D7A28D-5738-48DD-BB84-B6C713A525A3}">
      <dsp:nvSpPr>
        <dsp:cNvPr id="0" name=""/>
        <dsp:cNvSpPr/>
      </dsp:nvSpPr>
      <dsp:spPr>
        <a:xfrm>
          <a:off x="0" y="814688"/>
          <a:ext cx="10829730" cy="1821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3844" tIns="24130" rIns="135128" bIns="24130" numCol="1" spcCol="1270" anchor="t" anchorCtr="0">
          <a:noAutofit/>
        </a:bodyPr>
        <a:lstStyle/>
        <a:p>
          <a:pPr marL="171450" lvl="1" indent="-171450" algn="just" defTabSz="844550">
            <a:lnSpc>
              <a:spcPct val="90000"/>
            </a:lnSpc>
            <a:spcBef>
              <a:spcPct val="0"/>
            </a:spcBef>
            <a:spcAft>
              <a:spcPct val="20000"/>
            </a:spcAft>
            <a:buChar char="•"/>
          </a:pPr>
          <a:r>
            <a:rPr lang="fr-CI" sz="1900" kern="1200" dirty="0">
              <a:latin typeface="Calibri" panose="020F0502020204030204" pitchFamily="34" charset="0"/>
              <a:cs typeface="Calibri" panose="020F0502020204030204" pitchFamily="34" charset="0"/>
            </a:rPr>
            <a:t>découverte par </a:t>
          </a:r>
          <a:r>
            <a:rPr lang="fr-CI" sz="1900" b="1" kern="1200" dirty="0">
              <a:latin typeface="Calibri" panose="020F0502020204030204" pitchFamily="34" charset="0"/>
              <a:cs typeface="Calibri" panose="020F0502020204030204" pitchFamily="34" charset="0"/>
            </a:rPr>
            <a:t>Isaac Newton</a:t>
          </a:r>
          <a:r>
            <a:rPr lang="fr-CI" sz="1900" kern="1200" dirty="0">
              <a:latin typeface="Calibri" panose="020F0502020204030204" pitchFamily="34" charset="0"/>
              <a:cs typeface="Calibri" panose="020F0502020204030204" pitchFamily="34" charset="0"/>
            </a:rPr>
            <a:t>, est la loi décrivant la gravitation comme une force responsable de la chute des corps et du mouvement des corps célestes, et de façon générale, de l'attraction entre des corps ayant une masse, par exemple les planètes, les satellites naturels ou artificiels</a:t>
          </a:r>
          <a:endParaRPr lang="fr-FR" sz="1900" kern="1200" dirty="0">
            <a:latin typeface="Calibri" panose="020F0502020204030204" pitchFamily="34" charset="0"/>
            <a:cs typeface="Calibri" panose="020F0502020204030204" pitchFamily="34" charset="0"/>
          </a:endParaRPr>
        </a:p>
        <a:p>
          <a:pPr marL="171450" lvl="1" indent="-171450" algn="l" defTabSz="844550">
            <a:lnSpc>
              <a:spcPct val="90000"/>
            </a:lnSpc>
            <a:spcBef>
              <a:spcPct val="0"/>
            </a:spcBef>
            <a:spcAft>
              <a:spcPct val="20000"/>
            </a:spcAft>
            <a:buChar char="•"/>
          </a:pPr>
          <a:r>
            <a:rPr lang="fr-CI" sz="1900" kern="1200" dirty="0">
              <a:latin typeface="Calibri" panose="020F0502020204030204" pitchFamily="34" charset="0"/>
              <a:cs typeface="Calibri" panose="020F0502020204030204" pitchFamily="34" charset="0"/>
            </a:rPr>
            <a:t>Il s'agit, parmi les quatre interactions élémentaires, de la première qui a été découverte.</a:t>
          </a:r>
          <a:endParaRPr lang="fr-FR" sz="1900" kern="1200" dirty="0">
            <a:latin typeface="Calibri" panose="020F0502020204030204" pitchFamily="34" charset="0"/>
            <a:cs typeface="Calibri" panose="020F0502020204030204" pitchFamily="34" charset="0"/>
          </a:endParaRPr>
        </a:p>
        <a:p>
          <a:pPr marL="171450" lvl="1" indent="-171450" algn="l" defTabSz="844550">
            <a:lnSpc>
              <a:spcPct val="90000"/>
            </a:lnSpc>
            <a:spcBef>
              <a:spcPct val="0"/>
            </a:spcBef>
            <a:spcAft>
              <a:spcPct val="20000"/>
            </a:spcAft>
            <a:buChar char="•"/>
          </a:pPr>
          <a:endParaRPr lang="fr-FR" sz="1900" kern="1200" dirty="0">
            <a:latin typeface="Calibri" panose="020F0502020204030204" pitchFamily="34" charset="0"/>
            <a:cs typeface="Calibri" panose="020F0502020204030204" pitchFamily="34" charset="0"/>
          </a:endParaRPr>
        </a:p>
        <a:p>
          <a:pPr marL="171450" lvl="1" indent="-171450" algn="l" defTabSz="844550">
            <a:lnSpc>
              <a:spcPct val="90000"/>
            </a:lnSpc>
            <a:spcBef>
              <a:spcPct val="0"/>
            </a:spcBef>
            <a:spcAft>
              <a:spcPct val="20000"/>
            </a:spcAft>
            <a:buChar char="•"/>
          </a:pPr>
          <a:endParaRPr lang="fr-FR" sz="1900" kern="1200" dirty="0">
            <a:latin typeface="Calibri" panose="020F0502020204030204" pitchFamily="34" charset="0"/>
            <a:cs typeface="Calibri" panose="020F0502020204030204" pitchFamily="34" charset="0"/>
          </a:endParaRPr>
        </a:p>
      </dsp:txBody>
      <dsp:txXfrm>
        <a:off x="0" y="814688"/>
        <a:ext cx="10829730" cy="1821600"/>
      </dsp:txXfrm>
    </dsp:sp>
    <dsp:sp modelId="{B1239601-F558-4F33-928E-57102F7B6416}">
      <dsp:nvSpPr>
        <dsp:cNvPr id="0" name=""/>
        <dsp:cNvSpPr/>
      </dsp:nvSpPr>
      <dsp:spPr>
        <a:xfrm>
          <a:off x="0" y="2803132"/>
          <a:ext cx="10829730" cy="434867"/>
        </a:xfrm>
        <a:prstGeom prst="roundRect">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CI" sz="1900" kern="1200" dirty="0"/>
            <a:t>La théorie de la relativité générale </a:t>
          </a:r>
          <a:r>
            <a:rPr lang="fr-CI" sz="1900" b="1" kern="1200" dirty="0"/>
            <a:t>d'Albert Einstein (1915)</a:t>
          </a:r>
          <a:endParaRPr lang="fr-FR" sz="1900" kern="1200" dirty="0"/>
        </a:p>
      </dsp:txBody>
      <dsp:txXfrm>
        <a:off x="21228" y="2824360"/>
        <a:ext cx="10787274" cy="392411"/>
      </dsp:txXfrm>
    </dsp:sp>
    <dsp:sp modelId="{F1282368-8B34-49FD-B427-1BA445E4ACEA}">
      <dsp:nvSpPr>
        <dsp:cNvPr id="0" name=""/>
        <dsp:cNvSpPr/>
      </dsp:nvSpPr>
      <dsp:spPr>
        <a:xfrm>
          <a:off x="0" y="3285623"/>
          <a:ext cx="10829730" cy="1391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3844" tIns="24130" rIns="135128" bIns="24130" numCol="1" spcCol="1270" anchor="t" anchorCtr="0">
          <a:noAutofit/>
        </a:bodyPr>
        <a:lstStyle/>
        <a:p>
          <a:pPr marL="171450" lvl="1" indent="-171450" algn="just" defTabSz="844550">
            <a:lnSpc>
              <a:spcPct val="90000"/>
            </a:lnSpc>
            <a:spcBef>
              <a:spcPct val="0"/>
            </a:spcBef>
            <a:spcAft>
              <a:spcPct val="20000"/>
            </a:spcAft>
            <a:buChar char="•"/>
          </a:pPr>
          <a:r>
            <a:rPr lang="fr-CI" sz="1900" kern="1200" dirty="0">
              <a:latin typeface="Calibri" panose="020F0502020204030204" pitchFamily="34" charset="0"/>
              <a:cs typeface="Calibri" panose="020F0502020204030204" pitchFamily="34" charset="0"/>
            </a:rPr>
            <a:t>Elle serait la plus satisfaisante. Elle considère la gravitation comme une manifestation de la courbure de l'espace-temps sous l'effet de l'énergie de la matière qui s'y trouve. La loi de la gravitation de Newton, élaborée à la fin du XVII siècle, demeure cependant une excellente approximation dans les cas non relativistes (vitesses faibles par rapport à celle de la lumière et masses de l'ordre de la masse solaire ou inférieures).</a:t>
          </a:r>
          <a:endParaRPr lang="fr-FR" sz="1900" kern="1200" dirty="0">
            <a:latin typeface="Calibri" panose="020F0502020204030204" pitchFamily="34" charset="0"/>
            <a:cs typeface="Calibri" panose="020F0502020204030204" pitchFamily="34" charset="0"/>
          </a:endParaRPr>
        </a:p>
      </dsp:txBody>
      <dsp:txXfrm>
        <a:off x="0" y="3285623"/>
        <a:ext cx="10829730" cy="13910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D42933-A63C-4298-8679-26311BF29E88}">
      <dsp:nvSpPr>
        <dsp:cNvPr id="0" name=""/>
        <dsp:cNvSpPr/>
      </dsp:nvSpPr>
      <dsp:spPr>
        <a:xfrm>
          <a:off x="0" y="0"/>
          <a:ext cx="10829730" cy="499335"/>
        </a:xfrm>
        <a:prstGeom prst="roundRect">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CI" sz="1900" kern="1200">
              <a:latin typeface="+mn-lt"/>
              <a:ea typeface="+mn-ea"/>
              <a:cs typeface="Calibri" panose="020F0502020204030204" pitchFamily="34" charset="0"/>
            </a:rPr>
            <a:t>La théorie de gravitation</a:t>
          </a:r>
          <a:endParaRPr lang="fr-FR" sz="1900" kern="1200" dirty="0">
            <a:latin typeface="+mn-lt"/>
            <a:ea typeface="+mn-ea"/>
            <a:cs typeface="Calibri" panose="020F0502020204030204" pitchFamily="34" charset="0"/>
          </a:endParaRPr>
        </a:p>
      </dsp:txBody>
      <dsp:txXfrm>
        <a:off x="24376" y="24376"/>
        <a:ext cx="10780978" cy="450583"/>
      </dsp:txXfrm>
    </dsp:sp>
    <dsp:sp modelId="{E8D7A28D-5738-48DD-BB84-B6C713A525A3}">
      <dsp:nvSpPr>
        <dsp:cNvPr id="0" name=""/>
        <dsp:cNvSpPr/>
      </dsp:nvSpPr>
      <dsp:spPr>
        <a:xfrm>
          <a:off x="0" y="547337"/>
          <a:ext cx="10829730" cy="19913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3844" tIns="24130" rIns="135128" bIns="24130" numCol="1" spcCol="1270" anchor="t" anchorCtr="0">
          <a:noAutofit/>
        </a:bodyPr>
        <a:lstStyle/>
        <a:p>
          <a:pPr marL="171450" lvl="1" indent="-171450" algn="l" defTabSz="844550">
            <a:lnSpc>
              <a:spcPct val="90000"/>
            </a:lnSpc>
            <a:spcBef>
              <a:spcPct val="0"/>
            </a:spcBef>
            <a:spcAft>
              <a:spcPct val="20000"/>
            </a:spcAft>
            <a:buChar char="•"/>
          </a:pPr>
          <a:r>
            <a:rPr lang="fr-CI" sz="1900" kern="1200" dirty="0">
              <a:latin typeface="Calibri" panose="020F0502020204030204" pitchFamily="34" charset="0"/>
              <a:cs typeface="Calibri" panose="020F0502020204030204" pitchFamily="34" charset="0"/>
            </a:rPr>
            <a:t>À l’échelle microscopique, la gravitation est la plus faible des quatre interactions fondamentales de la physique. Avec la force électromagnétique, elle est l'une des deux interactions à agir au-delà de la dimension du noyau atomique. </a:t>
          </a:r>
          <a:endParaRPr lang="fr-FR" sz="1900" kern="1200" dirty="0">
            <a:latin typeface="Calibri" panose="020F0502020204030204" pitchFamily="34" charset="0"/>
            <a:cs typeface="Calibri" panose="020F0502020204030204" pitchFamily="34" charset="0"/>
          </a:endParaRPr>
        </a:p>
        <a:p>
          <a:pPr marL="171450" lvl="1" indent="-171450" algn="just" defTabSz="844550">
            <a:lnSpc>
              <a:spcPct val="90000"/>
            </a:lnSpc>
            <a:spcBef>
              <a:spcPct val="0"/>
            </a:spcBef>
            <a:spcAft>
              <a:spcPct val="20000"/>
            </a:spcAft>
            <a:buChar char="•"/>
          </a:pPr>
          <a:r>
            <a:rPr lang="fr-CI" sz="1900" kern="1200" dirty="0">
              <a:latin typeface="Calibri" panose="020F0502020204030204" pitchFamily="34" charset="0"/>
              <a:cs typeface="Calibri" panose="020F0502020204030204" pitchFamily="34" charset="0"/>
            </a:rPr>
            <a:t>La relativité générale a permis de prédire un phénomène qui n’avait jamais été observé auparavant : que la lumière serait déviée en présence d’un champ gravitationnel très fort. Lorsque cette prédiction presque incroyable fut vérifiée de façon expérimentale à l’occasion des expéditions organisées en 1919 par sir Arthur Eddington (1882-1944) au golfe de Guinée et au Brésil, la célébrité d’Einstein fut totale</a:t>
          </a:r>
          <a:endParaRPr lang="fr-FR" sz="1900" kern="1200" dirty="0"/>
        </a:p>
      </dsp:txBody>
      <dsp:txXfrm>
        <a:off x="0" y="547337"/>
        <a:ext cx="10829730" cy="1991340"/>
      </dsp:txXfrm>
    </dsp:sp>
    <dsp:sp modelId="{B1239601-F558-4F33-928E-57102F7B6416}">
      <dsp:nvSpPr>
        <dsp:cNvPr id="0" name=""/>
        <dsp:cNvSpPr/>
      </dsp:nvSpPr>
      <dsp:spPr>
        <a:xfrm>
          <a:off x="0" y="2647057"/>
          <a:ext cx="10829730" cy="486720"/>
        </a:xfrm>
        <a:prstGeom prst="roundRect">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CI" sz="1900" kern="1200" dirty="0">
              <a:latin typeface="+mn-lt"/>
              <a:cs typeface="Calibri" panose="020F0502020204030204" pitchFamily="34" charset="0"/>
            </a:rPr>
            <a:t>La théorie de la relativité</a:t>
          </a:r>
          <a:endParaRPr lang="fr-FR" sz="1900" kern="1200" dirty="0">
            <a:latin typeface="+mn-lt"/>
            <a:cs typeface="Calibri" panose="020F0502020204030204" pitchFamily="34" charset="0"/>
          </a:endParaRPr>
        </a:p>
      </dsp:txBody>
      <dsp:txXfrm>
        <a:off x="23760" y="2670817"/>
        <a:ext cx="10782210" cy="439200"/>
      </dsp:txXfrm>
    </dsp:sp>
    <dsp:sp modelId="{F1282368-8B34-49FD-B427-1BA445E4ACEA}">
      <dsp:nvSpPr>
        <dsp:cNvPr id="0" name=""/>
        <dsp:cNvSpPr/>
      </dsp:nvSpPr>
      <dsp:spPr>
        <a:xfrm>
          <a:off x="0" y="2978148"/>
          <a:ext cx="10829730" cy="2045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3844" tIns="24130" rIns="135128" bIns="24130" numCol="1" spcCol="1270" anchor="t" anchorCtr="0">
          <a:noAutofit/>
        </a:bodyPr>
        <a:lstStyle/>
        <a:p>
          <a:pPr marL="171450" lvl="1" indent="-171450" algn="l" defTabSz="844550">
            <a:lnSpc>
              <a:spcPct val="90000"/>
            </a:lnSpc>
            <a:spcBef>
              <a:spcPct val="0"/>
            </a:spcBef>
            <a:spcAft>
              <a:spcPct val="20000"/>
            </a:spcAft>
            <a:buChar char="•"/>
          </a:pPr>
          <a:endParaRPr lang="fr-FR" sz="1900" kern="1200" dirty="0">
            <a:latin typeface="Calibri" panose="020F0502020204030204" pitchFamily="34" charset="0"/>
            <a:cs typeface="Calibri" panose="020F0502020204030204" pitchFamily="34" charset="0"/>
          </a:endParaRPr>
        </a:p>
        <a:p>
          <a:pPr marL="171450" lvl="1" indent="-171450" algn="just" defTabSz="844550">
            <a:lnSpc>
              <a:spcPct val="90000"/>
            </a:lnSpc>
            <a:spcBef>
              <a:spcPct val="0"/>
            </a:spcBef>
            <a:spcAft>
              <a:spcPct val="20000"/>
            </a:spcAft>
            <a:buChar char="•"/>
          </a:pPr>
          <a:r>
            <a:rPr lang="fr-CI" sz="1900" kern="1200" dirty="0">
              <a:latin typeface="Calibri" panose="020F0502020204030204" pitchFamily="34" charset="0"/>
              <a:cs typeface="Calibri" panose="020F0502020204030204" pitchFamily="34" charset="0"/>
            </a:rPr>
            <a:t>La théorie de la relativité supposait la fin d’une période de plus de deux siècles pendant laquelle la conviction s’était répandue que la mécanique de Newton offrait le schéma fondamental et définitif de la structure de la nature. Des concepts tenus pour fondamentaux tels que l’existence de l’espace, du temps et du mouvement absolus s’effondraient alors que de nouvelles perspectives s’offraient comme un outil d’interprétation d’autres phénomènes importants.</a:t>
          </a:r>
          <a:endParaRPr lang="fr-FR" sz="1900" kern="1200" dirty="0">
            <a:latin typeface="Calibri" panose="020F0502020204030204" pitchFamily="34" charset="0"/>
            <a:cs typeface="Calibri" panose="020F0502020204030204" pitchFamily="34" charset="0"/>
          </a:endParaRPr>
        </a:p>
        <a:p>
          <a:pPr marL="171450" lvl="1" indent="-171450" algn="l" defTabSz="844550">
            <a:lnSpc>
              <a:spcPct val="90000"/>
            </a:lnSpc>
            <a:spcBef>
              <a:spcPct val="0"/>
            </a:spcBef>
            <a:spcAft>
              <a:spcPct val="20000"/>
            </a:spcAft>
            <a:buChar char="•"/>
          </a:pPr>
          <a:r>
            <a:rPr lang="fr-CI" sz="1900" b="1" kern="1200" dirty="0">
              <a:latin typeface="Calibri" panose="020F0502020204030204" pitchFamily="34" charset="0"/>
              <a:cs typeface="Calibri" panose="020F0502020204030204" pitchFamily="34" charset="0"/>
            </a:rPr>
            <a:t>En particulier que le monde a eu un début et qu’il aura une fin : la fin thermique de l’Univers.</a:t>
          </a:r>
          <a:endParaRPr lang="fr-FR" sz="1900" b="1" kern="1200" dirty="0">
            <a:latin typeface="Calibri" panose="020F0502020204030204" pitchFamily="34" charset="0"/>
            <a:cs typeface="Calibri" panose="020F0502020204030204" pitchFamily="34" charset="0"/>
          </a:endParaRPr>
        </a:p>
      </dsp:txBody>
      <dsp:txXfrm>
        <a:off x="0" y="2978148"/>
        <a:ext cx="10829730" cy="204516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32BE0A-382E-447B-A821-6BA575436DD5}">
      <dsp:nvSpPr>
        <dsp:cNvPr id="0" name=""/>
        <dsp:cNvSpPr/>
      </dsp:nvSpPr>
      <dsp:spPr>
        <a:xfrm>
          <a:off x="0" y="0"/>
          <a:ext cx="11145756" cy="0"/>
        </a:xfrm>
        <a:prstGeom prst="line">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w="6350" cap="flat" cmpd="sng" algn="ctr">
          <a:solidFill>
            <a:schemeClr val="accent1">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3">
          <a:scrgbClr r="0" g="0" b="0"/>
        </a:fillRef>
        <a:effectRef idx="2">
          <a:scrgbClr r="0" g="0" b="0"/>
        </a:effectRef>
        <a:fontRef idx="minor">
          <a:schemeClr val="lt1"/>
        </a:fontRef>
      </dsp:style>
    </dsp:sp>
    <dsp:sp modelId="{ED67CB99-9EBA-4224-9AA4-B3FA221928E1}">
      <dsp:nvSpPr>
        <dsp:cNvPr id="0" name=""/>
        <dsp:cNvSpPr/>
      </dsp:nvSpPr>
      <dsp:spPr>
        <a:xfrm>
          <a:off x="0" y="0"/>
          <a:ext cx="2229151" cy="26672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fr-CI" sz="2500" kern="1200" dirty="0">
              <a:effectLst/>
              <a:latin typeface="+mj-lt"/>
              <a:ea typeface="Calibri" panose="020F0502020204030204" pitchFamily="34" charset="0"/>
              <a:cs typeface="Times New Roman" panose="02020603050405020304" pitchFamily="18" charset="0"/>
            </a:rPr>
            <a:t>QU’EST-CE QUE LA MÉCANIQUE QUANTIQUE ?</a:t>
          </a:r>
          <a:endParaRPr lang="fr-FR" sz="2500" kern="1200" dirty="0">
            <a:latin typeface="+mj-lt"/>
          </a:endParaRPr>
        </a:p>
      </dsp:txBody>
      <dsp:txXfrm>
        <a:off x="0" y="0"/>
        <a:ext cx="2229151" cy="2667267"/>
      </dsp:txXfrm>
    </dsp:sp>
    <dsp:sp modelId="{38F98C1B-72F9-4269-9506-0BF71D43B612}">
      <dsp:nvSpPr>
        <dsp:cNvPr id="0" name=""/>
        <dsp:cNvSpPr/>
      </dsp:nvSpPr>
      <dsp:spPr>
        <a:xfrm>
          <a:off x="2396337" y="133363"/>
          <a:ext cx="8749418" cy="22727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just" defTabSz="844550">
            <a:lnSpc>
              <a:spcPct val="90000"/>
            </a:lnSpc>
            <a:spcBef>
              <a:spcPct val="0"/>
            </a:spcBef>
            <a:spcAft>
              <a:spcPct val="35000"/>
            </a:spcAft>
            <a:buNone/>
          </a:pPr>
          <a:r>
            <a:rPr lang="fr-CI" sz="1900" kern="1200" dirty="0">
              <a:effectLst/>
              <a:latin typeface="Calibri" panose="020F0502020204030204" pitchFamily="34" charset="0"/>
              <a:ea typeface="Calibri" panose="020F0502020204030204" pitchFamily="34" charset="0"/>
              <a:cs typeface="Calibri" panose="020F0502020204030204" pitchFamily="34" charset="0"/>
            </a:rPr>
            <a:t>À l’aube du XXe siècle, la naissance de la physique quantique révolutionne notre conception du monde : les physiciens réalisent que la physique classique, qui décrit parfaitement notre environnement quotidien </a:t>
          </a:r>
          <a:r>
            <a:rPr lang="fr-CI" sz="1900" b="1" kern="1200" dirty="0">
              <a:effectLst/>
              <a:latin typeface="Calibri" panose="020F0502020204030204" pitchFamily="34" charset="0"/>
              <a:ea typeface="Calibri" panose="020F0502020204030204" pitchFamily="34" charset="0"/>
              <a:cs typeface="Calibri" panose="020F0502020204030204" pitchFamily="34" charset="0"/>
            </a:rPr>
            <a:t>macroscopique</a:t>
          </a:r>
          <a:r>
            <a:rPr lang="fr-CI" sz="1900" kern="1200" dirty="0">
              <a:effectLst/>
              <a:latin typeface="Calibri" panose="020F0502020204030204" pitchFamily="34" charset="0"/>
              <a:ea typeface="Calibri" panose="020F0502020204030204" pitchFamily="34" charset="0"/>
              <a:cs typeface="Calibri" panose="020F0502020204030204" pitchFamily="34" charset="0"/>
            </a:rPr>
            <a:t>, devient inopérante à l’échelle </a:t>
          </a:r>
          <a:r>
            <a:rPr lang="fr-CI" sz="1900" b="1" kern="1200" dirty="0">
              <a:effectLst/>
              <a:latin typeface="Calibri" panose="020F0502020204030204" pitchFamily="34" charset="0"/>
              <a:ea typeface="Calibri" panose="020F0502020204030204" pitchFamily="34" charset="0"/>
              <a:cs typeface="Calibri" panose="020F0502020204030204" pitchFamily="34" charset="0"/>
            </a:rPr>
            <a:t>microscopique</a:t>
          </a:r>
          <a:r>
            <a:rPr lang="fr-CI" sz="1900" kern="1200" dirty="0">
              <a:effectLst/>
              <a:latin typeface="Calibri" panose="020F0502020204030204" pitchFamily="34" charset="0"/>
              <a:ea typeface="Calibri" panose="020F0502020204030204" pitchFamily="34" charset="0"/>
              <a:cs typeface="Calibri" panose="020F0502020204030204" pitchFamily="34" charset="0"/>
            </a:rPr>
            <a:t> des atomes et des particules. En effet, les atomes et les particules élémentaires de la matière, n’évoluent pas comme un système classique, où les quantités d’énergie échangées peuvent prendre n'importe quelle valeur. Pour un système quantique, l’énergie s’échange par valeurs discrètes ou « quanta ».</a:t>
          </a:r>
          <a:endParaRPr lang="fr-FR" sz="1900" kern="1200" dirty="0">
            <a:latin typeface="Calibri" panose="020F0502020204030204" pitchFamily="34" charset="0"/>
            <a:cs typeface="Calibri" panose="020F0502020204030204" pitchFamily="34" charset="0"/>
          </a:endParaRPr>
        </a:p>
      </dsp:txBody>
      <dsp:txXfrm>
        <a:off x="2396337" y="133363"/>
        <a:ext cx="8749418" cy="2272752"/>
      </dsp:txXfrm>
    </dsp:sp>
    <dsp:sp modelId="{39E818EB-B25B-437C-8BB9-B98374156267}">
      <dsp:nvSpPr>
        <dsp:cNvPr id="0" name=""/>
        <dsp:cNvSpPr/>
      </dsp:nvSpPr>
      <dsp:spPr>
        <a:xfrm>
          <a:off x="2229151" y="2406115"/>
          <a:ext cx="891660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 modelId="{606972C6-062E-4C7F-A6DE-28E4065C377F}">
      <dsp:nvSpPr>
        <dsp:cNvPr id="0" name=""/>
        <dsp:cNvSpPr/>
      </dsp:nvSpPr>
      <dsp:spPr>
        <a:xfrm>
          <a:off x="0" y="2667267"/>
          <a:ext cx="11145756" cy="0"/>
        </a:xfrm>
        <a:prstGeom prst="line">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w="6350" cap="flat" cmpd="sng" algn="ctr">
          <a:solidFill>
            <a:schemeClr val="accent1">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3">
          <a:scrgbClr r="0" g="0" b="0"/>
        </a:fillRef>
        <a:effectRef idx="2">
          <a:scrgbClr r="0" g="0" b="0"/>
        </a:effectRef>
        <a:fontRef idx="minor">
          <a:schemeClr val="lt1"/>
        </a:fontRef>
      </dsp:style>
    </dsp:sp>
    <dsp:sp modelId="{7C59062F-C146-4F53-AD81-9620FF483283}">
      <dsp:nvSpPr>
        <dsp:cNvPr id="0" name=""/>
        <dsp:cNvSpPr/>
      </dsp:nvSpPr>
      <dsp:spPr>
        <a:xfrm>
          <a:off x="0" y="2667267"/>
          <a:ext cx="2229151" cy="26672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fr-CI" sz="2500" kern="1200" dirty="0">
              <a:latin typeface="+mj-lt"/>
            </a:rPr>
            <a:t>Le fondateur de la Mécanique quantique : </a:t>
          </a:r>
          <a:r>
            <a:rPr lang="fr-CI" sz="2500" b="1" kern="1200" dirty="0">
              <a:latin typeface="+mj-lt"/>
            </a:rPr>
            <a:t>Max Planck (1858-1947)</a:t>
          </a:r>
          <a:endParaRPr lang="fr-FR" sz="2500" kern="1200" dirty="0">
            <a:latin typeface="+mj-lt"/>
          </a:endParaRPr>
        </a:p>
      </dsp:txBody>
      <dsp:txXfrm>
        <a:off x="0" y="2667267"/>
        <a:ext cx="2229151" cy="2667267"/>
      </dsp:txXfrm>
    </dsp:sp>
    <dsp:sp modelId="{09B96CA3-08B0-4FD9-AD53-AAA554063CF3}">
      <dsp:nvSpPr>
        <dsp:cNvPr id="0" name=""/>
        <dsp:cNvSpPr/>
      </dsp:nvSpPr>
      <dsp:spPr>
        <a:xfrm>
          <a:off x="2396337" y="2788389"/>
          <a:ext cx="8749418" cy="24224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just" defTabSz="844550">
            <a:lnSpc>
              <a:spcPct val="90000"/>
            </a:lnSpc>
            <a:spcBef>
              <a:spcPct val="0"/>
            </a:spcBef>
            <a:spcAft>
              <a:spcPct val="35000"/>
            </a:spcAft>
            <a:buNone/>
          </a:pPr>
          <a:r>
            <a:rPr lang="fr-CI" sz="1900" kern="1200" dirty="0">
              <a:latin typeface="Calibri" panose="020F0502020204030204" pitchFamily="34" charset="0"/>
              <a:cs typeface="Calibri" panose="020F0502020204030204" pitchFamily="34" charset="0"/>
            </a:rPr>
            <a:t>En 1900, Max Planck établit que l’énergie n’est pas émise ni absorbée de façon continue, mais par des quantités discrètes, égales au produit de la fréquence de la radiation par une certaine constante (la constante de Planck). Cette constante occupe une place centrale dans toutes les explications des phénomènes de la physique atomique.</a:t>
          </a:r>
          <a:endParaRPr lang="fr-FR" sz="1900" kern="1200" dirty="0">
            <a:latin typeface="Calibri" panose="020F0502020204030204" pitchFamily="34" charset="0"/>
            <a:cs typeface="Calibri" panose="020F0502020204030204" pitchFamily="34" charset="0"/>
          </a:endParaRPr>
        </a:p>
        <a:p>
          <a:pPr marL="0" lvl="0" indent="0" algn="l" defTabSz="844550">
            <a:lnSpc>
              <a:spcPct val="90000"/>
            </a:lnSpc>
            <a:spcBef>
              <a:spcPct val="0"/>
            </a:spcBef>
            <a:spcAft>
              <a:spcPct val="35000"/>
            </a:spcAft>
            <a:buNone/>
          </a:pPr>
          <a:r>
            <a:rPr lang="fr-CI" sz="1900" kern="1200" dirty="0">
              <a:latin typeface="Calibri" panose="020F0502020204030204" pitchFamily="34" charset="0"/>
              <a:cs typeface="Calibri" panose="020F0502020204030204" pitchFamily="34" charset="0"/>
            </a:rPr>
            <a:t>Planck ne prétendait pas révolutionner la physique ; il cherchait à résoudre un problème spécifique (la distribution d’énergie dans la radiation </a:t>
          </a:r>
          <a:r>
            <a:rPr lang="fr-CI" sz="1900" b="1" kern="1200" dirty="0">
              <a:latin typeface="Calibri" panose="020F0502020204030204" pitchFamily="34" charset="0"/>
              <a:cs typeface="Calibri" panose="020F0502020204030204" pitchFamily="34" charset="0"/>
            </a:rPr>
            <a:t>du « corps noir »). </a:t>
          </a:r>
          <a:r>
            <a:rPr lang="fr-CI" sz="1900" kern="1200" dirty="0">
              <a:latin typeface="Calibri" panose="020F0502020204030204" pitchFamily="34" charset="0"/>
              <a:cs typeface="Calibri" panose="020F0502020204030204" pitchFamily="34" charset="0"/>
            </a:rPr>
            <a:t>Mais on vit par la suite que son idée exigeait de reformuler toute la physique de l’atome et des particules sous-atomiques.</a:t>
          </a:r>
          <a:endParaRPr lang="fr-FR" sz="1900" kern="1200" dirty="0">
            <a:latin typeface="Calibri" panose="020F0502020204030204" pitchFamily="34" charset="0"/>
            <a:cs typeface="Calibri" panose="020F0502020204030204" pitchFamily="34" charset="0"/>
          </a:endParaRPr>
        </a:p>
      </dsp:txBody>
      <dsp:txXfrm>
        <a:off x="2396337" y="2788389"/>
        <a:ext cx="8749418" cy="2422421"/>
      </dsp:txXfrm>
    </dsp:sp>
    <dsp:sp modelId="{86358D04-AC32-48E8-A61F-A3944EE64296}">
      <dsp:nvSpPr>
        <dsp:cNvPr id="0" name=""/>
        <dsp:cNvSpPr/>
      </dsp:nvSpPr>
      <dsp:spPr>
        <a:xfrm>
          <a:off x="2229151" y="5332473"/>
          <a:ext cx="891660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B829CA-BE3E-46FA-9801-0D075E313488}">
      <dsp:nvSpPr>
        <dsp:cNvPr id="0" name=""/>
        <dsp:cNvSpPr/>
      </dsp:nvSpPr>
      <dsp:spPr>
        <a:xfrm>
          <a:off x="315352" y="37690"/>
          <a:ext cx="2280730" cy="1824584"/>
        </a:xfrm>
        <a:prstGeom prst="rect">
          <a:avLst/>
        </a:prstGeom>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t="2025" b="-29375"/>
          </a:stretch>
        </a:blipFill>
        <a:ln>
          <a:noFill/>
        </a:ln>
        <a:effectLst>
          <a:outerShdw blurRad="38100" dist="12700" dir="5400000" algn="ctr" rotWithShape="0">
            <a:srgbClr val="000000">
              <a:alpha val="63000"/>
            </a:srgbClr>
          </a:outerShdw>
        </a:effectLst>
      </dsp:spPr>
      <dsp:style>
        <a:lnRef idx="0">
          <a:scrgbClr r="0" g="0" b="0"/>
        </a:lnRef>
        <a:fillRef idx="1">
          <a:scrgbClr r="0" g="0" b="0"/>
        </a:fillRef>
        <a:effectRef idx="2">
          <a:scrgbClr r="0" g="0" b="0"/>
        </a:effectRef>
        <a:fontRef idx="minor"/>
      </dsp:style>
    </dsp:sp>
    <dsp:sp modelId="{D75C1F46-A41A-4A3E-8137-BE441BB10ED9}">
      <dsp:nvSpPr>
        <dsp:cNvPr id="0" name=""/>
        <dsp:cNvSpPr/>
      </dsp:nvSpPr>
      <dsp:spPr>
        <a:xfrm>
          <a:off x="520618" y="1644547"/>
          <a:ext cx="2029849" cy="638604"/>
        </a:xfrm>
        <a:prstGeom prst="wedgeRectCallout">
          <a:avLst>
            <a:gd name="adj1" fmla="val 20250"/>
            <a:gd name="adj2" fmla="val -607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38100" dist="12700" dir="5400000" algn="ctr" rotWithShape="0">
            <a:srgbClr val="000000">
              <a:alpha val="63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CI" sz="1500" kern="1200" dirty="0">
              <a:latin typeface="Calibri" panose="020F0502020204030204" pitchFamily="34" charset="0"/>
              <a:cs typeface="Calibri" panose="020F0502020204030204" pitchFamily="34" charset="0"/>
            </a:rPr>
            <a:t>Louis de Broglie (1892-1987)</a:t>
          </a:r>
          <a:endParaRPr lang="fr-FR" sz="1500" kern="1200" dirty="0">
            <a:latin typeface="Calibri" panose="020F0502020204030204" pitchFamily="34" charset="0"/>
            <a:cs typeface="Calibri" panose="020F0502020204030204" pitchFamily="34" charset="0"/>
          </a:endParaRPr>
        </a:p>
      </dsp:txBody>
      <dsp:txXfrm>
        <a:off x="520618" y="1644547"/>
        <a:ext cx="2029849" cy="638604"/>
      </dsp:txXfrm>
    </dsp:sp>
    <dsp:sp modelId="{FB914D5E-9880-4721-A4AF-17B866CF5B52}">
      <dsp:nvSpPr>
        <dsp:cNvPr id="0" name=""/>
        <dsp:cNvSpPr/>
      </dsp:nvSpPr>
      <dsp:spPr>
        <a:xfrm>
          <a:off x="2824155" y="2421"/>
          <a:ext cx="2280730" cy="1824584"/>
        </a:xfrm>
        <a:prstGeom prst="rect">
          <a:avLst/>
        </a:prstGeom>
        <a:blipFill dpi="0" rotWithShape="1">
          <a:blip xmlns:r="http://schemas.openxmlformats.org/officeDocument/2006/relationships" r:embed="rId2"/>
          <a:srcRect/>
          <a:stretch>
            <a:fillRect t="-14963" b="-35953"/>
          </a:stretch>
        </a:blipFill>
        <a:ln>
          <a:noFill/>
        </a:ln>
        <a:effectLst>
          <a:outerShdw blurRad="38100" dist="12700" dir="5400000" algn="ctr" rotWithShape="0">
            <a:srgbClr val="000000">
              <a:alpha val="63000"/>
            </a:srgbClr>
          </a:outerShdw>
        </a:effectLst>
      </dsp:spPr>
      <dsp:style>
        <a:lnRef idx="0">
          <a:scrgbClr r="0" g="0" b="0"/>
        </a:lnRef>
        <a:fillRef idx="1">
          <a:scrgbClr r="0" g="0" b="0"/>
        </a:fillRef>
        <a:effectRef idx="2">
          <a:scrgbClr r="0" g="0" b="0"/>
        </a:effectRef>
        <a:fontRef idx="minor"/>
      </dsp:style>
    </dsp:sp>
    <dsp:sp modelId="{F9F46D3F-FC48-4CA3-82F6-E3631413995B}">
      <dsp:nvSpPr>
        <dsp:cNvPr id="0" name=""/>
        <dsp:cNvSpPr/>
      </dsp:nvSpPr>
      <dsp:spPr>
        <a:xfrm>
          <a:off x="3029421" y="1644547"/>
          <a:ext cx="2029849" cy="638604"/>
        </a:xfrm>
        <a:prstGeom prst="wedgeRectCallout">
          <a:avLst>
            <a:gd name="adj1" fmla="val 20250"/>
            <a:gd name="adj2" fmla="val -607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38100" dist="12700" dir="5400000" algn="ctr" rotWithShape="0">
            <a:srgbClr val="000000">
              <a:alpha val="63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CI" sz="1500" kern="1200" dirty="0">
              <a:latin typeface="Calibri" panose="020F0502020204030204" pitchFamily="34" charset="0"/>
              <a:cs typeface="Calibri" panose="020F0502020204030204" pitchFamily="34" charset="0"/>
            </a:rPr>
            <a:t>Niels Bohr (1885-1962)</a:t>
          </a:r>
          <a:endParaRPr lang="fr-FR" sz="1500" kern="1200" dirty="0">
            <a:latin typeface="Calibri" panose="020F0502020204030204" pitchFamily="34" charset="0"/>
            <a:cs typeface="Calibri" panose="020F0502020204030204" pitchFamily="34" charset="0"/>
          </a:endParaRPr>
        </a:p>
      </dsp:txBody>
      <dsp:txXfrm>
        <a:off x="3029421" y="1644547"/>
        <a:ext cx="2029849" cy="638604"/>
      </dsp:txXfrm>
    </dsp:sp>
    <dsp:sp modelId="{97E647E5-9186-49B0-9B35-A01276236508}">
      <dsp:nvSpPr>
        <dsp:cNvPr id="0" name=""/>
        <dsp:cNvSpPr/>
      </dsp:nvSpPr>
      <dsp:spPr>
        <a:xfrm>
          <a:off x="5332959" y="2421"/>
          <a:ext cx="2280730" cy="1824584"/>
        </a:xfrm>
        <a:prstGeom prst="rect">
          <a:avLst/>
        </a:prstGeom>
        <a:blipFill dpi="0" rotWithShape="1">
          <a:blip xmlns:r="http://schemas.openxmlformats.org/officeDocument/2006/relationships" r:embed="rId3"/>
          <a:srcRect/>
          <a:stretch>
            <a:fillRect l="-3500" t="-18728" r="3500" b="-38000"/>
          </a:stretch>
        </a:blipFill>
        <a:ln>
          <a:noFill/>
        </a:ln>
        <a:effectLst>
          <a:outerShdw blurRad="38100" dist="12700" dir="5400000" algn="ctr" rotWithShape="0">
            <a:srgbClr val="000000">
              <a:alpha val="63000"/>
            </a:srgbClr>
          </a:outerShdw>
        </a:effectLst>
      </dsp:spPr>
      <dsp:style>
        <a:lnRef idx="0">
          <a:scrgbClr r="0" g="0" b="0"/>
        </a:lnRef>
        <a:fillRef idx="1">
          <a:scrgbClr r="0" g="0" b="0"/>
        </a:fillRef>
        <a:effectRef idx="2">
          <a:scrgbClr r="0" g="0" b="0"/>
        </a:effectRef>
        <a:fontRef idx="minor"/>
      </dsp:style>
    </dsp:sp>
    <dsp:sp modelId="{CD08F0DC-B0A8-429D-8EC0-265D3C5F9B8A}">
      <dsp:nvSpPr>
        <dsp:cNvPr id="0" name=""/>
        <dsp:cNvSpPr/>
      </dsp:nvSpPr>
      <dsp:spPr>
        <a:xfrm>
          <a:off x="5538224" y="1644547"/>
          <a:ext cx="2029849" cy="638604"/>
        </a:xfrm>
        <a:prstGeom prst="wedgeRectCallout">
          <a:avLst>
            <a:gd name="adj1" fmla="val 20250"/>
            <a:gd name="adj2" fmla="val -607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38100" dist="12700" dir="5400000" algn="ctr" rotWithShape="0">
            <a:srgbClr val="000000">
              <a:alpha val="63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CI" sz="1500" kern="1200" dirty="0">
              <a:latin typeface="Calibri" panose="020F0502020204030204" pitchFamily="34" charset="0"/>
              <a:cs typeface="Calibri" panose="020F0502020204030204" pitchFamily="34" charset="0"/>
            </a:rPr>
            <a:t>Erwin Schrödinger (1887-1961)</a:t>
          </a:r>
          <a:endParaRPr lang="fr-FR" sz="1500" kern="1200" dirty="0">
            <a:latin typeface="Calibri" panose="020F0502020204030204" pitchFamily="34" charset="0"/>
            <a:cs typeface="Calibri" panose="020F0502020204030204" pitchFamily="34" charset="0"/>
          </a:endParaRPr>
        </a:p>
      </dsp:txBody>
      <dsp:txXfrm>
        <a:off x="5538224" y="1644547"/>
        <a:ext cx="2029849" cy="638604"/>
      </dsp:txXfrm>
    </dsp:sp>
    <dsp:sp modelId="{801B930E-5265-4CFA-AA5F-89565F7D418C}">
      <dsp:nvSpPr>
        <dsp:cNvPr id="0" name=""/>
        <dsp:cNvSpPr/>
      </dsp:nvSpPr>
      <dsp:spPr>
        <a:xfrm>
          <a:off x="7841762" y="2421"/>
          <a:ext cx="2280730" cy="1824584"/>
        </a:xfrm>
        <a:prstGeom prst="rect">
          <a:avLst/>
        </a:prstGeom>
        <a:blipFill dpi="0" rotWithShape="1">
          <a:blip xmlns:r="http://schemas.openxmlformats.org/officeDocument/2006/relationships" r:embed="rId4">
            <a:extLst>
              <a:ext uri="{28A0092B-C50C-407E-A947-70E740481C1C}">
                <a14:useLocalDpi xmlns:a14="http://schemas.microsoft.com/office/drawing/2010/main" val="0"/>
              </a:ext>
            </a:extLst>
          </a:blip>
          <a:srcRect/>
          <a:stretch>
            <a:fillRect l="-1458" t="-7804" r="1458" b="-90638"/>
          </a:stretch>
        </a:blipFill>
        <a:ln>
          <a:noFill/>
        </a:ln>
        <a:effectLst>
          <a:outerShdw blurRad="38100" dist="12700" dir="5400000" algn="ctr" rotWithShape="0">
            <a:srgbClr val="000000">
              <a:alpha val="63000"/>
            </a:srgbClr>
          </a:outerShdw>
        </a:effectLst>
      </dsp:spPr>
      <dsp:style>
        <a:lnRef idx="0">
          <a:scrgbClr r="0" g="0" b="0"/>
        </a:lnRef>
        <a:fillRef idx="1">
          <a:scrgbClr r="0" g="0" b="0"/>
        </a:fillRef>
        <a:effectRef idx="2">
          <a:scrgbClr r="0" g="0" b="0"/>
        </a:effectRef>
        <a:fontRef idx="minor"/>
      </dsp:style>
    </dsp:sp>
    <dsp:sp modelId="{7942B8F2-A7D6-48F6-BF17-3AB33A69D2DB}">
      <dsp:nvSpPr>
        <dsp:cNvPr id="0" name=""/>
        <dsp:cNvSpPr/>
      </dsp:nvSpPr>
      <dsp:spPr>
        <a:xfrm>
          <a:off x="8047028" y="1644547"/>
          <a:ext cx="2029849" cy="638604"/>
        </a:xfrm>
        <a:prstGeom prst="wedgeRectCallout">
          <a:avLst>
            <a:gd name="adj1" fmla="val 20250"/>
            <a:gd name="adj2" fmla="val -607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38100" dist="12700" dir="5400000" algn="ctr" rotWithShape="0">
            <a:srgbClr val="000000">
              <a:alpha val="63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CI" sz="1500" kern="1200" dirty="0">
              <a:latin typeface="Calibri" panose="020F0502020204030204" pitchFamily="34" charset="0"/>
              <a:cs typeface="Calibri" panose="020F0502020204030204" pitchFamily="34" charset="0"/>
            </a:rPr>
            <a:t>Werner Heisenberg (1901-1976)</a:t>
          </a:r>
          <a:endParaRPr lang="fr-FR" sz="1500" kern="1200" dirty="0">
            <a:latin typeface="Calibri" panose="020F0502020204030204" pitchFamily="34" charset="0"/>
            <a:cs typeface="Calibri" panose="020F0502020204030204" pitchFamily="34" charset="0"/>
          </a:endParaRPr>
        </a:p>
      </dsp:txBody>
      <dsp:txXfrm>
        <a:off x="8047028" y="1644547"/>
        <a:ext cx="2029849" cy="638604"/>
      </dsp:txXfrm>
    </dsp:sp>
    <dsp:sp modelId="{BEBC9BC3-B126-4634-9C11-176066DD92D0}">
      <dsp:nvSpPr>
        <dsp:cNvPr id="0" name=""/>
        <dsp:cNvSpPr/>
      </dsp:nvSpPr>
      <dsp:spPr>
        <a:xfrm>
          <a:off x="315352" y="2586648"/>
          <a:ext cx="2280730" cy="1824584"/>
        </a:xfrm>
        <a:prstGeom prst="rect">
          <a:avLst/>
        </a:prstGeom>
        <a:blipFill>
          <a:blip xmlns:r="http://schemas.openxmlformats.org/officeDocument/2006/relationships" r:embed="rId5">
            <a:extLst>
              <a:ext uri="{28A0092B-C50C-407E-A947-70E740481C1C}">
                <a14:useLocalDpi xmlns:a14="http://schemas.microsoft.com/office/drawing/2010/main" val="0"/>
              </a:ext>
            </a:extLst>
          </a:blip>
          <a:srcRect/>
          <a:stretch>
            <a:fillRect/>
          </a:stretch>
        </a:blipFill>
        <a:ln>
          <a:noFill/>
        </a:ln>
        <a:effectLst>
          <a:outerShdw blurRad="38100" dist="12700" dir="5400000" algn="ctr" rotWithShape="0">
            <a:srgbClr val="000000">
              <a:alpha val="63000"/>
            </a:srgbClr>
          </a:outerShdw>
        </a:effectLst>
      </dsp:spPr>
      <dsp:style>
        <a:lnRef idx="0">
          <a:scrgbClr r="0" g="0" b="0"/>
        </a:lnRef>
        <a:fillRef idx="1">
          <a:scrgbClr r="0" g="0" b="0"/>
        </a:fillRef>
        <a:effectRef idx="2">
          <a:scrgbClr r="0" g="0" b="0"/>
        </a:effectRef>
        <a:fontRef idx="minor"/>
      </dsp:style>
    </dsp:sp>
    <dsp:sp modelId="{BB59F5A8-9DAE-44FC-8331-ED45ED01F878}">
      <dsp:nvSpPr>
        <dsp:cNvPr id="0" name=""/>
        <dsp:cNvSpPr/>
      </dsp:nvSpPr>
      <dsp:spPr>
        <a:xfrm>
          <a:off x="520618" y="4228774"/>
          <a:ext cx="2029849" cy="638604"/>
        </a:xfrm>
        <a:prstGeom prst="wedgeRectCallout">
          <a:avLst>
            <a:gd name="adj1" fmla="val 20250"/>
            <a:gd name="adj2" fmla="val -607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38100" dist="12700" dir="5400000" algn="ctr" rotWithShape="0">
            <a:srgbClr val="000000">
              <a:alpha val="63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CI" sz="1500" kern="1200" dirty="0">
              <a:latin typeface="Calibri" panose="020F0502020204030204" pitchFamily="34" charset="0"/>
              <a:cs typeface="Calibri" panose="020F0502020204030204" pitchFamily="34" charset="0"/>
            </a:rPr>
            <a:t>la dualité onde-corpuscule</a:t>
          </a:r>
          <a:endParaRPr lang="fr-FR" sz="1500" kern="1200" dirty="0">
            <a:latin typeface="Calibri" panose="020F0502020204030204" pitchFamily="34" charset="0"/>
            <a:cs typeface="Calibri" panose="020F0502020204030204" pitchFamily="34" charset="0"/>
          </a:endParaRPr>
        </a:p>
      </dsp:txBody>
      <dsp:txXfrm>
        <a:off x="520618" y="4228774"/>
        <a:ext cx="2029849" cy="638604"/>
      </dsp:txXfrm>
    </dsp:sp>
    <dsp:sp modelId="{54202372-AD0B-418E-99C2-5B1AB83B3B05}">
      <dsp:nvSpPr>
        <dsp:cNvPr id="0" name=""/>
        <dsp:cNvSpPr/>
      </dsp:nvSpPr>
      <dsp:spPr>
        <a:xfrm>
          <a:off x="2824155" y="2586648"/>
          <a:ext cx="2280730" cy="1824584"/>
        </a:xfrm>
        <a:prstGeom prst="rect">
          <a:avLst/>
        </a:prstGeom>
        <a:blipFill>
          <a:blip xmlns:r="http://schemas.openxmlformats.org/officeDocument/2006/relationships" r:embed="rId6"/>
          <a:srcRect/>
          <a:stretch>
            <a:fillRect l="-10000" r="-10000"/>
          </a:stretch>
        </a:blipFill>
        <a:ln>
          <a:noFill/>
        </a:ln>
        <a:effectLst>
          <a:outerShdw blurRad="38100" dist="12700" dir="5400000" algn="ctr" rotWithShape="0">
            <a:srgbClr val="000000">
              <a:alpha val="63000"/>
            </a:srgbClr>
          </a:outerShdw>
        </a:effectLst>
      </dsp:spPr>
      <dsp:style>
        <a:lnRef idx="0">
          <a:scrgbClr r="0" g="0" b="0"/>
        </a:lnRef>
        <a:fillRef idx="1">
          <a:scrgbClr r="0" g="0" b="0"/>
        </a:fillRef>
        <a:effectRef idx="2">
          <a:scrgbClr r="0" g="0" b="0"/>
        </a:effectRef>
        <a:fontRef idx="minor"/>
      </dsp:style>
    </dsp:sp>
    <dsp:sp modelId="{6893F2AB-2C8A-4886-BD39-969E0F63F89F}">
      <dsp:nvSpPr>
        <dsp:cNvPr id="0" name=""/>
        <dsp:cNvSpPr/>
      </dsp:nvSpPr>
      <dsp:spPr>
        <a:xfrm>
          <a:off x="3029421" y="4228774"/>
          <a:ext cx="2029849" cy="638604"/>
        </a:xfrm>
        <a:prstGeom prst="wedgeRectCallout">
          <a:avLst>
            <a:gd name="adj1" fmla="val 20250"/>
            <a:gd name="adj2" fmla="val -607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38100" dist="12700" dir="5400000" algn="ctr" rotWithShape="0">
            <a:srgbClr val="000000">
              <a:alpha val="63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CI" sz="1500" kern="1200" dirty="0">
              <a:latin typeface="Calibri" panose="020F0502020204030204" pitchFamily="34" charset="0"/>
              <a:cs typeface="Calibri" panose="020F0502020204030204" pitchFamily="34" charset="0"/>
            </a:rPr>
            <a:t>le modèle atomique</a:t>
          </a:r>
          <a:endParaRPr lang="fr-FR" sz="1500" kern="1200" dirty="0">
            <a:latin typeface="Calibri" panose="020F0502020204030204" pitchFamily="34" charset="0"/>
            <a:cs typeface="Calibri" panose="020F0502020204030204" pitchFamily="34" charset="0"/>
          </a:endParaRPr>
        </a:p>
      </dsp:txBody>
      <dsp:txXfrm>
        <a:off x="3029421" y="4228774"/>
        <a:ext cx="2029849" cy="638604"/>
      </dsp:txXfrm>
    </dsp:sp>
    <dsp:sp modelId="{79C1F035-0557-4D46-9287-9E1F380E10E6}">
      <dsp:nvSpPr>
        <dsp:cNvPr id="0" name=""/>
        <dsp:cNvSpPr/>
      </dsp:nvSpPr>
      <dsp:spPr>
        <a:xfrm>
          <a:off x="5332959" y="2586648"/>
          <a:ext cx="2280730" cy="1824584"/>
        </a:xfrm>
        <a:prstGeom prst="rect">
          <a:avLst/>
        </a:prstGeom>
        <a:blipFill dpi="0" rotWithShape="1">
          <a:blip xmlns:r="http://schemas.openxmlformats.org/officeDocument/2006/relationships" r:embed="rId7">
            <a:extLst>
              <a:ext uri="{28A0092B-C50C-407E-A947-70E740481C1C}">
                <a14:useLocalDpi xmlns:a14="http://schemas.microsoft.com/office/drawing/2010/main" val="0"/>
              </a:ext>
            </a:extLst>
          </a:blip>
          <a:srcRect/>
          <a:stretch>
            <a:fillRect l="23307" r="23307"/>
          </a:stretch>
        </a:blipFill>
        <a:ln>
          <a:noFill/>
        </a:ln>
        <a:effectLst>
          <a:outerShdw blurRad="38100" dist="12700" dir="5400000" algn="ctr" rotWithShape="0">
            <a:srgbClr val="000000">
              <a:alpha val="63000"/>
            </a:srgbClr>
          </a:outerShdw>
        </a:effectLst>
      </dsp:spPr>
      <dsp:style>
        <a:lnRef idx="0">
          <a:scrgbClr r="0" g="0" b="0"/>
        </a:lnRef>
        <a:fillRef idx="1">
          <a:scrgbClr r="0" g="0" b="0"/>
        </a:fillRef>
        <a:effectRef idx="2">
          <a:scrgbClr r="0" g="0" b="0"/>
        </a:effectRef>
        <a:fontRef idx="minor"/>
      </dsp:style>
    </dsp:sp>
    <dsp:sp modelId="{3259180F-3BA2-4FA9-BC3A-2EC2A4A9DA92}">
      <dsp:nvSpPr>
        <dsp:cNvPr id="0" name=""/>
        <dsp:cNvSpPr/>
      </dsp:nvSpPr>
      <dsp:spPr>
        <a:xfrm>
          <a:off x="5538224" y="4228774"/>
          <a:ext cx="2029849" cy="638604"/>
        </a:xfrm>
        <a:prstGeom prst="wedgeRectCallout">
          <a:avLst>
            <a:gd name="adj1" fmla="val 20250"/>
            <a:gd name="adj2" fmla="val -607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38100" dist="12700" dir="5400000" algn="ctr" rotWithShape="0">
            <a:srgbClr val="000000">
              <a:alpha val="63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CI" sz="1500" kern="1200" dirty="0">
              <a:latin typeface="Calibri" panose="020F0502020204030204" pitchFamily="34" charset="0"/>
              <a:cs typeface="Calibri" panose="020F0502020204030204" pitchFamily="34" charset="0"/>
            </a:rPr>
            <a:t>la mécanique ondulatoire</a:t>
          </a:r>
          <a:endParaRPr lang="fr-FR" sz="1500" kern="1200" dirty="0">
            <a:latin typeface="Calibri" panose="020F0502020204030204" pitchFamily="34" charset="0"/>
            <a:cs typeface="Calibri" panose="020F0502020204030204" pitchFamily="34" charset="0"/>
          </a:endParaRPr>
        </a:p>
      </dsp:txBody>
      <dsp:txXfrm>
        <a:off x="5538224" y="4228774"/>
        <a:ext cx="2029849" cy="638604"/>
      </dsp:txXfrm>
    </dsp:sp>
    <dsp:sp modelId="{70B2F32A-CB62-4BD2-9701-C9ED060FACE6}">
      <dsp:nvSpPr>
        <dsp:cNvPr id="0" name=""/>
        <dsp:cNvSpPr/>
      </dsp:nvSpPr>
      <dsp:spPr>
        <a:xfrm>
          <a:off x="7841762" y="2511224"/>
          <a:ext cx="2280730" cy="1824584"/>
        </a:xfrm>
        <a:prstGeom prst="rect">
          <a:avLst/>
        </a:prstGeom>
        <a:blipFill>
          <a:blip xmlns:r="http://schemas.openxmlformats.org/officeDocument/2006/relationships" r:embed="rId8">
            <a:extLst>
              <a:ext uri="{28A0092B-C50C-407E-A947-70E740481C1C}">
                <a14:useLocalDpi xmlns:a14="http://schemas.microsoft.com/office/drawing/2010/main" val="0"/>
              </a:ext>
            </a:extLst>
          </a:blip>
          <a:srcRect/>
          <a:stretch>
            <a:fillRect l="-3000" r="-3000"/>
          </a:stretch>
        </a:blipFill>
        <a:ln>
          <a:noFill/>
        </a:ln>
        <a:effectLst>
          <a:outerShdw blurRad="38100" dist="12700" dir="5400000" algn="ctr" rotWithShape="0">
            <a:srgbClr val="000000">
              <a:alpha val="63000"/>
            </a:srgbClr>
          </a:outerShdw>
        </a:effectLst>
      </dsp:spPr>
      <dsp:style>
        <a:lnRef idx="0">
          <a:scrgbClr r="0" g="0" b="0"/>
        </a:lnRef>
        <a:fillRef idx="1">
          <a:scrgbClr r="0" g="0" b="0"/>
        </a:fillRef>
        <a:effectRef idx="2">
          <a:scrgbClr r="0" g="0" b="0"/>
        </a:effectRef>
        <a:fontRef idx="minor"/>
      </dsp:style>
    </dsp:sp>
    <dsp:sp modelId="{C8582FDA-1621-4403-A650-0109886F1DAA}">
      <dsp:nvSpPr>
        <dsp:cNvPr id="0" name=""/>
        <dsp:cNvSpPr/>
      </dsp:nvSpPr>
      <dsp:spPr>
        <a:xfrm>
          <a:off x="8047028" y="4002502"/>
          <a:ext cx="2029849" cy="940300"/>
        </a:xfrm>
        <a:prstGeom prst="wedgeRectCallout">
          <a:avLst>
            <a:gd name="adj1" fmla="val 20250"/>
            <a:gd name="adj2" fmla="val -607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38100" dist="12700" dir="5400000" algn="ctr" rotWithShape="0">
            <a:srgbClr val="000000">
              <a:alpha val="63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CI" sz="1500" kern="1200" dirty="0">
              <a:latin typeface="Calibri" panose="020F0502020204030204" pitchFamily="34" charset="0"/>
              <a:cs typeface="Calibri" panose="020F0502020204030204" pitchFamily="34" charset="0"/>
            </a:rPr>
            <a:t>le principe d’incertitude ou le théorème d’indétermination</a:t>
          </a:r>
          <a:endParaRPr lang="fr-FR" sz="1500" kern="1200" dirty="0">
            <a:latin typeface="Calibri" panose="020F0502020204030204" pitchFamily="34" charset="0"/>
            <a:cs typeface="Calibri" panose="020F0502020204030204" pitchFamily="34" charset="0"/>
          </a:endParaRPr>
        </a:p>
      </dsp:txBody>
      <dsp:txXfrm>
        <a:off x="8047028" y="4002502"/>
        <a:ext cx="2029849" cy="9403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32BE0A-382E-447B-A821-6BA575436DD5}">
      <dsp:nvSpPr>
        <dsp:cNvPr id="0" name=""/>
        <dsp:cNvSpPr/>
      </dsp:nvSpPr>
      <dsp:spPr>
        <a:xfrm>
          <a:off x="0" y="0"/>
          <a:ext cx="1105366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D67CB99-9EBA-4224-9AA4-B3FA221928E1}">
      <dsp:nvSpPr>
        <dsp:cNvPr id="0" name=""/>
        <dsp:cNvSpPr/>
      </dsp:nvSpPr>
      <dsp:spPr>
        <a:xfrm>
          <a:off x="0" y="0"/>
          <a:ext cx="2210733" cy="2407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fr-CI" sz="2600" kern="1200" dirty="0">
              <a:effectLst/>
              <a:latin typeface="+mj-lt"/>
              <a:ea typeface="Calibri" panose="020F0502020204030204" pitchFamily="34" charset="0"/>
              <a:cs typeface="Times New Roman" panose="02020603050405020304" pitchFamily="18" charset="0"/>
            </a:rPr>
            <a:t>LA MÉCANIQUE QUANTIQUE</a:t>
          </a:r>
          <a:endParaRPr lang="fr-FR" sz="2600" kern="1200" dirty="0">
            <a:latin typeface="+mj-lt"/>
          </a:endParaRPr>
        </a:p>
      </dsp:txBody>
      <dsp:txXfrm>
        <a:off x="0" y="0"/>
        <a:ext cx="2210733" cy="2407298"/>
      </dsp:txXfrm>
    </dsp:sp>
    <dsp:sp modelId="{38F98C1B-72F9-4269-9506-0BF71D43B612}">
      <dsp:nvSpPr>
        <dsp:cNvPr id="0" name=""/>
        <dsp:cNvSpPr/>
      </dsp:nvSpPr>
      <dsp:spPr>
        <a:xfrm>
          <a:off x="2376538" y="109315"/>
          <a:ext cx="8677129" cy="21863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just" defTabSz="844550">
            <a:lnSpc>
              <a:spcPct val="90000"/>
            </a:lnSpc>
            <a:spcBef>
              <a:spcPct val="0"/>
            </a:spcBef>
            <a:spcAft>
              <a:spcPct val="35000"/>
            </a:spcAft>
            <a:buNone/>
          </a:pPr>
          <a:r>
            <a:rPr lang="fr-CI" sz="1900" kern="1200" dirty="0">
              <a:latin typeface="Calibri" panose="020F0502020204030204" pitchFamily="34" charset="0"/>
              <a:cs typeface="Calibri" panose="020F0502020204030204" pitchFamily="34" charset="0"/>
            </a:rPr>
            <a:t>La mécanique quantique suppose un pas de géant dans l’histoire de la physique. Mais il faut noter que l’on est très loin de ce qu’un bon positiviste pourrait appeler « observation directe ». Ainsi s’effondre non seulement positivisme mais le néo-positivisme.</a:t>
          </a:r>
          <a:endParaRPr lang="fr-FR" sz="1900" kern="1200" dirty="0">
            <a:latin typeface="Calibri" panose="020F0502020204030204" pitchFamily="34" charset="0"/>
            <a:cs typeface="Calibri" panose="020F0502020204030204" pitchFamily="34" charset="0"/>
          </a:endParaRPr>
        </a:p>
        <a:p>
          <a:pPr marL="0" lvl="0" indent="0" algn="l" defTabSz="844550">
            <a:lnSpc>
              <a:spcPct val="90000"/>
            </a:lnSpc>
            <a:spcBef>
              <a:spcPct val="0"/>
            </a:spcBef>
            <a:spcAft>
              <a:spcPct val="35000"/>
            </a:spcAft>
            <a:buNone/>
          </a:pPr>
          <a:r>
            <a:rPr lang="fr-CI" sz="1900" kern="1200" dirty="0">
              <a:latin typeface="Calibri" panose="020F0502020204030204" pitchFamily="34" charset="0"/>
              <a:cs typeface="Calibri" panose="020F0502020204030204" pitchFamily="34" charset="0"/>
            </a:rPr>
            <a:t>Cette physique suppose donc </a:t>
          </a:r>
          <a:r>
            <a:rPr lang="fr-CI" sz="1900" b="1" kern="1200" dirty="0">
              <a:latin typeface="Calibri" panose="020F0502020204030204" pitchFamily="34" charset="0"/>
              <a:cs typeface="Calibri" panose="020F0502020204030204" pitchFamily="34" charset="0"/>
            </a:rPr>
            <a:t>l’existence réelle</a:t>
          </a:r>
          <a:r>
            <a:rPr lang="fr-CI" sz="1900" kern="1200" dirty="0">
              <a:latin typeface="Calibri" panose="020F0502020204030204" pitchFamily="34" charset="0"/>
              <a:cs typeface="Calibri" panose="020F0502020204030204" pitchFamily="34" charset="0"/>
            </a:rPr>
            <a:t> de l’indéterminisme (c’est-à-dire, des réalités qu’on ne peut maîtriser ni prévoir leur fonctionnement) et d’autres propriétés de la nature qui de toutes les façons sont loin d’être intuitives. </a:t>
          </a:r>
          <a:r>
            <a:rPr lang="fr-CI" sz="1900" b="1" kern="1200" dirty="0">
              <a:latin typeface="Calibri" panose="020F0502020204030204" pitchFamily="34" charset="0"/>
              <a:cs typeface="Calibri" panose="020F0502020204030204" pitchFamily="34" charset="0"/>
            </a:rPr>
            <a:t>Et donc les positivistes et les néo-positivistes ont tort.</a:t>
          </a:r>
          <a:endParaRPr lang="fr-FR" sz="1900" kern="1200" dirty="0">
            <a:latin typeface="Calibri" panose="020F0502020204030204" pitchFamily="34" charset="0"/>
            <a:cs typeface="Calibri" panose="020F0502020204030204" pitchFamily="34" charset="0"/>
          </a:endParaRPr>
        </a:p>
      </dsp:txBody>
      <dsp:txXfrm>
        <a:off x="2376538" y="109315"/>
        <a:ext cx="8677129" cy="2186315"/>
      </dsp:txXfrm>
    </dsp:sp>
    <dsp:sp modelId="{39E818EB-B25B-437C-8BB9-B98374156267}">
      <dsp:nvSpPr>
        <dsp:cNvPr id="0" name=""/>
        <dsp:cNvSpPr/>
      </dsp:nvSpPr>
      <dsp:spPr>
        <a:xfrm>
          <a:off x="2210733" y="2407605"/>
          <a:ext cx="884293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06972C6-062E-4C7F-A6DE-28E4065C377F}">
      <dsp:nvSpPr>
        <dsp:cNvPr id="0" name=""/>
        <dsp:cNvSpPr/>
      </dsp:nvSpPr>
      <dsp:spPr>
        <a:xfrm>
          <a:off x="0" y="2407298"/>
          <a:ext cx="1105366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C59062F-C146-4F53-AD81-9620FF483283}">
      <dsp:nvSpPr>
        <dsp:cNvPr id="0" name=""/>
        <dsp:cNvSpPr/>
      </dsp:nvSpPr>
      <dsp:spPr>
        <a:xfrm>
          <a:off x="0" y="2407298"/>
          <a:ext cx="2210733" cy="2407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endParaRPr lang="fr-FR" sz="2600" kern="1200" dirty="0">
            <a:latin typeface="+mj-lt"/>
          </a:endParaRPr>
        </a:p>
      </dsp:txBody>
      <dsp:txXfrm>
        <a:off x="0" y="2407298"/>
        <a:ext cx="2210733" cy="2407298"/>
      </dsp:txXfrm>
    </dsp:sp>
    <dsp:sp modelId="{09B96CA3-08B0-4FD9-AD53-AAA554063CF3}">
      <dsp:nvSpPr>
        <dsp:cNvPr id="0" name=""/>
        <dsp:cNvSpPr/>
      </dsp:nvSpPr>
      <dsp:spPr>
        <a:xfrm>
          <a:off x="2376538" y="2516613"/>
          <a:ext cx="8677129" cy="21863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just" defTabSz="844550">
            <a:lnSpc>
              <a:spcPct val="90000"/>
            </a:lnSpc>
            <a:spcBef>
              <a:spcPct val="0"/>
            </a:spcBef>
            <a:spcAft>
              <a:spcPct val="35000"/>
            </a:spcAft>
            <a:buNone/>
          </a:pPr>
          <a:r>
            <a:rPr lang="fr-CI" sz="1900" kern="1200" dirty="0">
              <a:latin typeface="Calibri" panose="020F0502020204030204" pitchFamily="34" charset="0"/>
              <a:cs typeface="Calibri" panose="020F0502020204030204" pitchFamily="34" charset="0"/>
            </a:rPr>
            <a:t>Bien plus, les discussions autour de ces nouvelles données non religieuses mais hautement scientifiques, ont donné lieu à des interprétations philosophiques diverses, dont quelques-unes </a:t>
          </a:r>
          <a:r>
            <a:rPr lang="fr-CI" sz="1900" b="1" kern="1200" dirty="0">
              <a:latin typeface="Calibri" panose="020F0502020204030204" pitchFamily="34" charset="0"/>
              <a:cs typeface="Calibri" panose="020F0502020204030204" pitchFamily="34" charset="0"/>
            </a:rPr>
            <a:t>prétendent que la « non-localisation » du monde microphysique fournirait une nouvelle clé pour comprendre les dimensions métaphysiques de la nature</a:t>
          </a:r>
          <a:r>
            <a:rPr lang="fr-CI" sz="1900" kern="1200" dirty="0">
              <a:latin typeface="Calibri" panose="020F0502020204030204" pitchFamily="34" charset="0"/>
              <a:cs typeface="Calibri" panose="020F0502020204030204" pitchFamily="34" charset="0"/>
            </a:rPr>
            <a:t>. </a:t>
          </a:r>
          <a:endParaRPr lang="fr-FR" sz="1900" kern="1200" dirty="0">
            <a:latin typeface="Calibri" panose="020F0502020204030204" pitchFamily="34" charset="0"/>
            <a:cs typeface="Calibri" panose="020F0502020204030204" pitchFamily="34" charset="0"/>
          </a:endParaRPr>
        </a:p>
      </dsp:txBody>
      <dsp:txXfrm>
        <a:off x="2376538" y="2516613"/>
        <a:ext cx="8677129" cy="2186315"/>
      </dsp:txXfrm>
    </dsp:sp>
    <dsp:sp modelId="{86358D04-AC32-48E8-A61F-A3944EE64296}">
      <dsp:nvSpPr>
        <dsp:cNvPr id="0" name=""/>
        <dsp:cNvSpPr/>
      </dsp:nvSpPr>
      <dsp:spPr>
        <a:xfrm>
          <a:off x="2210733" y="4702929"/>
          <a:ext cx="884293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952595-2F19-47F8-B3E7-CC3C6C01D6FD}">
      <dsp:nvSpPr>
        <dsp:cNvPr id="0" name=""/>
        <dsp:cNvSpPr/>
      </dsp:nvSpPr>
      <dsp:spPr>
        <a:xfrm>
          <a:off x="0" y="0"/>
          <a:ext cx="10058399" cy="2449286"/>
        </a:xfrm>
        <a:prstGeom prst="roundRect">
          <a:avLst>
            <a:gd name="adj" fmla="val 10000"/>
          </a:avLst>
        </a:prstGeom>
        <a:gradFill rotWithShape="0">
          <a:gsLst>
            <a:gs pos="0">
              <a:schemeClr val="dk2">
                <a:hueOff val="0"/>
                <a:satOff val="0"/>
                <a:lumOff val="0"/>
                <a:alphaOff val="0"/>
                <a:satMod val="100000"/>
                <a:lumMod val="100000"/>
              </a:schemeClr>
            </a:gs>
            <a:gs pos="50000">
              <a:schemeClr val="dk2">
                <a:hueOff val="0"/>
                <a:satOff val="0"/>
                <a:lumOff val="0"/>
                <a:alphaOff val="0"/>
                <a:shade val="99000"/>
                <a:satMod val="105000"/>
                <a:lumMod val="100000"/>
              </a:schemeClr>
            </a:gs>
            <a:gs pos="100000">
              <a:schemeClr val="dk2">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t" anchorCtr="0">
          <a:noAutofit/>
        </a:bodyPr>
        <a:lstStyle/>
        <a:p>
          <a:pPr marL="0" lvl="0" indent="0" algn="l" defTabSz="1289050">
            <a:lnSpc>
              <a:spcPct val="90000"/>
            </a:lnSpc>
            <a:spcBef>
              <a:spcPct val="0"/>
            </a:spcBef>
            <a:spcAft>
              <a:spcPct val="35000"/>
            </a:spcAft>
            <a:buNone/>
          </a:pPr>
          <a:r>
            <a:rPr lang="fr-CI" sz="2900" kern="1200" dirty="0">
              <a:latin typeface="Calibri" panose="020F0502020204030204" pitchFamily="34" charset="0"/>
              <a:cs typeface="Calibri" panose="020F0502020204030204" pitchFamily="34" charset="0"/>
            </a:rPr>
            <a:t>la découverte de la structure de l’ADN par James Watson et Francis Crick (1953)</a:t>
          </a:r>
          <a:endParaRPr lang="fr-FR" sz="2900" kern="1200" dirty="0">
            <a:latin typeface="Calibri" panose="020F0502020204030204" pitchFamily="34" charset="0"/>
            <a:cs typeface="Calibri" panose="020F0502020204030204" pitchFamily="34" charset="0"/>
          </a:endParaRPr>
        </a:p>
        <a:p>
          <a:pPr marL="171450" lvl="1" indent="-171450" algn="l" defTabSz="844550">
            <a:lnSpc>
              <a:spcPct val="90000"/>
            </a:lnSpc>
            <a:spcBef>
              <a:spcPct val="0"/>
            </a:spcBef>
            <a:spcAft>
              <a:spcPct val="15000"/>
            </a:spcAft>
            <a:buChar char="•"/>
          </a:pPr>
          <a:r>
            <a:rPr lang="fr-CI" sz="1900" kern="1200" dirty="0">
              <a:latin typeface="Calibri" panose="020F0502020204030204" pitchFamily="34" charset="0"/>
              <a:cs typeface="Calibri" panose="020F0502020204030204" pitchFamily="34" charset="0"/>
            </a:rPr>
            <a:t>on pouvait désormais comprendre les mécanismes physiques qui interviennent dans les processus de conservation, de duplication, de modification et de transmission du matériel génétique. Les portes de la biotechnologie étaient ouvertes.</a:t>
          </a:r>
          <a:endParaRPr lang="fr-FR" sz="1900" kern="1200" dirty="0">
            <a:latin typeface="Calibri" panose="020F0502020204030204" pitchFamily="34" charset="0"/>
            <a:cs typeface="Calibri" panose="020F0502020204030204" pitchFamily="34" charset="0"/>
          </a:endParaRPr>
        </a:p>
      </dsp:txBody>
      <dsp:txXfrm>
        <a:off x="2256608" y="0"/>
        <a:ext cx="7801791" cy="2449286"/>
      </dsp:txXfrm>
    </dsp:sp>
    <dsp:sp modelId="{658E69DC-DF7C-4224-BADC-EB570760F507}">
      <dsp:nvSpPr>
        <dsp:cNvPr id="0" name=""/>
        <dsp:cNvSpPr/>
      </dsp:nvSpPr>
      <dsp:spPr>
        <a:xfrm>
          <a:off x="244928" y="244928"/>
          <a:ext cx="2011680" cy="1959428"/>
        </a:xfrm>
        <a:prstGeom prst="roundRect">
          <a:avLst>
            <a:gd name="adj" fmla="val 10000"/>
          </a:avLst>
        </a:prstGeom>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l="-53934" t="-2143" r="-58763" b="-9643"/>
          </a:stretch>
        </a:blip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1">
          <a:scrgbClr r="0" g="0" b="0"/>
        </a:fillRef>
        <a:effectRef idx="3">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32BE0A-382E-447B-A821-6BA575436DD5}">
      <dsp:nvSpPr>
        <dsp:cNvPr id="0" name=""/>
        <dsp:cNvSpPr/>
      </dsp:nvSpPr>
      <dsp:spPr>
        <a:xfrm>
          <a:off x="0" y="0"/>
          <a:ext cx="11053668" cy="0"/>
        </a:xfrm>
        <a:prstGeom prst="line">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w="6350" cap="flat" cmpd="sng" algn="ctr">
          <a:solidFill>
            <a:schemeClr val="accent1">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3">
          <a:scrgbClr r="0" g="0" b="0"/>
        </a:fillRef>
        <a:effectRef idx="2">
          <a:scrgbClr r="0" g="0" b="0"/>
        </a:effectRef>
        <a:fontRef idx="minor">
          <a:schemeClr val="lt1"/>
        </a:fontRef>
      </dsp:style>
    </dsp:sp>
    <dsp:sp modelId="{ED67CB99-9EBA-4224-9AA4-B3FA221928E1}">
      <dsp:nvSpPr>
        <dsp:cNvPr id="0" name=""/>
        <dsp:cNvSpPr/>
      </dsp:nvSpPr>
      <dsp:spPr>
        <a:xfrm>
          <a:off x="9373" y="0"/>
          <a:ext cx="2210733" cy="23233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fr-CI" sz="2500" kern="1200" dirty="0"/>
            <a:t>L’information génétique</a:t>
          </a:r>
          <a:endParaRPr lang="fr-FR" sz="2500" kern="1200" dirty="0">
            <a:latin typeface="+mj-lt"/>
          </a:endParaRPr>
        </a:p>
      </dsp:txBody>
      <dsp:txXfrm>
        <a:off x="9373" y="0"/>
        <a:ext cx="2210733" cy="2323322"/>
      </dsp:txXfrm>
    </dsp:sp>
    <dsp:sp modelId="{38F98C1B-72F9-4269-9506-0BF71D43B612}">
      <dsp:nvSpPr>
        <dsp:cNvPr id="0" name=""/>
        <dsp:cNvSpPr/>
      </dsp:nvSpPr>
      <dsp:spPr>
        <a:xfrm>
          <a:off x="2376538" y="18294"/>
          <a:ext cx="8677129" cy="21100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just" defTabSz="844550">
            <a:lnSpc>
              <a:spcPct val="90000"/>
            </a:lnSpc>
            <a:spcBef>
              <a:spcPct val="0"/>
            </a:spcBef>
            <a:spcAft>
              <a:spcPct val="35000"/>
            </a:spcAft>
            <a:buNone/>
          </a:pPr>
          <a:r>
            <a:rPr lang="fr-CI" sz="1900" kern="1200" dirty="0">
              <a:latin typeface="Calibri" panose="020F0502020204030204" pitchFamily="34" charset="0"/>
              <a:cs typeface="Calibri" panose="020F0502020204030204" pitchFamily="34" charset="0"/>
            </a:rPr>
            <a:t>L’information génétique est un ensemble d’instructions qui sont stockées dans l’ADN de chaque organisme, et qui guident son développement et l’ensemble des fonctions vitales. Il y a de nombreux processus biologiques qui manifestent l’existence et le stockage de l’information dans des structures spatiales, son déploiement dans de multiples processus ainsi que leur intégration unitaire ; on peut penser, par exemple, aux phénomènes de communication à l’intérieur de chaque cellule et entre des cellules différentes : des instructions nécessaires pour le bon fonctionnement de l’organisme sont transmises grâce à des processus physiques que l’on connaît de mieux en mieux, à travers de chaînes de « messagers » très efficaces.</a:t>
          </a:r>
          <a:endParaRPr lang="fr-FR" sz="1900" kern="1200" dirty="0">
            <a:latin typeface="Calibri" panose="020F0502020204030204" pitchFamily="34" charset="0"/>
            <a:cs typeface="Calibri" panose="020F0502020204030204" pitchFamily="34" charset="0"/>
          </a:endParaRPr>
        </a:p>
      </dsp:txBody>
      <dsp:txXfrm>
        <a:off x="2376538" y="18294"/>
        <a:ext cx="8677129" cy="2110048"/>
      </dsp:txXfrm>
    </dsp:sp>
    <dsp:sp modelId="{39E818EB-B25B-437C-8BB9-B98374156267}">
      <dsp:nvSpPr>
        <dsp:cNvPr id="0" name=""/>
        <dsp:cNvSpPr/>
      </dsp:nvSpPr>
      <dsp:spPr>
        <a:xfrm>
          <a:off x="2210733" y="2510821"/>
          <a:ext cx="884293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 modelId="{606972C6-062E-4C7F-A6DE-28E4065C377F}">
      <dsp:nvSpPr>
        <dsp:cNvPr id="0" name=""/>
        <dsp:cNvSpPr/>
      </dsp:nvSpPr>
      <dsp:spPr>
        <a:xfrm>
          <a:off x="0" y="2503612"/>
          <a:ext cx="11053668" cy="0"/>
        </a:xfrm>
        <a:prstGeom prst="line">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w="6350" cap="flat" cmpd="sng" algn="ctr">
          <a:solidFill>
            <a:schemeClr val="accent1">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3">
          <a:scrgbClr r="0" g="0" b="0"/>
        </a:fillRef>
        <a:effectRef idx="2">
          <a:scrgbClr r="0" g="0" b="0"/>
        </a:effectRef>
        <a:fontRef idx="minor">
          <a:schemeClr val="lt1"/>
        </a:fontRef>
      </dsp:style>
    </dsp:sp>
    <dsp:sp modelId="{7C59062F-C146-4F53-AD81-9620FF483283}">
      <dsp:nvSpPr>
        <dsp:cNvPr id="0" name=""/>
        <dsp:cNvSpPr/>
      </dsp:nvSpPr>
      <dsp:spPr>
        <a:xfrm>
          <a:off x="0" y="2323322"/>
          <a:ext cx="2210733" cy="23233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fr-FR" sz="2500" kern="1200" dirty="0">
              <a:latin typeface="+mj-lt"/>
            </a:rPr>
            <a:t>                  Des Progrès</a:t>
          </a:r>
        </a:p>
      </dsp:txBody>
      <dsp:txXfrm>
        <a:off x="0" y="2323322"/>
        <a:ext cx="2210733" cy="2323322"/>
      </dsp:txXfrm>
    </dsp:sp>
    <dsp:sp modelId="{09B96CA3-08B0-4FD9-AD53-AAA554063CF3}">
      <dsp:nvSpPr>
        <dsp:cNvPr id="0" name=""/>
        <dsp:cNvSpPr/>
      </dsp:nvSpPr>
      <dsp:spPr>
        <a:xfrm>
          <a:off x="2376538" y="2556653"/>
          <a:ext cx="8677129" cy="12886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fr-CI" sz="1900" b="1" kern="1200" dirty="0">
              <a:latin typeface="Calibri" panose="020F0502020204030204" pitchFamily="34" charset="0"/>
              <a:cs typeface="Calibri" panose="020F0502020204030204" pitchFamily="34" charset="0"/>
            </a:rPr>
            <a:t>Ces progrès présentent ici aussi, un grand intérêt philosophique</a:t>
          </a:r>
          <a:r>
            <a:rPr lang="fr-CI" sz="1900" kern="1200" dirty="0">
              <a:latin typeface="Calibri" panose="020F0502020204030204" pitchFamily="34" charset="0"/>
              <a:cs typeface="Calibri" panose="020F0502020204030204" pitchFamily="34" charset="0"/>
            </a:rPr>
            <a:t>. En premier lieu, le centre d’intérêt principal se déplace de la physique vers la biologie ; ce qui est logique, compte tenu de la plus grande complexité et richesse ontologique du vivant.</a:t>
          </a:r>
          <a:endParaRPr lang="fr-FR" sz="1900" kern="1200" dirty="0">
            <a:latin typeface="Calibri" panose="020F0502020204030204" pitchFamily="34" charset="0"/>
            <a:cs typeface="Calibri" panose="020F0502020204030204" pitchFamily="34" charset="0"/>
          </a:endParaRPr>
        </a:p>
        <a:p>
          <a:pPr marL="0" lvl="0" indent="0" algn="just" defTabSz="844550">
            <a:lnSpc>
              <a:spcPct val="90000"/>
            </a:lnSpc>
            <a:spcBef>
              <a:spcPct val="0"/>
            </a:spcBef>
            <a:spcAft>
              <a:spcPct val="35000"/>
            </a:spcAft>
            <a:buNone/>
          </a:pPr>
          <a:endParaRPr lang="fr-FR" sz="1000" kern="1200" dirty="0">
            <a:latin typeface="Calibri" panose="020F0502020204030204" pitchFamily="34" charset="0"/>
            <a:cs typeface="Calibri" panose="020F0502020204030204" pitchFamily="34" charset="0"/>
          </a:endParaRPr>
        </a:p>
        <a:p>
          <a:pPr marL="0" lvl="0" indent="0" algn="l" defTabSz="844550">
            <a:lnSpc>
              <a:spcPct val="90000"/>
            </a:lnSpc>
            <a:spcBef>
              <a:spcPct val="0"/>
            </a:spcBef>
            <a:spcAft>
              <a:spcPct val="35000"/>
            </a:spcAft>
            <a:buNone/>
          </a:pPr>
          <a:r>
            <a:rPr lang="fr-CI" sz="1900" kern="1200" dirty="0">
              <a:latin typeface="Calibri" panose="020F0502020204030204" pitchFamily="34" charset="0"/>
              <a:cs typeface="Calibri" panose="020F0502020204030204" pitchFamily="34" charset="0"/>
            </a:rPr>
            <a:t>En deuxième lieu, le progrès de la physique avait tendance à souligner les causes efficientes (causes qui agissent) au détriment des causes finales. Les causes finales font leur rentrée encore dans la science et donc la Philosophie aussi.</a:t>
          </a:r>
          <a:endParaRPr lang="fr-FR" sz="1900" kern="1200" dirty="0">
            <a:latin typeface="Calibri" panose="020F0502020204030204" pitchFamily="34" charset="0"/>
            <a:cs typeface="Calibri" panose="020F0502020204030204" pitchFamily="34" charset="0"/>
          </a:endParaRPr>
        </a:p>
      </dsp:txBody>
      <dsp:txXfrm>
        <a:off x="2376538" y="2556653"/>
        <a:ext cx="8677129" cy="1288654"/>
      </dsp:txXfrm>
    </dsp:sp>
    <dsp:sp modelId="{86358D04-AC32-48E8-A61F-A3944EE64296}">
      <dsp:nvSpPr>
        <dsp:cNvPr id="0" name=""/>
        <dsp:cNvSpPr/>
      </dsp:nvSpPr>
      <dsp:spPr>
        <a:xfrm>
          <a:off x="2210733" y="4560923"/>
          <a:ext cx="884293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C70F0F-4A12-4DC1-B7D9-5CBCD6855BD7}">
      <dsp:nvSpPr>
        <dsp:cNvPr id="0" name=""/>
        <dsp:cNvSpPr/>
      </dsp:nvSpPr>
      <dsp:spPr>
        <a:xfrm>
          <a:off x="0" y="1685"/>
          <a:ext cx="10916818" cy="0"/>
        </a:xfrm>
        <a:prstGeom prst="line">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w="6350" cap="flat" cmpd="sng" algn="ctr">
          <a:solidFill>
            <a:schemeClr val="accent1">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3">
          <a:scrgbClr r="0" g="0" b="0"/>
        </a:fillRef>
        <a:effectRef idx="2">
          <a:scrgbClr r="0" g="0" b="0"/>
        </a:effectRef>
        <a:fontRef idx="minor">
          <a:schemeClr val="lt1"/>
        </a:fontRef>
      </dsp:style>
    </dsp:sp>
    <dsp:sp modelId="{A838B802-DDDB-41AE-B8F9-C907554D8793}">
      <dsp:nvSpPr>
        <dsp:cNvPr id="0" name=""/>
        <dsp:cNvSpPr/>
      </dsp:nvSpPr>
      <dsp:spPr>
        <a:xfrm>
          <a:off x="0" y="1685"/>
          <a:ext cx="2183363" cy="34489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fr-CI" sz="2500" b="0" kern="1200" dirty="0">
              <a:effectLst/>
              <a:latin typeface="+mn-lt"/>
              <a:ea typeface="Calibri" panose="020F0502020204030204" pitchFamily="34" charset="0"/>
              <a:cs typeface="Times New Roman" panose="02020603050405020304" pitchFamily="18" charset="0"/>
            </a:rPr>
            <a:t>Les théories du chaos </a:t>
          </a:r>
          <a:endParaRPr lang="fr-FR" sz="2500" b="0" kern="1200" dirty="0">
            <a:latin typeface="+mn-lt"/>
          </a:endParaRPr>
        </a:p>
      </dsp:txBody>
      <dsp:txXfrm>
        <a:off x="0" y="1685"/>
        <a:ext cx="2183363" cy="3448953"/>
      </dsp:txXfrm>
    </dsp:sp>
    <dsp:sp modelId="{E9D754FC-D2B7-4F19-A317-6B77A4B02839}">
      <dsp:nvSpPr>
        <dsp:cNvPr id="0" name=""/>
        <dsp:cNvSpPr/>
      </dsp:nvSpPr>
      <dsp:spPr>
        <a:xfrm>
          <a:off x="2347115" y="158303"/>
          <a:ext cx="8569702" cy="3132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just" defTabSz="844550">
            <a:lnSpc>
              <a:spcPct val="90000"/>
            </a:lnSpc>
            <a:spcBef>
              <a:spcPct val="0"/>
            </a:spcBef>
            <a:spcAft>
              <a:spcPct val="35000"/>
            </a:spcAft>
            <a:buNone/>
          </a:pPr>
          <a:r>
            <a:rPr lang="fr-CI" sz="1900" kern="1200" dirty="0">
              <a:latin typeface="Calibri" panose="020F0502020204030204" pitchFamily="34" charset="0"/>
              <a:cs typeface="Calibri" panose="020F0502020204030204" pitchFamily="34" charset="0"/>
            </a:rPr>
            <a:t>Il s’agit d’un nouveau domaine scientifique qui s’occupe de phénomènes très différents et qui présente un grand intérêt parce qu’il cherche à comprendre l’existence et les caractéristiques des différents niveaux d’organisation qui existent dans la nature. De toutes les façons, il convient de signaler que le chaos et la complexité sont deux domaines différents, dont les relations sont importantes. Les états complexes sont à la limite entre le comportement périodique prédictible et le chaos imprédictible.</a:t>
          </a:r>
        </a:p>
        <a:p>
          <a:pPr marL="0" lvl="0" indent="0" algn="just" defTabSz="844550">
            <a:lnSpc>
              <a:spcPct val="90000"/>
            </a:lnSpc>
            <a:spcBef>
              <a:spcPct val="0"/>
            </a:spcBef>
            <a:spcAft>
              <a:spcPct val="35000"/>
            </a:spcAft>
            <a:buNone/>
          </a:pPr>
          <a:r>
            <a:rPr lang="fr-CI" sz="1900" kern="1200" dirty="0">
              <a:latin typeface="Calibri" panose="020F0502020204030204" pitchFamily="34" charset="0"/>
              <a:cs typeface="Calibri" panose="020F0502020204030204" pitchFamily="34" charset="0"/>
            </a:rPr>
            <a:t>Les études sur le chaos se sont développées à partir des travaux présentés par </a:t>
          </a:r>
          <a:r>
            <a:rPr lang="fr-CI" sz="1900" b="1" kern="1200" dirty="0">
              <a:latin typeface="Calibri" panose="020F0502020204030204" pitchFamily="34" charset="0"/>
              <a:cs typeface="Calibri" panose="020F0502020204030204" pitchFamily="34" charset="0"/>
            </a:rPr>
            <a:t>Edward Lorenz (1917-2008) </a:t>
          </a:r>
          <a:r>
            <a:rPr lang="fr-CI" sz="1900" kern="1200" dirty="0">
              <a:latin typeface="Calibri" panose="020F0502020204030204" pitchFamily="34" charset="0"/>
              <a:cs typeface="Calibri" panose="020F0502020204030204" pitchFamily="34" charset="0"/>
            </a:rPr>
            <a:t>en 1963 : Lorenz parla de « l’effet papillon » : un battement d’ailes d’un papillon au Brésil pourrait provoquer une tornade au Texas. Lorenz travaillait justement dans le domaine de la météorologie.</a:t>
          </a:r>
          <a:endParaRPr lang="fr-FR" sz="1900" kern="1200" dirty="0">
            <a:latin typeface="Calibri" panose="020F0502020204030204" pitchFamily="34" charset="0"/>
            <a:cs typeface="Calibri" panose="020F0502020204030204" pitchFamily="34" charset="0"/>
          </a:endParaRPr>
        </a:p>
      </dsp:txBody>
      <dsp:txXfrm>
        <a:off x="2347115" y="158303"/>
        <a:ext cx="8569702" cy="3132350"/>
      </dsp:txXfrm>
    </dsp:sp>
    <dsp:sp modelId="{E28DFCB2-86D1-45BD-BC56-80CF5B3C0D41}">
      <dsp:nvSpPr>
        <dsp:cNvPr id="0" name=""/>
        <dsp:cNvSpPr/>
      </dsp:nvSpPr>
      <dsp:spPr>
        <a:xfrm>
          <a:off x="2183363" y="3290653"/>
          <a:ext cx="873345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C70F0F-4A12-4DC1-B7D9-5CBCD6855BD7}">
      <dsp:nvSpPr>
        <dsp:cNvPr id="0" name=""/>
        <dsp:cNvSpPr/>
      </dsp:nvSpPr>
      <dsp:spPr>
        <a:xfrm>
          <a:off x="0" y="0"/>
          <a:ext cx="10916818" cy="0"/>
        </a:xfrm>
        <a:prstGeom prst="line">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w="6350" cap="flat" cmpd="sng" algn="ctr">
          <a:solidFill>
            <a:schemeClr val="accent1">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3">
          <a:scrgbClr r="0" g="0" b="0"/>
        </a:fillRef>
        <a:effectRef idx="2">
          <a:scrgbClr r="0" g="0" b="0"/>
        </a:effectRef>
        <a:fontRef idx="minor">
          <a:schemeClr val="lt1"/>
        </a:fontRef>
      </dsp:style>
    </dsp:sp>
    <dsp:sp modelId="{A838B802-DDDB-41AE-B8F9-C907554D8793}">
      <dsp:nvSpPr>
        <dsp:cNvPr id="0" name=""/>
        <dsp:cNvSpPr/>
      </dsp:nvSpPr>
      <dsp:spPr>
        <a:xfrm>
          <a:off x="0" y="0"/>
          <a:ext cx="2183363" cy="34523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fr-CI" sz="2500" b="0" kern="1200" dirty="0">
              <a:effectLst/>
              <a:latin typeface="+mn-lt"/>
              <a:ea typeface="Calibri" panose="020F0502020204030204" pitchFamily="34" charset="0"/>
              <a:cs typeface="Times New Roman" panose="02020603050405020304" pitchFamily="18" charset="0"/>
            </a:rPr>
            <a:t>Les théories du chaos </a:t>
          </a:r>
          <a:endParaRPr lang="fr-FR" sz="2500" b="0" kern="1200" dirty="0">
            <a:latin typeface="+mn-lt"/>
          </a:endParaRPr>
        </a:p>
      </dsp:txBody>
      <dsp:txXfrm>
        <a:off x="0" y="0"/>
        <a:ext cx="2183363" cy="3452325"/>
      </dsp:txXfrm>
    </dsp:sp>
    <dsp:sp modelId="{E9D754FC-D2B7-4F19-A317-6B77A4B02839}">
      <dsp:nvSpPr>
        <dsp:cNvPr id="0" name=""/>
        <dsp:cNvSpPr/>
      </dsp:nvSpPr>
      <dsp:spPr>
        <a:xfrm>
          <a:off x="2347115" y="156770"/>
          <a:ext cx="8569702" cy="3135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just" defTabSz="844550">
            <a:lnSpc>
              <a:spcPct val="90000"/>
            </a:lnSpc>
            <a:spcBef>
              <a:spcPct val="0"/>
            </a:spcBef>
            <a:spcAft>
              <a:spcPct val="35000"/>
            </a:spcAft>
            <a:buNone/>
          </a:pPr>
          <a:r>
            <a:rPr lang="fr-CI" sz="1900" kern="1200" dirty="0">
              <a:latin typeface="Calibri" panose="020F0502020204030204" pitchFamily="34" charset="0"/>
              <a:cs typeface="Calibri" panose="020F0502020204030204" pitchFamily="34" charset="0"/>
            </a:rPr>
            <a:t>La conclusion était qu’un système tout en suivant des lois physiques déterministes, peut présenter des évolutions strictement imprédictibles, qu’on ne peut prédire. On ne pourrait prédire la suite qu’en connaissant les conditions initiales avec toute la précision nécessaire ; or cela est impossible, sel. La belle théorie de Laplace (« Une intelligence qui, pour un instant donné, connaîtrait toutes les forces dont la nature est animée et la situation respective des êtres qui la composent… ») était définitivement enterrée.</a:t>
          </a:r>
          <a:endParaRPr lang="fr-FR" sz="1900" kern="1200" dirty="0">
            <a:latin typeface="Calibri" panose="020F0502020204030204" pitchFamily="34" charset="0"/>
            <a:cs typeface="Calibri" panose="020F0502020204030204" pitchFamily="34" charset="0"/>
          </a:endParaRPr>
        </a:p>
        <a:p>
          <a:pPr marL="0" lvl="0" indent="0" algn="just" defTabSz="844550">
            <a:lnSpc>
              <a:spcPct val="90000"/>
            </a:lnSpc>
            <a:spcBef>
              <a:spcPct val="0"/>
            </a:spcBef>
            <a:spcAft>
              <a:spcPct val="35000"/>
            </a:spcAft>
            <a:buNone/>
          </a:pPr>
          <a:r>
            <a:rPr lang="fr-CI" sz="1900" kern="1200" dirty="0">
              <a:latin typeface="Calibri" panose="020F0502020204030204" pitchFamily="34" charset="0"/>
              <a:cs typeface="Calibri" panose="020F0502020204030204" pitchFamily="34" charset="0"/>
            </a:rPr>
            <a:t>En 1971, </a:t>
          </a:r>
          <a:r>
            <a:rPr lang="fr-CI" sz="1900" b="1" kern="1200" dirty="0">
              <a:latin typeface="Calibri" panose="020F0502020204030204" pitchFamily="34" charset="0"/>
              <a:cs typeface="Calibri" panose="020F0502020204030204" pitchFamily="34" charset="0"/>
            </a:rPr>
            <a:t>David Ruelle et Floris </a:t>
          </a:r>
          <a:r>
            <a:rPr lang="fr-CI" sz="1900" b="1" kern="1200" dirty="0" err="1">
              <a:latin typeface="Calibri" panose="020F0502020204030204" pitchFamily="34" charset="0"/>
              <a:cs typeface="Calibri" panose="020F0502020204030204" pitchFamily="34" charset="0"/>
            </a:rPr>
            <a:t>Takens</a:t>
          </a:r>
          <a:r>
            <a:rPr lang="fr-CI" sz="1900" b="1" kern="1200" dirty="0">
              <a:latin typeface="Calibri" panose="020F0502020204030204" pitchFamily="34" charset="0"/>
              <a:cs typeface="Calibri" panose="020F0502020204030204" pitchFamily="34" charset="0"/>
            </a:rPr>
            <a:t> </a:t>
          </a:r>
          <a:r>
            <a:rPr lang="fr-CI" sz="1900" kern="1200" dirty="0">
              <a:latin typeface="Calibri" panose="020F0502020204030204" pitchFamily="34" charset="0"/>
              <a:cs typeface="Calibri" panose="020F0502020204030204" pitchFamily="34" charset="0"/>
            </a:rPr>
            <a:t>publièrent un article célèbre sur les attracteurs étranges, dont l’attracteur de Lorenz serait un cas particulier.</a:t>
          </a:r>
          <a:endParaRPr lang="fr-FR" sz="1900" kern="1200" dirty="0">
            <a:latin typeface="Calibri" panose="020F0502020204030204" pitchFamily="34" charset="0"/>
            <a:cs typeface="Calibri" panose="020F0502020204030204" pitchFamily="34" charset="0"/>
          </a:endParaRPr>
        </a:p>
        <a:p>
          <a:pPr marL="0" lvl="0" indent="0" algn="just" defTabSz="844550">
            <a:lnSpc>
              <a:spcPct val="90000"/>
            </a:lnSpc>
            <a:spcBef>
              <a:spcPct val="0"/>
            </a:spcBef>
            <a:spcAft>
              <a:spcPct val="35000"/>
            </a:spcAft>
            <a:buNone/>
          </a:pPr>
          <a:r>
            <a:rPr lang="fr-CI" sz="1900" kern="1200" dirty="0">
              <a:latin typeface="Calibri" panose="020F0502020204030204" pitchFamily="34" charset="0"/>
              <a:cs typeface="Calibri" panose="020F0502020204030204" pitchFamily="34" charset="0"/>
            </a:rPr>
            <a:t>Donc l’incertitude fait grandement son entrée dans la science même !</a:t>
          </a:r>
          <a:endParaRPr lang="fr-FR" sz="1900" kern="1200" dirty="0">
            <a:latin typeface="Calibri" panose="020F0502020204030204" pitchFamily="34" charset="0"/>
            <a:cs typeface="Calibri" panose="020F0502020204030204" pitchFamily="34" charset="0"/>
          </a:endParaRPr>
        </a:p>
      </dsp:txBody>
      <dsp:txXfrm>
        <a:off x="2347115" y="156770"/>
        <a:ext cx="8569702" cy="3135412"/>
      </dsp:txXfrm>
    </dsp:sp>
    <dsp:sp modelId="{E28DFCB2-86D1-45BD-BC56-80CF5B3C0D41}">
      <dsp:nvSpPr>
        <dsp:cNvPr id="0" name=""/>
        <dsp:cNvSpPr/>
      </dsp:nvSpPr>
      <dsp:spPr>
        <a:xfrm>
          <a:off x="2183363" y="3292182"/>
          <a:ext cx="8733454"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C277A6-D59A-4F7B-97E9-0938D3D0E882}">
      <dsp:nvSpPr>
        <dsp:cNvPr id="0" name=""/>
        <dsp:cNvSpPr/>
      </dsp:nvSpPr>
      <dsp:spPr>
        <a:xfrm>
          <a:off x="-3190431" y="-490977"/>
          <a:ext cx="3805078" cy="3805078"/>
        </a:xfrm>
        <a:prstGeom prst="blockArc">
          <a:avLst>
            <a:gd name="adj1" fmla="val 18900000"/>
            <a:gd name="adj2" fmla="val 2700000"/>
            <a:gd name="adj3" fmla="val 568"/>
          </a:avLst>
        </a:prstGeom>
        <a:noFill/>
        <a:ln w="635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91F5EF3-977B-47A3-B407-A9AED871D1B5}">
      <dsp:nvSpPr>
        <dsp:cNvPr id="0" name=""/>
        <dsp:cNvSpPr/>
      </dsp:nvSpPr>
      <dsp:spPr>
        <a:xfrm>
          <a:off x="395220" y="282312"/>
          <a:ext cx="11369305" cy="564624"/>
        </a:xfrm>
        <a:prstGeom prst="rect">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38100" dist="12700" dir="5400000" algn="ctr" rotWithShape="0">
            <a:srgbClr val="000000">
              <a:alpha val="63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48171" tIns="48260" rIns="48260" bIns="48260" numCol="1" spcCol="1270" anchor="ctr" anchorCtr="0">
          <a:noAutofit/>
        </a:bodyPr>
        <a:lstStyle/>
        <a:p>
          <a:pPr marL="0" lvl="0" indent="0" algn="l" defTabSz="844550">
            <a:lnSpc>
              <a:spcPct val="90000"/>
            </a:lnSpc>
            <a:spcBef>
              <a:spcPct val="0"/>
            </a:spcBef>
            <a:spcAft>
              <a:spcPct val="35000"/>
            </a:spcAft>
            <a:buNone/>
          </a:pPr>
          <a:r>
            <a:rPr lang="fr-CI" sz="1900" kern="1200" dirty="0">
              <a:latin typeface="Calibri" panose="020F0502020204030204" pitchFamily="34" charset="0"/>
              <a:cs typeface="Calibri" panose="020F0502020204030204" pitchFamily="34" charset="0"/>
            </a:rPr>
            <a:t>Communiquer une information, un message</a:t>
          </a:r>
          <a:endParaRPr lang="fr-FR" sz="1900" kern="1200" dirty="0">
            <a:latin typeface="Calibri" panose="020F0502020204030204" pitchFamily="34" charset="0"/>
            <a:cs typeface="Calibri" panose="020F0502020204030204" pitchFamily="34" charset="0"/>
          </a:endParaRPr>
        </a:p>
      </dsp:txBody>
      <dsp:txXfrm>
        <a:off x="395220" y="282312"/>
        <a:ext cx="11369305" cy="564624"/>
      </dsp:txXfrm>
    </dsp:sp>
    <dsp:sp modelId="{ACEA9281-AC54-4FC3-8D43-9BE3230D42C1}">
      <dsp:nvSpPr>
        <dsp:cNvPr id="0" name=""/>
        <dsp:cNvSpPr/>
      </dsp:nvSpPr>
      <dsp:spPr>
        <a:xfrm>
          <a:off x="42329" y="211734"/>
          <a:ext cx="705781" cy="705781"/>
        </a:xfrm>
        <a:prstGeom prst="ellipse">
          <a:avLst/>
        </a:prstGeom>
        <a:solidFill>
          <a:schemeClr val="lt1">
            <a:hueOff val="0"/>
            <a:satOff val="0"/>
            <a:lumOff val="0"/>
            <a:alphaOff val="0"/>
          </a:schemeClr>
        </a:solidFill>
        <a:ln w="635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80664375-26FF-4C35-B397-88F098FDEB44}">
      <dsp:nvSpPr>
        <dsp:cNvPr id="0" name=""/>
        <dsp:cNvSpPr/>
      </dsp:nvSpPr>
      <dsp:spPr>
        <a:xfrm>
          <a:off x="600461" y="1129249"/>
          <a:ext cx="11164064" cy="564624"/>
        </a:xfrm>
        <a:prstGeom prst="rect">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38100" dist="12700" dir="5400000" algn="ctr" rotWithShape="0">
            <a:srgbClr val="000000">
              <a:alpha val="63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48171" tIns="48260" rIns="48260" bIns="48260" numCol="1" spcCol="1270" anchor="ctr" anchorCtr="0">
          <a:noAutofit/>
        </a:bodyPr>
        <a:lstStyle/>
        <a:p>
          <a:pPr marL="0" lvl="0" indent="0" algn="l" defTabSz="844550">
            <a:lnSpc>
              <a:spcPct val="90000"/>
            </a:lnSpc>
            <a:spcBef>
              <a:spcPct val="0"/>
            </a:spcBef>
            <a:spcAft>
              <a:spcPct val="35000"/>
            </a:spcAft>
            <a:buNone/>
          </a:pPr>
          <a:r>
            <a:rPr lang="fr-CI" sz="1900" kern="1200" dirty="0">
              <a:latin typeface="Calibri" panose="020F0502020204030204" pitchFamily="34" charset="0"/>
              <a:cs typeface="Calibri" panose="020F0502020204030204" pitchFamily="34" charset="0"/>
            </a:rPr>
            <a:t>Techniques pour transmettre et diffuser ces informations</a:t>
          </a:r>
          <a:endParaRPr lang="fr-FR" sz="1900" kern="1200" dirty="0">
            <a:latin typeface="Calibri" panose="020F0502020204030204" pitchFamily="34" charset="0"/>
            <a:cs typeface="Calibri" panose="020F0502020204030204" pitchFamily="34" charset="0"/>
          </a:endParaRPr>
        </a:p>
      </dsp:txBody>
      <dsp:txXfrm>
        <a:off x="600461" y="1129249"/>
        <a:ext cx="11164064" cy="564624"/>
      </dsp:txXfrm>
    </dsp:sp>
    <dsp:sp modelId="{41CA5929-2D51-4DE6-88DA-DE23678793CC}">
      <dsp:nvSpPr>
        <dsp:cNvPr id="0" name=""/>
        <dsp:cNvSpPr/>
      </dsp:nvSpPr>
      <dsp:spPr>
        <a:xfrm>
          <a:off x="247571" y="1058671"/>
          <a:ext cx="705781" cy="705781"/>
        </a:xfrm>
        <a:prstGeom prst="ellipse">
          <a:avLst/>
        </a:prstGeom>
        <a:solidFill>
          <a:schemeClr val="lt1">
            <a:hueOff val="0"/>
            <a:satOff val="0"/>
            <a:lumOff val="0"/>
            <a:alphaOff val="0"/>
          </a:schemeClr>
        </a:solidFill>
        <a:ln w="635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F84C044-C6BB-408C-8731-E35684221202}">
      <dsp:nvSpPr>
        <dsp:cNvPr id="0" name=""/>
        <dsp:cNvSpPr/>
      </dsp:nvSpPr>
      <dsp:spPr>
        <a:xfrm>
          <a:off x="395220" y="1976186"/>
          <a:ext cx="11369305" cy="564624"/>
        </a:xfrm>
        <a:prstGeom prst="rect">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38100" dist="12700" dir="5400000" algn="ctr" rotWithShape="0">
            <a:srgbClr val="000000">
              <a:alpha val="63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48171" tIns="48260" rIns="48260" bIns="48260" numCol="1" spcCol="1270" anchor="ctr" anchorCtr="0">
          <a:noAutofit/>
        </a:bodyPr>
        <a:lstStyle/>
        <a:p>
          <a:pPr marL="0" lvl="0" indent="0" algn="l" defTabSz="844550">
            <a:lnSpc>
              <a:spcPct val="90000"/>
            </a:lnSpc>
            <a:spcBef>
              <a:spcPct val="0"/>
            </a:spcBef>
            <a:spcAft>
              <a:spcPct val="35000"/>
            </a:spcAft>
            <a:buNone/>
          </a:pPr>
          <a:r>
            <a:rPr lang="fr-CI" sz="1900" kern="1200" dirty="0">
              <a:latin typeface="Calibri" panose="020F0502020204030204" pitchFamily="34" charset="0"/>
              <a:cs typeface="Calibri" panose="020F0502020204030204" pitchFamily="34" charset="0"/>
            </a:rPr>
            <a:t>Programme inscrit dans les structures naturelles et qui guident le fonctionnement (notamment des vivants). L’information génétique, physique, chimique.</a:t>
          </a:r>
          <a:endParaRPr lang="fr-FR" sz="1900" kern="1200" dirty="0">
            <a:latin typeface="Calibri" panose="020F0502020204030204" pitchFamily="34" charset="0"/>
            <a:cs typeface="Calibri" panose="020F0502020204030204" pitchFamily="34" charset="0"/>
          </a:endParaRPr>
        </a:p>
      </dsp:txBody>
      <dsp:txXfrm>
        <a:off x="395220" y="1976186"/>
        <a:ext cx="11369305" cy="564624"/>
      </dsp:txXfrm>
    </dsp:sp>
    <dsp:sp modelId="{C0B6ABFA-24E4-40A9-899D-540917895468}">
      <dsp:nvSpPr>
        <dsp:cNvPr id="0" name=""/>
        <dsp:cNvSpPr/>
      </dsp:nvSpPr>
      <dsp:spPr>
        <a:xfrm>
          <a:off x="42329" y="1905608"/>
          <a:ext cx="705781" cy="705781"/>
        </a:xfrm>
        <a:prstGeom prst="ellipse">
          <a:avLst/>
        </a:prstGeom>
        <a:solidFill>
          <a:schemeClr val="lt1">
            <a:hueOff val="0"/>
            <a:satOff val="0"/>
            <a:lumOff val="0"/>
            <a:alphaOff val="0"/>
          </a:schemeClr>
        </a:solidFill>
        <a:ln w="635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8E600A-587B-4819-B220-00ADD0708B1D}">
      <dsp:nvSpPr>
        <dsp:cNvPr id="0" name=""/>
        <dsp:cNvSpPr/>
      </dsp:nvSpPr>
      <dsp:spPr>
        <a:xfrm>
          <a:off x="-34787" y="-24979"/>
          <a:ext cx="9035796" cy="1144142"/>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just" defTabSz="844550">
            <a:lnSpc>
              <a:spcPct val="90000"/>
            </a:lnSpc>
            <a:spcBef>
              <a:spcPct val="0"/>
            </a:spcBef>
            <a:spcAft>
              <a:spcPct val="35000"/>
            </a:spcAft>
            <a:buNone/>
          </a:pPr>
          <a:r>
            <a:rPr lang="fr-CI" sz="1900" kern="1200" dirty="0">
              <a:solidFill>
                <a:schemeClr val="tx1"/>
              </a:solidFill>
              <a:latin typeface="Calibri" panose="020F0502020204030204" pitchFamily="34" charset="0"/>
              <a:cs typeface="Calibri" panose="020F0502020204030204" pitchFamily="34" charset="0"/>
            </a:rPr>
            <a:t>Les méthodes des sciences se construisent logiquement en fonction de leurs objectifs. Par conséquent, les hypothèses doivent être soumises à l’épreuve de la vérification expérimentale, aussi bien de la connaissance des objets que du contrôle de leur fonctionnement</a:t>
          </a:r>
          <a:endParaRPr lang="fr-FR" sz="1900" kern="1200" dirty="0">
            <a:solidFill>
              <a:schemeClr val="tx1"/>
            </a:solidFill>
            <a:latin typeface="Calibri" panose="020F0502020204030204" pitchFamily="34" charset="0"/>
            <a:cs typeface="Calibri" panose="020F0502020204030204" pitchFamily="34" charset="0"/>
          </a:endParaRPr>
        </a:p>
      </dsp:txBody>
      <dsp:txXfrm>
        <a:off x="-1276" y="8532"/>
        <a:ext cx="7704496" cy="1077120"/>
      </dsp:txXfrm>
    </dsp:sp>
    <dsp:sp modelId="{D8946699-69BF-419C-A600-ABD20D3A221E}">
      <dsp:nvSpPr>
        <dsp:cNvPr id="0" name=""/>
        <dsp:cNvSpPr/>
      </dsp:nvSpPr>
      <dsp:spPr>
        <a:xfrm>
          <a:off x="756386" y="1208861"/>
          <a:ext cx="9035796" cy="1144142"/>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just" defTabSz="844550">
            <a:lnSpc>
              <a:spcPct val="90000"/>
            </a:lnSpc>
            <a:spcBef>
              <a:spcPct val="0"/>
            </a:spcBef>
            <a:spcAft>
              <a:spcPct val="35000"/>
            </a:spcAft>
            <a:buNone/>
          </a:pPr>
          <a:r>
            <a:rPr lang="fr-CI" sz="1900" kern="1200" dirty="0">
              <a:solidFill>
                <a:schemeClr val="tx1"/>
              </a:solidFill>
              <a:latin typeface="Calibri" panose="020F0502020204030204" pitchFamily="34" charset="0"/>
              <a:cs typeface="Calibri" panose="020F0502020204030204" pitchFamily="34" charset="0"/>
            </a:rPr>
            <a:t>Selon </a:t>
          </a:r>
          <a:r>
            <a:rPr lang="fr-CI" sz="1900" b="1" kern="1200" dirty="0" err="1">
              <a:solidFill>
                <a:schemeClr val="tx1"/>
              </a:solidFill>
              <a:latin typeface="Calibri" panose="020F0502020204030204" pitchFamily="34" charset="0"/>
              <a:cs typeface="Calibri" panose="020F0502020204030204" pitchFamily="34" charset="0"/>
            </a:rPr>
            <a:t>Evandro</a:t>
          </a:r>
          <a:r>
            <a:rPr lang="fr-CI" sz="1900" b="1" kern="1200" dirty="0">
              <a:solidFill>
                <a:schemeClr val="tx1"/>
              </a:solidFill>
              <a:latin typeface="Calibri" panose="020F0502020204030204" pitchFamily="34" charset="0"/>
              <a:cs typeface="Calibri" panose="020F0502020204030204" pitchFamily="34" charset="0"/>
            </a:rPr>
            <a:t> </a:t>
          </a:r>
          <a:r>
            <a:rPr lang="fr-CI" sz="1900" b="1" kern="1200" dirty="0" err="1">
              <a:solidFill>
                <a:schemeClr val="tx1"/>
              </a:solidFill>
              <a:latin typeface="Calibri" panose="020F0502020204030204" pitchFamily="34" charset="0"/>
              <a:cs typeface="Calibri" panose="020F0502020204030204" pitchFamily="34" charset="0"/>
            </a:rPr>
            <a:t>Agazzi</a:t>
          </a:r>
          <a:r>
            <a:rPr lang="fr-CI" sz="1900" b="1" kern="1200" dirty="0">
              <a:solidFill>
                <a:schemeClr val="tx1"/>
              </a:solidFill>
              <a:latin typeface="Calibri" panose="020F0502020204030204" pitchFamily="34" charset="0"/>
              <a:cs typeface="Calibri" panose="020F0502020204030204" pitchFamily="34" charset="0"/>
            </a:rPr>
            <a:t> (1934 - ) </a:t>
          </a:r>
          <a:r>
            <a:rPr lang="fr-CI" sz="1900" kern="1200" dirty="0">
              <a:solidFill>
                <a:schemeClr val="tx1"/>
              </a:solidFill>
              <a:latin typeface="Calibri" panose="020F0502020204030204" pitchFamily="34" charset="0"/>
              <a:cs typeface="Calibri" panose="020F0502020204030204" pitchFamily="34" charset="0"/>
            </a:rPr>
            <a:t>les objets des sciences ne sont pas </a:t>
          </a:r>
          <a:r>
            <a:rPr lang="fr-CI" sz="1900" b="1" i="1" kern="1200" dirty="0">
              <a:solidFill>
                <a:schemeClr val="tx1"/>
              </a:solidFill>
              <a:latin typeface="Calibri" panose="020F0502020204030204" pitchFamily="34" charset="0"/>
              <a:cs typeface="Calibri" panose="020F0502020204030204" pitchFamily="34" charset="0"/>
            </a:rPr>
            <a:t>« les choses »</a:t>
          </a:r>
          <a:r>
            <a:rPr lang="fr-CI" sz="1900" kern="1200" dirty="0">
              <a:solidFill>
                <a:schemeClr val="tx1"/>
              </a:solidFill>
              <a:latin typeface="Calibri" panose="020F0502020204030204" pitchFamily="34" charset="0"/>
              <a:cs typeface="Calibri" panose="020F0502020204030204" pitchFamily="34" charset="0"/>
            </a:rPr>
            <a:t>. Une même chose peut être l’objet de sciences différentes. Chaque discipline scientifique se constitue en adoptant une perspective qui lui est propre. Ce que les classiques appelaient l’objet formel quod.</a:t>
          </a:r>
          <a:endParaRPr lang="en-US" sz="1900" kern="1200" dirty="0">
            <a:solidFill>
              <a:schemeClr val="tx1"/>
            </a:solidFill>
            <a:latin typeface="Calibri" panose="020F0502020204030204" pitchFamily="34" charset="0"/>
            <a:cs typeface="Calibri" panose="020F0502020204030204" pitchFamily="34" charset="0"/>
          </a:endParaRPr>
        </a:p>
      </dsp:txBody>
      <dsp:txXfrm>
        <a:off x="789897" y="1242372"/>
        <a:ext cx="7468333" cy="1077120"/>
      </dsp:txXfrm>
    </dsp:sp>
    <dsp:sp modelId="{840ED59D-5DBB-47F6-B85E-9D7B4640A414}">
      <dsp:nvSpPr>
        <dsp:cNvPr id="0" name=""/>
        <dsp:cNvSpPr/>
      </dsp:nvSpPr>
      <dsp:spPr>
        <a:xfrm>
          <a:off x="1521899" y="2436038"/>
          <a:ext cx="9023688" cy="1352822"/>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just" defTabSz="844550">
            <a:lnSpc>
              <a:spcPct val="90000"/>
            </a:lnSpc>
            <a:spcBef>
              <a:spcPct val="0"/>
            </a:spcBef>
            <a:spcAft>
              <a:spcPct val="35000"/>
            </a:spcAft>
            <a:buNone/>
          </a:pPr>
          <a:r>
            <a:rPr lang="fr-CI" sz="1900" kern="1200" dirty="0">
              <a:solidFill>
                <a:schemeClr val="tx1"/>
              </a:solidFill>
              <a:latin typeface="Calibri" panose="020F0502020204030204" pitchFamily="34" charset="0"/>
              <a:cs typeface="Calibri" panose="020F0502020204030204" pitchFamily="34" charset="0"/>
            </a:rPr>
            <a:t>La délimitation de l’objet formel quod (la coupe) de la réalité n’est pas toujours ni principalement une limitation d’extension: la biologie, en définissant son objet, laissera pour compte les non vivants. Mais la chimie va s’occuper d’un certain type de réalités qui sont communs aux vivants et aux non-vivants</a:t>
          </a:r>
          <a:endParaRPr lang="en-US" sz="1900" kern="1200" dirty="0">
            <a:solidFill>
              <a:schemeClr val="tx1"/>
            </a:solidFill>
            <a:latin typeface="Calibri" panose="020F0502020204030204" pitchFamily="34" charset="0"/>
            <a:cs typeface="Calibri" panose="020F0502020204030204" pitchFamily="34" charset="0"/>
          </a:endParaRPr>
        </a:p>
      </dsp:txBody>
      <dsp:txXfrm>
        <a:off x="1561522" y="2475661"/>
        <a:ext cx="7457291" cy="1273576"/>
      </dsp:txXfrm>
    </dsp:sp>
    <dsp:sp modelId="{14C66A12-D066-45D0-B452-E7F1180EA629}">
      <dsp:nvSpPr>
        <dsp:cNvPr id="0" name=""/>
        <dsp:cNvSpPr/>
      </dsp:nvSpPr>
      <dsp:spPr>
        <a:xfrm>
          <a:off x="2119797" y="3872061"/>
          <a:ext cx="9174947" cy="1328590"/>
        </a:xfrm>
        <a:prstGeom prst="roundRect">
          <a:avLst>
            <a:gd name="adj" fmla="val 10000"/>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just" defTabSz="844550">
            <a:lnSpc>
              <a:spcPct val="90000"/>
            </a:lnSpc>
            <a:spcBef>
              <a:spcPct val="0"/>
            </a:spcBef>
            <a:spcAft>
              <a:spcPct val="35000"/>
            </a:spcAft>
            <a:buNone/>
          </a:pPr>
          <a:endParaRPr lang="fr-CI" sz="1900" kern="1200" dirty="0">
            <a:solidFill>
              <a:schemeClr val="tx1"/>
            </a:solidFill>
            <a:latin typeface="Calibri" panose="020F0502020204030204" pitchFamily="34" charset="0"/>
            <a:cs typeface="Calibri" panose="020F0502020204030204" pitchFamily="34" charset="0"/>
          </a:endParaRPr>
        </a:p>
        <a:p>
          <a:pPr marL="0" lvl="0" indent="0" algn="just" defTabSz="844550">
            <a:lnSpc>
              <a:spcPct val="90000"/>
            </a:lnSpc>
            <a:spcBef>
              <a:spcPct val="0"/>
            </a:spcBef>
            <a:spcAft>
              <a:spcPct val="35000"/>
            </a:spcAft>
            <a:buNone/>
          </a:pPr>
          <a:r>
            <a:rPr lang="fr-CI" sz="1900" kern="1200" dirty="0">
              <a:solidFill>
                <a:schemeClr val="tx1"/>
              </a:solidFill>
              <a:latin typeface="Calibri" panose="020F0502020204030204" pitchFamily="34" charset="0"/>
              <a:cs typeface="Calibri" panose="020F0502020204030204" pitchFamily="34" charset="0"/>
            </a:rPr>
            <a:t>La réalité est donnée aux scientifiques. Mais l’objet scientifique qu’il en fait est construit par lui. Chaque science « construit» son objet en effectuant la coupe de la réalité à laquelle va s’intéresser et que la définit et constitue en tant que science.</a:t>
          </a:r>
          <a:endParaRPr lang="en-US" sz="1900" kern="1200" dirty="0">
            <a:solidFill>
              <a:schemeClr val="tx1"/>
            </a:solidFill>
            <a:latin typeface="Calibri" panose="020F0502020204030204" pitchFamily="34" charset="0"/>
            <a:cs typeface="Calibri" panose="020F0502020204030204" pitchFamily="34" charset="0"/>
          </a:endParaRPr>
        </a:p>
        <a:p>
          <a:pPr marL="0" lvl="0" indent="0" algn="just" defTabSz="844550">
            <a:lnSpc>
              <a:spcPct val="90000"/>
            </a:lnSpc>
            <a:spcBef>
              <a:spcPct val="0"/>
            </a:spcBef>
            <a:spcAft>
              <a:spcPct val="35000"/>
            </a:spcAft>
            <a:buNone/>
          </a:pPr>
          <a:endParaRPr lang="fr-FR" sz="1900" kern="1200" dirty="0">
            <a:solidFill>
              <a:schemeClr val="tx1"/>
            </a:solidFill>
            <a:latin typeface="Calibri" panose="020F0502020204030204" pitchFamily="34" charset="0"/>
            <a:cs typeface="Calibri" panose="020F0502020204030204" pitchFamily="34" charset="0"/>
          </a:endParaRPr>
        </a:p>
      </dsp:txBody>
      <dsp:txXfrm>
        <a:off x="2158710" y="3910974"/>
        <a:ext cx="7573573" cy="1250764"/>
      </dsp:txXfrm>
    </dsp:sp>
    <dsp:sp modelId="{EBBD1CFB-72F4-4176-9A7D-E8457E2AEA3B}">
      <dsp:nvSpPr>
        <dsp:cNvPr id="0" name=""/>
        <dsp:cNvSpPr/>
      </dsp:nvSpPr>
      <dsp:spPr>
        <a:xfrm>
          <a:off x="8257315" y="830197"/>
          <a:ext cx="743692" cy="743692"/>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marL="0" lvl="0" indent="0" algn="just" defTabSz="1466850">
            <a:lnSpc>
              <a:spcPct val="90000"/>
            </a:lnSpc>
            <a:spcBef>
              <a:spcPct val="0"/>
            </a:spcBef>
            <a:spcAft>
              <a:spcPct val="35000"/>
            </a:spcAft>
            <a:buNone/>
          </a:pPr>
          <a:endParaRPr lang="fr-FR" sz="3300" kern="1200" dirty="0">
            <a:solidFill>
              <a:schemeClr val="tx1"/>
            </a:solidFill>
          </a:endParaRPr>
        </a:p>
      </dsp:txBody>
      <dsp:txXfrm>
        <a:off x="8424646" y="830197"/>
        <a:ext cx="409030" cy="559628"/>
      </dsp:txXfrm>
    </dsp:sp>
    <dsp:sp modelId="{A6E7CF93-C43B-445F-BE71-230AE5A1AA20}">
      <dsp:nvSpPr>
        <dsp:cNvPr id="0" name=""/>
        <dsp:cNvSpPr/>
      </dsp:nvSpPr>
      <dsp:spPr>
        <a:xfrm>
          <a:off x="9014063" y="2182366"/>
          <a:ext cx="743692" cy="743692"/>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marL="0" lvl="0" indent="0" algn="just" defTabSz="1466850">
            <a:lnSpc>
              <a:spcPct val="90000"/>
            </a:lnSpc>
            <a:spcBef>
              <a:spcPct val="0"/>
            </a:spcBef>
            <a:spcAft>
              <a:spcPct val="35000"/>
            </a:spcAft>
            <a:buNone/>
          </a:pPr>
          <a:endParaRPr lang="fr-FR" sz="3300" kern="1200" dirty="0">
            <a:solidFill>
              <a:schemeClr val="tx1"/>
            </a:solidFill>
          </a:endParaRPr>
        </a:p>
      </dsp:txBody>
      <dsp:txXfrm>
        <a:off x="9181394" y="2182366"/>
        <a:ext cx="409030" cy="559628"/>
      </dsp:txXfrm>
    </dsp:sp>
    <dsp:sp modelId="{9139ECB6-BC79-4751-92B0-83679A0541AB}">
      <dsp:nvSpPr>
        <dsp:cNvPr id="0" name=""/>
        <dsp:cNvSpPr/>
      </dsp:nvSpPr>
      <dsp:spPr>
        <a:xfrm>
          <a:off x="9759516" y="3534535"/>
          <a:ext cx="743692" cy="743692"/>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41910" tIns="41910" rIns="41910" bIns="41910" numCol="1" spcCol="1270" anchor="ctr" anchorCtr="0">
          <a:noAutofit/>
        </a:bodyPr>
        <a:lstStyle/>
        <a:p>
          <a:pPr marL="0" lvl="0" indent="0" algn="just" defTabSz="1466850">
            <a:lnSpc>
              <a:spcPct val="90000"/>
            </a:lnSpc>
            <a:spcBef>
              <a:spcPct val="0"/>
            </a:spcBef>
            <a:spcAft>
              <a:spcPct val="35000"/>
            </a:spcAft>
            <a:buNone/>
          </a:pPr>
          <a:endParaRPr lang="fr-FR" sz="3300" kern="1200" dirty="0">
            <a:solidFill>
              <a:schemeClr val="tx1"/>
            </a:solidFill>
          </a:endParaRPr>
        </a:p>
      </dsp:txBody>
      <dsp:txXfrm>
        <a:off x="9926847" y="3534535"/>
        <a:ext cx="409030" cy="55962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28CF91-D46F-476C-A8A0-672538116E80}">
      <dsp:nvSpPr>
        <dsp:cNvPr id="0" name=""/>
        <dsp:cNvSpPr/>
      </dsp:nvSpPr>
      <dsp:spPr>
        <a:xfrm rot="5400000">
          <a:off x="-267192" y="239062"/>
          <a:ext cx="2006398" cy="1539547"/>
        </a:xfrm>
        <a:prstGeom prst="chevron">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w="6350" cap="flat" cmpd="sng" algn="ctr">
          <a:solidFill>
            <a:schemeClr val="accent1">
              <a:hueOff val="0"/>
              <a:satOff val="0"/>
              <a:lumOff val="0"/>
              <a:alphaOff val="0"/>
            </a:schemeClr>
          </a:solidFill>
          <a:prstDash val="solid"/>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1">
          <a:scrgbClr r="0" g="0" b="0"/>
        </a:lnRef>
        <a:fillRef idx="3">
          <a:scrgbClr r="0" g="0" b="0"/>
        </a:fillRef>
        <a:effectRef idx="3">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endParaRPr lang="fr-CI" sz="1900" kern="1200" dirty="0">
            <a:latin typeface="Calibri" panose="020F0502020204030204" pitchFamily="34" charset="0"/>
            <a:cs typeface="Calibri" panose="020F0502020204030204" pitchFamily="34" charset="0"/>
          </a:endParaRPr>
        </a:p>
        <a:p>
          <a:pPr marL="0" lvl="0" indent="0" algn="ctr" defTabSz="844550">
            <a:lnSpc>
              <a:spcPct val="90000"/>
            </a:lnSpc>
            <a:spcBef>
              <a:spcPct val="0"/>
            </a:spcBef>
            <a:spcAft>
              <a:spcPct val="35000"/>
            </a:spcAft>
            <a:buNone/>
          </a:pPr>
          <a:r>
            <a:rPr lang="fr-CI" sz="1800" kern="1200" dirty="0">
              <a:latin typeface="Calibri" panose="020F0502020204030204" pitchFamily="34" charset="0"/>
              <a:cs typeface="Calibri" panose="020F0502020204030204" pitchFamily="34" charset="0"/>
            </a:rPr>
            <a:t>Vérification de la validité des théories</a:t>
          </a:r>
          <a:endParaRPr lang="fr-FR" sz="1800" kern="1200" dirty="0"/>
        </a:p>
      </dsp:txBody>
      <dsp:txXfrm rot="-5400000">
        <a:off x="-33766" y="775411"/>
        <a:ext cx="1539547" cy="466851"/>
      </dsp:txXfrm>
    </dsp:sp>
    <dsp:sp modelId="{26364971-78E7-4FBD-8E0E-3F8A84BFA235}">
      <dsp:nvSpPr>
        <dsp:cNvPr id="0" name=""/>
        <dsp:cNvSpPr/>
      </dsp:nvSpPr>
      <dsp:spPr>
        <a:xfrm rot="5400000">
          <a:off x="5412504" y="-3974258"/>
          <a:ext cx="1304844" cy="9253361"/>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135128" tIns="12065" rIns="12065" bIns="12065" numCol="1" spcCol="1270" anchor="ctr" anchorCtr="0">
          <a:noAutofit/>
        </a:bodyPr>
        <a:lstStyle/>
        <a:p>
          <a:pPr marL="171450" lvl="1" indent="-171450" algn="just" defTabSz="844550">
            <a:lnSpc>
              <a:spcPct val="90000"/>
            </a:lnSpc>
            <a:spcBef>
              <a:spcPct val="0"/>
            </a:spcBef>
            <a:spcAft>
              <a:spcPct val="15000"/>
            </a:spcAft>
            <a:buChar char="•"/>
          </a:pPr>
          <a:r>
            <a:rPr lang="fr-CI" sz="1900" kern="1200" dirty="0">
              <a:latin typeface="Calibri" panose="020F0502020204030204" pitchFamily="34" charset="0"/>
              <a:cs typeface="Calibri" panose="020F0502020204030204" pitchFamily="34" charset="0"/>
            </a:rPr>
            <a:t>La vérification de la validité des théories est fondamentale dans le développement de la science, et une bonne partie des questions que se pose la philosophie de la science appartient à ce domaine. </a:t>
          </a:r>
          <a:r>
            <a:rPr lang="fr-FR" sz="1900" kern="1200" dirty="0">
              <a:latin typeface="Calibri" panose="020F0502020204030204" pitchFamily="34" charset="0"/>
              <a:cs typeface="Calibri" panose="020F0502020204030204" pitchFamily="34" charset="0"/>
            </a:rPr>
            <a:t>Cette  validité est axé sur la distinction entre </a:t>
          </a:r>
          <a:r>
            <a:rPr lang="fr-CI" sz="1900" kern="1200" dirty="0">
              <a:latin typeface="Calibri" panose="020F0502020204030204" pitchFamily="34" charset="0"/>
              <a:cs typeface="Calibri" panose="020F0502020204030204" pitchFamily="34" charset="0"/>
            </a:rPr>
            <a:t>entre le contexte de la découverte et celui de la justification </a:t>
          </a:r>
          <a:endParaRPr lang="fr-FR" sz="1900" kern="1200" dirty="0"/>
        </a:p>
      </dsp:txBody>
      <dsp:txXfrm rot="-5400000">
        <a:off x="1438246" y="63697"/>
        <a:ext cx="9189664" cy="1177450"/>
      </dsp:txXfrm>
    </dsp:sp>
    <dsp:sp modelId="{49FA342D-9EC3-4ADB-BE2A-7C408DAFC16F}">
      <dsp:nvSpPr>
        <dsp:cNvPr id="0" name=""/>
        <dsp:cNvSpPr/>
      </dsp:nvSpPr>
      <dsp:spPr>
        <a:xfrm rot="5400000">
          <a:off x="-286328" y="1949410"/>
          <a:ext cx="2006398" cy="1501275"/>
        </a:xfrm>
        <a:prstGeom prst="chevron">
          <a:avLst/>
        </a:prstGeom>
        <a:gradFill rotWithShape="0">
          <a:gsLst>
            <a:gs pos="0">
              <a:schemeClr val="accent1">
                <a:hueOff val="0"/>
                <a:satOff val="0"/>
                <a:lumOff val="0"/>
                <a:alphaOff val="0"/>
                <a:satMod val="100000"/>
                <a:lumMod val="100000"/>
              </a:schemeClr>
            </a:gs>
            <a:gs pos="50000">
              <a:schemeClr val="accent1">
                <a:hueOff val="0"/>
                <a:satOff val="0"/>
                <a:lumOff val="0"/>
                <a:alphaOff val="0"/>
                <a:shade val="99000"/>
                <a:satMod val="105000"/>
                <a:lumMod val="100000"/>
              </a:schemeClr>
            </a:gs>
            <a:gs pos="100000">
              <a:schemeClr val="accent1">
                <a:hueOff val="0"/>
                <a:satOff val="0"/>
                <a:lumOff val="0"/>
                <a:alphaOff val="0"/>
                <a:shade val="98000"/>
                <a:satMod val="105000"/>
                <a:lumMod val="100000"/>
              </a:schemeClr>
            </a:gs>
          </a:gsLst>
          <a:lin ang="5400000" scaled="0"/>
        </a:gradFill>
        <a:ln w="6350" cap="flat" cmpd="sng" algn="ctr">
          <a:solidFill>
            <a:schemeClr val="accent1">
              <a:hueOff val="0"/>
              <a:satOff val="0"/>
              <a:lumOff val="0"/>
              <a:alphaOff val="0"/>
            </a:schemeClr>
          </a:solidFill>
          <a:prstDash val="solid"/>
        </a:ln>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dsp:spPr>
      <dsp:style>
        <a:lnRef idx="1">
          <a:scrgbClr r="0" g="0" b="0"/>
        </a:lnRef>
        <a:fillRef idx="3">
          <a:scrgbClr r="0" g="0" b="0"/>
        </a:fillRef>
        <a:effectRef idx="3">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endParaRPr lang="fr-CI" sz="1900" kern="1200" dirty="0">
            <a:latin typeface="Calibri" panose="020F0502020204030204" pitchFamily="34" charset="0"/>
            <a:cs typeface="Calibri" panose="020F0502020204030204" pitchFamily="34" charset="0"/>
          </a:endParaRPr>
        </a:p>
        <a:p>
          <a:pPr marL="0" lvl="0" indent="0" algn="ctr" defTabSz="844550">
            <a:lnSpc>
              <a:spcPct val="90000"/>
            </a:lnSpc>
            <a:spcBef>
              <a:spcPct val="0"/>
            </a:spcBef>
            <a:spcAft>
              <a:spcPct val="35000"/>
            </a:spcAft>
            <a:buNone/>
          </a:pPr>
          <a:r>
            <a:rPr lang="fr-CI" sz="1800" kern="1200" dirty="0">
              <a:latin typeface="Calibri" panose="020F0502020204030204" pitchFamily="34" charset="0"/>
              <a:cs typeface="Calibri" panose="020F0502020204030204" pitchFamily="34" charset="0"/>
            </a:rPr>
            <a:t>Construction de l’objet et proposition de théories</a:t>
          </a:r>
          <a:endParaRPr lang="fr-FR" sz="1800" kern="1200" dirty="0"/>
        </a:p>
      </dsp:txBody>
      <dsp:txXfrm rot="-5400000">
        <a:off x="-33766" y="2447487"/>
        <a:ext cx="1501275" cy="505123"/>
      </dsp:txXfrm>
    </dsp:sp>
    <dsp:sp modelId="{866029F1-8DE4-4781-B6C3-2AFB6752E50B}">
      <dsp:nvSpPr>
        <dsp:cNvPr id="0" name=""/>
        <dsp:cNvSpPr/>
      </dsp:nvSpPr>
      <dsp:spPr>
        <a:xfrm rot="5400000">
          <a:off x="5212217" y="-2277906"/>
          <a:ext cx="1667145" cy="9253361"/>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ln>
        <a:effectLst>
          <a:outerShdw blurRad="38100" dist="12700" dir="5400000" algn="ctr" rotWithShape="0">
            <a:srgbClr val="000000">
              <a:alpha val="63000"/>
            </a:srgbClr>
          </a:outerShdw>
        </a:effectLst>
      </dsp:spPr>
      <dsp:style>
        <a:lnRef idx="1">
          <a:scrgbClr r="0" g="0" b="0"/>
        </a:lnRef>
        <a:fillRef idx="1">
          <a:scrgbClr r="0" g="0" b="0"/>
        </a:fillRef>
        <a:effectRef idx="2">
          <a:scrgbClr r="0" g="0" b="0"/>
        </a:effectRef>
        <a:fontRef idx="minor"/>
      </dsp:style>
      <dsp:txBody>
        <a:bodyPr spcFirstLastPara="0" vert="horz" wrap="square" lIns="135128" tIns="12065" rIns="12065" bIns="12065" numCol="1" spcCol="1270" anchor="ctr" anchorCtr="0">
          <a:noAutofit/>
        </a:bodyPr>
        <a:lstStyle/>
        <a:p>
          <a:pPr marL="171450" lvl="1" indent="-171450" algn="just" defTabSz="844550">
            <a:lnSpc>
              <a:spcPct val="90000"/>
            </a:lnSpc>
            <a:spcBef>
              <a:spcPct val="0"/>
            </a:spcBef>
            <a:spcAft>
              <a:spcPct val="15000"/>
            </a:spcAft>
            <a:buChar char="•"/>
          </a:pPr>
          <a:r>
            <a:rPr lang="fr-CI" sz="1900" b="1" kern="1200" dirty="0">
              <a:latin typeface="Calibri" panose="020F0502020204030204" pitchFamily="34" charset="0"/>
              <a:cs typeface="Calibri" panose="020F0502020204030204" pitchFamily="34" charset="0"/>
            </a:rPr>
            <a:t>Lorsque nous disons que la construction est l’un des aspects fondamentaux de la méthode scientifique,</a:t>
          </a:r>
          <a:r>
            <a:rPr lang="fr-CI" sz="1900" kern="1200" dirty="0">
              <a:latin typeface="Calibri" panose="020F0502020204030204" pitchFamily="34" charset="0"/>
              <a:cs typeface="Calibri" panose="020F0502020204030204" pitchFamily="34" charset="0"/>
            </a:rPr>
            <a:t> nous visons le contexte dans lequel les théories sont bâties : quels sont les problèmes qu’elles sont censées résoudre, quel est le type de théories choisi et pour quoi. Ainsi c’est par la construction des objets et des théories de la science que nous pouvons envisager avec des chances de succès la vérification de leur validité.</a:t>
          </a:r>
          <a:endParaRPr lang="fr-FR" sz="1900" kern="1200" dirty="0"/>
        </a:p>
      </dsp:txBody>
      <dsp:txXfrm rot="-5400000">
        <a:off x="1419110" y="1596584"/>
        <a:ext cx="9171978" cy="1504379"/>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847387-F643-4280-A4AC-05EA74BF79C2}">
      <dsp:nvSpPr>
        <dsp:cNvPr id="0" name=""/>
        <dsp:cNvSpPr/>
      </dsp:nvSpPr>
      <dsp:spPr>
        <a:xfrm>
          <a:off x="84137" y="449966"/>
          <a:ext cx="3784166" cy="2364555"/>
        </a:xfrm>
        <a:prstGeom prst="rect">
          <a:avLst/>
        </a:prstGeom>
        <a:solidFill>
          <a:schemeClr val="tx1">
            <a:lumMod val="85000"/>
            <a:lumOff val="15000"/>
          </a:schemeClr>
        </a:solidFill>
        <a:ln>
          <a:noFill/>
        </a:ln>
        <a:effectLst>
          <a:outerShdw blurRad="50800" dist="50800" dir="5400000" sx="96000" sy="96000" rotWithShape="0">
            <a:srgbClr val="000000">
              <a:alpha val="48000"/>
            </a:srgbClr>
          </a:outerShdw>
        </a:effectLst>
        <a:scene3d>
          <a:camera prst="perspectiveContrastingRightFacing" fov="2400000">
            <a:rot lat="0" lon="21000000" rev="0"/>
          </a:camera>
          <a:lightRig rig="threePt" dir="t"/>
        </a:scene3d>
        <a:sp3d>
          <a:bevelT w="38100" h="12700" prst="softRound"/>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just" defTabSz="844550">
            <a:lnSpc>
              <a:spcPct val="90000"/>
            </a:lnSpc>
            <a:spcBef>
              <a:spcPct val="0"/>
            </a:spcBef>
            <a:spcAft>
              <a:spcPct val="35000"/>
            </a:spcAft>
            <a:buNone/>
          </a:pPr>
          <a:r>
            <a:rPr lang="fr-CI" sz="1900" kern="1200" dirty="0">
              <a:latin typeface="Calibri" panose="020F0502020204030204" pitchFamily="34" charset="0"/>
              <a:cs typeface="Calibri" panose="020F0502020204030204" pitchFamily="34" charset="0"/>
            </a:rPr>
            <a:t>Les résultats de l’application de la méthode scientifique à une discipline sont les constructions scientifiques qui se présentent habituellement comme un ensemble de propositions, de modèles et de théories. La loi d’Ohm ou la théorie de la relativité d’Einstein son des constructions de ce type.</a:t>
          </a:r>
          <a:endParaRPr lang="fr-FR" sz="1900" kern="1200" dirty="0">
            <a:latin typeface="Calibri" panose="020F0502020204030204" pitchFamily="34" charset="0"/>
            <a:cs typeface="Calibri" panose="020F0502020204030204" pitchFamily="34" charset="0"/>
          </a:endParaRPr>
        </a:p>
      </dsp:txBody>
      <dsp:txXfrm>
        <a:off x="84137" y="449966"/>
        <a:ext cx="3784166" cy="2364555"/>
      </dsp:txXfrm>
    </dsp:sp>
    <dsp:sp modelId="{2CF680E5-81D1-493A-B98D-F499BD9876E8}">
      <dsp:nvSpPr>
        <dsp:cNvPr id="0" name=""/>
        <dsp:cNvSpPr/>
      </dsp:nvSpPr>
      <dsp:spPr>
        <a:xfrm>
          <a:off x="4112372" y="2080405"/>
          <a:ext cx="3815953" cy="2289571"/>
        </a:xfrm>
        <a:prstGeom prst="rect">
          <a:avLst/>
        </a:prstGeom>
        <a:gradFill rotWithShape="0">
          <a:gsLst>
            <a:gs pos="0">
              <a:schemeClr val="accent1">
                <a:hueOff val="0"/>
                <a:satOff val="0"/>
                <a:lumOff val="0"/>
                <a:alphaOff val="0"/>
                <a:tint val="98000"/>
                <a:satMod val="110000"/>
                <a:lumMod val="104000"/>
              </a:schemeClr>
            </a:gs>
            <a:gs pos="69000">
              <a:schemeClr val="accent1">
                <a:hueOff val="0"/>
                <a:satOff val="0"/>
                <a:lumOff val="0"/>
                <a:alphaOff val="0"/>
                <a:shade val="88000"/>
                <a:satMod val="130000"/>
                <a:lumMod val="92000"/>
              </a:schemeClr>
            </a:gs>
            <a:gs pos="100000">
              <a:schemeClr val="accent1">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perspectiveContrastingRightFacing" fov="2400000">
            <a:rot lat="0" lon="21000000" rev="0"/>
          </a:camera>
          <a:lightRig rig="threePt" dir="t"/>
        </a:scene3d>
        <a:sp3d>
          <a:bevelT w="38100" h="12700" prst="softRound"/>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just" defTabSz="844550">
            <a:lnSpc>
              <a:spcPct val="90000"/>
            </a:lnSpc>
            <a:spcBef>
              <a:spcPct val="0"/>
            </a:spcBef>
            <a:spcAft>
              <a:spcPct val="35000"/>
            </a:spcAft>
            <a:buNone/>
          </a:pPr>
          <a:r>
            <a:rPr lang="fr-CI" sz="1900" kern="1200" dirty="0">
              <a:latin typeface="Calibri" panose="020F0502020204030204" pitchFamily="34" charset="0"/>
              <a:cs typeface="Calibri" panose="020F0502020204030204" pitchFamily="34" charset="0"/>
            </a:rPr>
            <a:t>Très souvent, lorsque nous parlons de la science en général, ou d’une science particulière, nous sommes en train de parler, parfois sans nous en rendre compte, de l’ensemble des constructions qui appartiennent à cette science</a:t>
          </a:r>
          <a:r>
            <a:rPr lang="fr-CI" sz="1900" kern="1200" dirty="0"/>
            <a:t>.</a:t>
          </a:r>
          <a:endParaRPr lang="fr-FR" sz="1900" kern="1200" dirty="0"/>
        </a:p>
      </dsp:txBody>
      <dsp:txXfrm>
        <a:off x="4112372" y="2080405"/>
        <a:ext cx="3815953" cy="2289571"/>
      </dsp:txXfrm>
    </dsp:sp>
    <dsp:sp modelId="{FDE69EAB-57AD-4698-9380-52C70549AAD1}">
      <dsp:nvSpPr>
        <dsp:cNvPr id="0" name=""/>
        <dsp:cNvSpPr/>
      </dsp:nvSpPr>
      <dsp:spPr>
        <a:xfrm>
          <a:off x="8206241" y="513605"/>
          <a:ext cx="3815953" cy="2289571"/>
        </a:xfrm>
        <a:prstGeom prst="rect">
          <a:avLst/>
        </a:prstGeom>
        <a:solidFill>
          <a:schemeClr val="bg1">
            <a:lumMod val="85000"/>
          </a:schemeClr>
        </a:solidFill>
        <a:ln>
          <a:noFill/>
        </a:ln>
        <a:effectLst>
          <a:outerShdw blurRad="50800" dist="50800" dir="5400000" sx="96000" sy="96000" rotWithShape="0">
            <a:srgbClr val="000000">
              <a:alpha val="48000"/>
            </a:srgbClr>
          </a:outerShdw>
        </a:effectLst>
        <a:scene3d>
          <a:camera prst="perspectiveContrastingRightFacing" fov="2400000">
            <a:rot lat="0" lon="21000000" rev="0"/>
          </a:camera>
          <a:lightRig rig="threePt" dir="t"/>
        </a:scene3d>
        <a:sp3d>
          <a:bevelT w="38100" h="12700" prst="softRound"/>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just" defTabSz="844550">
            <a:lnSpc>
              <a:spcPct val="90000"/>
            </a:lnSpc>
            <a:spcBef>
              <a:spcPct val="0"/>
            </a:spcBef>
            <a:spcAft>
              <a:spcPct val="35000"/>
            </a:spcAft>
            <a:buNone/>
          </a:pPr>
          <a:r>
            <a:rPr lang="fr-CI" sz="1900" kern="1200" dirty="0">
              <a:solidFill>
                <a:schemeClr val="tx1"/>
              </a:solidFill>
              <a:latin typeface="Calibri" panose="020F0502020204030204" pitchFamily="34" charset="0"/>
              <a:cs typeface="Calibri" panose="020F0502020204030204" pitchFamily="34" charset="0"/>
            </a:rPr>
            <a:t>Des équivoques se produisent souvent lorsque l’on perd de vue que les constructions scientifiques doivent être interprétées dans le contexte des objectifs et des méthodes qui leur donnent une signification.</a:t>
          </a:r>
          <a:endParaRPr lang="fr-FR" sz="1900" kern="1200" dirty="0">
            <a:solidFill>
              <a:schemeClr val="tx1"/>
            </a:solidFill>
            <a:latin typeface="Calibri" panose="020F0502020204030204" pitchFamily="34" charset="0"/>
            <a:cs typeface="Calibri" panose="020F0502020204030204" pitchFamily="34" charset="0"/>
          </a:endParaRPr>
        </a:p>
      </dsp:txBody>
      <dsp:txXfrm>
        <a:off x="8206241" y="513605"/>
        <a:ext cx="3815953" cy="2289571"/>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4B0E4E-0FE9-412B-B188-DC60597B46EC}">
      <dsp:nvSpPr>
        <dsp:cNvPr id="0" name=""/>
        <dsp:cNvSpPr/>
      </dsp:nvSpPr>
      <dsp:spPr>
        <a:xfrm>
          <a:off x="0" y="0"/>
          <a:ext cx="7267884" cy="870968"/>
        </a:xfrm>
        <a:prstGeom prst="roundRect">
          <a:avLst/>
        </a:prstGeom>
        <a:gradFill rotWithShape="0">
          <a:gsLst>
            <a:gs pos="0">
              <a:schemeClr val="accent1">
                <a:hueOff val="0"/>
                <a:satOff val="0"/>
                <a:lumOff val="0"/>
                <a:alphaOff val="0"/>
                <a:tint val="98000"/>
                <a:satMod val="110000"/>
                <a:lumMod val="104000"/>
              </a:schemeClr>
            </a:gs>
            <a:gs pos="69000">
              <a:schemeClr val="accent1">
                <a:hueOff val="0"/>
                <a:satOff val="0"/>
                <a:lumOff val="0"/>
                <a:alphaOff val="0"/>
                <a:shade val="88000"/>
                <a:satMod val="130000"/>
                <a:lumMod val="92000"/>
              </a:schemeClr>
            </a:gs>
            <a:gs pos="100000">
              <a:schemeClr val="accent1">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just" defTabSz="844550">
            <a:lnSpc>
              <a:spcPct val="90000"/>
            </a:lnSpc>
            <a:spcBef>
              <a:spcPct val="0"/>
            </a:spcBef>
            <a:spcAft>
              <a:spcPct val="35000"/>
            </a:spcAft>
            <a:buNone/>
          </a:pPr>
          <a:r>
            <a:rPr lang="fr-CI" sz="1900" kern="1200" dirty="0">
              <a:latin typeface="Calibri" panose="020F0502020204030204" pitchFamily="34" charset="0"/>
              <a:cs typeface="Calibri" panose="020F0502020204030204" pitchFamily="34" charset="0"/>
            </a:rPr>
            <a:t>Le premier consiste en affirmer que la théorie de la relativité a démontré qu’au fond, tout est de l’énergie « concentrée », parce que l’on a vérifié l’équivalence entre la matière et l’énergie. </a:t>
          </a:r>
          <a:endParaRPr lang="fr-FR" sz="1900" kern="1200" dirty="0">
            <a:latin typeface="Calibri" panose="020F0502020204030204" pitchFamily="34" charset="0"/>
            <a:cs typeface="Calibri" panose="020F0502020204030204" pitchFamily="34" charset="0"/>
          </a:endParaRPr>
        </a:p>
      </dsp:txBody>
      <dsp:txXfrm>
        <a:off x="42517" y="42517"/>
        <a:ext cx="7182850" cy="785934"/>
      </dsp:txXfrm>
    </dsp:sp>
    <dsp:sp modelId="{B4B1DD7A-2668-4E47-8A74-4F41579F59C6}">
      <dsp:nvSpPr>
        <dsp:cNvPr id="0" name=""/>
        <dsp:cNvSpPr/>
      </dsp:nvSpPr>
      <dsp:spPr>
        <a:xfrm>
          <a:off x="0" y="1009669"/>
          <a:ext cx="12096206" cy="1126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4055" tIns="24130" rIns="135128" bIns="24130" numCol="1" spcCol="1270" anchor="t" anchorCtr="0">
          <a:noAutofit/>
        </a:bodyPr>
        <a:lstStyle/>
        <a:p>
          <a:pPr marL="171450" lvl="1" indent="-171450" algn="just" defTabSz="844550">
            <a:lnSpc>
              <a:spcPct val="90000"/>
            </a:lnSpc>
            <a:spcBef>
              <a:spcPct val="0"/>
            </a:spcBef>
            <a:spcAft>
              <a:spcPct val="20000"/>
            </a:spcAft>
            <a:buChar char="•"/>
          </a:pPr>
          <a:r>
            <a:rPr lang="fr-CI" sz="1900" kern="1200" dirty="0">
              <a:latin typeface="Calibri" panose="020F0502020204030204" pitchFamily="34" charset="0"/>
              <a:cs typeface="Calibri" panose="020F0502020204030204" pitchFamily="34" charset="0"/>
            </a:rPr>
            <a:t>En réalité, ce que cette théorie dit c’est qu’il y a un rapport entre les grandeurs « masse » (concept qui n’est pas équivalent à celui de « matière ») et « énergie » (concept bien défini dans un contexte précis, et qui n’est pas non plus équivalent à l’idée intuitive correspondante), en prenant ces deux grandeurs telles qu’elles sont définies dans la physique mathématique.</a:t>
          </a:r>
          <a:endParaRPr lang="fr-FR" sz="1900" kern="1200" dirty="0">
            <a:latin typeface="Calibri" panose="020F0502020204030204" pitchFamily="34" charset="0"/>
            <a:cs typeface="Calibri" panose="020F0502020204030204" pitchFamily="34" charset="0"/>
          </a:endParaRPr>
        </a:p>
      </dsp:txBody>
      <dsp:txXfrm>
        <a:off x="0" y="1009669"/>
        <a:ext cx="12096206" cy="1126080"/>
      </dsp:txXfrm>
    </dsp:sp>
    <dsp:sp modelId="{35BF8387-4FD4-4A02-A157-78289C9D1E68}">
      <dsp:nvSpPr>
        <dsp:cNvPr id="0" name=""/>
        <dsp:cNvSpPr/>
      </dsp:nvSpPr>
      <dsp:spPr>
        <a:xfrm>
          <a:off x="0" y="2253225"/>
          <a:ext cx="7316753" cy="868811"/>
        </a:xfrm>
        <a:prstGeom prst="roundRect">
          <a:avLst/>
        </a:prstGeom>
        <a:gradFill rotWithShape="0">
          <a:gsLst>
            <a:gs pos="0">
              <a:schemeClr val="accent1">
                <a:hueOff val="0"/>
                <a:satOff val="0"/>
                <a:lumOff val="0"/>
                <a:alphaOff val="0"/>
                <a:tint val="98000"/>
                <a:satMod val="110000"/>
                <a:lumMod val="104000"/>
              </a:schemeClr>
            </a:gs>
            <a:gs pos="69000">
              <a:schemeClr val="accent1">
                <a:hueOff val="0"/>
                <a:satOff val="0"/>
                <a:lumOff val="0"/>
                <a:alphaOff val="0"/>
                <a:shade val="88000"/>
                <a:satMod val="130000"/>
                <a:lumMod val="92000"/>
              </a:schemeClr>
            </a:gs>
            <a:gs pos="100000">
              <a:schemeClr val="accent1">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just" defTabSz="844550">
            <a:lnSpc>
              <a:spcPct val="90000"/>
            </a:lnSpc>
            <a:spcBef>
              <a:spcPct val="0"/>
            </a:spcBef>
            <a:spcAft>
              <a:spcPct val="35000"/>
            </a:spcAft>
            <a:buNone/>
          </a:pPr>
          <a:r>
            <a:rPr lang="fr-CI" sz="1900" kern="1200" dirty="0">
              <a:latin typeface="Calibri" panose="020F0502020204030204" pitchFamily="34" charset="0"/>
              <a:cs typeface="Calibri" panose="020F0502020204030204" pitchFamily="34" charset="0"/>
            </a:rPr>
            <a:t>Le deuxième consiste en affirmer que la théorie de la relativité a montré que « tout est relatif » et dépend du point de vue adopté.</a:t>
          </a:r>
          <a:endParaRPr lang="fr-FR" sz="1900" kern="1200" dirty="0">
            <a:latin typeface="Calibri" panose="020F0502020204030204" pitchFamily="34" charset="0"/>
            <a:cs typeface="Calibri" panose="020F0502020204030204" pitchFamily="34" charset="0"/>
          </a:endParaRPr>
        </a:p>
      </dsp:txBody>
      <dsp:txXfrm>
        <a:off x="42412" y="2295637"/>
        <a:ext cx="7231929" cy="783987"/>
      </dsp:txXfrm>
    </dsp:sp>
    <dsp:sp modelId="{8008851B-C301-42A8-A3DB-F199CEC0FC29}">
      <dsp:nvSpPr>
        <dsp:cNvPr id="0" name=""/>
        <dsp:cNvSpPr/>
      </dsp:nvSpPr>
      <dsp:spPr>
        <a:xfrm>
          <a:off x="0" y="3331624"/>
          <a:ext cx="12096206" cy="1059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4055" tIns="24130" rIns="135128" bIns="24130" numCol="1" spcCol="1270" anchor="t" anchorCtr="0">
          <a:noAutofit/>
        </a:bodyPr>
        <a:lstStyle/>
        <a:p>
          <a:pPr marL="171450" lvl="1" indent="-171450" algn="just" defTabSz="844550">
            <a:lnSpc>
              <a:spcPct val="90000"/>
            </a:lnSpc>
            <a:spcBef>
              <a:spcPct val="0"/>
            </a:spcBef>
            <a:spcAft>
              <a:spcPct val="20000"/>
            </a:spcAft>
            <a:buChar char="•"/>
          </a:pPr>
          <a:r>
            <a:rPr lang="fr-CI" sz="1900" kern="1200" dirty="0">
              <a:latin typeface="Calibri" panose="020F0502020204030204" pitchFamily="34" charset="0"/>
              <a:cs typeface="Calibri" panose="020F0502020204030204" pitchFamily="34" charset="0"/>
            </a:rPr>
            <a:t>Ce n’est pas non plus vrai. La relativité dont il est ici question concerne des systèmes de coordonnées et la théorie permet, justement, de passer d’un système à un autre en gardant la validité des lois physiques et même certaines grandeurs.</a:t>
          </a:r>
          <a:endParaRPr lang="fr-FR" sz="1900" kern="1200" dirty="0">
            <a:latin typeface="Calibri" panose="020F0502020204030204" pitchFamily="34" charset="0"/>
            <a:cs typeface="Calibri" panose="020F0502020204030204" pitchFamily="34" charset="0"/>
          </a:endParaRPr>
        </a:p>
      </dsp:txBody>
      <dsp:txXfrm>
        <a:off x="0" y="3331624"/>
        <a:ext cx="12096206" cy="105984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07C940-AC6B-4796-BE15-32F876685B8B}">
      <dsp:nvSpPr>
        <dsp:cNvPr id="0" name=""/>
        <dsp:cNvSpPr/>
      </dsp:nvSpPr>
      <dsp:spPr>
        <a:xfrm>
          <a:off x="3326641" y="65357"/>
          <a:ext cx="5158520" cy="740739"/>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fr-CI" sz="1900" b="1" kern="1200" dirty="0">
              <a:solidFill>
                <a:schemeClr val="bg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Les objectifs </a:t>
          </a:r>
          <a:endParaRPr lang="fr-FR" sz="1900" b="1" kern="1200" dirty="0">
            <a:solidFill>
              <a:schemeClr val="bg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dsp:txBody>
      <dsp:txXfrm>
        <a:off x="3362801" y="101517"/>
        <a:ext cx="5086200" cy="668419"/>
      </dsp:txXfrm>
    </dsp:sp>
    <dsp:sp modelId="{73F40891-3FE9-46AE-8536-233E359B77B4}">
      <dsp:nvSpPr>
        <dsp:cNvPr id="0" name=""/>
        <dsp:cNvSpPr/>
      </dsp:nvSpPr>
      <dsp:spPr>
        <a:xfrm>
          <a:off x="401239" y="1122906"/>
          <a:ext cx="11072021" cy="2051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7015" tIns="24130" rIns="135128" bIns="24130" numCol="1" spcCol="1270" anchor="t" anchorCtr="0">
          <a:noAutofit/>
        </a:bodyPr>
        <a:lstStyle/>
        <a:p>
          <a:pPr marL="171450" lvl="1" indent="-171450" algn="just" defTabSz="844550">
            <a:lnSpc>
              <a:spcPct val="90000"/>
            </a:lnSpc>
            <a:spcBef>
              <a:spcPct val="0"/>
            </a:spcBef>
            <a:spcAft>
              <a:spcPct val="20000"/>
            </a:spcAft>
            <a:buChar char="•"/>
          </a:pPr>
          <a:r>
            <a:rPr lang="fr-CI" sz="1900" kern="1200" dirty="0">
              <a:latin typeface="Calibri" panose="020F0502020204030204" pitchFamily="34" charset="0"/>
              <a:cs typeface="Calibri" panose="020F0502020204030204" pitchFamily="34" charset="0"/>
            </a:rPr>
            <a:t>Nous avons caractérisé les sciences en fonction de leurs objectifs, ce qui suppose les considérer comme une activité humaine qui vise ces objectifs, et le reste (les méthodes et les constructions) en fonction d’eux. Il est intéressant de rappeler ici la caractérisation classique que la scolastique faisait des sciences en fonction de leurs objets, matériel, formel quod et formel quo. </a:t>
          </a:r>
          <a:endParaRPr lang="fr-FR" sz="1900" kern="1200" dirty="0">
            <a:latin typeface="Calibri" panose="020F0502020204030204" pitchFamily="34" charset="0"/>
            <a:cs typeface="Calibri" panose="020F0502020204030204" pitchFamily="34" charset="0"/>
          </a:endParaRPr>
        </a:p>
        <a:p>
          <a:pPr marL="171450" lvl="1" indent="-171450" algn="just" defTabSz="844550">
            <a:lnSpc>
              <a:spcPct val="90000"/>
            </a:lnSpc>
            <a:spcBef>
              <a:spcPct val="0"/>
            </a:spcBef>
            <a:spcAft>
              <a:spcPct val="20000"/>
            </a:spcAft>
            <a:buChar char="•"/>
          </a:pPr>
          <a:endParaRPr lang="fr-FR" sz="1900" kern="1200" dirty="0">
            <a:latin typeface="Calibri" panose="020F0502020204030204" pitchFamily="34" charset="0"/>
            <a:cs typeface="Calibri" panose="020F0502020204030204" pitchFamily="34" charset="0"/>
          </a:endParaRPr>
        </a:p>
        <a:p>
          <a:pPr marL="171450" lvl="1" indent="-171450" algn="just" defTabSz="844550">
            <a:lnSpc>
              <a:spcPct val="90000"/>
            </a:lnSpc>
            <a:spcBef>
              <a:spcPct val="0"/>
            </a:spcBef>
            <a:spcAft>
              <a:spcPct val="20000"/>
            </a:spcAft>
            <a:buChar char="•"/>
          </a:pPr>
          <a:r>
            <a:rPr lang="fr-CI" sz="1900" kern="1200" dirty="0">
              <a:latin typeface="Calibri" panose="020F0502020204030204" pitchFamily="34" charset="0"/>
              <a:cs typeface="Calibri" panose="020F0502020204030204" pitchFamily="34" charset="0"/>
            </a:rPr>
            <a:t>La caractérisation scolastique et celle que nous sommes en train de développer, fondée sur les objectifs et donc aussi sur les méthodes sont en fait complémentaires</a:t>
          </a:r>
          <a:r>
            <a:rPr lang="fr-CI" sz="1900" kern="1200" dirty="0"/>
            <a:t>.</a:t>
          </a:r>
          <a:endParaRPr lang="fr-FR" sz="1900" kern="1200" dirty="0">
            <a:latin typeface="Calibri" panose="020F0502020204030204" pitchFamily="34" charset="0"/>
            <a:cs typeface="Calibri" panose="020F0502020204030204" pitchFamily="34" charset="0"/>
          </a:endParaRPr>
        </a:p>
      </dsp:txBody>
      <dsp:txXfrm>
        <a:off x="401239" y="1122906"/>
        <a:ext cx="11072021" cy="2051887"/>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3008AA-EB48-461E-ABD0-36597E98AA63}">
      <dsp:nvSpPr>
        <dsp:cNvPr id="0" name=""/>
        <dsp:cNvSpPr/>
      </dsp:nvSpPr>
      <dsp:spPr>
        <a:xfrm>
          <a:off x="3182840" y="140272"/>
          <a:ext cx="5430446" cy="719676"/>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fr-FR" sz="1900" b="1" kern="1200" dirty="0">
              <a:solidFill>
                <a:schemeClr val="bg1"/>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Les objets</a:t>
          </a:r>
        </a:p>
      </dsp:txBody>
      <dsp:txXfrm>
        <a:off x="3217972" y="175404"/>
        <a:ext cx="5360182" cy="649412"/>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1ED14C-28A9-41D5-9F41-7CFCA6DB0D4C}">
      <dsp:nvSpPr>
        <dsp:cNvPr id="0" name=""/>
        <dsp:cNvSpPr/>
      </dsp:nvSpPr>
      <dsp:spPr>
        <a:xfrm>
          <a:off x="0" y="374118"/>
          <a:ext cx="9262188" cy="529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E451ABD-0CE1-4E21-B3FA-A888E78C9F6C}">
      <dsp:nvSpPr>
        <dsp:cNvPr id="0" name=""/>
        <dsp:cNvSpPr/>
      </dsp:nvSpPr>
      <dsp:spPr>
        <a:xfrm>
          <a:off x="463109" y="64158"/>
          <a:ext cx="7848963" cy="619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5062" tIns="0" rIns="245062" bIns="0" numCol="1" spcCol="1270" anchor="ctr" anchorCtr="0">
          <a:noAutofit/>
        </a:bodyPr>
        <a:lstStyle/>
        <a:p>
          <a:pPr marL="0" lvl="0" indent="0" algn="l" defTabSz="844550">
            <a:lnSpc>
              <a:spcPct val="90000"/>
            </a:lnSpc>
            <a:spcBef>
              <a:spcPct val="0"/>
            </a:spcBef>
            <a:spcAft>
              <a:spcPct val="35000"/>
            </a:spcAft>
            <a:buNone/>
          </a:pPr>
          <a:r>
            <a:rPr lang="fr-CI" sz="1900" b="1" kern="1200" dirty="0"/>
            <a:t>1. La métaphysique et les sciences particulières chez Aristote</a:t>
          </a:r>
          <a:endParaRPr lang="fr-FR" sz="1900" kern="1200" dirty="0"/>
        </a:p>
      </dsp:txBody>
      <dsp:txXfrm>
        <a:off x="493371" y="94420"/>
        <a:ext cx="7788439" cy="559396"/>
      </dsp:txXfrm>
    </dsp:sp>
    <dsp:sp modelId="{2463DCF4-86AE-4D92-9144-98000F70D049}">
      <dsp:nvSpPr>
        <dsp:cNvPr id="0" name=""/>
        <dsp:cNvSpPr/>
      </dsp:nvSpPr>
      <dsp:spPr>
        <a:xfrm>
          <a:off x="0" y="1326678"/>
          <a:ext cx="9262188" cy="529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D0C5DCA-9997-42A1-99AB-7BA725618326}">
      <dsp:nvSpPr>
        <dsp:cNvPr id="0" name=""/>
        <dsp:cNvSpPr/>
      </dsp:nvSpPr>
      <dsp:spPr>
        <a:xfrm>
          <a:off x="463109" y="1016718"/>
          <a:ext cx="7830225" cy="619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5062" tIns="0" rIns="245062" bIns="0" numCol="1" spcCol="1270" anchor="ctr" anchorCtr="0">
          <a:noAutofit/>
        </a:bodyPr>
        <a:lstStyle/>
        <a:p>
          <a:pPr marL="0" lvl="0" indent="0" algn="l" defTabSz="844550">
            <a:lnSpc>
              <a:spcPct val="90000"/>
            </a:lnSpc>
            <a:spcBef>
              <a:spcPct val="0"/>
            </a:spcBef>
            <a:spcAft>
              <a:spcPct val="35000"/>
            </a:spcAft>
            <a:buNone/>
          </a:pPr>
          <a:r>
            <a:rPr lang="fr-CI" sz="1900" kern="1200" dirty="0"/>
            <a:t>2. </a:t>
          </a:r>
          <a:r>
            <a:rPr lang="fr-CI" sz="1900" b="1" kern="1200" dirty="0"/>
            <a:t>La science selon le rationalisme et l’empirisme</a:t>
          </a:r>
          <a:r>
            <a:rPr lang="fr-CI" sz="1900" kern="1200" dirty="0"/>
            <a:t> </a:t>
          </a:r>
          <a:endParaRPr lang="fr-FR" sz="1900" kern="1200" dirty="0"/>
        </a:p>
      </dsp:txBody>
      <dsp:txXfrm>
        <a:off x="493371" y="1046980"/>
        <a:ext cx="7769701" cy="559396"/>
      </dsp:txXfrm>
    </dsp:sp>
    <dsp:sp modelId="{DB34CDC7-8507-47D1-8ED9-80E4B907A06E}">
      <dsp:nvSpPr>
        <dsp:cNvPr id="0" name=""/>
        <dsp:cNvSpPr/>
      </dsp:nvSpPr>
      <dsp:spPr>
        <a:xfrm>
          <a:off x="0" y="2279238"/>
          <a:ext cx="9262188" cy="529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66417AB-0477-4BF3-8070-E44C66C79577}">
      <dsp:nvSpPr>
        <dsp:cNvPr id="0" name=""/>
        <dsp:cNvSpPr/>
      </dsp:nvSpPr>
      <dsp:spPr>
        <a:xfrm>
          <a:off x="463109" y="1969278"/>
          <a:ext cx="7830225" cy="619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5062" tIns="0" rIns="245062" bIns="0" numCol="1" spcCol="1270" anchor="ctr" anchorCtr="0">
          <a:noAutofit/>
        </a:bodyPr>
        <a:lstStyle/>
        <a:p>
          <a:pPr marL="0" lvl="0" indent="0" algn="l" defTabSz="844550">
            <a:lnSpc>
              <a:spcPct val="90000"/>
            </a:lnSpc>
            <a:spcBef>
              <a:spcPct val="0"/>
            </a:spcBef>
            <a:spcAft>
              <a:spcPct val="35000"/>
            </a:spcAft>
            <a:buNone/>
          </a:pPr>
          <a:r>
            <a:rPr lang="fr-CI" sz="1900" b="1" kern="1200" dirty="0"/>
            <a:t>3. L’épistémologie positiviste </a:t>
          </a:r>
          <a:endParaRPr lang="fr-FR" sz="1900" kern="1200" dirty="0"/>
        </a:p>
      </dsp:txBody>
      <dsp:txXfrm>
        <a:off x="493371" y="1999540"/>
        <a:ext cx="7769701" cy="559396"/>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5D41F7-E3A1-4CA5-BD2C-6D07099CE9E3}">
      <dsp:nvSpPr>
        <dsp:cNvPr id="0" name=""/>
        <dsp:cNvSpPr/>
      </dsp:nvSpPr>
      <dsp:spPr>
        <a:xfrm rot="5400000">
          <a:off x="6037413" y="-2912694"/>
          <a:ext cx="1965293" cy="8534723"/>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44550">
            <a:lnSpc>
              <a:spcPct val="90000"/>
            </a:lnSpc>
            <a:spcBef>
              <a:spcPct val="0"/>
            </a:spcBef>
            <a:spcAft>
              <a:spcPct val="15000"/>
            </a:spcAft>
            <a:buChar char="•"/>
          </a:pPr>
          <a:r>
            <a:rPr lang="fr-CI" sz="1900" kern="1200" dirty="0">
              <a:latin typeface="Calibri" panose="020F0502020204030204" pitchFamily="34" charset="0"/>
              <a:cs typeface="Calibri" panose="020F0502020204030204" pitchFamily="34" charset="0"/>
            </a:rPr>
            <a:t>physicien et historien de la science, titulaire de la chaire de Philosophie des Sciences Inductives (remarquez le nom) créée pour lui en 1895 à l’université de Vienne, exerça une grande influence sur les milieux universitaires qui créèrent plus tard le Cercle de Vienne. Des œuvres importantes de Mach, concernant notre sujet, sont : La mécanique. Exposé historique et critique de son développement (1883) ; Analyse des sensations (1886) ; La connaissance et l'erreur (1905).</a:t>
          </a:r>
          <a:endParaRPr lang="fr-FR" sz="1900" kern="1200" dirty="0">
            <a:latin typeface="Calibri" panose="020F0502020204030204" pitchFamily="34" charset="0"/>
            <a:cs typeface="Calibri" panose="020F0502020204030204" pitchFamily="34" charset="0"/>
          </a:endParaRPr>
        </a:p>
      </dsp:txBody>
      <dsp:txXfrm rot="-5400000">
        <a:off x="2752698" y="467959"/>
        <a:ext cx="8438785" cy="1773417"/>
      </dsp:txXfrm>
    </dsp:sp>
    <dsp:sp modelId="{26D6943B-B66D-4B2D-AA18-DF8538114F1B}">
      <dsp:nvSpPr>
        <dsp:cNvPr id="0" name=""/>
        <dsp:cNvSpPr/>
      </dsp:nvSpPr>
      <dsp:spPr>
        <a:xfrm>
          <a:off x="53523" y="256590"/>
          <a:ext cx="2775733" cy="219615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r>
            <a:rPr lang="fr-CI" sz="1900" b="1" kern="1200"/>
            <a:t>Ernst Mach (1838-1916)</a:t>
          </a:r>
          <a:r>
            <a:rPr lang="fr-CI" sz="1900" kern="1200"/>
            <a:t>, </a:t>
          </a:r>
          <a:endParaRPr lang="fr-FR" sz="1900" kern="1200"/>
        </a:p>
      </dsp:txBody>
      <dsp:txXfrm>
        <a:off x="160730" y="363797"/>
        <a:ext cx="2561319" cy="1981738"/>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5D41F7-E3A1-4CA5-BD2C-6D07099CE9E3}">
      <dsp:nvSpPr>
        <dsp:cNvPr id="0" name=""/>
        <dsp:cNvSpPr/>
      </dsp:nvSpPr>
      <dsp:spPr>
        <a:xfrm rot="5400000">
          <a:off x="5972397" y="-3253736"/>
          <a:ext cx="2021321" cy="8534723"/>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fr-CI" sz="1800" kern="1200" dirty="0">
              <a:latin typeface="Calibri" panose="020F0502020204030204" pitchFamily="34" charset="0"/>
              <a:cs typeface="Calibri" panose="020F0502020204030204" pitchFamily="34" charset="0"/>
            </a:rPr>
            <a:t>Mach soutient une attitude </a:t>
          </a:r>
          <a:r>
            <a:rPr lang="fr-CI" sz="1800" b="1" kern="1200" dirty="0">
              <a:latin typeface="Calibri" panose="020F0502020204030204" pitchFamily="34" charset="0"/>
              <a:cs typeface="Calibri" panose="020F0502020204030204" pitchFamily="34" charset="0"/>
            </a:rPr>
            <a:t>phénoméniste</a:t>
          </a:r>
          <a:r>
            <a:rPr lang="fr-CI" sz="1800" kern="1200" dirty="0">
              <a:latin typeface="Calibri" panose="020F0502020204030204" pitchFamily="34" charset="0"/>
              <a:cs typeface="Calibri" panose="020F0502020204030204" pitchFamily="34" charset="0"/>
            </a:rPr>
            <a:t> : la science ne s’occupe que des phénomènes, des apparences telles qu’elles se présentent à l’expérience ; toute prétention d’atteindre une réalité « au-delà » des apparences serait une prétention « métaphysique », vaine et vouée à l’échec. Pour cette raison, Mach s’est toujours opposé à la théorie atomique car pour lui les atomes étaient des objets métaphysiques hors d’atteinte pour l’expérimentation, qui pour cette raison devaient être laissés en dehors de toute considération scientifique.</a:t>
          </a:r>
          <a:endParaRPr lang="fr-FR" sz="1800" kern="1200" dirty="0">
            <a:latin typeface="Calibri" panose="020F0502020204030204" pitchFamily="34" charset="0"/>
            <a:cs typeface="Calibri" panose="020F0502020204030204" pitchFamily="34" charset="0"/>
          </a:endParaRPr>
        </a:p>
      </dsp:txBody>
      <dsp:txXfrm rot="-5400000">
        <a:off x="2715697" y="101637"/>
        <a:ext cx="8436050" cy="1823975"/>
      </dsp:txXfrm>
    </dsp:sp>
    <dsp:sp modelId="{26D6943B-B66D-4B2D-AA18-DF8538114F1B}">
      <dsp:nvSpPr>
        <dsp:cNvPr id="0" name=""/>
        <dsp:cNvSpPr/>
      </dsp:nvSpPr>
      <dsp:spPr>
        <a:xfrm>
          <a:off x="16521" y="43062"/>
          <a:ext cx="2775733" cy="194112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r>
            <a:rPr lang="fr-CI" sz="1900" b="1" kern="1200" dirty="0"/>
            <a:t>Phénoméniste</a:t>
          </a:r>
          <a:r>
            <a:rPr lang="fr-CI" sz="1900" kern="1200" dirty="0"/>
            <a:t> </a:t>
          </a:r>
          <a:endParaRPr lang="fr-FR" sz="1900" kern="1200" dirty="0"/>
        </a:p>
      </dsp:txBody>
      <dsp:txXfrm>
        <a:off x="111279" y="137820"/>
        <a:ext cx="2586217" cy="1751608"/>
      </dsp:txXfrm>
    </dsp:sp>
    <dsp:sp modelId="{39C2284A-7419-499B-8921-2037CE3B7B16}">
      <dsp:nvSpPr>
        <dsp:cNvPr id="0" name=""/>
        <dsp:cNvSpPr/>
      </dsp:nvSpPr>
      <dsp:spPr>
        <a:xfrm rot="5400000">
          <a:off x="5899087" y="-1081286"/>
          <a:ext cx="2148034" cy="8627683"/>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44550">
            <a:lnSpc>
              <a:spcPct val="90000"/>
            </a:lnSpc>
            <a:spcBef>
              <a:spcPct val="0"/>
            </a:spcBef>
            <a:spcAft>
              <a:spcPct val="15000"/>
            </a:spcAft>
            <a:buFont typeface="Symbol" panose="05050102010706020507" pitchFamily="18" charset="2"/>
            <a:buChar char=""/>
          </a:pPr>
          <a:r>
            <a:rPr lang="fr-CI" sz="1900" kern="1200" dirty="0">
              <a:latin typeface="Calibri" panose="020F0502020204030204" pitchFamily="34" charset="0"/>
              <a:cs typeface="Calibri" panose="020F0502020204030204" pitchFamily="34" charset="0"/>
            </a:rPr>
            <a:t>La position de Mach est aussi </a:t>
          </a:r>
          <a:r>
            <a:rPr lang="fr-CI" sz="1900" b="1" kern="1200" dirty="0">
              <a:latin typeface="Calibri" panose="020F0502020204030204" pitchFamily="34" charset="0"/>
              <a:cs typeface="Calibri" panose="020F0502020204030204" pitchFamily="34" charset="0"/>
            </a:rPr>
            <a:t>instrumentaliste</a:t>
          </a:r>
          <a:r>
            <a:rPr lang="fr-CI" sz="1900" kern="1200" dirty="0">
              <a:latin typeface="Calibri" panose="020F0502020204030204" pitchFamily="34" charset="0"/>
              <a:cs typeface="Calibri" panose="020F0502020204030204" pitchFamily="34" charset="0"/>
            </a:rPr>
            <a:t> : la science a comme finalité l’économie de la pensée : pouvoir énoncer des lois et des théories qui permettent d’épargner de nombreuses expériences, mais dont il est impossible de dire si elles sont vraies ou fausses. La science ne serait qu’un instrument utile pour que l’homme puisse s’adapter à son milieu. La science de Mach ne prétend qu’être utile, sans chercher à être vraie.</a:t>
          </a:r>
          <a:endParaRPr lang="fr-FR" sz="1900" kern="1200" dirty="0">
            <a:latin typeface="Calibri" panose="020F0502020204030204" pitchFamily="34" charset="0"/>
            <a:cs typeface="Calibri" panose="020F0502020204030204" pitchFamily="34" charset="0"/>
          </a:endParaRPr>
        </a:p>
      </dsp:txBody>
      <dsp:txXfrm rot="-5400000">
        <a:off x="2659263" y="2263396"/>
        <a:ext cx="8522825" cy="1938318"/>
      </dsp:txXfrm>
    </dsp:sp>
    <dsp:sp modelId="{AD70A291-9824-4DC3-BC14-BC325D6ACD38}">
      <dsp:nvSpPr>
        <dsp:cNvPr id="0" name=""/>
        <dsp:cNvSpPr/>
      </dsp:nvSpPr>
      <dsp:spPr>
        <a:xfrm>
          <a:off x="5145" y="2160095"/>
          <a:ext cx="2756776" cy="214610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r>
            <a:rPr lang="fr-FR" sz="1900" b="1" kern="1200" dirty="0">
              <a:solidFill>
                <a:prstClr val="white"/>
              </a:solidFill>
              <a:latin typeface="Century Gothic" panose="020B0502020202020204"/>
              <a:ea typeface="+mn-ea"/>
              <a:cs typeface="+mn-cs"/>
            </a:rPr>
            <a:t>Instrumentaliste</a:t>
          </a:r>
          <a:endParaRPr lang="fr-FR" sz="1900" kern="1200" dirty="0">
            <a:latin typeface="Calibri" panose="020F0502020204030204" pitchFamily="34" charset="0"/>
            <a:cs typeface="Calibri" panose="020F0502020204030204" pitchFamily="34" charset="0"/>
          </a:endParaRPr>
        </a:p>
      </dsp:txBody>
      <dsp:txXfrm>
        <a:off x="109909" y="2264859"/>
        <a:ext cx="2547248" cy="1936573"/>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B0DC2F-0609-49C7-8236-633D54D141F6}">
      <dsp:nvSpPr>
        <dsp:cNvPr id="0" name=""/>
        <dsp:cNvSpPr/>
      </dsp:nvSpPr>
      <dsp:spPr>
        <a:xfrm>
          <a:off x="0" y="225414"/>
          <a:ext cx="10932369" cy="55927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CI" sz="1900" kern="1200" dirty="0"/>
            <a:t>Quelle est la valeur de la connaissance scientifique ? </a:t>
          </a:r>
          <a:endParaRPr lang="fr-FR" sz="1900" kern="1200" dirty="0"/>
        </a:p>
      </dsp:txBody>
      <dsp:txXfrm>
        <a:off x="27302" y="252716"/>
        <a:ext cx="10877765" cy="504673"/>
      </dsp:txXfrm>
    </dsp:sp>
    <dsp:sp modelId="{420FD1BC-756D-434F-92C0-4CEAC010B0CC}">
      <dsp:nvSpPr>
        <dsp:cNvPr id="0" name=""/>
        <dsp:cNvSpPr/>
      </dsp:nvSpPr>
      <dsp:spPr>
        <a:xfrm>
          <a:off x="0" y="784692"/>
          <a:ext cx="10932369"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7103" tIns="24130" rIns="135128" bIns="24130" numCol="1" spcCol="1270" anchor="t" anchorCtr="0">
          <a:noAutofit/>
        </a:bodyPr>
        <a:lstStyle/>
        <a:p>
          <a:pPr marL="171450" lvl="1" indent="-171450" algn="l" defTabSz="844550">
            <a:lnSpc>
              <a:spcPct val="90000"/>
            </a:lnSpc>
            <a:spcBef>
              <a:spcPct val="0"/>
            </a:spcBef>
            <a:spcAft>
              <a:spcPct val="20000"/>
            </a:spcAft>
            <a:buChar char="•"/>
          </a:pPr>
          <a:endParaRPr lang="fr-FR" sz="1900" kern="1200" dirty="0">
            <a:latin typeface="Calibri" panose="020F0502020204030204" pitchFamily="34" charset="0"/>
            <a:cs typeface="Calibri" panose="020F0502020204030204" pitchFamily="34" charset="0"/>
          </a:endParaRPr>
        </a:p>
        <a:p>
          <a:pPr marL="171450" lvl="1" indent="-171450" algn="l" defTabSz="844550">
            <a:lnSpc>
              <a:spcPct val="90000"/>
            </a:lnSpc>
            <a:spcBef>
              <a:spcPct val="0"/>
            </a:spcBef>
            <a:spcAft>
              <a:spcPct val="20000"/>
            </a:spcAft>
            <a:buChar char="•"/>
          </a:pPr>
          <a:r>
            <a:rPr lang="fr-CI" sz="1900" kern="1200" dirty="0">
              <a:latin typeface="Calibri" panose="020F0502020204030204" pitchFamily="34" charset="0"/>
              <a:cs typeface="Calibri" panose="020F0502020204030204" pitchFamily="34" charset="0"/>
            </a:rPr>
            <a:t>On veut donner un concept de réalisme et se pas cantonner dans le conventionnalisme et instrumentalisme) </a:t>
          </a:r>
          <a:endParaRPr lang="fr-FR" sz="1900" kern="1200" dirty="0">
            <a:latin typeface="Calibri" panose="020F0502020204030204" pitchFamily="34" charset="0"/>
            <a:cs typeface="Calibri" panose="020F0502020204030204" pitchFamily="34" charset="0"/>
          </a:endParaRPr>
        </a:p>
      </dsp:txBody>
      <dsp:txXfrm>
        <a:off x="0" y="784692"/>
        <a:ext cx="10932369" cy="1076400"/>
      </dsp:txXfrm>
    </dsp:sp>
    <dsp:sp modelId="{B616CE23-363C-4A9C-AE09-8B835649FDF7}">
      <dsp:nvSpPr>
        <dsp:cNvPr id="0" name=""/>
        <dsp:cNvSpPr/>
      </dsp:nvSpPr>
      <dsp:spPr>
        <a:xfrm>
          <a:off x="0" y="1861092"/>
          <a:ext cx="10932369" cy="57255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CI" sz="1900" kern="1200" dirty="0"/>
            <a:t>Quelles sont les répercussions sociales de la science ?</a:t>
          </a:r>
          <a:endParaRPr lang="fr-FR" sz="1900" kern="1200" dirty="0"/>
        </a:p>
      </dsp:txBody>
      <dsp:txXfrm>
        <a:off x="27950" y="1889042"/>
        <a:ext cx="10876469" cy="516653"/>
      </dsp:txXfrm>
    </dsp:sp>
    <dsp:sp modelId="{C5EAD3AA-505D-4ABE-9106-16075D412E71}">
      <dsp:nvSpPr>
        <dsp:cNvPr id="0" name=""/>
        <dsp:cNvSpPr/>
      </dsp:nvSpPr>
      <dsp:spPr>
        <a:xfrm>
          <a:off x="0" y="2433645"/>
          <a:ext cx="10932369" cy="1446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7103" tIns="24130" rIns="135128" bIns="24130" numCol="1" spcCol="1270" anchor="t" anchorCtr="0">
          <a:noAutofit/>
        </a:bodyPr>
        <a:lstStyle/>
        <a:p>
          <a:pPr marL="171450" lvl="1" indent="-171450" algn="l" defTabSz="844550">
            <a:lnSpc>
              <a:spcPct val="90000"/>
            </a:lnSpc>
            <a:spcBef>
              <a:spcPct val="0"/>
            </a:spcBef>
            <a:spcAft>
              <a:spcPct val="20000"/>
            </a:spcAft>
            <a:buChar char="•"/>
          </a:pPr>
          <a:endParaRPr lang="fr-FR" sz="1900" kern="1200" dirty="0">
            <a:latin typeface="Calibri" panose="020F0502020204030204" pitchFamily="34" charset="0"/>
            <a:cs typeface="Calibri" panose="020F0502020204030204" pitchFamily="34" charset="0"/>
          </a:endParaRPr>
        </a:p>
        <a:p>
          <a:pPr marL="171450" lvl="1" indent="-171450" algn="l" defTabSz="844550">
            <a:lnSpc>
              <a:spcPct val="90000"/>
            </a:lnSpc>
            <a:spcBef>
              <a:spcPct val="0"/>
            </a:spcBef>
            <a:spcAft>
              <a:spcPct val="20000"/>
            </a:spcAft>
            <a:buChar char="•"/>
          </a:pPr>
          <a:r>
            <a:rPr lang="fr-CI" sz="1900" kern="1200" dirty="0">
              <a:latin typeface="Calibri" panose="020F0502020204030204" pitchFamily="34" charset="0"/>
              <a:cs typeface="Calibri" panose="020F0502020204030204" pitchFamily="34" charset="0"/>
            </a:rPr>
            <a:t>Plusieurs auteurs ont tenté, dans un grand débats scientifiques international, de répondre à ces questions. Il faut comprendre que ces questionnements sont provoqués par les incertitudes mêmes que le progrès scientifique a provoquées. Ce sont : </a:t>
          </a:r>
          <a:r>
            <a:rPr lang="fr-CI" sz="1900" b="1" kern="1200" dirty="0">
              <a:latin typeface="Calibri" panose="020F0502020204030204" pitchFamily="34" charset="0"/>
              <a:cs typeface="Calibri" panose="020F0502020204030204" pitchFamily="34" charset="0"/>
            </a:rPr>
            <a:t>Karl Popper, Thomas Kuhn, Imre </a:t>
          </a:r>
          <a:r>
            <a:rPr lang="fr-CI" sz="1900" b="1" kern="1200" dirty="0" err="1">
              <a:latin typeface="Calibri" panose="020F0502020204030204" pitchFamily="34" charset="0"/>
              <a:cs typeface="Calibri" panose="020F0502020204030204" pitchFamily="34" charset="0"/>
            </a:rPr>
            <a:t>Lakatos</a:t>
          </a:r>
          <a:r>
            <a:rPr lang="fr-CI" sz="1900" b="1" kern="1200" dirty="0">
              <a:latin typeface="Calibri" panose="020F0502020204030204" pitchFamily="34" charset="0"/>
              <a:cs typeface="Calibri" panose="020F0502020204030204" pitchFamily="34" charset="0"/>
            </a:rPr>
            <a:t> et Paul Feyerabend.</a:t>
          </a:r>
          <a:endParaRPr lang="fr-FR" sz="1900" b="1" kern="1200" dirty="0">
            <a:latin typeface="Calibri" panose="020F0502020204030204" pitchFamily="34" charset="0"/>
            <a:cs typeface="Calibri" panose="020F0502020204030204" pitchFamily="34" charset="0"/>
          </a:endParaRPr>
        </a:p>
      </dsp:txBody>
      <dsp:txXfrm>
        <a:off x="0" y="2433645"/>
        <a:ext cx="10932369" cy="1446412"/>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FF7C33-EE94-4012-BD45-F39920F4CB6F}">
      <dsp:nvSpPr>
        <dsp:cNvPr id="0" name=""/>
        <dsp:cNvSpPr/>
      </dsp:nvSpPr>
      <dsp:spPr>
        <a:xfrm>
          <a:off x="0" y="2309"/>
          <a:ext cx="1148598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F5D6CDB-5CEE-4492-8519-D4C3254F2237}">
      <dsp:nvSpPr>
        <dsp:cNvPr id="0" name=""/>
        <dsp:cNvSpPr/>
      </dsp:nvSpPr>
      <dsp:spPr>
        <a:xfrm>
          <a:off x="0" y="2309"/>
          <a:ext cx="2297196" cy="47247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fr-CI" sz="2700" b="1" kern="1200" dirty="0"/>
            <a:t>Karl R. Popper et son rationalisme</a:t>
          </a:r>
          <a:endParaRPr lang="fr-FR" sz="2700" kern="1200" dirty="0"/>
        </a:p>
      </dsp:txBody>
      <dsp:txXfrm>
        <a:off x="0" y="2309"/>
        <a:ext cx="2297196" cy="4724770"/>
      </dsp:txXfrm>
    </dsp:sp>
    <dsp:sp modelId="{43B1B0C8-57E0-4946-AE37-4BE7236A38CE}">
      <dsp:nvSpPr>
        <dsp:cNvPr id="0" name=""/>
        <dsp:cNvSpPr/>
      </dsp:nvSpPr>
      <dsp:spPr>
        <a:xfrm>
          <a:off x="2469486" y="39770"/>
          <a:ext cx="9016497" cy="42910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just" defTabSz="822325">
            <a:lnSpc>
              <a:spcPct val="90000"/>
            </a:lnSpc>
            <a:spcBef>
              <a:spcPct val="0"/>
            </a:spcBef>
            <a:spcAft>
              <a:spcPct val="35000"/>
            </a:spcAft>
            <a:buNone/>
          </a:pPr>
          <a:r>
            <a:rPr lang="fr-CI" sz="1850" kern="1200" dirty="0">
              <a:latin typeface="Calibri" panose="020F0502020204030204" pitchFamily="34" charset="0"/>
              <a:cs typeface="Calibri" panose="020F0502020204030204" pitchFamily="34" charset="0"/>
            </a:rPr>
            <a:t>Karl R. Popper (1902-1994) est concitoyen et contemporain des hommes du Cercle de Vienne avec qui il partage avec l’intérêt pour la philosophie de la science mais, tout en étant agnostique (de famille juive convertie au protestantisme), il accorde de l’importance aux problèmes métaphysiques.</a:t>
          </a:r>
        </a:p>
        <a:p>
          <a:pPr marL="0" lvl="0" indent="0" algn="just" defTabSz="822325">
            <a:lnSpc>
              <a:spcPct val="90000"/>
            </a:lnSpc>
            <a:spcBef>
              <a:spcPct val="0"/>
            </a:spcBef>
            <a:spcAft>
              <a:spcPct val="35000"/>
            </a:spcAft>
            <a:buNone/>
          </a:pPr>
          <a:endParaRPr lang="fr-FR" sz="1850" kern="1200" dirty="0">
            <a:latin typeface="Calibri" panose="020F0502020204030204" pitchFamily="34" charset="0"/>
            <a:cs typeface="Calibri" panose="020F0502020204030204" pitchFamily="34" charset="0"/>
          </a:endParaRPr>
        </a:p>
        <a:p>
          <a:pPr marL="0" lvl="0" indent="0" algn="just" defTabSz="822325">
            <a:lnSpc>
              <a:spcPct val="90000"/>
            </a:lnSpc>
            <a:spcBef>
              <a:spcPct val="0"/>
            </a:spcBef>
            <a:spcAft>
              <a:spcPct val="35000"/>
            </a:spcAft>
            <a:buNone/>
          </a:pPr>
          <a:r>
            <a:rPr lang="fr-CI" sz="1850" kern="1200" dirty="0">
              <a:latin typeface="Calibri" panose="020F0502020204030204" pitchFamily="34" charset="0"/>
              <a:cs typeface="Calibri" panose="020F0502020204030204" pitchFamily="34" charset="0"/>
            </a:rPr>
            <a:t>Pour lui la philosophie de la science et l’éthique sociale sont liées. Il soutient, contrairement aux néopositivistes, que les théories scientifiques ne peuvent jamais être vérifiées. </a:t>
          </a:r>
          <a:endParaRPr lang="fr-FR" sz="1850" kern="1200" dirty="0">
            <a:latin typeface="Calibri" panose="020F0502020204030204" pitchFamily="34" charset="0"/>
            <a:cs typeface="Calibri" panose="020F0502020204030204" pitchFamily="34" charset="0"/>
          </a:endParaRPr>
        </a:p>
        <a:p>
          <a:pPr marL="0" lvl="0" indent="0" algn="just" defTabSz="822325">
            <a:lnSpc>
              <a:spcPct val="90000"/>
            </a:lnSpc>
            <a:spcBef>
              <a:spcPct val="0"/>
            </a:spcBef>
            <a:spcAft>
              <a:spcPct val="35000"/>
            </a:spcAft>
            <a:buNone/>
          </a:pPr>
          <a:r>
            <a:rPr lang="fr-CI" sz="1850" kern="1200" dirty="0">
              <a:latin typeface="Calibri" panose="020F0502020204030204" pitchFamily="34" charset="0"/>
              <a:cs typeface="Calibri" panose="020F0502020204030204" pitchFamily="34" charset="0"/>
            </a:rPr>
            <a:t>Il insiste sur le caractère conjectural de notre connaissance. Cependant nous ne pouvons pas nier que malgré le caractère limité de notre connaissance, nous ne parvenons pas à de vraies certitudes. Sinon, il n’y aura pas de voitures qui fonctionnent même si elles peuvent faire des accidents.</a:t>
          </a:r>
        </a:p>
        <a:p>
          <a:pPr marL="0" lvl="0" indent="0" algn="just" defTabSz="822325">
            <a:lnSpc>
              <a:spcPct val="90000"/>
            </a:lnSpc>
            <a:spcBef>
              <a:spcPct val="0"/>
            </a:spcBef>
            <a:spcAft>
              <a:spcPct val="35000"/>
            </a:spcAft>
            <a:buNone/>
          </a:pPr>
          <a:endParaRPr lang="fr-FR" sz="1850" kern="1200" dirty="0">
            <a:latin typeface="Calibri" panose="020F0502020204030204" pitchFamily="34" charset="0"/>
            <a:cs typeface="Calibri" panose="020F0502020204030204" pitchFamily="34" charset="0"/>
          </a:endParaRPr>
        </a:p>
        <a:p>
          <a:pPr marL="0" lvl="0" indent="0" algn="just" defTabSz="822325">
            <a:lnSpc>
              <a:spcPct val="90000"/>
            </a:lnSpc>
            <a:spcBef>
              <a:spcPct val="0"/>
            </a:spcBef>
            <a:spcAft>
              <a:spcPct val="35000"/>
            </a:spcAft>
            <a:buNone/>
          </a:pPr>
          <a:r>
            <a:rPr lang="fr-CI" sz="1850" kern="1200" dirty="0">
              <a:latin typeface="Calibri" panose="020F0502020204030204" pitchFamily="34" charset="0"/>
              <a:cs typeface="Calibri" panose="020F0502020204030204" pitchFamily="34" charset="0"/>
            </a:rPr>
            <a:t>Le rationalisme critique de Popper est valable et utile dans la mesure où il invite à l’ouverture mentale devant de nouvelles expériences. Il constitue un bon antidote contre le refus non seulement d’aller plus loin, mais aussi de compter sur d’autres domaines de la science.</a:t>
          </a:r>
          <a:endParaRPr lang="fr-FR" sz="1850" kern="1200" dirty="0">
            <a:latin typeface="Calibri" panose="020F0502020204030204" pitchFamily="34" charset="0"/>
            <a:cs typeface="Calibri" panose="020F0502020204030204" pitchFamily="34" charset="0"/>
          </a:endParaRPr>
        </a:p>
      </dsp:txBody>
      <dsp:txXfrm>
        <a:off x="2469486" y="39770"/>
        <a:ext cx="9016497" cy="4291051"/>
      </dsp:txXfrm>
    </dsp:sp>
    <dsp:sp modelId="{0CE3C4DE-7650-4401-B694-D01624DC0160}">
      <dsp:nvSpPr>
        <dsp:cNvPr id="0" name=""/>
        <dsp:cNvSpPr/>
      </dsp:nvSpPr>
      <dsp:spPr>
        <a:xfrm>
          <a:off x="2297196" y="4629214"/>
          <a:ext cx="9188787"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FF7C33-EE94-4012-BD45-F39920F4CB6F}">
      <dsp:nvSpPr>
        <dsp:cNvPr id="0" name=""/>
        <dsp:cNvSpPr/>
      </dsp:nvSpPr>
      <dsp:spPr>
        <a:xfrm>
          <a:off x="0" y="2674"/>
          <a:ext cx="1148598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F5D6CDB-5CEE-4492-8519-D4C3254F2237}">
      <dsp:nvSpPr>
        <dsp:cNvPr id="0" name=""/>
        <dsp:cNvSpPr/>
      </dsp:nvSpPr>
      <dsp:spPr>
        <a:xfrm>
          <a:off x="0" y="2674"/>
          <a:ext cx="2297196" cy="54717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fr-CI" sz="2700" b="1" kern="1200" dirty="0"/>
            <a:t>La philosophie, l’histoire et la sociologie de la science chez Thomas S. Kuhn</a:t>
          </a:r>
          <a:endParaRPr lang="fr-FR" sz="2700" kern="1200" dirty="0"/>
        </a:p>
      </dsp:txBody>
      <dsp:txXfrm>
        <a:off x="0" y="2674"/>
        <a:ext cx="2297196" cy="5471724"/>
      </dsp:txXfrm>
    </dsp:sp>
    <dsp:sp modelId="{43B1B0C8-57E0-4946-AE37-4BE7236A38CE}">
      <dsp:nvSpPr>
        <dsp:cNvPr id="0" name=""/>
        <dsp:cNvSpPr/>
      </dsp:nvSpPr>
      <dsp:spPr>
        <a:xfrm>
          <a:off x="2469486" y="46107"/>
          <a:ext cx="9016497" cy="4969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just" defTabSz="822325">
            <a:lnSpc>
              <a:spcPct val="90000"/>
            </a:lnSpc>
            <a:spcBef>
              <a:spcPct val="0"/>
            </a:spcBef>
            <a:spcAft>
              <a:spcPct val="35000"/>
            </a:spcAft>
            <a:buNone/>
          </a:pPr>
          <a:r>
            <a:rPr lang="fr-CI" sz="1850" kern="1200" dirty="0">
              <a:latin typeface="Calibri" panose="020F0502020204030204" pitchFamily="34" charset="0"/>
              <a:cs typeface="Calibri" panose="020F0502020204030204" pitchFamily="34" charset="0"/>
            </a:rPr>
            <a:t>Thomas S. Kuhn (1922-1996) analyse les sciences de la nature en examinant leur développement historique réel et en étudiant le comportement des scientifiques : comment ils utilisent, acceptent ou rejettent les théories scientifiques. Il parle de deux types d’activité scientifique : </a:t>
          </a:r>
          <a:endParaRPr lang="fr-FR" sz="1850" kern="1200" dirty="0">
            <a:latin typeface="Calibri" panose="020F0502020204030204" pitchFamily="34" charset="0"/>
            <a:cs typeface="Calibri" panose="020F0502020204030204" pitchFamily="34" charset="0"/>
          </a:endParaRPr>
        </a:p>
        <a:p>
          <a:pPr marL="0" lvl="0" indent="0" algn="just" defTabSz="822325">
            <a:lnSpc>
              <a:spcPct val="90000"/>
            </a:lnSpc>
            <a:spcBef>
              <a:spcPct val="0"/>
            </a:spcBef>
            <a:spcAft>
              <a:spcPct val="35000"/>
            </a:spcAft>
            <a:buFont typeface="Symbol" panose="05050102010706020507" pitchFamily="18" charset="2"/>
            <a:buNone/>
          </a:pPr>
          <a:r>
            <a:rPr lang="fr-CI" sz="1850" kern="1200" dirty="0">
              <a:latin typeface="Calibri" panose="020F0502020204030204" pitchFamily="34" charset="0"/>
              <a:cs typeface="Calibri" panose="020F0502020204030204" pitchFamily="34" charset="0"/>
            </a:rPr>
            <a:t>la « science normale » : lorsque la communauté scientifique admet certaines théories sans discussion et cherche donc à résoudre le problème. En 1965 eut lieu un débat célèbre entre Popper et Kuhn, à Londres, à l’occasion d’un congrès international de philosophie de la science. Popper admet que la « science normale » existe, ce qu’il regrette, il ressent de la compassion mâtinée de mépris pour ce scientifique « normal » incapable de mettre en question son travail.</a:t>
          </a:r>
          <a:endParaRPr lang="fr-FR" sz="1850" kern="1200" dirty="0">
            <a:latin typeface="Calibri" panose="020F0502020204030204" pitchFamily="34" charset="0"/>
            <a:cs typeface="Calibri" panose="020F0502020204030204" pitchFamily="34" charset="0"/>
          </a:endParaRPr>
        </a:p>
        <a:p>
          <a:pPr marL="0" lvl="0" indent="0" algn="just" defTabSz="822325">
            <a:lnSpc>
              <a:spcPct val="90000"/>
            </a:lnSpc>
            <a:spcBef>
              <a:spcPct val="0"/>
            </a:spcBef>
            <a:spcAft>
              <a:spcPct val="35000"/>
            </a:spcAft>
            <a:buFont typeface="Symbol" panose="05050102010706020507" pitchFamily="18" charset="2"/>
            <a:buNone/>
          </a:pPr>
          <a:r>
            <a:rPr lang="fr-CI" sz="1850" kern="1200" dirty="0">
              <a:latin typeface="Calibri" panose="020F0502020204030204" pitchFamily="34" charset="0"/>
              <a:cs typeface="Calibri" panose="020F0502020204030204" pitchFamily="34" charset="0"/>
            </a:rPr>
            <a:t>la « science extraordinaire », au sein de laquelle se produisent les « révolutions scientifiques». Kuhn, qui se démarque de façon explicite de la vision des positivistes et de celle de Popper, prétend avaliser sa conception du progrès scientifique avec des exemples tirés de l’histoire de la science ; le succès de ses théories provoqua un grand engouement pour les études historiques ; </a:t>
          </a:r>
          <a:r>
            <a:rPr lang="fr-CI" sz="1850" b="1" kern="1200" dirty="0">
              <a:latin typeface="Calibri" panose="020F0502020204030204" pitchFamily="34" charset="0"/>
              <a:cs typeface="Calibri" panose="020F0502020204030204" pitchFamily="34" charset="0"/>
            </a:rPr>
            <a:t>l’épistémologie s’est déplacée du terrain logique vers celui de l’histoire.</a:t>
          </a:r>
          <a:endParaRPr lang="fr-FR" sz="1850" kern="1200" dirty="0">
            <a:latin typeface="Calibri" panose="020F0502020204030204" pitchFamily="34" charset="0"/>
            <a:cs typeface="Calibri" panose="020F0502020204030204" pitchFamily="34" charset="0"/>
          </a:endParaRPr>
        </a:p>
        <a:p>
          <a:pPr marL="0" lvl="0" indent="0" algn="just" defTabSz="822325">
            <a:lnSpc>
              <a:spcPct val="90000"/>
            </a:lnSpc>
            <a:spcBef>
              <a:spcPct val="0"/>
            </a:spcBef>
            <a:spcAft>
              <a:spcPct val="35000"/>
            </a:spcAft>
            <a:buNone/>
          </a:pPr>
          <a:r>
            <a:rPr lang="fr-CI" sz="1850" kern="1200" dirty="0">
              <a:latin typeface="Calibri" panose="020F0502020204030204" pitchFamily="34" charset="0"/>
              <a:cs typeface="Calibri" panose="020F0502020204030204" pitchFamily="34" charset="0"/>
            </a:rPr>
            <a:t>En revanche, le grand danger de l’analyse sociologique et historique est d’oublier que </a:t>
          </a:r>
          <a:r>
            <a:rPr lang="fr-CI" sz="1850" b="1" kern="1200" dirty="0">
              <a:latin typeface="Calibri" panose="020F0502020204030204" pitchFamily="34" charset="0"/>
              <a:cs typeface="Calibri" panose="020F0502020204030204" pitchFamily="34" charset="0"/>
            </a:rPr>
            <a:t>l’objectif central de la science est la recherche de la vérité</a:t>
          </a:r>
          <a:r>
            <a:rPr lang="fr-CI" sz="1850" kern="1200" dirty="0">
              <a:latin typeface="Calibri" panose="020F0502020204030204" pitchFamily="34" charset="0"/>
              <a:cs typeface="Calibri" panose="020F0502020204030204" pitchFamily="34" charset="0"/>
            </a:rPr>
            <a:t>. En fait, Kuhn ne parle guère de la vérité dans ses écrits.</a:t>
          </a:r>
          <a:endParaRPr lang="fr-FR" sz="1850" kern="1200" dirty="0">
            <a:latin typeface="Calibri" panose="020F0502020204030204" pitchFamily="34" charset="0"/>
            <a:cs typeface="Calibri" panose="020F0502020204030204" pitchFamily="34" charset="0"/>
          </a:endParaRPr>
        </a:p>
      </dsp:txBody>
      <dsp:txXfrm>
        <a:off x="2469486" y="46107"/>
        <a:ext cx="9016497" cy="4969437"/>
      </dsp:txXfrm>
    </dsp:sp>
    <dsp:sp modelId="{0CE3C4DE-7650-4401-B694-D01624DC0160}">
      <dsp:nvSpPr>
        <dsp:cNvPr id="0" name=""/>
        <dsp:cNvSpPr/>
      </dsp:nvSpPr>
      <dsp:spPr>
        <a:xfrm>
          <a:off x="2297196" y="5361061"/>
          <a:ext cx="9188787"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FF7C33-EE94-4012-BD45-F39920F4CB6F}">
      <dsp:nvSpPr>
        <dsp:cNvPr id="0" name=""/>
        <dsp:cNvSpPr/>
      </dsp:nvSpPr>
      <dsp:spPr>
        <a:xfrm>
          <a:off x="0" y="0"/>
          <a:ext cx="1148598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F5D6CDB-5CEE-4492-8519-D4C3254F2237}">
      <dsp:nvSpPr>
        <dsp:cNvPr id="0" name=""/>
        <dsp:cNvSpPr/>
      </dsp:nvSpPr>
      <dsp:spPr>
        <a:xfrm>
          <a:off x="0" y="0"/>
          <a:ext cx="2297196" cy="54770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fr-CI" sz="2700" b="1" kern="1200" dirty="0"/>
            <a:t>Paul Feyerabend (1924-1994)</a:t>
          </a:r>
          <a:endParaRPr lang="fr-FR" sz="2700" kern="1200" dirty="0"/>
        </a:p>
      </dsp:txBody>
      <dsp:txXfrm>
        <a:off x="0" y="0"/>
        <a:ext cx="2297196" cy="5477073"/>
      </dsp:txXfrm>
    </dsp:sp>
    <dsp:sp modelId="{43B1B0C8-57E0-4946-AE37-4BE7236A38CE}">
      <dsp:nvSpPr>
        <dsp:cNvPr id="0" name=""/>
        <dsp:cNvSpPr/>
      </dsp:nvSpPr>
      <dsp:spPr>
        <a:xfrm>
          <a:off x="2469486" y="43475"/>
          <a:ext cx="9016497" cy="49742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just" defTabSz="822325">
            <a:lnSpc>
              <a:spcPct val="90000"/>
            </a:lnSpc>
            <a:spcBef>
              <a:spcPct val="0"/>
            </a:spcBef>
            <a:spcAft>
              <a:spcPct val="35000"/>
            </a:spcAft>
            <a:buNone/>
          </a:pPr>
          <a:r>
            <a:rPr lang="fr-CI" sz="1850" b="0" kern="1200" dirty="0">
              <a:latin typeface="Calibri" panose="020F0502020204030204" pitchFamily="34" charset="0"/>
              <a:cs typeface="Calibri" panose="020F0502020204030204" pitchFamily="34" charset="0"/>
            </a:rPr>
            <a:t>Il </a:t>
          </a:r>
          <a:r>
            <a:rPr lang="fr-CI" sz="1850" kern="1200" dirty="0">
              <a:latin typeface="Calibri" panose="020F0502020204030204" pitchFamily="34" charset="0"/>
              <a:cs typeface="Calibri" panose="020F0502020204030204" pitchFamily="34" charset="0"/>
            </a:rPr>
            <a:t>est aussi viennois. Il travailla avec Popper en 1952-53. Puis il enseigna à Berkeley et à Zurich. Il soutient d'abord que la </a:t>
          </a:r>
          <a:r>
            <a:rPr lang="fr-CI" sz="1850" u="sng" kern="1200" dirty="0">
              <a:latin typeface="Calibri" panose="020F0502020204030204" pitchFamily="34" charset="0"/>
              <a:cs typeface="Calibri" panose="020F0502020204030204" pitchFamily="34" charset="0"/>
            </a:rPr>
            <a:t>Philosophie de la science doit dire aux scientifiques comment doivent-ils travailler</a:t>
          </a:r>
          <a:r>
            <a:rPr lang="fr-CI" sz="1850" kern="1200" dirty="0">
              <a:latin typeface="Calibri" panose="020F0502020204030204" pitchFamily="34" charset="0"/>
              <a:cs typeface="Calibri" panose="020F0502020204030204" pitchFamily="34" charset="0"/>
            </a:rPr>
            <a:t>. </a:t>
          </a:r>
        </a:p>
        <a:p>
          <a:pPr marL="0" lvl="0" indent="0" algn="just" defTabSz="822325">
            <a:lnSpc>
              <a:spcPct val="90000"/>
            </a:lnSpc>
            <a:spcBef>
              <a:spcPct val="0"/>
            </a:spcBef>
            <a:spcAft>
              <a:spcPct val="35000"/>
            </a:spcAft>
            <a:buNone/>
          </a:pPr>
          <a:endParaRPr lang="fr-FR" sz="1850" kern="1200" dirty="0">
            <a:latin typeface="Calibri" panose="020F0502020204030204" pitchFamily="34" charset="0"/>
            <a:cs typeface="Calibri" panose="020F0502020204030204" pitchFamily="34" charset="0"/>
          </a:endParaRPr>
        </a:p>
        <a:p>
          <a:pPr marL="0" lvl="0" indent="0" algn="just" defTabSz="822325">
            <a:lnSpc>
              <a:spcPct val="90000"/>
            </a:lnSpc>
            <a:spcBef>
              <a:spcPct val="0"/>
            </a:spcBef>
            <a:spcAft>
              <a:spcPct val="35000"/>
            </a:spcAft>
            <a:buNone/>
          </a:pPr>
          <a:r>
            <a:rPr lang="fr-CI" sz="1850" kern="1200" dirty="0">
              <a:latin typeface="Calibri" panose="020F0502020204030204" pitchFamily="34" charset="0"/>
              <a:cs typeface="Calibri" panose="020F0502020204030204" pitchFamily="34" charset="0"/>
            </a:rPr>
            <a:t>Feyerabend change d’orientation vers 1970. </a:t>
          </a:r>
          <a:r>
            <a:rPr lang="fr-CI" sz="1850" b="1" kern="1200" dirty="0">
              <a:latin typeface="Calibri" panose="020F0502020204030204" pitchFamily="34" charset="0"/>
              <a:cs typeface="Calibri" panose="020F0502020204030204" pitchFamily="34" charset="0"/>
            </a:rPr>
            <a:t>Il perçoit les difficultés que présentent sa théorie et l’influence du scientisme sur la philosophie de la science</a:t>
          </a:r>
          <a:r>
            <a:rPr lang="fr-CI" sz="1850" kern="1200" dirty="0">
              <a:latin typeface="Calibri" panose="020F0502020204030204" pitchFamily="34" charset="0"/>
              <a:cs typeface="Calibri" panose="020F0502020204030204" pitchFamily="34" charset="0"/>
            </a:rPr>
            <a:t>.</a:t>
          </a:r>
          <a:endParaRPr lang="fr-FR" sz="1850" kern="1200" dirty="0">
            <a:latin typeface="Calibri" panose="020F0502020204030204" pitchFamily="34" charset="0"/>
            <a:cs typeface="Calibri" panose="020F0502020204030204" pitchFamily="34" charset="0"/>
          </a:endParaRPr>
        </a:p>
        <a:p>
          <a:pPr marL="0" lvl="0" indent="0" algn="just" defTabSz="822325">
            <a:lnSpc>
              <a:spcPct val="90000"/>
            </a:lnSpc>
            <a:spcBef>
              <a:spcPct val="0"/>
            </a:spcBef>
            <a:spcAft>
              <a:spcPct val="35000"/>
            </a:spcAft>
            <a:buNone/>
          </a:pPr>
          <a:r>
            <a:rPr lang="fr-CI" sz="1850" kern="1200" dirty="0">
              <a:latin typeface="Calibri" panose="020F0502020204030204" pitchFamily="34" charset="0"/>
              <a:cs typeface="Calibri" panose="020F0502020204030204" pitchFamily="34" charset="0"/>
            </a:rPr>
            <a:t>Comme une réaction, </a:t>
          </a:r>
          <a:r>
            <a:rPr lang="fr-CI" sz="1850" b="1" kern="1200" dirty="0">
              <a:latin typeface="Calibri" panose="020F0502020204030204" pitchFamily="34" charset="0"/>
              <a:cs typeface="Calibri" panose="020F0502020204030204" pitchFamily="34" charset="0"/>
            </a:rPr>
            <a:t>il affirme qu’on ne peut jamais dicter des normes à la science et que le projet de fonder une théorie de la rationalité sur une méthodologie telle que celle de Popper ne peut conduire qu’à l’échec</a:t>
          </a:r>
          <a:r>
            <a:rPr lang="fr-CI" sz="1850" kern="1200" dirty="0">
              <a:latin typeface="Calibri" panose="020F0502020204030204" pitchFamily="34" charset="0"/>
              <a:cs typeface="Calibri" panose="020F0502020204030204" pitchFamily="34" charset="0"/>
            </a:rPr>
            <a:t>. Il soutient alors une attitude qu’il appelle </a:t>
          </a:r>
          <a:r>
            <a:rPr lang="fr-CI" sz="1850" u="sng" kern="1200" dirty="0">
              <a:latin typeface="Calibri" panose="020F0502020204030204" pitchFamily="34" charset="0"/>
              <a:cs typeface="Calibri" panose="020F0502020204030204" pitchFamily="34" charset="0"/>
            </a:rPr>
            <a:t>théorie anarchiste de la connaissance. Le seul principe admis est : « tout est bon ». </a:t>
          </a:r>
        </a:p>
        <a:p>
          <a:pPr marL="0" lvl="0" indent="0" algn="just" defTabSz="822325">
            <a:lnSpc>
              <a:spcPct val="90000"/>
            </a:lnSpc>
            <a:spcBef>
              <a:spcPct val="0"/>
            </a:spcBef>
            <a:spcAft>
              <a:spcPct val="35000"/>
            </a:spcAft>
            <a:buNone/>
          </a:pPr>
          <a:endParaRPr lang="fr-FR" sz="1850" kern="1200" dirty="0">
            <a:latin typeface="Calibri" panose="020F0502020204030204" pitchFamily="34" charset="0"/>
            <a:cs typeface="Calibri" panose="020F0502020204030204" pitchFamily="34" charset="0"/>
          </a:endParaRPr>
        </a:p>
        <a:p>
          <a:pPr marL="0" lvl="0" indent="0" algn="just" defTabSz="822325">
            <a:lnSpc>
              <a:spcPct val="90000"/>
            </a:lnSpc>
            <a:spcBef>
              <a:spcPct val="0"/>
            </a:spcBef>
            <a:spcAft>
              <a:spcPct val="35000"/>
            </a:spcAft>
            <a:buNone/>
          </a:pPr>
          <a:r>
            <a:rPr lang="fr-CI" sz="1850" kern="1200" dirty="0">
              <a:latin typeface="Calibri" panose="020F0502020204030204" pitchFamily="34" charset="0"/>
              <a:cs typeface="Calibri" panose="020F0502020204030204" pitchFamily="34" charset="0"/>
            </a:rPr>
            <a:t>Après ces courants ci-dessus, d’autres apparaissent et montrent comment la réflexion sur la science tient une grande place dans la vie des hommes. </a:t>
          </a:r>
          <a:endParaRPr lang="fr-FR" sz="1850" kern="1200" dirty="0">
            <a:latin typeface="Calibri" panose="020F0502020204030204" pitchFamily="34" charset="0"/>
            <a:cs typeface="Calibri" panose="020F0502020204030204" pitchFamily="34" charset="0"/>
          </a:endParaRPr>
        </a:p>
      </dsp:txBody>
      <dsp:txXfrm>
        <a:off x="2469486" y="43475"/>
        <a:ext cx="9016497" cy="4974294"/>
      </dsp:txXfrm>
    </dsp:sp>
    <dsp:sp modelId="{0CE3C4DE-7650-4401-B694-D01624DC0160}">
      <dsp:nvSpPr>
        <dsp:cNvPr id="0" name=""/>
        <dsp:cNvSpPr/>
      </dsp:nvSpPr>
      <dsp:spPr>
        <a:xfrm>
          <a:off x="2297196" y="5363625"/>
          <a:ext cx="9188787"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9F80F7-861F-4817-8221-2003992468A9}">
      <dsp:nvSpPr>
        <dsp:cNvPr id="0" name=""/>
        <dsp:cNvSpPr/>
      </dsp:nvSpPr>
      <dsp:spPr>
        <a:xfrm>
          <a:off x="0" y="477025"/>
          <a:ext cx="11476652" cy="45879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CI" sz="1900" b="1" kern="1200" dirty="0"/>
            <a:t>Le réalisme scientifique</a:t>
          </a:r>
          <a:endParaRPr lang="fr-FR" sz="1900" kern="1200" dirty="0"/>
        </a:p>
      </dsp:txBody>
      <dsp:txXfrm>
        <a:off x="22396" y="499421"/>
        <a:ext cx="11431860" cy="414000"/>
      </dsp:txXfrm>
    </dsp:sp>
    <dsp:sp modelId="{30C0A05C-28B3-4B97-BABB-F8E1230DAA52}">
      <dsp:nvSpPr>
        <dsp:cNvPr id="0" name=""/>
        <dsp:cNvSpPr/>
      </dsp:nvSpPr>
      <dsp:spPr>
        <a:xfrm>
          <a:off x="0" y="935818"/>
          <a:ext cx="11476652" cy="1722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4384" tIns="24130" rIns="135128" bIns="24130" numCol="1" spcCol="1270" anchor="t" anchorCtr="0">
          <a:noAutofit/>
        </a:bodyPr>
        <a:lstStyle/>
        <a:p>
          <a:pPr marL="171450" lvl="1" indent="-171450" algn="l" defTabSz="844550">
            <a:lnSpc>
              <a:spcPct val="90000"/>
            </a:lnSpc>
            <a:spcBef>
              <a:spcPct val="0"/>
            </a:spcBef>
            <a:spcAft>
              <a:spcPct val="20000"/>
            </a:spcAft>
            <a:buChar char="•"/>
          </a:pPr>
          <a:endParaRPr lang="fr-FR" sz="1900" kern="1200" dirty="0">
            <a:latin typeface="Calibri" panose="020F0502020204030204" pitchFamily="34" charset="0"/>
            <a:cs typeface="Calibri" panose="020F0502020204030204" pitchFamily="34" charset="0"/>
          </a:endParaRPr>
        </a:p>
        <a:p>
          <a:pPr marL="171450" lvl="1" indent="-171450" algn="l" defTabSz="844550">
            <a:lnSpc>
              <a:spcPct val="90000"/>
            </a:lnSpc>
            <a:spcBef>
              <a:spcPct val="0"/>
            </a:spcBef>
            <a:spcAft>
              <a:spcPct val="20000"/>
            </a:spcAft>
            <a:buChar char="•"/>
          </a:pPr>
          <a:r>
            <a:rPr lang="fr-CI" sz="1900" kern="1200" dirty="0">
              <a:latin typeface="Calibri" panose="020F0502020204030204" pitchFamily="34" charset="0"/>
              <a:cs typeface="Calibri" panose="020F0502020204030204" pitchFamily="34" charset="0"/>
            </a:rPr>
            <a:t>Le réalisme affirme l’existence réelle des entités, des propriétés et des processus, tels qu’ils sont présentés par les théories scientifiques et que la science fournit une connaissance vraie de la réalité. En plus de cela, ce succès est fondé sur la convergence de différentes théories, qui donnent une quantité incroyable de coïncidences donnant des résultats satisfaisants. Mais </a:t>
          </a:r>
          <a:r>
            <a:rPr lang="fr-CI" sz="1900" b="1" kern="1200" dirty="0">
              <a:latin typeface="Calibri" panose="020F0502020204030204" pitchFamily="34" charset="0"/>
              <a:cs typeface="Calibri" panose="020F0502020204030204" pitchFamily="34" charset="0"/>
            </a:rPr>
            <a:t>ce réalisme a été nié par Bas C. Van </a:t>
          </a:r>
          <a:r>
            <a:rPr lang="fr-CI" sz="1900" b="1" kern="1200" dirty="0" err="1">
              <a:latin typeface="Calibri" panose="020F0502020204030204" pitchFamily="34" charset="0"/>
              <a:cs typeface="Calibri" panose="020F0502020204030204" pitchFamily="34" charset="0"/>
            </a:rPr>
            <a:t>Fraassen</a:t>
          </a:r>
          <a:r>
            <a:rPr lang="fr-CI" sz="1900" b="1" kern="1200" dirty="0">
              <a:latin typeface="Calibri" panose="020F0502020204030204" pitchFamily="34" charset="0"/>
              <a:cs typeface="Calibri" panose="020F0502020204030204" pitchFamily="34" charset="0"/>
            </a:rPr>
            <a:t>  et Larry </a:t>
          </a:r>
          <a:r>
            <a:rPr lang="fr-CI" sz="1900" b="1" kern="1200" dirty="0" err="1">
              <a:latin typeface="Calibri" panose="020F0502020204030204" pitchFamily="34" charset="0"/>
              <a:cs typeface="Calibri" panose="020F0502020204030204" pitchFamily="34" charset="0"/>
            </a:rPr>
            <a:t>Laudan</a:t>
          </a:r>
          <a:r>
            <a:rPr lang="fr-CI" sz="1900" b="1" kern="1200" dirty="0">
              <a:latin typeface="Calibri" panose="020F0502020204030204" pitchFamily="34" charset="0"/>
              <a:cs typeface="Calibri" panose="020F0502020204030204" pitchFamily="34" charset="0"/>
            </a:rPr>
            <a:t>  dans la deuxième moitié du XXème s. </a:t>
          </a:r>
          <a:endParaRPr lang="fr-FR" sz="1900" kern="1200" dirty="0">
            <a:latin typeface="Calibri" panose="020F0502020204030204" pitchFamily="34" charset="0"/>
            <a:cs typeface="Calibri" panose="020F0502020204030204" pitchFamily="34" charset="0"/>
          </a:endParaRPr>
        </a:p>
      </dsp:txBody>
      <dsp:txXfrm>
        <a:off x="0" y="935818"/>
        <a:ext cx="11476652" cy="1722240"/>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9F80F7-861F-4817-8221-2003992468A9}">
      <dsp:nvSpPr>
        <dsp:cNvPr id="0" name=""/>
        <dsp:cNvSpPr/>
      </dsp:nvSpPr>
      <dsp:spPr>
        <a:xfrm>
          <a:off x="0" y="287746"/>
          <a:ext cx="11476652" cy="45879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CI" sz="1900" b="1" kern="1200" dirty="0"/>
            <a:t>Le réalisme scientifique</a:t>
          </a:r>
          <a:endParaRPr lang="fr-FR" sz="1900" kern="1200" dirty="0"/>
        </a:p>
      </dsp:txBody>
      <dsp:txXfrm>
        <a:off x="22396" y="310142"/>
        <a:ext cx="11431860" cy="414000"/>
      </dsp:txXfrm>
    </dsp:sp>
    <dsp:sp modelId="{30C0A05C-28B3-4B97-BABB-F8E1230DAA52}">
      <dsp:nvSpPr>
        <dsp:cNvPr id="0" name=""/>
        <dsp:cNvSpPr/>
      </dsp:nvSpPr>
      <dsp:spPr>
        <a:xfrm>
          <a:off x="0" y="746538"/>
          <a:ext cx="11476652" cy="4106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4384" tIns="24130" rIns="135128" bIns="24130" numCol="1" spcCol="1270" anchor="t" anchorCtr="0">
          <a:noAutofit/>
        </a:bodyPr>
        <a:lstStyle/>
        <a:p>
          <a:pPr marL="171450" lvl="1" indent="-171450" algn="l" defTabSz="844550">
            <a:lnSpc>
              <a:spcPct val="90000"/>
            </a:lnSpc>
            <a:spcBef>
              <a:spcPct val="0"/>
            </a:spcBef>
            <a:spcAft>
              <a:spcPct val="20000"/>
            </a:spcAft>
            <a:buChar char="•"/>
          </a:pPr>
          <a:endParaRPr lang="fr-FR" sz="1900" kern="1200" dirty="0">
            <a:latin typeface="Calibri" panose="020F0502020204030204" pitchFamily="34" charset="0"/>
            <a:cs typeface="Calibri" panose="020F0502020204030204" pitchFamily="34" charset="0"/>
          </a:endParaRPr>
        </a:p>
        <a:p>
          <a:pPr marL="171450" lvl="1" indent="-171450" algn="l" defTabSz="844550">
            <a:lnSpc>
              <a:spcPct val="90000"/>
            </a:lnSpc>
            <a:spcBef>
              <a:spcPct val="0"/>
            </a:spcBef>
            <a:spcAft>
              <a:spcPct val="20000"/>
            </a:spcAft>
            <a:buChar char="•"/>
          </a:pPr>
          <a:r>
            <a:rPr lang="fr-CI" sz="1900" kern="1200" dirty="0">
              <a:latin typeface="Calibri" panose="020F0502020204030204" pitchFamily="34" charset="0"/>
              <a:cs typeface="Calibri" panose="020F0502020204030204" pitchFamily="34" charset="0"/>
            </a:rPr>
            <a:t>Ces auteurs sont entre autres</a:t>
          </a:r>
          <a:endParaRPr lang="fr-FR" sz="1900" kern="1200" dirty="0">
            <a:latin typeface="Calibri" panose="020F0502020204030204" pitchFamily="34" charset="0"/>
            <a:cs typeface="Calibri" panose="020F0502020204030204" pitchFamily="34" charset="0"/>
          </a:endParaRPr>
        </a:p>
        <a:p>
          <a:pPr marL="171450" lvl="1" indent="-171450" algn="l" defTabSz="844550">
            <a:lnSpc>
              <a:spcPct val="90000"/>
            </a:lnSpc>
            <a:spcBef>
              <a:spcPct val="0"/>
            </a:spcBef>
            <a:spcAft>
              <a:spcPct val="20000"/>
            </a:spcAft>
            <a:buChar char="•"/>
          </a:pPr>
          <a:endParaRPr lang="fr-FR" sz="1900" kern="1200" dirty="0">
            <a:latin typeface="Calibri" panose="020F0502020204030204" pitchFamily="34" charset="0"/>
            <a:cs typeface="Calibri" panose="020F0502020204030204" pitchFamily="34" charset="0"/>
          </a:endParaRPr>
        </a:p>
        <a:p>
          <a:pPr marL="171450" lvl="1" indent="-171450" algn="l" defTabSz="844550">
            <a:lnSpc>
              <a:spcPct val="90000"/>
            </a:lnSpc>
            <a:spcBef>
              <a:spcPct val="0"/>
            </a:spcBef>
            <a:spcAft>
              <a:spcPct val="20000"/>
            </a:spcAft>
            <a:buChar char="•"/>
          </a:pPr>
          <a:r>
            <a:rPr lang="fr-CI" sz="1900" kern="1200" dirty="0">
              <a:latin typeface="Calibri" panose="020F0502020204030204" pitchFamily="34" charset="0"/>
              <a:cs typeface="Calibri" panose="020F0502020204030204" pitchFamily="34" charset="0"/>
            </a:rPr>
            <a:t>Ronald </a:t>
          </a:r>
          <a:r>
            <a:rPr lang="fr-CI" sz="1900" kern="1200" dirty="0" err="1">
              <a:latin typeface="Calibri" panose="020F0502020204030204" pitchFamily="34" charset="0"/>
              <a:cs typeface="Calibri" panose="020F0502020204030204" pitchFamily="34" charset="0"/>
            </a:rPr>
            <a:t>Giere</a:t>
          </a:r>
          <a:r>
            <a:rPr lang="fr-CI" sz="1900" kern="1200" dirty="0">
              <a:latin typeface="Calibri" panose="020F0502020204030204" pitchFamily="34" charset="0"/>
              <a:cs typeface="Calibri" panose="020F0502020204030204" pitchFamily="34" charset="0"/>
            </a:rPr>
            <a:t>  qui a raisonné contre le schéma de Bas C. Van </a:t>
          </a:r>
          <a:r>
            <a:rPr lang="fr-CI" sz="1900" kern="1200" dirty="0" err="1">
              <a:latin typeface="Calibri" panose="020F0502020204030204" pitchFamily="34" charset="0"/>
              <a:cs typeface="Calibri" panose="020F0502020204030204" pitchFamily="34" charset="0"/>
            </a:rPr>
            <a:t>Fraassen</a:t>
          </a:r>
          <a:r>
            <a:rPr lang="fr-CI" sz="1900" kern="1200" dirty="0">
              <a:latin typeface="Calibri" panose="020F0502020204030204" pitchFamily="34" charset="0"/>
              <a:cs typeface="Calibri" panose="020F0502020204030204" pitchFamily="34" charset="0"/>
            </a:rPr>
            <a:t>. Ronald propose que tout ce que l’on demande aux théories scientifiques c’est qu’elles collent aux données empiriques et non qu’elles soient vraies. Par conséquent, ce nouveau type d’empirisme renouvelle la vieille tradition selon laquelle l’objectif de la science expérimentale consiste en « sauver les phénomènes ». </a:t>
          </a:r>
          <a:endParaRPr lang="fr-FR" sz="1900" kern="1200" dirty="0">
            <a:latin typeface="Calibri" panose="020F0502020204030204" pitchFamily="34" charset="0"/>
            <a:cs typeface="Calibri" panose="020F0502020204030204" pitchFamily="34" charset="0"/>
          </a:endParaRPr>
        </a:p>
        <a:p>
          <a:pPr marL="171450" lvl="1" indent="-171450" algn="l" defTabSz="844550">
            <a:lnSpc>
              <a:spcPct val="90000"/>
            </a:lnSpc>
            <a:spcBef>
              <a:spcPct val="0"/>
            </a:spcBef>
            <a:spcAft>
              <a:spcPct val="20000"/>
            </a:spcAft>
            <a:buChar char="•"/>
          </a:pPr>
          <a:endParaRPr lang="fr-FR" sz="1900" kern="1200" dirty="0">
            <a:latin typeface="Calibri" panose="020F0502020204030204" pitchFamily="34" charset="0"/>
            <a:cs typeface="Calibri" panose="020F0502020204030204" pitchFamily="34" charset="0"/>
          </a:endParaRPr>
        </a:p>
        <a:p>
          <a:pPr marL="171450" lvl="1" indent="-171450" algn="l" defTabSz="844550">
            <a:lnSpc>
              <a:spcPct val="90000"/>
            </a:lnSpc>
            <a:spcBef>
              <a:spcPct val="0"/>
            </a:spcBef>
            <a:spcAft>
              <a:spcPct val="20000"/>
            </a:spcAft>
            <a:buChar char="•"/>
          </a:pPr>
          <a:r>
            <a:rPr lang="fr-CI" sz="1900" kern="1200" dirty="0" err="1">
              <a:latin typeface="Calibri" panose="020F0502020204030204" pitchFamily="34" charset="0"/>
              <a:cs typeface="Calibri" panose="020F0502020204030204" pitchFamily="34" charset="0"/>
            </a:rPr>
            <a:t>Giere</a:t>
          </a:r>
          <a:r>
            <a:rPr lang="fr-CI" sz="1900" kern="1200" dirty="0">
              <a:latin typeface="Calibri" panose="020F0502020204030204" pitchFamily="34" charset="0"/>
              <a:cs typeface="Calibri" panose="020F0502020204030204" pitchFamily="34" charset="0"/>
            </a:rPr>
            <a:t> souligne un aspect très important lorsqu’il écrit : « </a:t>
          </a:r>
          <a:r>
            <a:rPr lang="fr-CI" sz="1900" b="1" kern="1200" dirty="0">
              <a:latin typeface="Calibri" panose="020F0502020204030204" pitchFamily="34" charset="0"/>
              <a:cs typeface="Calibri" panose="020F0502020204030204" pitchFamily="34" charset="0"/>
            </a:rPr>
            <a:t>La question est de savoir s’il y a des sciences importantes, ou des périodes importantes dans la vie des sciences importantes, qui correspondent au modèle empiriste. Il semble difficile de nier qu’elles existent. L’astronomie grecque, la thermodynamique vers la fin du XIXème siècle et la théorie quantique au XXème son des candidats évidents. D’autre part, de nombreuses sciences contemporaines, y compris la chimie, la biologie moléculaire et la géologie, semblent être décidemment réalistes </a:t>
          </a:r>
          <a:r>
            <a:rPr lang="fr-CI" sz="1900" kern="1200" dirty="0">
              <a:latin typeface="Calibri" panose="020F0502020204030204" pitchFamily="34" charset="0"/>
              <a:cs typeface="Calibri" panose="020F0502020204030204" pitchFamily="34" charset="0"/>
            </a:rPr>
            <a:t>».</a:t>
          </a:r>
          <a:endParaRPr lang="fr-FR" sz="1900" kern="1200" dirty="0">
            <a:latin typeface="Calibri" panose="020F0502020204030204" pitchFamily="34" charset="0"/>
            <a:cs typeface="Calibri" panose="020F0502020204030204" pitchFamily="34" charset="0"/>
          </a:endParaRPr>
        </a:p>
      </dsp:txBody>
      <dsp:txXfrm>
        <a:off x="0" y="746538"/>
        <a:ext cx="11476652" cy="4106880"/>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9F80F7-861F-4817-8221-2003992468A9}">
      <dsp:nvSpPr>
        <dsp:cNvPr id="0" name=""/>
        <dsp:cNvSpPr/>
      </dsp:nvSpPr>
      <dsp:spPr>
        <a:xfrm>
          <a:off x="0" y="89026"/>
          <a:ext cx="11476652" cy="45879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CI" sz="1900" b="1" kern="1200" dirty="0"/>
            <a:t>Le réalisme scientifique</a:t>
          </a:r>
          <a:endParaRPr lang="fr-FR" sz="1900" kern="1200" dirty="0"/>
        </a:p>
      </dsp:txBody>
      <dsp:txXfrm>
        <a:off x="22396" y="111422"/>
        <a:ext cx="11431860" cy="414000"/>
      </dsp:txXfrm>
    </dsp:sp>
    <dsp:sp modelId="{30C0A05C-28B3-4B97-BABB-F8E1230DAA52}">
      <dsp:nvSpPr>
        <dsp:cNvPr id="0" name=""/>
        <dsp:cNvSpPr/>
      </dsp:nvSpPr>
      <dsp:spPr>
        <a:xfrm>
          <a:off x="0" y="547818"/>
          <a:ext cx="11476652" cy="4504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4384" tIns="24130" rIns="135128" bIns="24130" numCol="1" spcCol="1270" anchor="t" anchorCtr="0">
          <a:noAutofit/>
        </a:bodyPr>
        <a:lstStyle/>
        <a:p>
          <a:pPr marL="171450" lvl="1" indent="-171450" algn="l" defTabSz="844550">
            <a:lnSpc>
              <a:spcPct val="90000"/>
            </a:lnSpc>
            <a:spcBef>
              <a:spcPct val="0"/>
            </a:spcBef>
            <a:spcAft>
              <a:spcPct val="20000"/>
            </a:spcAft>
            <a:buChar char="•"/>
          </a:pPr>
          <a:endParaRPr lang="fr-FR" sz="1900" kern="1200" dirty="0">
            <a:latin typeface="Calibri" panose="020F0502020204030204" pitchFamily="34" charset="0"/>
            <a:cs typeface="Calibri" panose="020F0502020204030204" pitchFamily="34" charset="0"/>
          </a:endParaRPr>
        </a:p>
        <a:p>
          <a:pPr marL="171450" lvl="1" indent="-171450" algn="l" defTabSz="844550">
            <a:lnSpc>
              <a:spcPct val="90000"/>
            </a:lnSpc>
            <a:spcBef>
              <a:spcPct val="0"/>
            </a:spcBef>
            <a:spcAft>
              <a:spcPct val="20000"/>
            </a:spcAft>
            <a:buChar char="•"/>
          </a:pPr>
          <a:r>
            <a:rPr lang="fr-CI" sz="1900" kern="1200" dirty="0">
              <a:latin typeface="Calibri" panose="020F0502020204030204" pitchFamily="34" charset="0"/>
              <a:cs typeface="Calibri" panose="020F0502020204030204" pitchFamily="34" charset="0"/>
            </a:rPr>
            <a:t>Dans la même ligne, </a:t>
          </a:r>
          <a:r>
            <a:rPr lang="fr-CI" sz="1900" b="1" kern="1200" dirty="0" err="1">
              <a:latin typeface="Calibri" panose="020F0502020204030204" pitchFamily="34" charset="0"/>
              <a:cs typeface="Calibri" panose="020F0502020204030204" pitchFamily="34" charset="0"/>
            </a:rPr>
            <a:t>Ernan</a:t>
          </a:r>
          <a:r>
            <a:rPr lang="fr-CI" sz="1900" b="1" kern="1200" dirty="0">
              <a:latin typeface="Calibri" panose="020F0502020204030204" pitchFamily="34" charset="0"/>
              <a:cs typeface="Calibri" panose="020F0502020204030204" pitchFamily="34" charset="0"/>
            </a:rPr>
            <a:t> </a:t>
          </a:r>
          <a:r>
            <a:rPr lang="fr-CI" sz="1900" b="1" kern="1200" dirty="0" err="1">
              <a:latin typeface="Calibri" panose="020F0502020204030204" pitchFamily="34" charset="0"/>
              <a:cs typeface="Calibri" panose="020F0502020204030204" pitchFamily="34" charset="0"/>
            </a:rPr>
            <a:t>McMullin</a:t>
          </a:r>
          <a:r>
            <a:rPr lang="fr-CI" sz="1900" b="1" kern="1200" dirty="0">
              <a:latin typeface="Calibri" panose="020F0502020204030204" pitchFamily="34" charset="0"/>
              <a:cs typeface="Calibri" panose="020F0502020204030204" pitchFamily="34" charset="0"/>
            </a:rPr>
            <a:t> (1924–2011) </a:t>
          </a:r>
          <a:r>
            <a:rPr lang="fr-CI" sz="1900" kern="1200" dirty="0">
              <a:latin typeface="Calibri" panose="020F0502020204030204" pitchFamily="34" charset="0"/>
              <a:cs typeface="Calibri" panose="020F0502020204030204" pitchFamily="34" charset="0"/>
            </a:rPr>
            <a:t>soutient une forme modérée de réalisme scientifique. Pour lui, certaines sciences donnent des résultats vraiment réalistes : la géologie et la biologie cellulaire. Pour un bon groupe, il s’agit très souvent d’hypothèses et les résultats dépendent de ces hypothèses et d’autres qui peuvent aussi être formulées.</a:t>
          </a:r>
          <a:endParaRPr lang="fr-FR" sz="1900" kern="1200" dirty="0">
            <a:latin typeface="Calibri" panose="020F0502020204030204" pitchFamily="34" charset="0"/>
            <a:cs typeface="Calibri" panose="020F0502020204030204" pitchFamily="34" charset="0"/>
          </a:endParaRPr>
        </a:p>
        <a:p>
          <a:pPr marL="171450" lvl="1" indent="-171450" algn="l" defTabSz="844550">
            <a:lnSpc>
              <a:spcPct val="90000"/>
            </a:lnSpc>
            <a:spcBef>
              <a:spcPct val="0"/>
            </a:spcBef>
            <a:spcAft>
              <a:spcPct val="20000"/>
            </a:spcAft>
            <a:buChar char="•"/>
          </a:pPr>
          <a:endParaRPr lang="fr-FR" sz="1900" kern="1200" dirty="0">
            <a:latin typeface="Calibri" panose="020F0502020204030204" pitchFamily="34" charset="0"/>
            <a:cs typeface="Calibri" panose="020F0502020204030204" pitchFamily="34" charset="0"/>
          </a:endParaRPr>
        </a:p>
        <a:p>
          <a:pPr marL="171450" lvl="1" indent="-171450" algn="l" defTabSz="844550">
            <a:lnSpc>
              <a:spcPct val="90000"/>
            </a:lnSpc>
            <a:spcBef>
              <a:spcPct val="0"/>
            </a:spcBef>
            <a:spcAft>
              <a:spcPct val="20000"/>
            </a:spcAft>
            <a:buChar char="•"/>
          </a:pPr>
          <a:r>
            <a:rPr lang="fr-CI" sz="1900" kern="1200" dirty="0">
              <a:latin typeface="Calibri" panose="020F0502020204030204" pitchFamily="34" charset="0"/>
              <a:cs typeface="Calibri" panose="020F0502020204030204" pitchFamily="34" charset="0"/>
            </a:rPr>
            <a:t>Les affirmations de </a:t>
          </a:r>
          <a:r>
            <a:rPr lang="fr-CI" sz="1900" kern="1200" dirty="0" err="1">
              <a:latin typeface="Calibri" panose="020F0502020204030204" pitchFamily="34" charset="0"/>
              <a:cs typeface="Calibri" panose="020F0502020204030204" pitchFamily="34" charset="0"/>
            </a:rPr>
            <a:t>Giere</a:t>
          </a:r>
          <a:r>
            <a:rPr lang="fr-CI" sz="1900" kern="1200" dirty="0">
              <a:latin typeface="Calibri" panose="020F0502020204030204" pitchFamily="34" charset="0"/>
              <a:cs typeface="Calibri" panose="020F0502020204030204" pitchFamily="34" charset="0"/>
            </a:rPr>
            <a:t> et de </a:t>
          </a:r>
          <a:r>
            <a:rPr lang="fr-CI" sz="1900" kern="1200" dirty="0" err="1">
              <a:latin typeface="Calibri" panose="020F0502020204030204" pitchFamily="34" charset="0"/>
              <a:cs typeface="Calibri" panose="020F0502020204030204" pitchFamily="34" charset="0"/>
            </a:rPr>
            <a:t>McMullin</a:t>
          </a:r>
          <a:r>
            <a:rPr lang="fr-CI" sz="1900" kern="1200" dirty="0">
              <a:latin typeface="Calibri" panose="020F0502020204030204" pitchFamily="34" charset="0"/>
              <a:cs typeface="Calibri" panose="020F0502020204030204" pitchFamily="34" charset="0"/>
            </a:rPr>
            <a:t> transmettent un message important : </a:t>
          </a:r>
          <a:r>
            <a:rPr lang="fr-CI" sz="1900" b="1" kern="1200" dirty="0">
              <a:latin typeface="Calibri" panose="020F0502020204030204" pitchFamily="34" charset="0"/>
              <a:cs typeface="Calibri" panose="020F0502020204030204" pitchFamily="34" charset="0"/>
            </a:rPr>
            <a:t>le réalisme dépend du niveau d’organisation de l’objet étudié et des possibilités de l’observer. </a:t>
          </a:r>
          <a:endParaRPr lang="fr-FR" sz="1900" kern="1200" dirty="0">
            <a:latin typeface="Calibri" panose="020F0502020204030204" pitchFamily="34" charset="0"/>
            <a:cs typeface="Calibri" panose="020F0502020204030204" pitchFamily="34" charset="0"/>
          </a:endParaRPr>
        </a:p>
        <a:p>
          <a:pPr marL="171450" lvl="1" indent="-171450" algn="l" defTabSz="844550">
            <a:lnSpc>
              <a:spcPct val="90000"/>
            </a:lnSpc>
            <a:spcBef>
              <a:spcPct val="0"/>
            </a:spcBef>
            <a:spcAft>
              <a:spcPct val="20000"/>
            </a:spcAft>
            <a:buChar char="•"/>
          </a:pPr>
          <a:endParaRPr lang="fr-FR" sz="1900" kern="1200" dirty="0">
            <a:latin typeface="Calibri" panose="020F0502020204030204" pitchFamily="34" charset="0"/>
            <a:cs typeface="Calibri" panose="020F0502020204030204" pitchFamily="34" charset="0"/>
          </a:endParaRPr>
        </a:p>
        <a:p>
          <a:pPr marL="171450" lvl="1" indent="-171450" algn="l" defTabSz="844550">
            <a:lnSpc>
              <a:spcPct val="90000"/>
            </a:lnSpc>
            <a:spcBef>
              <a:spcPct val="0"/>
            </a:spcBef>
            <a:spcAft>
              <a:spcPct val="20000"/>
            </a:spcAft>
            <a:buChar char="•"/>
          </a:pPr>
          <a:r>
            <a:rPr lang="fr-CI" sz="1900" kern="1200" dirty="0">
              <a:latin typeface="Calibri" panose="020F0502020204030204" pitchFamily="34" charset="0"/>
              <a:cs typeface="Calibri" panose="020F0502020204030204" pitchFamily="34" charset="0"/>
            </a:rPr>
            <a:t>Nicholas </a:t>
          </a:r>
          <a:r>
            <a:rPr lang="fr-CI" sz="1900" kern="1200" dirty="0" err="1">
              <a:latin typeface="Calibri" panose="020F0502020204030204" pitchFamily="34" charset="0"/>
              <a:cs typeface="Calibri" panose="020F0502020204030204" pitchFamily="34" charset="0"/>
            </a:rPr>
            <a:t>Rescher</a:t>
          </a:r>
          <a:r>
            <a:rPr lang="fr-CI" sz="1900" kern="1200" dirty="0">
              <a:latin typeface="Calibri" panose="020F0502020204030204" pitchFamily="34" charset="0"/>
              <a:cs typeface="Calibri" panose="020F0502020204030204" pitchFamily="34" charset="0"/>
            </a:rPr>
            <a:t> (1928- ) a consacré un livre entier à étudier le réalisme scientifique : Scientific </a:t>
          </a:r>
          <a:r>
            <a:rPr lang="fr-CI" sz="1900" kern="1200" dirty="0" err="1">
              <a:latin typeface="Calibri" panose="020F0502020204030204" pitchFamily="34" charset="0"/>
              <a:cs typeface="Calibri" panose="020F0502020204030204" pitchFamily="34" charset="0"/>
            </a:rPr>
            <a:t>Realism</a:t>
          </a:r>
          <a:r>
            <a:rPr lang="fr-CI" sz="1900" kern="1200" dirty="0">
              <a:latin typeface="Calibri" panose="020F0502020204030204" pitchFamily="34" charset="0"/>
              <a:cs typeface="Calibri" panose="020F0502020204030204" pitchFamily="34" charset="0"/>
            </a:rPr>
            <a:t> : A Critical </a:t>
          </a:r>
          <a:r>
            <a:rPr lang="fr-CI" sz="1900" kern="1200" dirty="0" err="1">
              <a:latin typeface="Calibri" panose="020F0502020204030204" pitchFamily="34" charset="0"/>
              <a:cs typeface="Calibri" panose="020F0502020204030204" pitchFamily="34" charset="0"/>
            </a:rPr>
            <a:t>Reappraisal</a:t>
          </a:r>
          <a:r>
            <a:rPr lang="fr-CI" sz="1900" kern="1200" dirty="0">
              <a:latin typeface="Calibri" panose="020F0502020204030204" pitchFamily="34" charset="0"/>
              <a:cs typeface="Calibri" panose="020F0502020204030204" pitchFamily="34" charset="0"/>
            </a:rPr>
            <a:t> (1987). </a:t>
          </a:r>
          <a:r>
            <a:rPr lang="fr-CI" sz="1900" b="1" kern="1200" dirty="0">
              <a:latin typeface="Calibri" panose="020F0502020204030204" pitchFamily="34" charset="0"/>
              <a:cs typeface="Calibri" panose="020F0502020204030204" pitchFamily="34" charset="0"/>
            </a:rPr>
            <a:t>Il critique ouvertement l’instrumentalisme et soutient que l’objet de la science est étroitement lié au réalisme</a:t>
          </a:r>
          <a:r>
            <a:rPr lang="fr-CI" sz="1900" kern="1200" dirty="0">
              <a:latin typeface="Calibri" panose="020F0502020204030204" pitchFamily="34" charset="0"/>
              <a:cs typeface="Calibri" panose="020F0502020204030204" pitchFamily="34" charset="0"/>
            </a:rPr>
            <a:t>. </a:t>
          </a:r>
          <a:endParaRPr lang="fr-FR" sz="1900" kern="1200" dirty="0">
            <a:latin typeface="Calibri" panose="020F0502020204030204" pitchFamily="34" charset="0"/>
            <a:cs typeface="Calibri" panose="020F0502020204030204" pitchFamily="34" charset="0"/>
          </a:endParaRPr>
        </a:p>
        <a:p>
          <a:pPr marL="171450" lvl="1" indent="-171450" algn="l" defTabSz="844550">
            <a:lnSpc>
              <a:spcPct val="90000"/>
            </a:lnSpc>
            <a:spcBef>
              <a:spcPct val="0"/>
            </a:spcBef>
            <a:spcAft>
              <a:spcPct val="20000"/>
            </a:spcAft>
            <a:buChar char="•"/>
          </a:pPr>
          <a:endParaRPr lang="fr-FR" sz="1900" kern="1200" dirty="0">
            <a:latin typeface="Calibri" panose="020F0502020204030204" pitchFamily="34" charset="0"/>
            <a:cs typeface="Calibri" panose="020F0502020204030204" pitchFamily="34" charset="0"/>
          </a:endParaRPr>
        </a:p>
        <a:p>
          <a:pPr marL="171450" lvl="1" indent="-171450" algn="l" defTabSz="844550">
            <a:lnSpc>
              <a:spcPct val="90000"/>
            </a:lnSpc>
            <a:spcBef>
              <a:spcPct val="0"/>
            </a:spcBef>
            <a:spcAft>
              <a:spcPct val="20000"/>
            </a:spcAft>
            <a:buChar char="•"/>
          </a:pPr>
          <a:r>
            <a:rPr lang="fr-CI" sz="1900" kern="1200" dirty="0" err="1">
              <a:latin typeface="Calibri" panose="020F0502020204030204" pitchFamily="34" charset="0"/>
              <a:cs typeface="Calibri" panose="020F0502020204030204" pitchFamily="34" charset="0"/>
            </a:rPr>
            <a:t>Rescher</a:t>
          </a:r>
          <a:r>
            <a:rPr lang="fr-CI" sz="1900" kern="1200" dirty="0">
              <a:latin typeface="Calibri" panose="020F0502020204030204" pitchFamily="34" charset="0"/>
              <a:cs typeface="Calibri" panose="020F0502020204030204" pitchFamily="34" charset="0"/>
            </a:rPr>
            <a:t> a raison lorsqu’il dit que l’engagement avec la vérité est essentiel pour définir les objectifs et la nature même de l’entreprise scientifique.</a:t>
          </a:r>
          <a:endParaRPr lang="fr-FR" sz="1900" kern="1200" dirty="0">
            <a:latin typeface="Calibri" panose="020F0502020204030204" pitchFamily="34" charset="0"/>
            <a:cs typeface="Calibri" panose="020F0502020204030204" pitchFamily="34" charset="0"/>
          </a:endParaRPr>
        </a:p>
      </dsp:txBody>
      <dsp:txXfrm>
        <a:off x="0" y="547818"/>
        <a:ext cx="11476652" cy="4504320"/>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BendingPictureCaptionList">
  <dgm:title val=""/>
  <dgm:desc val=""/>
  <dgm:catLst>
    <dgm:cat type="picture" pri="9000"/>
    <dgm:cat type="pictureconvert" pri="9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w" fact="1.11"/>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
        </dgm:alg>
        <dgm:shape xmlns:r="http://schemas.openxmlformats.org/officeDocument/2006/relationships" r:blip="">
          <dgm:adjLst/>
        </dgm:shape>
        <dgm:choose name="Name4">
          <dgm:if name="Name5" func="var" arg="dir" op="equ" val="norm">
            <dgm:constrLst>
              <dgm:constr type="l" for="ch" forName="rect1" refType="w" fact="0"/>
              <dgm:constr type="t" for="ch" forName="rect1" refType="h" fact="0"/>
              <dgm:constr type="w" for="ch" forName="rect1" refType="w"/>
              <dgm:constr type="h" for="ch" forName="rect1" refType="h" fact="0.8"/>
              <dgm:constr type="l" for="ch" forName="wedgeRectCallout1" refType="w" fact="0.09"/>
              <dgm:constr type="t" for="ch" forName="wedgeRectCallout1" refType="h" fact="0.72"/>
              <dgm:constr type="w" for="ch" forName="wedgeRectCallout1" refType="w" fact="0.89"/>
              <dgm:constr type="h" for="ch" forName="wedgeRectCallout1" refType="h" fact="0.28"/>
            </dgm:constrLst>
          </dgm:if>
          <dgm:else name="Name6">
            <dgm:constrLst>
              <dgm:constr type="l" for="ch" forName="rect1" refType="w" fact="0"/>
              <dgm:constr type="t" for="ch" forName="rect1" refType="h" fact="0"/>
              <dgm:constr type="w" for="ch" forName="rect1" refType="w"/>
              <dgm:constr type="h" for="ch" forName="rect1" refType="h" fact="0.8"/>
              <dgm:constr type="l" for="ch" forName="wedgeRectCallout1" refType="w" fact="0.02"/>
              <dgm:constr type="t" for="ch" forName="wedgeRectCallout1" refType="h" fact="0.72"/>
              <dgm:constr type="w" for="ch" forName="wedgeRectCallout1" refType="w" fact="0.89"/>
              <dgm:constr type="h" for="ch" forName="wedgeRectCallout1" refType="h" fact="0.28"/>
            </dgm:constrLst>
          </dgm:else>
        </dgm:choose>
        <dgm:layoutNode name="rect1" styleLbl="bgImgPlace1">
          <dgm:alg type="sp"/>
          <dgm:shape xmlns:r="http://schemas.openxmlformats.org/officeDocument/2006/relationships" type="rect" r:blip="" blipPhldr="1">
            <dgm:adjLst/>
          </dgm:shape>
          <dgm:presOf/>
        </dgm:layoutNode>
        <dgm:layoutNode name="wedgeRectCallout1" styleLbl="node1">
          <dgm:varLst>
            <dgm:bulletEnabled val="1"/>
          </dgm:varLst>
          <dgm:alg type="tx"/>
          <dgm:choose name="Name7">
            <dgm:if name="Name8" func="var" arg="dir" op="equ" val="norm">
              <dgm:shape xmlns:r="http://schemas.openxmlformats.org/officeDocument/2006/relationships" type="wedgeRectCallout" r:blip="">
                <dgm:adjLst>
                  <dgm:adj idx="1" val="0.2025"/>
                  <dgm:adj idx="2" val="-0.607"/>
                </dgm:adjLst>
              </dgm:shape>
            </dgm:if>
            <dgm:else name="Name9">
              <dgm:shape xmlns:r="http://schemas.openxmlformats.org/officeDocument/2006/relationships" type="wedgeRectCallout" r:blip="">
                <dgm:adjLst>
                  <dgm:adj idx="1" val="-0.2025"/>
                  <dgm:adj idx="2" val="-0.607"/>
                </dgm:adjLst>
              </dgm:shape>
            </dgm:else>
          </dgm:choos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225194-84D3-4247-B24B-8EAB38DC744A}" type="datetimeFigureOut">
              <a:rPr lang="fr-FR" smtClean="0"/>
              <a:t>29/04/2022</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9D95C4-06BD-47FB-8FCA-CF027DF1520F}" type="slidenum">
              <a:rPr lang="fr-FR" smtClean="0"/>
              <a:t>‹N°›</a:t>
            </a:fld>
            <a:endParaRPr lang="fr-FR"/>
          </a:p>
        </p:txBody>
      </p:sp>
    </p:spTree>
    <p:extLst>
      <p:ext uri="{BB962C8B-B14F-4D97-AF65-F5344CB8AC3E}">
        <p14:creationId xmlns:p14="http://schemas.microsoft.com/office/powerpoint/2010/main" val="25444450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fr-FR"/>
              <a:t>Modifiez le style du titre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1823E694-853D-46D4-BA20-94F91A9374F5}" type="datetimeFigureOut">
              <a:rPr lang="fr-FR" smtClean="0"/>
              <a:t>29/04/2022</a:t>
            </a:fld>
            <a:endParaRPr lang="fr-FR"/>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fr-FR"/>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41E28637-DC4D-4653-84F6-2B2353F18D4A}" type="slidenum">
              <a:rPr lang="fr-FR" smtClean="0"/>
              <a:t>‹N°›</a:t>
            </a:fld>
            <a:endParaRPr lang="fr-FR"/>
          </a:p>
        </p:txBody>
      </p:sp>
    </p:spTree>
    <p:extLst>
      <p:ext uri="{BB962C8B-B14F-4D97-AF65-F5344CB8AC3E}">
        <p14:creationId xmlns:p14="http://schemas.microsoft.com/office/powerpoint/2010/main" val="249448863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1823E694-853D-46D4-BA20-94F91A9374F5}" type="datetimeFigureOut">
              <a:rPr lang="fr-FR" smtClean="0"/>
              <a:t>29/04/2022</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41E28637-DC4D-4653-84F6-2B2353F18D4A}" type="slidenum">
              <a:rPr lang="fr-FR" smtClean="0"/>
              <a:t>‹N°›</a:t>
            </a:fld>
            <a:endParaRPr lang="fr-FR"/>
          </a:p>
        </p:txBody>
      </p:sp>
    </p:spTree>
    <p:extLst>
      <p:ext uri="{BB962C8B-B14F-4D97-AF65-F5344CB8AC3E}">
        <p14:creationId xmlns:p14="http://schemas.microsoft.com/office/powerpoint/2010/main" val="3465556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fr-FR"/>
              <a:t>Modifiez le style du titre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1823E694-853D-46D4-BA20-94F91A9374F5}" type="datetimeFigureOut">
              <a:rPr lang="fr-FR" smtClean="0"/>
              <a:t>29/04/2022</a:t>
            </a:fld>
            <a:endParaRPr lang="fr-FR"/>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fr-FR"/>
          </a:p>
        </p:txBody>
      </p:sp>
      <p:sp>
        <p:nvSpPr>
          <p:cNvPr id="6" name="Slide Number Placeholder 5"/>
          <p:cNvSpPr>
            <a:spLocks noGrp="1"/>
          </p:cNvSpPr>
          <p:nvPr>
            <p:ph type="sldNum" sz="quarter" idx="12"/>
          </p:nvPr>
        </p:nvSpPr>
        <p:spPr>
          <a:xfrm>
            <a:off x="8604504" y="5211060"/>
            <a:ext cx="2112264" cy="228600"/>
          </a:xfrm>
        </p:spPr>
        <p:txBody>
          <a:bodyPr/>
          <a:lstStyle/>
          <a:p>
            <a:fld id="{41E28637-DC4D-4653-84F6-2B2353F18D4A}" type="slidenum">
              <a:rPr lang="fr-FR" smtClean="0"/>
              <a:t>‹N°›</a:t>
            </a:fld>
            <a:endParaRPr lang="fr-FR"/>
          </a:p>
        </p:txBody>
      </p:sp>
    </p:spTree>
    <p:extLst>
      <p:ext uri="{BB962C8B-B14F-4D97-AF65-F5344CB8AC3E}">
        <p14:creationId xmlns:p14="http://schemas.microsoft.com/office/powerpoint/2010/main" val="379290613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1823E694-853D-46D4-BA20-94F91A9374F5}" type="datetimeFigureOut">
              <a:rPr lang="fr-FR" smtClean="0"/>
              <a:t>29/04/2022</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1E28637-DC4D-4653-84F6-2B2353F18D4A}" type="slidenum">
              <a:rPr lang="fr-FR" smtClean="0"/>
              <a:t>‹N°›</a:t>
            </a:fld>
            <a:endParaRPr lang="fr-FR"/>
          </a:p>
        </p:txBody>
      </p:sp>
    </p:spTree>
    <p:extLst>
      <p:ext uri="{BB962C8B-B14F-4D97-AF65-F5344CB8AC3E}">
        <p14:creationId xmlns:p14="http://schemas.microsoft.com/office/powerpoint/2010/main" val="783048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1823E694-853D-46D4-BA20-94F91A9374F5}" type="datetimeFigureOut">
              <a:rPr lang="fr-FR" smtClean="0"/>
              <a:t>29/04/2022</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41E28637-DC4D-4653-84F6-2B2353F18D4A}" type="slidenum">
              <a:rPr lang="fr-FR" smtClean="0"/>
              <a:t>‹N°›</a:t>
            </a:fld>
            <a:endParaRPr lang="fr-FR"/>
          </a:p>
        </p:txBody>
      </p:sp>
    </p:spTree>
    <p:extLst>
      <p:ext uri="{BB962C8B-B14F-4D97-AF65-F5344CB8AC3E}">
        <p14:creationId xmlns:p14="http://schemas.microsoft.com/office/powerpoint/2010/main" val="24214140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1823E694-853D-46D4-BA20-94F91A9374F5}" type="datetimeFigureOut">
              <a:rPr lang="fr-FR" smtClean="0"/>
              <a:t>29/04/2022</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41E28637-DC4D-4653-84F6-2B2353F18D4A}" type="slidenum">
              <a:rPr lang="fr-FR" smtClean="0"/>
              <a:t>‹N°›</a:t>
            </a:fld>
            <a:endParaRPr lang="fr-FR"/>
          </a:p>
        </p:txBody>
      </p:sp>
    </p:spTree>
    <p:extLst>
      <p:ext uri="{BB962C8B-B14F-4D97-AF65-F5344CB8AC3E}">
        <p14:creationId xmlns:p14="http://schemas.microsoft.com/office/powerpoint/2010/main" val="573724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23E694-853D-46D4-BA20-94F91A9374F5}" type="datetimeFigureOut">
              <a:rPr lang="fr-FR" smtClean="0"/>
              <a:t>29/04/2022</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41E28637-DC4D-4653-84F6-2B2353F18D4A}" type="slidenum">
              <a:rPr lang="fr-FR" smtClean="0"/>
              <a:t>‹N°›</a:t>
            </a:fld>
            <a:endParaRPr lang="fr-FR"/>
          </a:p>
        </p:txBody>
      </p:sp>
    </p:spTree>
    <p:extLst>
      <p:ext uri="{BB962C8B-B14F-4D97-AF65-F5344CB8AC3E}">
        <p14:creationId xmlns:p14="http://schemas.microsoft.com/office/powerpoint/2010/main" val="4170308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fr-FR"/>
              <a:t>Modifiez le style du titre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8" name="Date Placeholder 7"/>
          <p:cNvSpPr>
            <a:spLocks noGrp="1"/>
          </p:cNvSpPr>
          <p:nvPr>
            <p:ph type="dt" sz="half" idx="10"/>
          </p:nvPr>
        </p:nvSpPr>
        <p:spPr/>
        <p:txBody>
          <a:bodyPr/>
          <a:lstStyle/>
          <a:p>
            <a:fld id="{1823E694-853D-46D4-BA20-94F91A9374F5}" type="datetimeFigureOut">
              <a:rPr lang="fr-FR" smtClean="0"/>
              <a:t>29/04/2022</a:t>
            </a:fld>
            <a:endParaRPr lang="fr-FR"/>
          </a:p>
        </p:txBody>
      </p:sp>
      <p:sp>
        <p:nvSpPr>
          <p:cNvPr id="9" name="Footer Placeholder 8"/>
          <p:cNvSpPr>
            <a:spLocks noGrp="1"/>
          </p:cNvSpPr>
          <p:nvPr>
            <p:ph type="ftr" sz="quarter" idx="11"/>
          </p:nvPr>
        </p:nvSpPr>
        <p:spPr/>
        <p:txBody>
          <a:bodyPr/>
          <a:lstStyle>
            <a:lvl1pPr algn="r">
              <a:defRPr/>
            </a:lvl1pPr>
          </a:lstStyle>
          <a:p>
            <a:endParaRPr lang="fr-FR"/>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41E28637-DC4D-4653-84F6-2B2353F18D4A}" type="slidenum">
              <a:rPr lang="fr-FR" smtClean="0"/>
              <a:t>‹N°›</a:t>
            </a:fld>
            <a:endParaRPr lang="fr-FR"/>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431730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fr-FR"/>
              <a:t>Modifiez le style du titre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1823E694-853D-46D4-BA20-94F91A9374F5}" type="datetimeFigureOut">
              <a:rPr lang="fr-FR" smtClean="0"/>
              <a:t>29/04/2022</a:t>
            </a:fld>
            <a:endParaRPr lang="fr-FR"/>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fr-FR"/>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41E28637-DC4D-4653-84F6-2B2353F18D4A}" type="slidenum">
              <a:rPr lang="fr-FR" smtClean="0"/>
              <a:t>‹N°›</a:t>
            </a:fld>
            <a:endParaRPr lang="fr-FR"/>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285024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1823E694-853D-46D4-BA20-94F91A9374F5}" type="datetimeFigureOut">
              <a:rPr lang="fr-FR" smtClean="0"/>
              <a:t>29/04/2022</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1E28637-DC4D-4653-84F6-2B2353F18D4A}" type="slidenum">
              <a:rPr lang="fr-FR" smtClean="0"/>
              <a:t>‹N°›</a:t>
            </a:fld>
            <a:endParaRPr lang="fr-FR"/>
          </a:p>
        </p:txBody>
      </p:sp>
    </p:spTree>
    <p:extLst>
      <p:ext uri="{BB962C8B-B14F-4D97-AF65-F5344CB8AC3E}">
        <p14:creationId xmlns:p14="http://schemas.microsoft.com/office/powerpoint/2010/main" val="763313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1823E694-853D-46D4-BA20-94F91A9374F5}" type="datetimeFigureOut">
              <a:rPr lang="fr-FR" smtClean="0"/>
              <a:t>29/04/2022</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1E28637-DC4D-4653-84F6-2B2353F18D4A}" type="slidenum">
              <a:rPr lang="fr-FR" smtClean="0"/>
              <a:t>‹N°›</a:t>
            </a:fld>
            <a:endParaRPr lang="fr-FR"/>
          </a:p>
        </p:txBody>
      </p:sp>
    </p:spTree>
    <p:extLst>
      <p:ext uri="{BB962C8B-B14F-4D97-AF65-F5344CB8AC3E}">
        <p14:creationId xmlns:p14="http://schemas.microsoft.com/office/powerpoint/2010/main" val="3834493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fr-FR"/>
              <a:t>Modifiez le style du titre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4/29/2022</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‹N°›</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964908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ncho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061913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fr-FR"/>
              <a:t>Modifiez le style du titre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fld id="{48A87A34-81AB-432B-8DAE-1953F412C126}" type="datetimeFigureOut">
              <a:rPr lang="en-US" smtClean="0"/>
              <a:t>4/29/2022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660292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fr-FR"/>
              <a:t>Modifiez le style du titre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4/29/2022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527533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fr-FR"/>
              <a:t>Modifiez le style du titre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Content Placeholder 3"/>
          <p:cNvSpPr>
            <a:spLocks noGrp="1"/>
          </p:cNvSpPr>
          <p:nvPr>
            <p:ph sz="half" idx="2"/>
          </p:nvPr>
        </p:nvSpPr>
        <p:spPr>
          <a:xfrm>
            <a:off x="1447191" y="2824269"/>
            <a:ext cx="4645152" cy="2644457"/>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Content Placeholder 5"/>
          <p:cNvSpPr>
            <a:spLocks noGrp="1"/>
          </p:cNvSpPr>
          <p:nvPr>
            <p:ph sz="quarter" idx="4"/>
          </p:nvPr>
        </p:nvSpPr>
        <p:spPr>
          <a:xfrm>
            <a:off x="6412362" y="2821491"/>
            <a:ext cx="4645152" cy="2637371"/>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4/29/2022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459754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4/29/2022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088751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4/29/2022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a:t>
            </a:fld>
            <a:endParaRPr lang="en-US" dirty="0"/>
          </a:p>
        </p:txBody>
      </p:sp>
    </p:spTree>
    <p:extLst>
      <p:ext uri="{BB962C8B-B14F-4D97-AF65-F5344CB8AC3E}">
        <p14:creationId xmlns:p14="http://schemas.microsoft.com/office/powerpoint/2010/main" val="3637473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fr-FR"/>
              <a:t>Modifiez le style du titre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smtClean="0"/>
              <a:t>4/29/2022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559539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dirty="0"/>
              <a:t>Cliquez sur l'icône pour ajouter une image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smtClean="0"/>
              <a:pPr/>
              <a:t>4/29/2022</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208796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142037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fr-FR"/>
              <a:t>Modifiez le style du titre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61438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1823E694-853D-46D4-BA20-94F91A9374F5}" type="datetimeFigureOut">
              <a:rPr lang="fr-FR" smtClean="0"/>
              <a:t>29/04/2022</a:t>
            </a:fld>
            <a:endParaRPr lang="fr-FR"/>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fr-FR"/>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41E28637-DC4D-4653-84F6-2B2353F18D4A}" type="slidenum">
              <a:rPr lang="fr-FR" smtClean="0"/>
              <a:t>‹N°›</a:t>
            </a:fld>
            <a:endParaRPr lang="fr-FR"/>
          </a:p>
        </p:txBody>
      </p:sp>
    </p:spTree>
    <p:extLst>
      <p:ext uri="{BB962C8B-B14F-4D97-AF65-F5344CB8AC3E}">
        <p14:creationId xmlns:p14="http://schemas.microsoft.com/office/powerpoint/2010/main" val="132230913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smtClean="0"/>
              <a:pPr/>
              <a:t>4/29/2022</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‹N°›</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492941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18.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21.xml.rels><?xml version="1.0" encoding="UTF-8" standalone="yes"?>
<Relationships xmlns="http://schemas.openxmlformats.org/package/2006/relationships"><Relationship Id="rId8" Type="http://schemas.openxmlformats.org/officeDocument/2006/relationships/diagramLayout" Target="../diagrams/layout16.xml"/><Relationship Id="rId3" Type="http://schemas.openxmlformats.org/officeDocument/2006/relationships/diagramLayout" Target="../diagrams/layout15.xml"/><Relationship Id="rId7" Type="http://schemas.openxmlformats.org/officeDocument/2006/relationships/diagramData" Target="../diagrams/data16.xml"/><Relationship Id="rId2" Type="http://schemas.openxmlformats.org/officeDocument/2006/relationships/diagramData" Target="../diagrams/data15.xml"/><Relationship Id="rId1" Type="http://schemas.openxmlformats.org/officeDocument/2006/relationships/slideLayout" Target="../slideLayouts/slideLayout18.xml"/><Relationship Id="rId6" Type="http://schemas.microsoft.com/office/2007/relationships/diagramDrawing" Target="../diagrams/drawing15.xml"/><Relationship Id="rId11" Type="http://schemas.microsoft.com/office/2007/relationships/diagramDrawing" Target="../diagrams/drawing16.xml"/><Relationship Id="rId5" Type="http://schemas.openxmlformats.org/officeDocument/2006/relationships/diagramColors" Target="../diagrams/colors15.xml"/><Relationship Id="rId10" Type="http://schemas.openxmlformats.org/officeDocument/2006/relationships/diagramColors" Target="../diagrams/colors16.xml"/><Relationship Id="rId4" Type="http://schemas.openxmlformats.org/officeDocument/2006/relationships/diagramQuickStyle" Target="../diagrams/quickStyle15.xml"/><Relationship Id="rId9" Type="http://schemas.openxmlformats.org/officeDocument/2006/relationships/diagramQuickStyle" Target="../diagrams/quickStyle16.xml"/></Relationships>
</file>

<file path=ppt/slides/_rels/slide22.xml.rels><?xml version="1.0" encoding="UTF-8" standalone="yes"?>
<Relationships xmlns="http://schemas.openxmlformats.org/package/2006/relationships"><Relationship Id="rId8" Type="http://schemas.openxmlformats.org/officeDocument/2006/relationships/diagramLayout" Target="../diagrams/layout18.xml"/><Relationship Id="rId3" Type="http://schemas.openxmlformats.org/officeDocument/2006/relationships/diagramLayout" Target="../diagrams/layout17.xml"/><Relationship Id="rId7" Type="http://schemas.openxmlformats.org/officeDocument/2006/relationships/diagramData" Target="../diagrams/data18.xml"/><Relationship Id="rId2" Type="http://schemas.openxmlformats.org/officeDocument/2006/relationships/diagramData" Target="../diagrams/data17.xml"/><Relationship Id="rId1" Type="http://schemas.openxmlformats.org/officeDocument/2006/relationships/slideLayout" Target="../slideLayouts/slideLayout13.xml"/><Relationship Id="rId6" Type="http://schemas.microsoft.com/office/2007/relationships/diagramDrawing" Target="../diagrams/drawing17.xml"/><Relationship Id="rId11" Type="http://schemas.microsoft.com/office/2007/relationships/diagramDrawing" Target="../diagrams/drawing18.xml"/><Relationship Id="rId5" Type="http://schemas.openxmlformats.org/officeDocument/2006/relationships/diagramColors" Target="../diagrams/colors17.xml"/><Relationship Id="rId10" Type="http://schemas.openxmlformats.org/officeDocument/2006/relationships/diagramColors" Target="../diagrams/colors18.xml"/><Relationship Id="rId4" Type="http://schemas.openxmlformats.org/officeDocument/2006/relationships/diagramQuickStyle" Target="../diagrams/quickStyle17.xml"/><Relationship Id="rId9" Type="http://schemas.openxmlformats.org/officeDocument/2006/relationships/diagramQuickStyle" Target="../diagrams/quickStyl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18.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18.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2.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27.xml"/><Relationship Id="rId2" Type="http://schemas.openxmlformats.org/officeDocument/2006/relationships/diagramData" Target="../diagrams/data27.xml"/><Relationship Id="rId1" Type="http://schemas.openxmlformats.org/officeDocument/2006/relationships/slideLayout" Target="../slideLayouts/slideLayout2.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28.xml"/><Relationship Id="rId2" Type="http://schemas.openxmlformats.org/officeDocument/2006/relationships/diagramData" Target="../diagrams/data28.xml"/><Relationship Id="rId1" Type="http://schemas.openxmlformats.org/officeDocument/2006/relationships/slideLayout" Target="../slideLayouts/slideLayout2.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29.xml"/><Relationship Id="rId2" Type="http://schemas.openxmlformats.org/officeDocument/2006/relationships/diagramData" Target="../diagrams/data29.xml"/><Relationship Id="rId1" Type="http://schemas.openxmlformats.org/officeDocument/2006/relationships/slideLayout" Target="../slideLayouts/slideLayout2.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30.xml"/><Relationship Id="rId2" Type="http://schemas.openxmlformats.org/officeDocument/2006/relationships/diagramData" Target="../diagrams/data30.xml"/><Relationship Id="rId1" Type="http://schemas.openxmlformats.org/officeDocument/2006/relationships/slideLayout" Target="../slideLayouts/slideLayout2.xml"/><Relationship Id="rId6" Type="http://schemas.microsoft.com/office/2007/relationships/diagramDrawing" Target="../diagrams/drawing30.xml"/><Relationship Id="rId5" Type="http://schemas.openxmlformats.org/officeDocument/2006/relationships/diagramColors" Target="../diagrams/colors30.xml"/><Relationship Id="rId4" Type="http://schemas.openxmlformats.org/officeDocument/2006/relationships/diagramQuickStyle" Target="../diagrams/quickStyle3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380931" y="1670978"/>
            <a:ext cx="10142375" cy="2541431"/>
          </a:xfrm>
        </p:spPr>
        <p:txBody>
          <a:bodyPr>
            <a:normAutofit fontScale="90000"/>
          </a:bodyPr>
          <a:lstStyle/>
          <a:p>
            <a:pPr algn="ctr"/>
            <a:r>
              <a:rPr lang="fr-CI" b="1" dirty="0"/>
              <a:t>Partie II - </a:t>
            </a:r>
            <a:r>
              <a:rPr lang="fr-FR" b="1" dirty="0"/>
              <a:t>Les révolutions scientifiques du XXème siècle</a:t>
            </a:r>
            <a:br>
              <a:rPr lang="en-US" dirty="0"/>
            </a:br>
            <a:endParaRPr lang="en-US" dirty="0"/>
          </a:p>
        </p:txBody>
      </p:sp>
      <p:sp>
        <p:nvSpPr>
          <p:cNvPr id="3" name="Sous-titre 2">
            <a:extLst>
              <a:ext uri="{FF2B5EF4-FFF2-40B4-BE49-F238E27FC236}">
                <a16:creationId xmlns:a16="http://schemas.microsoft.com/office/drawing/2014/main" id="{6AAA4EB3-4628-41C4-AC64-9C62DCC0FDD6}"/>
              </a:ext>
            </a:extLst>
          </p:cNvPr>
          <p:cNvSpPr>
            <a:spLocks noGrp="1"/>
          </p:cNvSpPr>
          <p:nvPr>
            <p:ph type="subTitle" idx="1"/>
          </p:nvPr>
        </p:nvSpPr>
        <p:spPr>
          <a:xfrm>
            <a:off x="9978312" y="5755082"/>
            <a:ext cx="2213688" cy="457201"/>
          </a:xfrm>
        </p:spPr>
        <p:txBody>
          <a:bodyPr>
            <a:normAutofit fontScale="92500" lnSpcReduction="10000"/>
          </a:bodyPr>
          <a:lstStyle/>
          <a:p>
            <a:r>
              <a:rPr lang="fr-FR" dirty="0"/>
              <a:t>M. L’ABBE TRAORE</a:t>
            </a:r>
          </a:p>
        </p:txBody>
      </p:sp>
    </p:spTree>
    <p:extLst>
      <p:ext uri="{BB962C8B-B14F-4D97-AF65-F5344CB8AC3E}">
        <p14:creationId xmlns:p14="http://schemas.microsoft.com/office/powerpoint/2010/main" val="230189494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fficher l’image source">
            <a:extLst>
              <a:ext uri="{FF2B5EF4-FFF2-40B4-BE49-F238E27FC236}">
                <a16:creationId xmlns:a16="http://schemas.microsoft.com/office/drawing/2014/main" id="{9556C8CB-575D-4A31-87C2-5EF1096FB3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124" y="1276350"/>
            <a:ext cx="11715751" cy="54006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Espace réservé du contenu 3">
            <a:extLst>
              <a:ext uri="{FF2B5EF4-FFF2-40B4-BE49-F238E27FC236}">
                <a16:creationId xmlns:a16="http://schemas.microsoft.com/office/drawing/2014/main" id="{6A3447F5-A703-4BEE-8DAE-D01979E86D4E}"/>
              </a:ext>
            </a:extLst>
          </p:cNvPr>
          <p:cNvGraphicFramePr>
            <a:graphicFrameLocks noGrp="1"/>
          </p:cNvGraphicFramePr>
          <p:nvPr>
            <p:ph idx="1"/>
            <p:extLst>
              <p:ext uri="{D42A27DB-BD31-4B8C-83A1-F6EECF244321}">
                <p14:modId xmlns:p14="http://schemas.microsoft.com/office/powerpoint/2010/main" val="749115049"/>
              </p:ext>
            </p:extLst>
          </p:nvPr>
        </p:nvGraphicFramePr>
        <p:xfrm>
          <a:off x="768221" y="1707502"/>
          <a:ext cx="10727093" cy="46093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itre 1">
            <a:extLst>
              <a:ext uri="{FF2B5EF4-FFF2-40B4-BE49-F238E27FC236}">
                <a16:creationId xmlns:a16="http://schemas.microsoft.com/office/drawing/2014/main" id="{BDA486CE-B555-409C-8768-11F0E37AA3A6}"/>
              </a:ext>
            </a:extLst>
          </p:cNvPr>
          <p:cNvSpPr>
            <a:spLocks noGrp="1"/>
          </p:cNvSpPr>
          <p:nvPr>
            <p:ph type="title"/>
          </p:nvPr>
        </p:nvSpPr>
        <p:spPr>
          <a:xfrm>
            <a:off x="1001483" y="74641"/>
            <a:ext cx="10058400" cy="1371600"/>
          </a:xfrm>
        </p:spPr>
        <p:txBody>
          <a:bodyPr>
            <a:normAutofit/>
          </a:bodyPr>
          <a:lstStyle/>
          <a:p>
            <a:r>
              <a:rPr lang="fr-FR" sz="3500" dirty="0"/>
              <a:t>a - 1915 : relativité générale </a:t>
            </a:r>
            <a:br>
              <a:rPr lang="fr-FR" sz="3500" dirty="0"/>
            </a:br>
            <a:r>
              <a:rPr lang="fr-FR" sz="3500" dirty="0"/>
              <a:t>(1/3)</a:t>
            </a:r>
          </a:p>
        </p:txBody>
      </p:sp>
    </p:spTree>
    <p:extLst>
      <p:ext uri="{BB962C8B-B14F-4D97-AF65-F5344CB8AC3E}">
        <p14:creationId xmlns:p14="http://schemas.microsoft.com/office/powerpoint/2010/main" val="333153613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graphicEl>
                                              <a:dgm id="{67CC8B19-6817-46EB-818F-25CA678405C7}"/>
                                            </p:graphicEl>
                                          </p:spTgt>
                                        </p:tgtEl>
                                        <p:attrNameLst>
                                          <p:attrName>style.visibility</p:attrName>
                                        </p:attrNameLst>
                                      </p:cBhvr>
                                      <p:to>
                                        <p:strVal val="visible"/>
                                      </p:to>
                                    </p:set>
                                    <p:animEffect transition="in" filter="fade">
                                      <p:cBhvr>
                                        <p:cTn id="7" dur="500"/>
                                        <p:tgtEl>
                                          <p:spTgt spid="4">
                                            <p:graphicEl>
                                              <a:dgm id="{67CC8B19-6817-46EB-818F-25CA678405C7}"/>
                                            </p:graphic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graphicEl>
                                              <a:dgm id="{2FB76E6F-AE93-4BBE-ADBE-C61792A49642}"/>
                                            </p:graphicEl>
                                          </p:spTgt>
                                        </p:tgtEl>
                                        <p:attrNameLst>
                                          <p:attrName>style.visibility</p:attrName>
                                        </p:attrNameLst>
                                      </p:cBhvr>
                                      <p:to>
                                        <p:strVal val="visible"/>
                                      </p:to>
                                    </p:set>
                                    <p:animEffect transition="in" filter="fade">
                                      <p:cBhvr>
                                        <p:cTn id="11" dur="500"/>
                                        <p:tgtEl>
                                          <p:spTgt spid="4">
                                            <p:graphicEl>
                                              <a:dgm id="{2FB76E6F-AE93-4BBE-ADBE-C61792A49642}"/>
                                            </p:graphic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
                                            <p:graphicEl>
                                              <a:dgm id="{6C680C54-C935-40E2-8C87-02D785154286}"/>
                                            </p:graphicEl>
                                          </p:spTgt>
                                        </p:tgtEl>
                                        <p:attrNameLst>
                                          <p:attrName>style.visibility</p:attrName>
                                        </p:attrNameLst>
                                      </p:cBhvr>
                                      <p:to>
                                        <p:strVal val="visible"/>
                                      </p:to>
                                    </p:set>
                                    <p:animEffect transition="in" filter="fade">
                                      <p:cBhvr>
                                        <p:cTn id="15" dur="500"/>
                                        <p:tgtEl>
                                          <p:spTgt spid="4">
                                            <p:graphicEl>
                                              <a:dgm id="{6C680C54-C935-40E2-8C87-02D785154286}"/>
                                            </p:graphic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4">
                                            <p:graphicEl>
                                              <a:dgm id="{B0450DFB-F6ED-4616-9296-A75718B48068}"/>
                                            </p:graphicEl>
                                          </p:spTgt>
                                        </p:tgtEl>
                                        <p:attrNameLst>
                                          <p:attrName>style.visibility</p:attrName>
                                        </p:attrNameLst>
                                      </p:cBhvr>
                                      <p:to>
                                        <p:strVal val="visible"/>
                                      </p:to>
                                    </p:set>
                                    <p:animEffect transition="in" filter="fade">
                                      <p:cBhvr>
                                        <p:cTn id="19" dur="500"/>
                                        <p:tgtEl>
                                          <p:spTgt spid="4">
                                            <p:graphicEl>
                                              <a:dgm id="{B0450DFB-F6ED-4616-9296-A75718B48068}"/>
                                            </p:graphic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4">
                                            <p:graphicEl>
                                              <a:dgm id="{F054F885-06ED-481C-B5F7-6E557D50E606}"/>
                                            </p:graphicEl>
                                          </p:spTgt>
                                        </p:tgtEl>
                                        <p:attrNameLst>
                                          <p:attrName>style.visibility</p:attrName>
                                        </p:attrNameLst>
                                      </p:cBhvr>
                                      <p:to>
                                        <p:strVal val="visible"/>
                                      </p:to>
                                    </p:set>
                                    <p:animEffect transition="in" filter="fade">
                                      <p:cBhvr>
                                        <p:cTn id="23" dur="500"/>
                                        <p:tgtEl>
                                          <p:spTgt spid="4">
                                            <p:graphicEl>
                                              <a:dgm id="{F054F885-06ED-481C-B5F7-6E557D50E606}"/>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grpId="1" nodeType="clickEffect">
                                  <p:stCondLst>
                                    <p:cond delay="0"/>
                                  </p:stCondLst>
                                  <p:childTnLst>
                                    <p:animEffect transition="out" filter="fade">
                                      <p:cBhvr>
                                        <p:cTn id="27" dur="500"/>
                                        <p:tgtEl>
                                          <p:spTgt spid="4">
                                            <p:graphicEl>
                                              <a:dgm id="{67CC8B19-6817-46EB-818F-25CA678405C7}"/>
                                            </p:graphicEl>
                                          </p:spTgt>
                                        </p:tgtEl>
                                      </p:cBhvr>
                                    </p:animEffect>
                                    <p:set>
                                      <p:cBhvr>
                                        <p:cTn id="28" dur="1" fill="hold">
                                          <p:stCondLst>
                                            <p:cond delay="499"/>
                                          </p:stCondLst>
                                        </p:cTn>
                                        <p:tgtEl>
                                          <p:spTgt spid="4">
                                            <p:graphicEl>
                                              <a:dgm id="{67CC8B19-6817-46EB-818F-25CA678405C7}"/>
                                            </p:graphicEl>
                                          </p:spTgt>
                                        </p:tgtEl>
                                        <p:attrNameLst>
                                          <p:attrName>style.visibility</p:attrName>
                                        </p:attrNameLst>
                                      </p:cBhvr>
                                      <p:to>
                                        <p:strVal val="hidden"/>
                                      </p:to>
                                    </p:set>
                                  </p:childTnLst>
                                </p:cTn>
                              </p:par>
                              <p:par>
                                <p:cTn id="29" presetID="10" presetClass="exit" presetSubtype="0" fill="hold" grpId="1" nodeType="withEffect">
                                  <p:stCondLst>
                                    <p:cond delay="0"/>
                                  </p:stCondLst>
                                  <p:childTnLst>
                                    <p:animEffect transition="out" filter="fade">
                                      <p:cBhvr>
                                        <p:cTn id="30" dur="500"/>
                                        <p:tgtEl>
                                          <p:spTgt spid="4">
                                            <p:graphicEl>
                                              <a:dgm id="{2FB76E6F-AE93-4BBE-ADBE-C61792A49642}"/>
                                            </p:graphicEl>
                                          </p:spTgt>
                                        </p:tgtEl>
                                      </p:cBhvr>
                                    </p:animEffect>
                                    <p:set>
                                      <p:cBhvr>
                                        <p:cTn id="31" dur="1" fill="hold">
                                          <p:stCondLst>
                                            <p:cond delay="499"/>
                                          </p:stCondLst>
                                        </p:cTn>
                                        <p:tgtEl>
                                          <p:spTgt spid="4">
                                            <p:graphicEl>
                                              <a:dgm id="{2FB76E6F-AE93-4BBE-ADBE-C61792A49642}"/>
                                            </p:graphicEl>
                                          </p:spTgt>
                                        </p:tgtEl>
                                        <p:attrNameLst>
                                          <p:attrName>style.visibility</p:attrName>
                                        </p:attrNameLst>
                                      </p:cBhvr>
                                      <p:to>
                                        <p:strVal val="hidden"/>
                                      </p:to>
                                    </p:set>
                                  </p:childTnLst>
                                </p:cTn>
                              </p:par>
                              <p:par>
                                <p:cTn id="32" presetID="10" presetClass="exit" presetSubtype="0" fill="hold" grpId="1" nodeType="withEffect">
                                  <p:stCondLst>
                                    <p:cond delay="0"/>
                                  </p:stCondLst>
                                  <p:childTnLst>
                                    <p:animEffect transition="out" filter="fade">
                                      <p:cBhvr>
                                        <p:cTn id="33" dur="500"/>
                                        <p:tgtEl>
                                          <p:spTgt spid="4">
                                            <p:graphicEl>
                                              <a:dgm id="{6C680C54-C935-40E2-8C87-02D785154286}"/>
                                            </p:graphicEl>
                                          </p:spTgt>
                                        </p:tgtEl>
                                      </p:cBhvr>
                                    </p:animEffect>
                                    <p:set>
                                      <p:cBhvr>
                                        <p:cTn id="34" dur="1" fill="hold">
                                          <p:stCondLst>
                                            <p:cond delay="499"/>
                                          </p:stCondLst>
                                        </p:cTn>
                                        <p:tgtEl>
                                          <p:spTgt spid="4">
                                            <p:graphicEl>
                                              <a:dgm id="{6C680C54-C935-40E2-8C87-02D785154286}"/>
                                            </p:graphicEl>
                                          </p:spTgt>
                                        </p:tgtEl>
                                        <p:attrNameLst>
                                          <p:attrName>style.visibility</p:attrName>
                                        </p:attrNameLst>
                                      </p:cBhvr>
                                      <p:to>
                                        <p:strVal val="hidden"/>
                                      </p:to>
                                    </p:set>
                                  </p:childTnLst>
                                </p:cTn>
                              </p:par>
                              <p:par>
                                <p:cTn id="35" presetID="10" presetClass="exit" presetSubtype="0" fill="hold" grpId="1" nodeType="withEffect">
                                  <p:stCondLst>
                                    <p:cond delay="0"/>
                                  </p:stCondLst>
                                  <p:childTnLst>
                                    <p:animEffect transition="out" filter="fade">
                                      <p:cBhvr>
                                        <p:cTn id="36" dur="500"/>
                                        <p:tgtEl>
                                          <p:spTgt spid="4">
                                            <p:graphicEl>
                                              <a:dgm id="{B0450DFB-F6ED-4616-9296-A75718B48068}"/>
                                            </p:graphicEl>
                                          </p:spTgt>
                                        </p:tgtEl>
                                      </p:cBhvr>
                                    </p:animEffect>
                                    <p:set>
                                      <p:cBhvr>
                                        <p:cTn id="37" dur="1" fill="hold">
                                          <p:stCondLst>
                                            <p:cond delay="499"/>
                                          </p:stCondLst>
                                        </p:cTn>
                                        <p:tgtEl>
                                          <p:spTgt spid="4">
                                            <p:graphicEl>
                                              <a:dgm id="{B0450DFB-F6ED-4616-9296-A75718B48068}"/>
                                            </p:graphicEl>
                                          </p:spTgt>
                                        </p:tgtEl>
                                        <p:attrNameLst>
                                          <p:attrName>style.visibility</p:attrName>
                                        </p:attrNameLst>
                                      </p:cBhvr>
                                      <p:to>
                                        <p:strVal val="hidden"/>
                                      </p:to>
                                    </p:set>
                                  </p:childTnLst>
                                </p:cTn>
                              </p:par>
                              <p:par>
                                <p:cTn id="38" presetID="10" presetClass="exit" presetSubtype="0" fill="hold" grpId="1" nodeType="withEffect">
                                  <p:stCondLst>
                                    <p:cond delay="0"/>
                                  </p:stCondLst>
                                  <p:childTnLst>
                                    <p:animEffect transition="out" filter="fade">
                                      <p:cBhvr>
                                        <p:cTn id="39" dur="500"/>
                                        <p:tgtEl>
                                          <p:spTgt spid="4">
                                            <p:graphicEl>
                                              <a:dgm id="{F054F885-06ED-481C-B5F7-6E557D50E606}"/>
                                            </p:graphicEl>
                                          </p:spTgt>
                                        </p:tgtEl>
                                      </p:cBhvr>
                                    </p:animEffect>
                                    <p:set>
                                      <p:cBhvr>
                                        <p:cTn id="40" dur="1" fill="hold">
                                          <p:stCondLst>
                                            <p:cond delay="499"/>
                                          </p:stCondLst>
                                        </p:cTn>
                                        <p:tgtEl>
                                          <p:spTgt spid="4">
                                            <p:graphicEl>
                                              <a:dgm id="{F054F885-06ED-481C-B5F7-6E557D50E606}"/>
                                            </p:graphicEl>
                                          </p:spTgt>
                                        </p:tgtEl>
                                        <p:attrNameLst>
                                          <p:attrName>style.visibility</p:attrName>
                                        </p:attrNameLst>
                                      </p:cBhvr>
                                      <p:to>
                                        <p:strVal val="hidden"/>
                                      </p:to>
                                    </p:set>
                                  </p:childTnLst>
                                </p:cTn>
                              </p:par>
                              <p:par>
                                <p:cTn id="41" presetID="10" presetClass="entr" presetSubtype="0" fill="hold" nodeType="withEffect">
                                  <p:stCondLst>
                                    <p:cond delay="0"/>
                                  </p:stCondLst>
                                  <p:childTnLst>
                                    <p:set>
                                      <p:cBhvr>
                                        <p:cTn id="42" dur="1" fill="hold">
                                          <p:stCondLst>
                                            <p:cond delay="0"/>
                                          </p:stCondLst>
                                        </p:cTn>
                                        <p:tgtEl>
                                          <p:spTgt spid="1026"/>
                                        </p:tgtEl>
                                        <p:attrNameLst>
                                          <p:attrName>style.visibility</p:attrName>
                                        </p:attrNameLst>
                                      </p:cBhvr>
                                      <p:to>
                                        <p:strVal val="visible"/>
                                      </p:to>
                                    </p:set>
                                    <p:animEffect transition="in" filter="fade">
                                      <p:cBhvr>
                                        <p:cTn id="43"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one"/>
        </p:bldSub>
      </p:bldGraphic>
      <p:bldGraphic spid="4" grpId="1" uiExpand="1">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Espace réservé du contenu 8">
            <a:extLst>
              <a:ext uri="{FF2B5EF4-FFF2-40B4-BE49-F238E27FC236}">
                <a16:creationId xmlns:a16="http://schemas.microsoft.com/office/drawing/2014/main" id="{87867CE1-55B8-4B43-88F4-2D2A2F35134F}"/>
              </a:ext>
            </a:extLst>
          </p:cNvPr>
          <p:cNvGraphicFramePr>
            <a:graphicFrameLocks noGrp="1"/>
          </p:cNvGraphicFramePr>
          <p:nvPr>
            <p:ph idx="1"/>
            <p:extLst>
              <p:ext uri="{D42A27DB-BD31-4B8C-83A1-F6EECF244321}">
                <p14:modId xmlns:p14="http://schemas.microsoft.com/office/powerpoint/2010/main" val="966465686"/>
              </p:ext>
            </p:extLst>
          </p:nvPr>
        </p:nvGraphicFramePr>
        <p:xfrm>
          <a:off x="681135" y="1231641"/>
          <a:ext cx="10829730" cy="51038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4" name="Titre 1">
            <a:extLst>
              <a:ext uri="{FF2B5EF4-FFF2-40B4-BE49-F238E27FC236}">
                <a16:creationId xmlns:a16="http://schemas.microsoft.com/office/drawing/2014/main" id="{36AAB302-89F3-48D1-A303-D5E1F6E6C4D8}"/>
              </a:ext>
            </a:extLst>
          </p:cNvPr>
          <p:cNvSpPr>
            <a:spLocks noGrp="1"/>
          </p:cNvSpPr>
          <p:nvPr>
            <p:ph type="title"/>
          </p:nvPr>
        </p:nvSpPr>
        <p:spPr>
          <a:xfrm>
            <a:off x="1001483" y="89872"/>
            <a:ext cx="10058400" cy="1371600"/>
          </a:xfrm>
        </p:spPr>
        <p:txBody>
          <a:bodyPr>
            <a:normAutofit/>
          </a:bodyPr>
          <a:lstStyle/>
          <a:p>
            <a:r>
              <a:rPr lang="fr-FR" sz="3500" dirty="0"/>
              <a:t>Plusieurs théories ont tenté de rendre compte de la gravitation(2/3). </a:t>
            </a:r>
          </a:p>
        </p:txBody>
      </p:sp>
    </p:spTree>
    <p:extLst>
      <p:ext uri="{BB962C8B-B14F-4D97-AF65-F5344CB8AC3E}">
        <p14:creationId xmlns:p14="http://schemas.microsoft.com/office/powerpoint/2010/main" val="14546387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9">
                                            <p:graphicEl>
                                              <a:dgm id="{4CD42933-A63C-4298-8679-26311BF29E88}"/>
                                            </p:graphicEl>
                                          </p:spTgt>
                                        </p:tgtEl>
                                        <p:attrNameLst>
                                          <p:attrName>style.visibility</p:attrName>
                                        </p:attrNameLst>
                                      </p:cBhvr>
                                      <p:to>
                                        <p:strVal val="visible"/>
                                      </p:to>
                                    </p:set>
                                    <p:animEffect transition="in" filter="barn(inVertical)">
                                      <p:cBhvr>
                                        <p:cTn id="7" dur="500"/>
                                        <p:tgtEl>
                                          <p:spTgt spid="9">
                                            <p:graphicEl>
                                              <a:dgm id="{4CD42933-A63C-4298-8679-26311BF29E88}"/>
                                            </p:graphicEl>
                                          </p:spTgt>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9">
                                            <p:graphicEl>
                                              <a:dgm id="{B1239601-F558-4F33-928E-57102F7B6416}"/>
                                            </p:graphicEl>
                                          </p:spTgt>
                                        </p:tgtEl>
                                        <p:attrNameLst>
                                          <p:attrName>style.visibility</p:attrName>
                                        </p:attrNameLst>
                                      </p:cBhvr>
                                      <p:to>
                                        <p:strVal val="visible"/>
                                      </p:to>
                                    </p:set>
                                    <p:animEffect transition="in" filter="barn(inVertical)">
                                      <p:cBhvr>
                                        <p:cTn id="11" dur="500"/>
                                        <p:tgtEl>
                                          <p:spTgt spid="9">
                                            <p:graphicEl>
                                              <a:dgm id="{B1239601-F558-4F33-928E-57102F7B6416}"/>
                                            </p:graphicEl>
                                          </p:spTgt>
                                        </p:tgtEl>
                                      </p:cBhvr>
                                    </p:animEffect>
                                  </p:childTnLst>
                                </p:cTn>
                              </p:par>
                            </p:childTnLst>
                          </p:cTn>
                        </p:par>
                        <p:par>
                          <p:cTn id="12" fill="hold">
                            <p:stCondLst>
                              <p:cond delay="1000"/>
                            </p:stCondLst>
                            <p:childTnLst>
                              <p:par>
                                <p:cTn id="13" presetID="16" presetClass="entr" presetSubtype="37" fill="hold" grpId="0" nodeType="afterEffect">
                                  <p:stCondLst>
                                    <p:cond delay="0"/>
                                  </p:stCondLst>
                                  <p:childTnLst>
                                    <p:set>
                                      <p:cBhvr>
                                        <p:cTn id="14" dur="1" fill="hold">
                                          <p:stCondLst>
                                            <p:cond delay="0"/>
                                          </p:stCondLst>
                                        </p:cTn>
                                        <p:tgtEl>
                                          <p:spTgt spid="9">
                                            <p:graphicEl>
                                              <a:dgm id="{E8D7A28D-5738-48DD-BB84-B6C713A525A3}"/>
                                            </p:graphicEl>
                                          </p:spTgt>
                                        </p:tgtEl>
                                        <p:attrNameLst>
                                          <p:attrName>style.visibility</p:attrName>
                                        </p:attrNameLst>
                                      </p:cBhvr>
                                      <p:to>
                                        <p:strVal val="visible"/>
                                      </p:to>
                                    </p:set>
                                    <p:animEffect transition="in" filter="barn(outVertical)">
                                      <p:cBhvr>
                                        <p:cTn id="15" dur="500"/>
                                        <p:tgtEl>
                                          <p:spTgt spid="9">
                                            <p:graphicEl>
                                              <a:dgm id="{E8D7A28D-5738-48DD-BB84-B6C713A525A3}"/>
                                            </p:graphicEl>
                                          </p:spTgt>
                                        </p:tgtEl>
                                      </p:cBhvr>
                                    </p:animEffect>
                                  </p:childTnLst>
                                </p:cTn>
                              </p:par>
                            </p:childTnLst>
                          </p:cTn>
                        </p:par>
                        <p:par>
                          <p:cTn id="16" fill="hold">
                            <p:stCondLst>
                              <p:cond delay="1500"/>
                            </p:stCondLst>
                            <p:childTnLst>
                              <p:par>
                                <p:cTn id="17" presetID="16" presetClass="entr" presetSubtype="37" fill="hold" grpId="0" nodeType="afterEffect">
                                  <p:stCondLst>
                                    <p:cond delay="0"/>
                                  </p:stCondLst>
                                  <p:childTnLst>
                                    <p:set>
                                      <p:cBhvr>
                                        <p:cTn id="18" dur="1" fill="hold">
                                          <p:stCondLst>
                                            <p:cond delay="0"/>
                                          </p:stCondLst>
                                        </p:cTn>
                                        <p:tgtEl>
                                          <p:spTgt spid="9">
                                            <p:graphicEl>
                                              <a:dgm id="{F1282368-8B34-49FD-B427-1BA445E4ACEA}"/>
                                            </p:graphicEl>
                                          </p:spTgt>
                                        </p:tgtEl>
                                        <p:attrNameLst>
                                          <p:attrName>style.visibility</p:attrName>
                                        </p:attrNameLst>
                                      </p:cBhvr>
                                      <p:to>
                                        <p:strVal val="visible"/>
                                      </p:to>
                                    </p:set>
                                    <p:animEffect transition="in" filter="barn(outVertical)">
                                      <p:cBhvr>
                                        <p:cTn id="19" dur="500"/>
                                        <p:tgtEl>
                                          <p:spTgt spid="9">
                                            <p:graphicEl>
                                              <a:dgm id="{F1282368-8B34-49FD-B427-1BA445E4ACEA}"/>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uiExpand="1">
        <p:bldSub>
          <a:bldDgm bld="lvl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Espace réservé du contenu 8">
            <a:extLst>
              <a:ext uri="{FF2B5EF4-FFF2-40B4-BE49-F238E27FC236}">
                <a16:creationId xmlns:a16="http://schemas.microsoft.com/office/drawing/2014/main" id="{87867CE1-55B8-4B43-88F4-2D2A2F35134F}"/>
              </a:ext>
            </a:extLst>
          </p:cNvPr>
          <p:cNvGraphicFramePr>
            <a:graphicFrameLocks noGrp="1"/>
          </p:cNvGraphicFramePr>
          <p:nvPr>
            <p:ph idx="1"/>
            <p:extLst>
              <p:ext uri="{D42A27DB-BD31-4B8C-83A1-F6EECF244321}">
                <p14:modId xmlns:p14="http://schemas.microsoft.com/office/powerpoint/2010/main" val="3927233114"/>
              </p:ext>
            </p:extLst>
          </p:nvPr>
        </p:nvGraphicFramePr>
        <p:xfrm>
          <a:off x="681135" y="1517450"/>
          <a:ext cx="10829730" cy="50233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4" name="Titre 1">
            <a:extLst>
              <a:ext uri="{FF2B5EF4-FFF2-40B4-BE49-F238E27FC236}">
                <a16:creationId xmlns:a16="http://schemas.microsoft.com/office/drawing/2014/main" id="{36AAB302-89F3-48D1-A303-D5E1F6E6C4D8}"/>
              </a:ext>
            </a:extLst>
          </p:cNvPr>
          <p:cNvSpPr>
            <a:spLocks noGrp="1"/>
          </p:cNvSpPr>
          <p:nvPr>
            <p:ph type="title"/>
          </p:nvPr>
        </p:nvSpPr>
        <p:spPr>
          <a:xfrm>
            <a:off x="1001483" y="89872"/>
            <a:ext cx="10058400" cy="1371600"/>
          </a:xfrm>
        </p:spPr>
        <p:txBody>
          <a:bodyPr>
            <a:normAutofit/>
          </a:bodyPr>
          <a:lstStyle/>
          <a:p>
            <a:r>
              <a:rPr lang="fr-FR" sz="3500" dirty="0"/>
              <a:t>Plusieurs théories ont tenté de rendre compte de la gravitation(3/3). </a:t>
            </a:r>
          </a:p>
        </p:txBody>
      </p:sp>
    </p:spTree>
    <p:extLst>
      <p:ext uri="{BB962C8B-B14F-4D97-AF65-F5344CB8AC3E}">
        <p14:creationId xmlns:p14="http://schemas.microsoft.com/office/powerpoint/2010/main" val="6743788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graphicEl>
                                              <a:dgm id="{4CD42933-A63C-4298-8679-26311BF29E88}"/>
                                            </p:graphicEl>
                                          </p:spTgt>
                                        </p:tgtEl>
                                        <p:attrNameLst>
                                          <p:attrName>style.visibility</p:attrName>
                                        </p:attrNameLst>
                                      </p:cBhvr>
                                      <p:to>
                                        <p:strVal val="visible"/>
                                      </p:to>
                                    </p:set>
                                    <p:animEffect transition="in" filter="fade">
                                      <p:cBhvr>
                                        <p:cTn id="7" dur="500"/>
                                        <p:tgtEl>
                                          <p:spTgt spid="9">
                                            <p:graphicEl>
                                              <a:dgm id="{4CD42933-A63C-4298-8679-26311BF29E88}"/>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graphicEl>
                                              <a:dgm id="{B1239601-F558-4F33-928E-57102F7B6416}"/>
                                            </p:graphicEl>
                                          </p:spTgt>
                                        </p:tgtEl>
                                        <p:attrNameLst>
                                          <p:attrName>style.visibility</p:attrName>
                                        </p:attrNameLst>
                                      </p:cBhvr>
                                      <p:to>
                                        <p:strVal val="visible"/>
                                      </p:to>
                                    </p:set>
                                    <p:animEffect transition="in" filter="fade">
                                      <p:cBhvr>
                                        <p:cTn id="10" dur="500"/>
                                        <p:tgtEl>
                                          <p:spTgt spid="9">
                                            <p:graphicEl>
                                              <a:dgm id="{B1239601-F558-4F33-928E-57102F7B6416}"/>
                                            </p:graphicEl>
                                          </p:spTgt>
                                        </p:tgtEl>
                                      </p:cBhvr>
                                    </p:animEffect>
                                  </p:childTnLst>
                                </p:cTn>
                              </p:par>
                            </p:childTnLst>
                          </p:cTn>
                        </p:par>
                        <p:par>
                          <p:cTn id="11" fill="hold">
                            <p:stCondLst>
                              <p:cond delay="500"/>
                            </p:stCondLst>
                            <p:childTnLst>
                              <p:par>
                                <p:cTn id="12" presetID="16" presetClass="entr" presetSubtype="37" fill="hold" grpId="0" nodeType="afterEffect">
                                  <p:stCondLst>
                                    <p:cond delay="0"/>
                                  </p:stCondLst>
                                  <p:childTnLst>
                                    <p:set>
                                      <p:cBhvr>
                                        <p:cTn id="13" dur="1" fill="hold">
                                          <p:stCondLst>
                                            <p:cond delay="0"/>
                                          </p:stCondLst>
                                        </p:cTn>
                                        <p:tgtEl>
                                          <p:spTgt spid="9">
                                            <p:graphicEl>
                                              <a:dgm id="{E8D7A28D-5738-48DD-BB84-B6C713A525A3}"/>
                                            </p:graphicEl>
                                          </p:spTgt>
                                        </p:tgtEl>
                                        <p:attrNameLst>
                                          <p:attrName>style.visibility</p:attrName>
                                        </p:attrNameLst>
                                      </p:cBhvr>
                                      <p:to>
                                        <p:strVal val="visible"/>
                                      </p:to>
                                    </p:set>
                                    <p:animEffect transition="in" filter="barn(outVertical)">
                                      <p:cBhvr>
                                        <p:cTn id="14" dur="500"/>
                                        <p:tgtEl>
                                          <p:spTgt spid="9">
                                            <p:graphicEl>
                                              <a:dgm id="{E8D7A28D-5738-48DD-BB84-B6C713A525A3}"/>
                                            </p:graphicEl>
                                          </p:spTgt>
                                        </p:tgtEl>
                                      </p:cBhvr>
                                    </p:animEffect>
                                  </p:childTnLst>
                                </p:cTn>
                              </p:par>
                            </p:childTnLst>
                          </p:cTn>
                        </p:par>
                        <p:par>
                          <p:cTn id="15" fill="hold">
                            <p:stCondLst>
                              <p:cond delay="1000"/>
                            </p:stCondLst>
                            <p:childTnLst>
                              <p:par>
                                <p:cTn id="16" presetID="16" presetClass="entr" presetSubtype="37" fill="hold" grpId="0" nodeType="afterEffect">
                                  <p:stCondLst>
                                    <p:cond delay="0"/>
                                  </p:stCondLst>
                                  <p:childTnLst>
                                    <p:set>
                                      <p:cBhvr>
                                        <p:cTn id="17" dur="1" fill="hold">
                                          <p:stCondLst>
                                            <p:cond delay="0"/>
                                          </p:stCondLst>
                                        </p:cTn>
                                        <p:tgtEl>
                                          <p:spTgt spid="9">
                                            <p:graphicEl>
                                              <a:dgm id="{F1282368-8B34-49FD-B427-1BA445E4ACEA}"/>
                                            </p:graphicEl>
                                          </p:spTgt>
                                        </p:tgtEl>
                                        <p:attrNameLst>
                                          <p:attrName>style.visibility</p:attrName>
                                        </p:attrNameLst>
                                      </p:cBhvr>
                                      <p:to>
                                        <p:strVal val="visible"/>
                                      </p:to>
                                    </p:set>
                                    <p:animEffect transition="in" filter="barn(outVertical)">
                                      <p:cBhvr>
                                        <p:cTn id="18" dur="500"/>
                                        <p:tgtEl>
                                          <p:spTgt spid="9">
                                            <p:graphicEl>
                                              <a:dgm id="{F1282368-8B34-49FD-B427-1BA445E4ACEA}"/>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uiExpand="1">
        <p:bldSub>
          <a:bldDgm bld="lvlAtOnc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Espace réservé du contenu 5">
            <a:extLst>
              <a:ext uri="{FF2B5EF4-FFF2-40B4-BE49-F238E27FC236}">
                <a16:creationId xmlns:a16="http://schemas.microsoft.com/office/drawing/2014/main" id="{B95C7574-1D66-464A-822C-B2016C517D71}"/>
              </a:ext>
            </a:extLst>
          </p:cNvPr>
          <p:cNvGraphicFramePr>
            <a:graphicFrameLocks noGrp="1"/>
          </p:cNvGraphicFramePr>
          <p:nvPr>
            <p:ph idx="1"/>
            <p:extLst>
              <p:ext uri="{D42A27DB-BD31-4B8C-83A1-F6EECF244321}">
                <p14:modId xmlns:p14="http://schemas.microsoft.com/office/powerpoint/2010/main" val="2198460880"/>
              </p:ext>
            </p:extLst>
          </p:nvPr>
        </p:nvGraphicFramePr>
        <p:xfrm>
          <a:off x="569166" y="1278299"/>
          <a:ext cx="11145756" cy="53345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Titre 1">
            <a:extLst>
              <a:ext uri="{FF2B5EF4-FFF2-40B4-BE49-F238E27FC236}">
                <a16:creationId xmlns:a16="http://schemas.microsoft.com/office/drawing/2014/main" id="{DE9D0743-DBFA-4B20-9929-1867C9D4DA57}"/>
              </a:ext>
            </a:extLst>
          </p:cNvPr>
          <p:cNvSpPr>
            <a:spLocks noGrp="1"/>
          </p:cNvSpPr>
          <p:nvPr>
            <p:ph type="title"/>
          </p:nvPr>
        </p:nvSpPr>
        <p:spPr>
          <a:xfrm>
            <a:off x="1001483" y="74641"/>
            <a:ext cx="10058400" cy="1371600"/>
          </a:xfrm>
        </p:spPr>
        <p:txBody>
          <a:bodyPr>
            <a:normAutofit/>
          </a:bodyPr>
          <a:lstStyle/>
          <a:p>
            <a:r>
              <a:rPr lang="fr-FR" sz="3500" dirty="0"/>
              <a:t>b - La physique quantique</a:t>
            </a:r>
            <a:br>
              <a:rPr lang="fr-FR" sz="3500" dirty="0"/>
            </a:br>
            <a:r>
              <a:rPr lang="fr-FR" sz="3500" dirty="0"/>
              <a:t>(1/3)</a:t>
            </a:r>
          </a:p>
        </p:txBody>
      </p:sp>
    </p:spTree>
    <p:extLst>
      <p:ext uri="{BB962C8B-B14F-4D97-AF65-F5344CB8AC3E}">
        <p14:creationId xmlns:p14="http://schemas.microsoft.com/office/powerpoint/2010/main" val="4171994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graphicEl>
                                              <a:dgm id="{ED67CB99-9EBA-4224-9AA4-B3FA221928E1}"/>
                                            </p:graphicEl>
                                          </p:spTgt>
                                        </p:tgtEl>
                                        <p:attrNameLst>
                                          <p:attrName>style.visibility</p:attrName>
                                        </p:attrNameLst>
                                      </p:cBhvr>
                                      <p:to>
                                        <p:strVal val="visible"/>
                                      </p:to>
                                    </p:set>
                                    <p:animEffect transition="in" filter="fade">
                                      <p:cBhvr>
                                        <p:cTn id="7" dur="500"/>
                                        <p:tgtEl>
                                          <p:spTgt spid="8">
                                            <p:graphicEl>
                                              <a:dgm id="{ED67CB99-9EBA-4224-9AA4-B3FA221928E1}"/>
                                            </p:graphicEl>
                                          </p:spTgt>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8">
                                            <p:graphicEl>
                                              <a:dgm id="{39E818EB-B25B-437C-8BB9-B98374156267}"/>
                                            </p:graphicEl>
                                          </p:spTgt>
                                        </p:tgtEl>
                                        <p:attrNameLst>
                                          <p:attrName>style.visibility</p:attrName>
                                        </p:attrNameLst>
                                      </p:cBhvr>
                                      <p:to>
                                        <p:strVal val="visible"/>
                                      </p:to>
                                    </p:set>
                                    <p:animEffect transition="in" filter="randombar(horizontal)">
                                      <p:cBhvr>
                                        <p:cTn id="11" dur="500"/>
                                        <p:tgtEl>
                                          <p:spTgt spid="8">
                                            <p:graphicEl>
                                              <a:dgm id="{39E818EB-B25B-437C-8BB9-B98374156267}"/>
                                            </p:graphicEl>
                                          </p:spTgt>
                                        </p:tgtEl>
                                      </p:cBhvr>
                                    </p:animEffect>
                                  </p:childTnLst>
                                </p:cTn>
                              </p:par>
                              <p:par>
                                <p:cTn id="12" presetID="14" presetClass="entr" presetSubtype="10" fill="hold" grpId="0" nodeType="withEffect">
                                  <p:stCondLst>
                                    <p:cond delay="0"/>
                                  </p:stCondLst>
                                  <p:childTnLst>
                                    <p:set>
                                      <p:cBhvr>
                                        <p:cTn id="13" dur="1" fill="hold">
                                          <p:stCondLst>
                                            <p:cond delay="0"/>
                                          </p:stCondLst>
                                        </p:cTn>
                                        <p:tgtEl>
                                          <p:spTgt spid="8">
                                            <p:graphicEl>
                                              <a:dgm id="{38F98C1B-72F9-4269-9506-0BF71D43B612}"/>
                                            </p:graphicEl>
                                          </p:spTgt>
                                        </p:tgtEl>
                                        <p:attrNameLst>
                                          <p:attrName>style.visibility</p:attrName>
                                        </p:attrNameLst>
                                      </p:cBhvr>
                                      <p:to>
                                        <p:strVal val="visible"/>
                                      </p:to>
                                    </p:set>
                                    <p:animEffect transition="in" filter="randombar(horizontal)">
                                      <p:cBhvr>
                                        <p:cTn id="14" dur="500"/>
                                        <p:tgtEl>
                                          <p:spTgt spid="8">
                                            <p:graphicEl>
                                              <a:dgm id="{38F98C1B-72F9-4269-9506-0BF71D43B612}"/>
                                            </p:graphicEl>
                                          </p:spTgt>
                                        </p:tgtEl>
                                      </p:cBhvr>
                                    </p:animEffect>
                                  </p:childTnLst>
                                </p:cTn>
                              </p:par>
                              <p:par>
                                <p:cTn id="15" presetID="14" presetClass="entr" presetSubtype="10" fill="hold" grpId="0" nodeType="withEffect">
                                  <p:stCondLst>
                                    <p:cond delay="0"/>
                                  </p:stCondLst>
                                  <p:childTnLst>
                                    <p:set>
                                      <p:cBhvr>
                                        <p:cTn id="16" dur="1" fill="hold">
                                          <p:stCondLst>
                                            <p:cond delay="0"/>
                                          </p:stCondLst>
                                        </p:cTn>
                                        <p:tgtEl>
                                          <p:spTgt spid="8">
                                            <p:graphicEl>
                                              <a:dgm id="{606972C6-062E-4C7F-A6DE-28E4065C377F}"/>
                                            </p:graphicEl>
                                          </p:spTgt>
                                        </p:tgtEl>
                                        <p:attrNameLst>
                                          <p:attrName>style.visibility</p:attrName>
                                        </p:attrNameLst>
                                      </p:cBhvr>
                                      <p:to>
                                        <p:strVal val="visible"/>
                                      </p:to>
                                    </p:set>
                                    <p:animEffect transition="in" filter="randombar(horizontal)">
                                      <p:cBhvr>
                                        <p:cTn id="17" dur="500"/>
                                        <p:tgtEl>
                                          <p:spTgt spid="8">
                                            <p:graphicEl>
                                              <a:dgm id="{606972C6-062E-4C7F-A6DE-28E4065C377F}"/>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graphicEl>
                                              <a:dgm id="{7C59062F-C146-4F53-AD81-9620FF483283}"/>
                                            </p:graphicEl>
                                          </p:spTgt>
                                        </p:tgtEl>
                                        <p:attrNameLst>
                                          <p:attrName>style.visibility</p:attrName>
                                        </p:attrNameLst>
                                      </p:cBhvr>
                                      <p:to>
                                        <p:strVal val="visible"/>
                                      </p:to>
                                    </p:set>
                                    <p:animEffect transition="in" filter="fade">
                                      <p:cBhvr>
                                        <p:cTn id="22" dur="500"/>
                                        <p:tgtEl>
                                          <p:spTgt spid="8">
                                            <p:graphicEl>
                                              <a:dgm id="{7C59062F-C146-4F53-AD81-9620FF483283}"/>
                                            </p:graphic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graphicEl>
                                              <a:dgm id="{86358D04-AC32-48E8-A61F-A3944EE64296}"/>
                                            </p:graphicEl>
                                          </p:spTgt>
                                        </p:tgtEl>
                                        <p:attrNameLst>
                                          <p:attrName>style.visibility</p:attrName>
                                        </p:attrNameLst>
                                      </p:cBhvr>
                                      <p:to>
                                        <p:strVal val="visible"/>
                                      </p:to>
                                    </p:set>
                                    <p:animEffect transition="in" filter="fade">
                                      <p:cBhvr>
                                        <p:cTn id="25" dur="500"/>
                                        <p:tgtEl>
                                          <p:spTgt spid="8">
                                            <p:graphicEl>
                                              <a:dgm id="{86358D04-AC32-48E8-A61F-A3944EE64296}"/>
                                            </p:graphicEl>
                                          </p:spTgt>
                                        </p:tgtEl>
                                      </p:cBhvr>
                                    </p:animEffect>
                                  </p:childTnLst>
                                </p:cTn>
                              </p:par>
                            </p:childTnLst>
                          </p:cTn>
                        </p:par>
                        <p:par>
                          <p:cTn id="26" fill="hold">
                            <p:stCondLst>
                              <p:cond delay="500"/>
                            </p:stCondLst>
                            <p:childTnLst>
                              <p:par>
                                <p:cTn id="27" presetID="14" presetClass="entr" presetSubtype="10" fill="hold" grpId="0" nodeType="afterEffect">
                                  <p:stCondLst>
                                    <p:cond delay="0"/>
                                  </p:stCondLst>
                                  <p:childTnLst>
                                    <p:set>
                                      <p:cBhvr>
                                        <p:cTn id="28" dur="1" fill="hold">
                                          <p:stCondLst>
                                            <p:cond delay="0"/>
                                          </p:stCondLst>
                                        </p:cTn>
                                        <p:tgtEl>
                                          <p:spTgt spid="8">
                                            <p:graphicEl>
                                              <a:dgm id="{09B96CA3-08B0-4FD9-AD53-AAA554063CF3}"/>
                                            </p:graphicEl>
                                          </p:spTgt>
                                        </p:tgtEl>
                                        <p:attrNameLst>
                                          <p:attrName>style.visibility</p:attrName>
                                        </p:attrNameLst>
                                      </p:cBhvr>
                                      <p:to>
                                        <p:strVal val="visible"/>
                                      </p:to>
                                    </p:set>
                                    <p:animEffect transition="in" filter="randombar(horizontal)">
                                      <p:cBhvr>
                                        <p:cTn id="29" dur="500"/>
                                        <p:tgtEl>
                                          <p:spTgt spid="8">
                                            <p:graphicEl>
                                              <a:dgm id="{09B96CA3-08B0-4FD9-AD53-AAA554063CF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uiExpand="1">
        <p:bldSub>
          <a:bldDgm bld="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re 1">
            <a:extLst>
              <a:ext uri="{FF2B5EF4-FFF2-40B4-BE49-F238E27FC236}">
                <a16:creationId xmlns:a16="http://schemas.microsoft.com/office/drawing/2014/main" id="{DE9D0743-DBFA-4B20-9929-1867C9D4DA57}"/>
              </a:ext>
            </a:extLst>
          </p:cNvPr>
          <p:cNvSpPr>
            <a:spLocks noGrp="1"/>
          </p:cNvSpPr>
          <p:nvPr>
            <p:ph type="title"/>
          </p:nvPr>
        </p:nvSpPr>
        <p:spPr>
          <a:xfrm>
            <a:off x="1001483" y="74641"/>
            <a:ext cx="10058400" cy="1371600"/>
          </a:xfrm>
        </p:spPr>
        <p:txBody>
          <a:bodyPr>
            <a:normAutofit/>
          </a:bodyPr>
          <a:lstStyle/>
          <a:p>
            <a:r>
              <a:rPr lang="fr-FR" sz="1800" dirty="0"/>
              <a:t>b - La physique quantique</a:t>
            </a:r>
            <a:br>
              <a:rPr lang="fr-FR" sz="1800" dirty="0"/>
            </a:br>
            <a:r>
              <a:rPr lang="fr-FR" sz="1800" dirty="0"/>
              <a:t>(1/3)</a:t>
            </a:r>
          </a:p>
        </p:txBody>
      </p:sp>
      <p:sp>
        <p:nvSpPr>
          <p:cNvPr id="4" name="Espace réservé du contenu 3">
            <a:extLst>
              <a:ext uri="{FF2B5EF4-FFF2-40B4-BE49-F238E27FC236}">
                <a16:creationId xmlns:a16="http://schemas.microsoft.com/office/drawing/2014/main" id="{F827BD72-8D90-952B-EA04-0D52918A3AA0}"/>
              </a:ext>
            </a:extLst>
          </p:cNvPr>
          <p:cNvSpPr>
            <a:spLocks noGrp="1"/>
          </p:cNvSpPr>
          <p:nvPr>
            <p:ph idx="1"/>
          </p:nvPr>
        </p:nvSpPr>
        <p:spPr>
          <a:xfrm>
            <a:off x="251791" y="954157"/>
            <a:ext cx="11701669" cy="5645426"/>
          </a:xfrm>
        </p:spPr>
        <p:txBody>
          <a:bodyPr>
            <a:normAutofit/>
          </a:bodyPr>
          <a:lstStyle/>
          <a:p>
            <a:r>
              <a:rPr lang="fr-FR" b="1" dirty="0"/>
              <a:t>En physique, un corps noir </a:t>
            </a:r>
            <a:r>
              <a:rPr lang="fr-FR" dirty="0"/>
              <a:t>désigne un </a:t>
            </a:r>
            <a:r>
              <a:rPr lang="fr-FR" dirty="0">
                <a:highlight>
                  <a:srgbClr val="FFFF00"/>
                </a:highlight>
              </a:rPr>
              <a:t>objet idéal qui absorbe parfaitement toute l'énergie électromagnétique qu'il reçoit</a:t>
            </a:r>
            <a:r>
              <a:rPr lang="fr-FR" dirty="0"/>
              <a:t>. Cette absorption se traduit par une agitation thermique qui provoque l'émission d'un rayonnement thermique, dit rayonnement du corps noir</a:t>
            </a:r>
          </a:p>
          <a:p>
            <a:r>
              <a:rPr lang="fr-FR" dirty="0"/>
              <a:t>Lorsqu'un corps noir est à une température uniforme, son émission possède une distribution spectrale d'énergie qui dépend de la température. Cette émission est appelée rayonnement du corps noir. Le concept de corps noir est une idéalisation, car un corps noir parfait n'existe pas dans la nature.</a:t>
            </a:r>
          </a:p>
          <a:p>
            <a:r>
              <a:rPr lang="fr-FR" dirty="0"/>
              <a:t>………………………..</a:t>
            </a:r>
          </a:p>
          <a:p>
            <a:r>
              <a:rPr lang="fr-FR" dirty="0"/>
              <a:t>Au cours du </a:t>
            </a:r>
            <a:r>
              <a:rPr lang="fr-FR" dirty="0" err="1"/>
              <a:t>xixe</a:t>
            </a:r>
            <a:r>
              <a:rPr lang="fr-FR" dirty="0"/>
              <a:t> siècle, les cristallographes et les chimistes essaient de prouver </a:t>
            </a:r>
            <a:r>
              <a:rPr lang="fr-FR" dirty="0">
                <a:solidFill>
                  <a:srgbClr val="FF0000"/>
                </a:solidFill>
              </a:rPr>
              <a:t>l'existence des atomes</a:t>
            </a:r>
            <a:r>
              <a:rPr lang="fr-FR" dirty="0"/>
              <a:t>, mais ce n'est qu'au début du </a:t>
            </a:r>
            <a:r>
              <a:rPr lang="fr-FR" dirty="0" err="1"/>
              <a:t>xxe</a:t>
            </a:r>
            <a:r>
              <a:rPr lang="fr-FR" dirty="0"/>
              <a:t> siècle qu'ils seront définitivement mis en évidence, grâce à la diffraction des rayons X. Pour les modéliser, la quantification de la matière est un passage obligé, ce qui donne naissance à la physique quantique1. </a:t>
            </a:r>
            <a:r>
              <a:rPr lang="fr-FR" b="1" dirty="0"/>
              <a:t>En 1900, Max Planck émet l'hypothèse que les échanges d'énergie avec la matière se font par petites quantités : les « quanta »2</a:t>
            </a:r>
            <a:r>
              <a:rPr lang="fr-FR" dirty="0"/>
              <a:t>.</a:t>
            </a:r>
          </a:p>
          <a:p>
            <a:r>
              <a:rPr lang="fr-FR" sz="2000" dirty="0"/>
              <a:t>En physique, quantum (mot latin signifiant « combien » et dont le pluriel s'écrit « quanta ») représente la plus petite mesure indivisible, que ce soit celle de l'énergie, de la quantité de mouvement ou de la masse. Cette notion est centrale en théorie des quanta, laquelle a donné naissance à la mécanique quantique</a:t>
            </a:r>
            <a:r>
              <a:rPr lang="fr-FR" dirty="0"/>
              <a:t>.</a:t>
            </a:r>
          </a:p>
        </p:txBody>
      </p:sp>
    </p:spTree>
    <p:extLst>
      <p:ext uri="{BB962C8B-B14F-4D97-AF65-F5344CB8AC3E}">
        <p14:creationId xmlns:p14="http://schemas.microsoft.com/office/powerpoint/2010/main" val="199791286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re 1">
            <a:extLst>
              <a:ext uri="{FF2B5EF4-FFF2-40B4-BE49-F238E27FC236}">
                <a16:creationId xmlns:a16="http://schemas.microsoft.com/office/drawing/2014/main" id="{DE9D0743-DBFA-4B20-9929-1867C9D4DA57}"/>
              </a:ext>
            </a:extLst>
          </p:cNvPr>
          <p:cNvSpPr>
            <a:spLocks noGrp="1"/>
          </p:cNvSpPr>
          <p:nvPr>
            <p:ph type="title"/>
          </p:nvPr>
        </p:nvSpPr>
        <p:spPr>
          <a:xfrm>
            <a:off x="1001483" y="74641"/>
            <a:ext cx="10058400" cy="1371600"/>
          </a:xfrm>
        </p:spPr>
        <p:txBody>
          <a:bodyPr>
            <a:normAutofit/>
          </a:bodyPr>
          <a:lstStyle/>
          <a:p>
            <a:r>
              <a:rPr lang="fr-FR" sz="1800" dirty="0"/>
              <a:t>b - La physique quantique</a:t>
            </a:r>
            <a:br>
              <a:rPr lang="fr-FR" sz="1800" dirty="0"/>
            </a:br>
            <a:r>
              <a:rPr lang="fr-FR" sz="1800" dirty="0"/>
              <a:t>(1/3)</a:t>
            </a:r>
          </a:p>
        </p:txBody>
      </p:sp>
      <p:sp>
        <p:nvSpPr>
          <p:cNvPr id="4" name="Espace réservé du contenu 3">
            <a:extLst>
              <a:ext uri="{FF2B5EF4-FFF2-40B4-BE49-F238E27FC236}">
                <a16:creationId xmlns:a16="http://schemas.microsoft.com/office/drawing/2014/main" id="{F827BD72-8D90-952B-EA04-0D52918A3AA0}"/>
              </a:ext>
            </a:extLst>
          </p:cNvPr>
          <p:cNvSpPr>
            <a:spLocks noGrp="1"/>
          </p:cNvSpPr>
          <p:nvPr>
            <p:ph idx="1"/>
          </p:nvPr>
        </p:nvSpPr>
        <p:spPr>
          <a:xfrm>
            <a:off x="251791" y="1446241"/>
            <a:ext cx="11701669" cy="5153342"/>
          </a:xfrm>
        </p:spPr>
        <p:txBody>
          <a:bodyPr>
            <a:normAutofit/>
          </a:bodyPr>
          <a:lstStyle/>
          <a:p>
            <a:pPr marL="0" indent="0">
              <a:buNone/>
            </a:pPr>
            <a:endParaRPr lang="fr-FR" dirty="0"/>
          </a:p>
          <a:p>
            <a:pPr algn="just"/>
            <a:r>
              <a:rPr lang="fr-FR" sz="2000" b="1" dirty="0"/>
              <a:t>Louis de Broglie initie alors la mécanique quantique qui permet de modéliser correctement l'atome</a:t>
            </a:r>
            <a:r>
              <a:rPr lang="fr-FR" sz="2000" dirty="0"/>
              <a:t>. La physique quantique finit par absorber tous les domaines de la physique classique en une seule discipline. Les accélérateurs de particules montrent alors que les atomes sont composés de particules plus élémentaires, comme le proton ou le neutron, eux-mêmes composés de quarks. C'est la théorie quantique des champs, construite à partir de l'électrodynamique quantique qui décrira l'ensemble des particules élémentaires2.</a:t>
            </a:r>
            <a:endParaRPr lang="fr-CI" sz="2000" dirty="0"/>
          </a:p>
        </p:txBody>
      </p:sp>
    </p:spTree>
    <p:extLst>
      <p:ext uri="{BB962C8B-B14F-4D97-AF65-F5344CB8AC3E}">
        <p14:creationId xmlns:p14="http://schemas.microsoft.com/office/powerpoint/2010/main" val="59816296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D62FB6DA-2176-44FE-9925-0B5ADA97BCCD}"/>
              </a:ext>
            </a:extLst>
          </p:cNvPr>
          <p:cNvGraphicFramePr>
            <a:graphicFrameLocks noGrp="1"/>
          </p:cNvGraphicFramePr>
          <p:nvPr>
            <p:ph idx="1"/>
            <p:extLst>
              <p:ext uri="{D42A27DB-BD31-4B8C-83A1-F6EECF244321}">
                <p14:modId xmlns:p14="http://schemas.microsoft.com/office/powerpoint/2010/main" val="4284839262"/>
              </p:ext>
            </p:extLst>
          </p:nvPr>
        </p:nvGraphicFramePr>
        <p:xfrm>
          <a:off x="842866" y="1586205"/>
          <a:ext cx="10437845" cy="49452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itre 1">
            <a:extLst>
              <a:ext uri="{FF2B5EF4-FFF2-40B4-BE49-F238E27FC236}">
                <a16:creationId xmlns:a16="http://schemas.microsoft.com/office/drawing/2014/main" id="{2672BBAF-AE66-486A-A0C3-2F9EDCA44008}"/>
              </a:ext>
            </a:extLst>
          </p:cNvPr>
          <p:cNvSpPr>
            <a:spLocks noGrp="1"/>
          </p:cNvSpPr>
          <p:nvPr>
            <p:ph type="title"/>
          </p:nvPr>
        </p:nvSpPr>
        <p:spPr>
          <a:xfrm>
            <a:off x="1001483" y="74641"/>
            <a:ext cx="10058400" cy="1371600"/>
          </a:xfrm>
        </p:spPr>
        <p:txBody>
          <a:bodyPr>
            <a:normAutofit/>
          </a:bodyPr>
          <a:lstStyle/>
          <a:p>
            <a:r>
              <a:rPr lang="fr-FR" sz="3500" dirty="0"/>
              <a:t>b – D’autres figures importantes de la physique quantique(1/3)</a:t>
            </a:r>
          </a:p>
        </p:txBody>
      </p:sp>
    </p:spTree>
    <p:extLst>
      <p:ext uri="{BB962C8B-B14F-4D97-AF65-F5344CB8AC3E}">
        <p14:creationId xmlns:p14="http://schemas.microsoft.com/office/powerpoint/2010/main" val="39318466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
                                            <p:graphicEl>
                                              <a:dgm id="{FEB829CA-BE3E-46FA-9801-0D075E313488}"/>
                                            </p:graphicEl>
                                          </p:spTgt>
                                        </p:tgtEl>
                                        <p:attrNameLst>
                                          <p:attrName>style.visibility</p:attrName>
                                        </p:attrNameLst>
                                      </p:cBhvr>
                                      <p:to>
                                        <p:strVal val="visible"/>
                                      </p:to>
                                    </p:set>
                                    <p:anim calcmode="lin" valueType="num">
                                      <p:cBhvr additive="base">
                                        <p:cTn id="7" dur="500" fill="hold"/>
                                        <p:tgtEl>
                                          <p:spTgt spid="4">
                                            <p:graphicEl>
                                              <a:dgm id="{FEB829CA-BE3E-46FA-9801-0D075E313488}"/>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graphicEl>
                                              <a:dgm id="{FEB829CA-BE3E-46FA-9801-0D075E313488}"/>
                                            </p:graphic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
                                            <p:graphicEl>
                                              <a:dgm id="{D75C1F46-A41A-4A3E-8137-BE441BB10ED9}"/>
                                            </p:graphicEl>
                                          </p:spTgt>
                                        </p:tgtEl>
                                        <p:attrNameLst>
                                          <p:attrName>style.visibility</p:attrName>
                                        </p:attrNameLst>
                                      </p:cBhvr>
                                      <p:to>
                                        <p:strVal val="visible"/>
                                      </p:to>
                                    </p:set>
                                    <p:anim calcmode="lin" valueType="num">
                                      <p:cBhvr additive="base">
                                        <p:cTn id="12" dur="500" fill="hold"/>
                                        <p:tgtEl>
                                          <p:spTgt spid="4">
                                            <p:graphicEl>
                                              <a:dgm id="{D75C1F46-A41A-4A3E-8137-BE441BB10ED9}"/>
                                            </p:graphic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4">
                                            <p:graphicEl>
                                              <a:dgm id="{D75C1F46-A41A-4A3E-8137-BE441BB10ED9}"/>
                                            </p:graphic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4">
                                            <p:graphicEl>
                                              <a:dgm id="{FB914D5E-9880-4721-A4AF-17B866CF5B52}"/>
                                            </p:graphicEl>
                                          </p:spTgt>
                                        </p:tgtEl>
                                        <p:attrNameLst>
                                          <p:attrName>style.visibility</p:attrName>
                                        </p:attrNameLst>
                                      </p:cBhvr>
                                      <p:to>
                                        <p:strVal val="visible"/>
                                      </p:to>
                                    </p:set>
                                    <p:anim calcmode="lin" valueType="num">
                                      <p:cBhvr additive="base">
                                        <p:cTn id="17" dur="500" fill="hold"/>
                                        <p:tgtEl>
                                          <p:spTgt spid="4">
                                            <p:graphicEl>
                                              <a:dgm id="{FB914D5E-9880-4721-A4AF-17B866CF5B52}"/>
                                            </p:graphic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4">
                                            <p:graphicEl>
                                              <a:dgm id="{FB914D5E-9880-4721-A4AF-17B866CF5B52}"/>
                                            </p:graphicEl>
                                          </p:spTgt>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4">
                                            <p:graphicEl>
                                              <a:dgm id="{F9F46D3F-FC48-4CA3-82F6-E3631413995B}"/>
                                            </p:graphicEl>
                                          </p:spTgt>
                                        </p:tgtEl>
                                        <p:attrNameLst>
                                          <p:attrName>style.visibility</p:attrName>
                                        </p:attrNameLst>
                                      </p:cBhvr>
                                      <p:to>
                                        <p:strVal val="visible"/>
                                      </p:to>
                                    </p:set>
                                    <p:anim calcmode="lin" valueType="num">
                                      <p:cBhvr additive="base">
                                        <p:cTn id="22" dur="500" fill="hold"/>
                                        <p:tgtEl>
                                          <p:spTgt spid="4">
                                            <p:graphicEl>
                                              <a:dgm id="{F9F46D3F-FC48-4CA3-82F6-E3631413995B}"/>
                                            </p:graphic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4">
                                            <p:graphicEl>
                                              <a:dgm id="{F9F46D3F-FC48-4CA3-82F6-E3631413995B}"/>
                                            </p:graphicEl>
                                          </p:spTgt>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4">
                                            <p:graphicEl>
                                              <a:dgm id="{97E647E5-9186-49B0-9B35-A01276236508}"/>
                                            </p:graphicEl>
                                          </p:spTgt>
                                        </p:tgtEl>
                                        <p:attrNameLst>
                                          <p:attrName>style.visibility</p:attrName>
                                        </p:attrNameLst>
                                      </p:cBhvr>
                                      <p:to>
                                        <p:strVal val="visible"/>
                                      </p:to>
                                    </p:set>
                                    <p:anim calcmode="lin" valueType="num">
                                      <p:cBhvr additive="base">
                                        <p:cTn id="27" dur="500" fill="hold"/>
                                        <p:tgtEl>
                                          <p:spTgt spid="4">
                                            <p:graphicEl>
                                              <a:dgm id="{97E647E5-9186-49B0-9B35-A01276236508}"/>
                                            </p:graphic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4">
                                            <p:graphicEl>
                                              <a:dgm id="{97E647E5-9186-49B0-9B35-A01276236508}"/>
                                            </p:graphicEl>
                                          </p:spTgt>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 presetClass="entr" presetSubtype="8" fill="hold" grpId="0" nodeType="afterEffect">
                                  <p:stCondLst>
                                    <p:cond delay="0"/>
                                  </p:stCondLst>
                                  <p:childTnLst>
                                    <p:set>
                                      <p:cBhvr>
                                        <p:cTn id="31" dur="1" fill="hold">
                                          <p:stCondLst>
                                            <p:cond delay="0"/>
                                          </p:stCondLst>
                                        </p:cTn>
                                        <p:tgtEl>
                                          <p:spTgt spid="4">
                                            <p:graphicEl>
                                              <a:dgm id="{CD08F0DC-B0A8-429D-8EC0-265D3C5F9B8A}"/>
                                            </p:graphicEl>
                                          </p:spTgt>
                                        </p:tgtEl>
                                        <p:attrNameLst>
                                          <p:attrName>style.visibility</p:attrName>
                                        </p:attrNameLst>
                                      </p:cBhvr>
                                      <p:to>
                                        <p:strVal val="visible"/>
                                      </p:to>
                                    </p:set>
                                    <p:anim calcmode="lin" valueType="num">
                                      <p:cBhvr additive="base">
                                        <p:cTn id="32" dur="500" fill="hold"/>
                                        <p:tgtEl>
                                          <p:spTgt spid="4">
                                            <p:graphicEl>
                                              <a:dgm id="{CD08F0DC-B0A8-429D-8EC0-265D3C5F9B8A}"/>
                                            </p:graphicEl>
                                          </p:spTgt>
                                        </p:tgtEl>
                                        <p:attrNameLst>
                                          <p:attrName>ppt_x</p:attrName>
                                        </p:attrNameLst>
                                      </p:cBhvr>
                                      <p:tavLst>
                                        <p:tav tm="0">
                                          <p:val>
                                            <p:strVal val="0-#ppt_w/2"/>
                                          </p:val>
                                        </p:tav>
                                        <p:tav tm="100000">
                                          <p:val>
                                            <p:strVal val="#ppt_x"/>
                                          </p:val>
                                        </p:tav>
                                      </p:tavLst>
                                    </p:anim>
                                    <p:anim calcmode="lin" valueType="num">
                                      <p:cBhvr additive="base">
                                        <p:cTn id="33" dur="500" fill="hold"/>
                                        <p:tgtEl>
                                          <p:spTgt spid="4">
                                            <p:graphicEl>
                                              <a:dgm id="{CD08F0DC-B0A8-429D-8EC0-265D3C5F9B8A}"/>
                                            </p:graphicEl>
                                          </p:spTgt>
                                        </p:tgtEl>
                                        <p:attrNameLst>
                                          <p:attrName>ppt_y</p:attrName>
                                        </p:attrNameLst>
                                      </p:cBhvr>
                                      <p:tavLst>
                                        <p:tav tm="0">
                                          <p:val>
                                            <p:strVal val="#ppt_y"/>
                                          </p:val>
                                        </p:tav>
                                        <p:tav tm="100000">
                                          <p:val>
                                            <p:strVal val="#ppt_y"/>
                                          </p:val>
                                        </p:tav>
                                      </p:tavLst>
                                    </p:anim>
                                  </p:childTnLst>
                                </p:cTn>
                              </p:par>
                            </p:childTnLst>
                          </p:cTn>
                        </p:par>
                        <p:par>
                          <p:cTn id="34" fill="hold">
                            <p:stCondLst>
                              <p:cond delay="3000"/>
                            </p:stCondLst>
                            <p:childTnLst>
                              <p:par>
                                <p:cTn id="35" presetID="2" presetClass="entr" presetSubtype="8" fill="hold" grpId="0" nodeType="afterEffect">
                                  <p:stCondLst>
                                    <p:cond delay="0"/>
                                  </p:stCondLst>
                                  <p:childTnLst>
                                    <p:set>
                                      <p:cBhvr>
                                        <p:cTn id="36" dur="1" fill="hold">
                                          <p:stCondLst>
                                            <p:cond delay="0"/>
                                          </p:stCondLst>
                                        </p:cTn>
                                        <p:tgtEl>
                                          <p:spTgt spid="4">
                                            <p:graphicEl>
                                              <a:dgm id="{801B930E-5265-4CFA-AA5F-89565F7D418C}"/>
                                            </p:graphicEl>
                                          </p:spTgt>
                                        </p:tgtEl>
                                        <p:attrNameLst>
                                          <p:attrName>style.visibility</p:attrName>
                                        </p:attrNameLst>
                                      </p:cBhvr>
                                      <p:to>
                                        <p:strVal val="visible"/>
                                      </p:to>
                                    </p:set>
                                    <p:anim calcmode="lin" valueType="num">
                                      <p:cBhvr additive="base">
                                        <p:cTn id="37" dur="500" fill="hold"/>
                                        <p:tgtEl>
                                          <p:spTgt spid="4">
                                            <p:graphicEl>
                                              <a:dgm id="{801B930E-5265-4CFA-AA5F-89565F7D418C}"/>
                                            </p:graphic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4">
                                            <p:graphicEl>
                                              <a:dgm id="{801B930E-5265-4CFA-AA5F-89565F7D418C}"/>
                                            </p:graphicEl>
                                          </p:spTgt>
                                        </p:tgtEl>
                                        <p:attrNameLst>
                                          <p:attrName>ppt_y</p:attrName>
                                        </p:attrNameLst>
                                      </p:cBhvr>
                                      <p:tavLst>
                                        <p:tav tm="0">
                                          <p:val>
                                            <p:strVal val="#ppt_y"/>
                                          </p:val>
                                        </p:tav>
                                        <p:tav tm="100000">
                                          <p:val>
                                            <p:strVal val="#ppt_y"/>
                                          </p:val>
                                        </p:tav>
                                      </p:tavLst>
                                    </p:anim>
                                  </p:childTnLst>
                                </p:cTn>
                              </p:par>
                            </p:childTnLst>
                          </p:cTn>
                        </p:par>
                        <p:par>
                          <p:cTn id="39" fill="hold">
                            <p:stCondLst>
                              <p:cond delay="3500"/>
                            </p:stCondLst>
                            <p:childTnLst>
                              <p:par>
                                <p:cTn id="40" presetID="2" presetClass="entr" presetSubtype="8" fill="hold" grpId="0" nodeType="afterEffect">
                                  <p:stCondLst>
                                    <p:cond delay="0"/>
                                  </p:stCondLst>
                                  <p:childTnLst>
                                    <p:set>
                                      <p:cBhvr>
                                        <p:cTn id="41" dur="1" fill="hold">
                                          <p:stCondLst>
                                            <p:cond delay="0"/>
                                          </p:stCondLst>
                                        </p:cTn>
                                        <p:tgtEl>
                                          <p:spTgt spid="4">
                                            <p:graphicEl>
                                              <a:dgm id="{7942B8F2-A7D6-48F6-BF17-3AB33A69D2DB}"/>
                                            </p:graphicEl>
                                          </p:spTgt>
                                        </p:tgtEl>
                                        <p:attrNameLst>
                                          <p:attrName>style.visibility</p:attrName>
                                        </p:attrNameLst>
                                      </p:cBhvr>
                                      <p:to>
                                        <p:strVal val="visible"/>
                                      </p:to>
                                    </p:set>
                                    <p:anim calcmode="lin" valueType="num">
                                      <p:cBhvr additive="base">
                                        <p:cTn id="42" dur="500" fill="hold"/>
                                        <p:tgtEl>
                                          <p:spTgt spid="4">
                                            <p:graphicEl>
                                              <a:dgm id="{7942B8F2-A7D6-48F6-BF17-3AB33A69D2DB}"/>
                                            </p:graphic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4">
                                            <p:graphicEl>
                                              <a:dgm id="{7942B8F2-A7D6-48F6-BF17-3AB33A69D2DB}"/>
                                            </p:graphicEl>
                                          </p:spTgt>
                                        </p:tgtEl>
                                        <p:attrNameLst>
                                          <p:attrName>ppt_y</p:attrName>
                                        </p:attrNameLst>
                                      </p:cBhvr>
                                      <p:tavLst>
                                        <p:tav tm="0">
                                          <p:val>
                                            <p:strVal val="#ppt_y"/>
                                          </p:val>
                                        </p:tav>
                                        <p:tav tm="100000">
                                          <p:val>
                                            <p:strVal val="#ppt_y"/>
                                          </p:val>
                                        </p:tav>
                                      </p:tavLst>
                                    </p:anim>
                                  </p:childTnLst>
                                </p:cTn>
                              </p:par>
                            </p:childTnLst>
                          </p:cTn>
                        </p:par>
                        <p:par>
                          <p:cTn id="44" fill="hold">
                            <p:stCondLst>
                              <p:cond delay="4000"/>
                            </p:stCondLst>
                            <p:childTnLst>
                              <p:par>
                                <p:cTn id="45" presetID="2" presetClass="entr" presetSubtype="4" fill="hold" grpId="0" nodeType="afterEffect">
                                  <p:stCondLst>
                                    <p:cond delay="0"/>
                                  </p:stCondLst>
                                  <p:childTnLst>
                                    <p:set>
                                      <p:cBhvr>
                                        <p:cTn id="46" dur="1" fill="hold">
                                          <p:stCondLst>
                                            <p:cond delay="0"/>
                                          </p:stCondLst>
                                        </p:cTn>
                                        <p:tgtEl>
                                          <p:spTgt spid="4">
                                            <p:graphicEl>
                                              <a:dgm id="{BEBC9BC3-B126-4634-9C11-176066DD92D0}"/>
                                            </p:graphicEl>
                                          </p:spTgt>
                                        </p:tgtEl>
                                        <p:attrNameLst>
                                          <p:attrName>style.visibility</p:attrName>
                                        </p:attrNameLst>
                                      </p:cBhvr>
                                      <p:to>
                                        <p:strVal val="visible"/>
                                      </p:to>
                                    </p:set>
                                    <p:anim calcmode="lin" valueType="num">
                                      <p:cBhvr additive="base">
                                        <p:cTn id="47" dur="500" fill="hold"/>
                                        <p:tgtEl>
                                          <p:spTgt spid="4">
                                            <p:graphicEl>
                                              <a:dgm id="{BEBC9BC3-B126-4634-9C11-176066DD92D0}"/>
                                            </p:graphicEl>
                                          </p:spTgt>
                                        </p:tgtEl>
                                        <p:attrNameLst>
                                          <p:attrName>ppt_x</p:attrName>
                                        </p:attrNameLst>
                                      </p:cBhvr>
                                      <p:tavLst>
                                        <p:tav tm="0">
                                          <p:val>
                                            <p:strVal val="#ppt_x"/>
                                          </p:val>
                                        </p:tav>
                                        <p:tav tm="100000">
                                          <p:val>
                                            <p:strVal val="#ppt_x"/>
                                          </p:val>
                                        </p:tav>
                                      </p:tavLst>
                                    </p:anim>
                                    <p:anim calcmode="lin" valueType="num">
                                      <p:cBhvr additive="base">
                                        <p:cTn id="48" dur="500" fill="hold"/>
                                        <p:tgtEl>
                                          <p:spTgt spid="4">
                                            <p:graphicEl>
                                              <a:dgm id="{BEBC9BC3-B126-4634-9C11-176066DD92D0}"/>
                                            </p:graphicEl>
                                          </p:spTgt>
                                        </p:tgtEl>
                                        <p:attrNameLst>
                                          <p:attrName>ppt_y</p:attrName>
                                        </p:attrNameLst>
                                      </p:cBhvr>
                                      <p:tavLst>
                                        <p:tav tm="0">
                                          <p:val>
                                            <p:strVal val="1+#ppt_h/2"/>
                                          </p:val>
                                        </p:tav>
                                        <p:tav tm="100000">
                                          <p:val>
                                            <p:strVal val="#ppt_y"/>
                                          </p:val>
                                        </p:tav>
                                      </p:tavLst>
                                    </p:anim>
                                  </p:childTnLst>
                                </p:cTn>
                              </p:par>
                            </p:childTnLst>
                          </p:cTn>
                        </p:par>
                        <p:par>
                          <p:cTn id="49" fill="hold">
                            <p:stCondLst>
                              <p:cond delay="4500"/>
                            </p:stCondLst>
                            <p:childTnLst>
                              <p:par>
                                <p:cTn id="50" presetID="2" presetClass="entr" presetSubtype="4" fill="hold" grpId="0" nodeType="afterEffect">
                                  <p:stCondLst>
                                    <p:cond delay="0"/>
                                  </p:stCondLst>
                                  <p:childTnLst>
                                    <p:set>
                                      <p:cBhvr>
                                        <p:cTn id="51" dur="1" fill="hold">
                                          <p:stCondLst>
                                            <p:cond delay="0"/>
                                          </p:stCondLst>
                                        </p:cTn>
                                        <p:tgtEl>
                                          <p:spTgt spid="4">
                                            <p:graphicEl>
                                              <a:dgm id="{BB59F5A8-9DAE-44FC-8331-ED45ED01F878}"/>
                                            </p:graphicEl>
                                          </p:spTgt>
                                        </p:tgtEl>
                                        <p:attrNameLst>
                                          <p:attrName>style.visibility</p:attrName>
                                        </p:attrNameLst>
                                      </p:cBhvr>
                                      <p:to>
                                        <p:strVal val="visible"/>
                                      </p:to>
                                    </p:set>
                                    <p:anim calcmode="lin" valueType="num">
                                      <p:cBhvr additive="base">
                                        <p:cTn id="52" dur="500" fill="hold"/>
                                        <p:tgtEl>
                                          <p:spTgt spid="4">
                                            <p:graphicEl>
                                              <a:dgm id="{BB59F5A8-9DAE-44FC-8331-ED45ED01F878}"/>
                                            </p:graphicEl>
                                          </p:spTgt>
                                        </p:tgtEl>
                                        <p:attrNameLst>
                                          <p:attrName>ppt_x</p:attrName>
                                        </p:attrNameLst>
                                      </p:cBhvr>
                                      <p:tavLst>
                                        <p:tav tm="0">
                                          <p:val>
                                            <p:strVal val="#ppt_x"/>
                                          </p:val>
                                        </p:tav>
                                        <p:tav tm="100000">
                                          <p:val>
                                            <p:strVal val="#ppt_x"/>
                                          </p:val>
                                        </p:tav>
                                      </p:tavLst>
                                    </p:anim>
                                    <p:anim calcmode="lin" valueType="num">
                                      <p:cBhvr additive="base">
                                        <p:cTn id="53" dur="500" fill="hold"/>
                                        <p:tgtEl>
                                          <p:spTgt spid="4">
                                            <p:graphicEl>
                                              <a:dgm id="{BB59F5A8-9DAE-44FC-8331-ED45ED01F878}"/>
                                            </p:graphicEl>
                                          </p:spTgt>
                                        </p:tgtEl>
                                        <p:attrNameLst>
                                          <p:attrName>ppt_y</p:attrName>
                                        </p:attrNameLst>
                                      </p:cBhvr>
                                      <p:tavLst>
                                        <p:tav tm="0">
                                          <p:val>
                                            <p:strVal val="1+#ppt_h/2"/>
                                          </p:val>
                                        </p:tav>
                                        <p:tav tm="100000">
                                          <p:val>
                                            <p:strVal val="#ppt_y"/>
                                          </p:val>
                                        </p:tav>
                                      </p:tavLst>
                                    </p:anim>
                                  </p:childTnLst>
                                </p:cTn>
                              </p:par>
                            </p:childTnLst>
                          </p:cTn>
                        </p:par>
                        <p:par>
                          <p:cTn id="54" fill="hold">
                            <p:stCondLst>
                              <p:cond delay="5000"/>
                            </p:stCondLst>
                            <p:childTnLst>
                              <p:par>
                                <p:cTn id="55" presetID="2" presetClass="entr" presetSubtype="4" fill="hold" grpId="0" nodeType="afterEffect">
                                  <p:stCondLst>
                                    <p:cond delay="0"/>
                                  </p:stCondLst>
                                  <p:childTnLst>
                                    <p:set>
                                      <p:cBhvr>
                                        <p:cTn id="56" dur="1" fill="hold">
                                          <p:stCondLst>
                                            <p:cond delay="0"/>
                                          </p:stCondLst>
                                        </p:cTn>
                                        <p:tgtEl>
                                          <p:spTgt spid="4">
                                            <p:graphicEl>
                                              <a:dgm id="{54202372-AD0B-418E-99C2-5B1AB83B3B05}"/>
                                            </p:graphicEl>
                                          </p:spTgt>
                                        </p:tgtEl>
                                        <p:attrNameLst>
                                          <p:attrName>style.visibility</p:attrName>
                                        </p:attrNameLst>
                                      </p:cBhvr>
                                      <p:to>
                                        <p:strVal val="visible"/>
                                      </p:to>
                                    </p:set>
                                    <p:anim calcmode="lin" valueType="num">
                                      <p:cBhvr additive="base">
                                        <p:cTn id="57" dur="500" fill="hold"/>
                                        <p:tgtEl>
                                          <p:spTgt spid="4">
                                            <p:graphicEl>
                                              <a:dgm id="{54202372-AD0B-418E-99C2-5B1AB83B3B05}"/>
                                            </p:graphicEl>
                                          </p:spTgt>
                                        </p:tgtEl>
                                        <p:attrNameLst>
                                          <p:attrName>ppt_x</p:attrName>
                                        </p:attrNameLst>
                                      </p:cBhvr>
                                      <p:tavLst>
                                        <p:tav tm="0">
                                          <p:val>
                                            <p:strVal val="#ppt_x"/>
                                          </p:val>
                                        </p:tav>
                                        <p:tav tm="100000">
                                          <p:val>
                                            <p:strVal val="#ppt_x"/>
                                          </p:val>
                                        </p:tav>
                                      </p:tavLst>
                                    </p:anim>
                                    <p:anim calcmode="lin" valueType="num">
                                      <p:cBhvr additive="base">
                                        <p:cTn id="58" dur="500" fill="hold"/>
                                        <p:tgtEl>
                                          <p:spTgt spid="4">
                                            <p:graphicEl>
                                              <a:dgm id="{54202372-AD0B-418E-99C2-5B1AB83B3B05}"/>
                                            </p:graphicEl>
                                          </p:spTgt>
                                        </p:tgtEl>
                                        <p:attrNameLst>
                                          <p:attrName>ppt_y</p:attrName>
                                        </p:attrNameLst>
                                      </p:cBhvr>
                                      <p:tavLst>
                                        <p:tav tm="0">
                                          <p:val>
                                            <p:strVal val="1+#ppt_h/2"/>
                                          </p:val>
                                        </p:tav>
                                        <p:tav tm="100000">
                                          <p:val>
                                            <p:strVal val="#ppt_y"/>
                                          </p:val>
                                        </p:tav>
                                      </p:tavLst>
                                    </p:anim>
                                  </p:childTnLst>
                                </p:cTn>
                              </p:par>
                            </p:childTnLst>
                          </p:cTn>
                        </p:par>
                        <p:par>
                          <p:cTn id="59" fill="hold">
                            <p:stCondLst>
                              <p:cond delay="5500"/>
                            </p:stCondLst>
                            <p:childTnLst>
                              <p:par>
                                <p:cTn id="60" presetID="2" presetClass="entr" presetSubtype="4" fill="hold" grpId="0" nodeType="afterEffect">
                                  <p:stCondLst>
                                    <p:cond delay="0"/>
                                  </p:stCondLst>
                                  <p:childTnLst>
                                    <p:set>
                                      <p:cBhvr>
                                        <p:cTn id="61" dur="1" fill="hold">
                                          <p:stCondLst>
                                            <p:cond delay="0"/>
                                          </p:stCondLst>
                                        </p:cTn>
                                        <p:tgtEl>
                                          <p:spTgt spid="4">
                                            <p:graphicEl>
                                              <a:dgm id="{6893F2AB-2C8A-4886-BD39-969E0F63F89F}"/>
                                            </p:graphicEl>
                                          </p:spTgt>
                                        </p:tgtEl>
                                        <p:attrNameLst>
                                          <p:attrName>style.visibility</p:attrName>
                                        </p:attrNameLst>
                                      </p:cBhvr>
                                      <p:to>
                                        <p:strVal val="visible"/>
                                      </p:to>
                                    </p:set>
                                    <p:anim calcmode="lin" valueType="num">
                                      <p:cBhvr additive="base">
                                        <p:cTn id="62" dur="500" fill="hold"/>
                                        <p:tgtEl>
                                          <p:spTgt spid="4">
                                            <p:graphicEl>
                                              <a:dgm id="{6893F2AB-2C8A-4886-BD39-969E0F63F89F}"/>
                                            </p:graphicEl>
                                          </p:spTgt>
                                        </p:tgtEl>
                                        <p:attrNameLst>
                                          <p:attrName>ppt_x</p:attrName>
                                        </p:attrNameLst>
                                      </p:cBhvr>
                                      <p:tavLst>
                                        <p:tav tm="0">
                                          <p:val>
                                            <p:strVal val="#ppt_x"/>
                                          </p:val>
                                        </p:tav>
                                        <p:tav tm="100000">
                                          <p:val>
                                            <p:strVal val="#ppt_x"/>
                                          </p:val>
                                        </p:tav>
                                      </p:tavLst>
                                    </p:anim>
                                    <p:anim calcmode="lin" valueType="num">
                                      <p:cBhvr additive="base">
                                        <p:cTn id="63" dur="500" fill="hold"/>
                                        <p:tgtEl>
                                          <p:spTgt spid="4">
                                            <p:graphicEl>
                                              <a:dgm id="{6893F2AB-2C8A-4886-BD39-969E0F63F89F}"/>
                                            </p:graphicEl>
                                          </p:spTgt>
                                        </p:tgtEl>
                                        <p:attrNameLst>
                                          <p:attrName>ppt_y</p:attrName>
                                        </p:attrNameLst>
                                      </p:cBhvr>
                                      <p:tavLst>
                                        <p:tav tm="0">
                                          <p:val>
                                            <p:strVal val="1+#ppt_h/2"/>
                                          </p:val>
                                        </p:tav>
                                        <p:tav tm="100000">
                                          <p:val>
                                            <p:strVal val="#ppt_y"/>
                                          </p:val>
                                        </p:tav>
                                      </p:tavLst>
                                    </p:anim>
                                  </p:childTnLst>
                                </p:cTn>
                              </p:par>
                            </p:childTnLst>
                          </p:cTn>
                        </p:par>
                        <p:par>
                          <p:cTn id="64" fill="hold">
                            <p:stCondLst>
                              <p:cond delay="6000"/>
                            </p:stCondLst>
                            <p:childTnLst>
                              <p:par>
                                <p:cTn id="65" presetID="2" presetClass="entr" presetSubtype="4" fill="hold" grpId="0" nodeType="afterEffect">
                                  <p:stCondLst>
                                    <p:cond delay="0"/>
                                  </p:stCondLst>
                                  <p:childTnLst>
                                    <p:set>
                                      <p:cBhvr>
                                        <p:cTn id="66" dur="1" fill="hold">
                                          <p:stCondLst>
                                            <p:cond delay="0"/>
                                          </p:stCondLst>
                                        </p:cTn>
                                        <p:tgtEl>
                                          <p:spTgt spid="4">
                                            <p:graphicEl>
                                              <a:dgm id="{79C1F035-0557-4D46-9287-9E1F380E10E6}"/>
                                            </p:graphicEl>
                                          </p:spTgt>
                                        </p:tgtEl>
                                        <p:attrNameLst>
                                          <p:attrName>style.visibility</p:attrName>
                                        </p:attrNameLst>
                                      </p:cBhvr>
                                      <p:to>
                                        <p:strVal val="visible"/>
                                      </p:to>
                                    </p:set>
                                    <p:anim calcmode="lin" valueType="num">
                                      <p:cBhvr additive="base">
                                        <p:cTn id="67" dur="500" fill="hold"/>
                                        <p:tgtEl>
                                          <p:spTgt spid="4">
                                            <p:graphicEl>
                                              <a:dgm id="{79C1F035-0557-4D46-9287-9E1F380E10E6}"/>
                                            </p:graphicEl>
                                          </p:spTgt>
                                        </p:tgtEl>
                                        <p:attrNameLst>
                                          <p:attrName>ppt_x</p:attrName>
                                        </p:attrNameLst>
                                      </p:cBhvr>
                                      <p:tavLst>
                                        <p:tav tm="0">
                                          <p:val>
                                            <p:strVal val="#ppt_x"/>
                                          </p:val>
                                        </p:tav>
                                        <p:tav tm="100000">
                                          <p:val>
                                            <p:strVal val="#ppt_x"/>
                                          </p:val>
                                        </p:tav>
                                      </p:tavLst>
                                    </p:anim>
                                    <p:anim calcmode="lin" valueType="num">
                                      <p:cBhvr additive="base">
                                        <p:cTn id="68" dur="500" fill="hold"/>
                                        <p:tgtEl>
                                          <p:spTgt spid="4">
                                            <p:graphicEl>
                                              <a:dgm id="{79C1F035-0557-4D46-9287-9E1F380E10E6}"/>
                                            </p:graphicEl>
                                          </p:spTgt>
                                        </p:tgtEl>
                                        <p:attrNameLst>
                                          <p:attrName>ppt_y</p:attrName>
                                        </p:attrNameLst>
                                      </p:cBhvr>
                                      <p:tavLst>
                                        <p:tav tm="0">
                                          <p:val>
                                            <p:strVal val="1+#ppt_h/2"/>
                                          </p:val>
                                        </p:tav>
                                        <p:tav tm="100000">
                                          <p:val>
                                            <p:strVal val="#ppt_y"/>
                                          </p:val>
                                        </p:tav>
                                      </p:tavLst>
                                    </p:anim>
                                  </p:childTnLst>
                                </p:cTn>
                              </p:par>
                            </p:childTnLst>
                          </p:cTn>
                        </p:par>
                        <p:par>
                          <p:cTn id="69" fill="hold">
                            <p:stCondLst>
                              <p:cond delay="6500"/>
                            </p:stCondLst>
                            <p:childTnLst>
                              <p:par>
                                <p:cTn id="70" presetID="2" presetClass="entr" presetSubtype="4" fill="hold" grpId="0" nodeType="afterEffect">
                                  <p:stCondLst>
                                    <p:cond delay="0"/>
                                  </p:stCondLst>
                                  <p:childTnLst>
                                    <p:set>
                                      <p:cBhvr>
                                        <p:cTn id="71" dur="1" fill="hold">
                                          <p:stCondLst>
                                            <p:cond delay="0"/>
                                          </p:stCondLst>
                                        </p:cTn>
                                        <p:tgtEl>
                                          <p:spTgt spid="4">
                                            <p:graphicEl>
                                              <a:dgm id="{3259180F-3BA2-4FA9-BC3A-2EC2A4A9DA92}"/>
                                            </p:graphicEl>
                                          </p:spTgt>
                                        </p:tgtEl>
                                        <p:attrNameLst>
                                          <p:attrName>style.visibility</p:attrName>
                                        </p:attrNameLst>
                                      </p:cBhvr>
                                      <p:to>
                                        <p:strVal val="visible"/>
                                      </p:to>
                                    </p:set>
                                    <p:anim calcmode="lin" valueType="num">
                                      <p:cBhvr additive="base">
                                        <p:cTn id="72" dur="500" fill="hold"/>
                                        <p:tgtEl>
                                          <p:spTgt spid="4">
                                            <p:graphicEl>
                                              <a:dgm id="{3259180F-3BA2-4FA9-BC3A-2EC2A4A9DA92}"/>
                                            </p:graphicEl>
                                          </p:spTgt>
                                        </p:tgtEl>
                                        <p:attrNameLst>
                                          <p:attrName>ppt_x</p:attrName>
                                        </p:attrNameLst>
                                      </p:cBhvr>
                                      <p:tavLst>
                                        <p:tav tm="0">
                                          <p:val>
                                            <p:strVal val="#ppt_x"/>
                                          </p:val>
                                        </p:tav>
                                        <p:tav tm="100000">
                                          <p:val>
                                            <p:strVal val="#ppt_x"/>
                                          </p:val>
                                        </p:tav>
                                      </p:tavLst>
                                    </p:anim>
                                    <p:anim calcmode="lin" valueType="num">
                                      <p:cBhvr additive="base">
                                        <p:cTn id="73" dur="500" fill="hold"/>
                                        <p:tgtEl>
                                          <p:spTgt spid="4">
                                            <p:graphicEl>
                                              <a:dgm id="{3259180F-3BA2-4FA9-BC3A-2EC2A4A9DA92}"/>
                                            </p:graphicEl>
                                          </p:spTgt>
                                        </p:tgtEl>
                                        <p:attrNameLst>
                                          <p:attrName>ppt_y</p:attrName>
                                        </p:attrNameLst>
                                      </p:cBhvr>
                                      <p:tavLst>
                                        <p:tav tm="0">
                                          <p:val>
                                            <p:strVal val="1+#ppt_h/2"/>
                                          </p:val>
                                        </p:tav>
                                        <p:tav tm="100000">
                                          <p:val>
                                            <p:strVal val="#ppt_y"/>
                                          </p:val>
                                        </p:tav>
                                      </p:tavLst>
                                    </p:anim>
                                  </p:childTnLst>
                                </p:cTn>
                              </p:par>
                            </p:childTnLst>
                          </p:cTn>
                        </p:par>
                        <p:par>
                          <p:cTn id="74" fill="hold">
                            <p:stCondLst>
                              <p:cond delay="7000"/>
                            </p:stCondLst>
                            <p:childTnLst>
                              <p:par>
                                <p:cTn id="75" presetID="2" presetClass="entr" presetSubtype="4" fill="hold" grpId="0" nodeType="afterEffect">
                                  <p:stCondLst>
                                    <p:cond delay="0"/>
                                  </p:stCondLst>
                                  <p:childTnLst>
                                    <p:set>
                                      <p:cBhvr>
                                        <p:cTn id="76" dur="1" fill="hold">
                                          <p:stCondLst>
                                            <p:cond delay="0"/>
                                          </p:stCondLst>
                                        </p:cTn>
                                        <p:tgtEl>
                                          <p:spTgt spid="4">
                                            <p:graphicEl>
                                              <a:dgm id="{70B2F32A-CB62-4BD2-9701-C9ED060FACE6}"/>
                                            </p:graphicEl>
                                          </p:spTgt>
                                        </p:tgtEl>
                                        <p:attrNameLst>
                                          <p:attrName>style.visibility</p:attrName>
                                        </p:attrNameLst>
                                      </p:cBhvr>
                                      <p:to>
                                        <p:strVal val="visible"/>
                                      </p:to>
                                    </p:set>
                                    <p:anim calcmode="lin" valueType="num">
                                      <p:cBhvr additive="base">
                                        <p:cTn id="77" dur="500" fill="hold"/>
                                        <p:tgtEl>
                                          <p:spTgt spid="4">
                                            <p:graphicEl>
                                              <a:dgm id="{70B2F32A-CB62-4BD2-9701-C9ED060FACE6}"/>
                                            </p:graphicEl>
                                          </p:spTgt>
                                        </p:tgtEl>
                                        <p:attrNameLst>
                                          <p:attrName>ppt_x</p:attrName>
                                        </p:attrNameLst>
                                      </p:cBhvr>
                                      <p:tavLst>
                                        <p:tav tm="0">
                                          <p:val>
                                            <p:strVal val="#ppt_x"/>
                                          </p:val>
                                        </p:tav>
                                        <p:tav tm="100000">
                                          <p:val>
                                            <p:strVal val="#ppt_x"/>
                                          </p:val>
                                        </p:tav>
                                      </p:tavLst>
                                    </p:anim>
                                    <p:anim calcmode="lin" valueType="num">
                                      <p:cBhvr additive="base">
                                        <p:cTn id="78" dur="500" fill="hold"/>
                                        <p:tgtEl>
                                          <p:spTgt spid="4">
                                            <p:graphicEl>
                                              <a:dgm id="{70B2F32A-CB62-4BD2-9701-C9ED060FACE6}"/>
                                            </p:graphicEl>
                                          </p:spTgt>
                                        </p:tgtEl>
                                        <p:attrNameLst>
                                          <p:attrName>ppt_y</p:attrName>
                                        </p:attrNameLst>
                                      </p:cBhvr>
                                      <p:tavLst>
                                        <p:tav tm="0">
                                          <p:val>
                                            <p:strVal val="1+#ppt_h/2"/>
                                          </p:val>
                                        </p:tav>
                                        <p:tav tm="100000">
                                          <p:val>
                                            <p:strVal val="#ppt_y"/>
                                          </p:val>
                                        </p:tav>
                                      </p:tavLst>
                                    </p:anim>
                                  </p:childTnLst>
                                </p:cTn>
                              </p:par>
                            </p:childTnLst>
                          </p:cTn>
                        </p:par>
                        <p:par>
                          <p:cTn id="79" fill="hold">
                            <p:stCondLst>
                              <p:cond delay="7500"/>
                            </p:stCondLst>
                            <p:childTnLst>
                              <p:par>
                                <p:cTn id="80" presetID="2" presetClass="entr" presetSubtype="4" fill="hold" grpId="0" nodeType="afterEffect">
                                  <p:stCondLst>
                                    <p:cond delay="0"/>
                                  </p:stCondLst>
                                  <p:childTnLst>
                                    <p:set>
                                      <p:cBhvr>
                                        <p:cTn id="81" dur="1" fill="hold">
                                          <p:stCondLst>
                                            <p:cond delay="0"/>
                                          </p:stCondLst>
                                        </p:cTn>
                                        <p:tgtEl>
                                          <p:spTgt spid="4">
                                            <p:graphicEl>
                                              <a:dgm id="{C8582FDA-1621-4403-A650-0109886F1DAA}"/>
                                            </p:graphicEl>
                                          </p:spTgt>
                                        </p:tgtEl>
                                        <p:attrNameLst>
                                          <p:attrName>style.visibility</p:attrName>
                                        </p:attrNameLst>
                                      </p:cBhvr>
                                      <p:to>
                                        <p:strVal val="visible"/>
                                      </p:to>
                                    </p:set>
                                    <p:anim calcmode="lin" valueType="num">
                                      <p:cBhvr additive="base">
                                        <p:cTn id="82" dur="500" fill="hold"/>
                                        <p:tgtEl>
                                          <p:spTgt spid="4">
                                            <p:graphicEl>
                                              <a:dgm id="{C8582FDA-1621-4403-A650-0109886F1DAA}"/>
                                            </p:graphicEl>
                                          </p:spTgt>
                                        </p:tgtEl>
                                        <p:attrNameLst>
                                          <p:attrName>ppt_x</p:attrName>
                                        </p:attrNameLst>
                                      </p:cBhvr>
                                      <p:tavLst>
                                        <p:tav tm="0">
                                          <p:val>
                                            <p:strVal val="#ppt_x"/>
                                          </p:val>
                                        </p:tav>
                                        <p:tav tm="100000">
                                          <p:val>
                                            <p:strVal val="#ppt_x"/>
                                          </p:val>
                                        </p:tav>
                                      </p:tavLst>
                                    </p:anim>
                                    <p:anim calcmode="lin" valueType="num">
                                      <p:cBhvr additive="base">
                                        <p:cTn id="83" dur="500" fill="hold"/>
                                        <p:tgtEl>
                                          <p:spTgt spid="4">
                                            <p:graphicEl>
                                              <a:dgm id="{C8582FDA-1621-4403-A650-0109886F1DAA}"/>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one"/>
        </p:bldSub>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Espace réservé du contenu 5">
            <a:extLst>
              <a:ext uri="{FF2B5EF4-FFF2-40B4-BE49-F238E27FC236}">
                <a16:creationId xmlns:a16="http://schemas.microsoft.com/office/drawing/2014/main" id="{B95C7574-1D66-464A-822C-B2016C517D71}"/>
              </a:ext>
            </a:extLst>
          </p:cNvPr>
          <p:cNvGraphicFramePr>
            <a:graphicFrameLocks noGrp="1"/>
          </p:cNvGraphicFramePr>
          <p:nvPr>
            <p:ph idx="1"/>
            <p:extLst>
              <p:ext uri="{D42A27DB-BD31-4B8C-83A1-F6EECF244321}">
                <p14:modId xmlns:p14="http://schemas.microsoft.com/office/powerpoint/2010/main" val="2427613267"/>
              </p:ext>
            </p:extLst>
          </p:nvPr>
        </p:nvGraphicFramePr>
        <p:xfrm>
          <a:off x="569166" y="1744824"/>
          <a:ext cx="11053668" cy="48145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re 1">
            <a:extLst>
              <a:ext uri="{FF2B5EF4-FFF2-40B4-BE49-F238E27FC236}">
                <a16:creationId xmlns:a16="http://schemas.microsoft.com/office/drawing/2014/main" id="{368936E2-8EBB-41DB-AA75-F7D1100E3F75}"/>
              </a:ext>
            </a:extLst>
          </p:cNvPr>
          <p:cNvSpPr>
            <a:spLocks noGrp="1"/>
          </p:cNvSpPr>
          <p:nvPr>
            <p:ph type="title"/>
          </p:nvPr>
        </p:nvSpPr>
        <p:spPr>
          <a:xfrm>
            <a:off x="1001483" y="74641"/>
            <a:ext cx="10058400" cy="1371600"/>
          </a:xfrm>
        </p:spPr>
        <p:txBody>
          <a:bodyPr>
            <a:normAutofit/>
          </a:bodyPr>
          <a:lstStyle/>
          <a:p>
            <a:r>
              <a:rPr lang="fr-FR" sz="3500" dirty="0"/>
              <a:t>b - La physique quantique</a:t>
            </a:r>
            <a:br>
              <a:rPr lang="fr-FR" sz="3500" dirty="0"/>
            </a:br>
            <a:r>
              <a:rPr lang="fr-FR" sz="3500" dirty="0"/>
              <a:t>(3/3)</a:t>
            </a:r>
          </a:p>
        </p:txBody>
      </p:sp>
    </p:spTree>
    <p:extLst>
      <p:ext uri="{BB962C8B-B14F-4D97-AF65-F5344CB8AC3E}">
        <p14:creationId xmlns:p14="http://schemas.microsoft.com/office/powerpoint/2010/main" val="31721316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3198978-041E-436E-968B-2C26CFC02ABA}"/>
              </a:ext>
            </a:extLst>
          </p:cNvPr>
          <p:cNvSpPr>
            <a:spLocks noGrp="1"/>
          </p:cNvSpPr>
          <p:nvPr>
            <p:ph idx="1"/>
          </p:nvPr>
        </p:nvSpPr>
        <p:spPr>
          <a:xfrm>
            <a:off x="1066800" y="1609529"/>
            <a:ext cx="10058400" cy="1371600"/>
          </a:xfrm>
        </p:spPr>
        <p:txBody>
          <a:bodyPr/>
          <a:lstStyle/>
          <a:p>
            <a:pPr algn="just"/>
            <a:r>
              <a:rPr lang="fr-CI" sz="1800" dirty="0">
                <a:effectLst/>
                <a:latin typeface="Calibri" panose="020F0502020204030204" pitchFamily="34" charset="0"/>
                <a:ea typeface="Calibri" panose="020F0502020204030204" pitchFamily="34" charset="0"/>
                <a:cs typeface="Times New Roman" panose="02020603050405020304" pitchFamily="18" charset="0"/>
              </a:rPr>
              <a:t>La biologie moléculaire est l’un des domaines dans lesquels les progrès de la science ont été les plus forts à partir de la moitié du XXème siècle ; ces progrès ont été rendus possibles par ceux qu’avaient connus la chimie et la physique. Les nouvelles connaissances ouvrent des possibilités extraordinaires pour agir sur les vivants.</a:t>
            </a: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fr-FR" dirty="0"/>
          </a:p>
        </p:txBody>
      </p:sp>
      <p:sp>
        <p:nvSpPr>
          <p:cNvPr id="4" name="Espace réservé du contenu 2">
            <a:extLst>
              <a:ext uri="{FF2B5EF4-FFF2-40B4-BE49-F238E27FC236}">
                <a16:creationId xmlns:a16="http://schemas.microsoft.com/office/drawing/2014/main" id="{E769CAB2-2184-4D60-9BB9-839C2D6E6321}"/>
              </a:ext>
            </a:extLst>
          </p:cNvPr>
          <p:cNvSpPr txBox="1">
            <a:spLocks/>
          </p:cNvSpPr>
          <p:nvPr/>
        </p:nvSpPr>
        <p:spPr>
          <a:xfrm>
            <a:off x="1066800" y="2981129"/>
            <a:ext cx="10058400" cy="536510"/>
          </a:xfrm>
          <a:prstGeom prst="rect">
            <a:avLst/>
          </a:prstGeom>
        </p:spPr>
        <p:txBody>
          <a:bodyPr vert="horz" lIns="91440" tIns="45720" rIns="91440" bIns="45720" rtlCol="0">
            <a:normAutofit/>
          </a:bodyPr>
          <a:lst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r>
              <a:rPr lang="fr-CI" sz="1800" dirty="0">
                <a:effectLst/>
                <a:latin typeface="Calibri" panose="020F0502020204030204" pitchFamily="34" charset="0"/>
                <a:ea typeface="Calibri" panose="020F0502020204030204" pitchFamily="34" charset="0"/>
                <a:cs typeface="Times New Roman" panose="02020603050405020304" pitchFamily="18" charset="0"/>
              </a:rPr>
              <a:t>L’un des grands pas a été:</a:t>
            </a:r>
            <a:endParaRPr lang="fr-FR" dirty="0"/>
          </a:p>
        </p:txBody>
      </p:sp>
      <p:sp>
        <p:nvSpPr>
          <p:cNvPr id="5" name="Espace réservé du contenu 2">
            <a:extLst>
              <a:ext uri="{FF2B5EF4-FFF2-40B4-BE49-F238E27FC236}">
                <a16:creationId xmlns:a16="http://schemas.microsoft.com/office/drawing/2014/main" id="{3FFF2238-B743-419C-B397-DF80C63115FB}"/>
              </a:ext>
            </a:extLst>
          </p:cNvPr>
          <p:cNvSpPr txBox="1">
            <a:spLocks/>
          </p:cNvSpPr>
          <p:nvPr/>
        </p:nvSpPr>
        <p:spPr>
          <a:xfrm>
            <a:off x="1066800" y="3965509"/>
            <a:ext cx="10058400" cy="1931437"/>
          </a:xfrm>
          <a:prstGeom prst="rect">
            <a:avLst/>
          </a:prstGeom>
        </p:spPr>
        <p:txBody>
          <a:bodyPr vert="horz" lIns="91440" tIns="45720" rIns="91440" bIns="45720" rtlCol="0">
            <a:normAutofit/>
          </a:bodyPr>
          <a:lst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marL="0" indent="0">
              <a:buNone/>
            </a:pPr>
            <a:endParaRPr lang="fr-FR" dirty="0"/>
          </a:p>
        </p:txBody>
      </p:sp>
      <p:graphicFrame>
        <p:nvGraphicFramePr>
          <p:cNvPr id="6" name="Espace réservé du contenu 3">
            <a:extLst>
              <a:ext uri="{FF2B5EF4-FFF2-40B4-BE49-F238E27FC236}">
                <a16:creationId xmlns:a16="http://schemas.microsoft.com/office/drawing/2014/main" id="{1EB7F9A3-0FD6-4023-B123-9EF3E8D8149A}"/>
              </a:ext>
            </a:extLst>
          </p:cNvPr>
          <p:cNvGraphicFramePr>
            <a:graphicFrameLocks/>
          </p:cNvGraphicFramePr>
          <p:nvPr>
            <p:extLst>
              <p:ext uri="{D42A27DB-BD31-4B8C-83A1-F6EECF244321}">
                <p14:modId xmlns:p14="http://schemas.microsoft.com/office/powerpoint/2010/main" val="4111577011"/>
              </p:ext>
            </p:extLst>
          </p:nvPr>
        </p:nvGraphicFramePr>
        <p:xfrm>
          <a:off x="1066800" y="3503643"/>
          <a:ext cx="10058400" cy="24492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re 1">
            <a:extLst>
              <a:ext uri="{FF2B5EF4-FFF2-40B4-BE49-F238E27FC236}">
                <a16:creationId xmlns:a16="http://schemas.microsoft.com/office/drawing/2014/main" id="{DB095D11-A8E3-4663-9530-D331ED0FBA9B}"/>
              </a:ext>
            </a:extLst>
          </p:cNvPr>
          <p:cNvSpPr>
            <a:spLocks noGrp="1"/>
          </p:cNvSpPr>
          <p:nvPr>
            <p:ph type="title"/>
          </p:nvPr>
        </p:nvSpPr>
        <p:spPr>
          <a:xfrm>
            <a:off x="1001483" y="74641"/>
            <a:ext cx="10058400" cy="1371600"/>
          </a:xfrm>
        </p:spPr>
        <p:txBody>
          <a:bodyPr>
            <a:normAutofit/>
          </a:bodyPr>
          <a:lstStyle/>
          <a:p>
            <a:r>
              <a:rPr lang="fr-FR" sz="3500" dirty="0"/>
              <a:t>c - La biologie moléculaire</a:t>
            </a:r>
            <a:br>
              <a:rPr lang="fr-FR" sz="3500" dirty="0"/>
            </a:br>
            <a:r>
              <a:rPr lang="fr-FR" sz="3500" dirty="0"/>
              <a:t>(1/2)</a:t>
            </a:r>
          </a:p>
        </p:txBody>
      </p:sp>
    </p:spTree>
    <p:extLst>
      <p:ext uri="{BB962C8B-B14F-4D97-AF65-F5344CB8AC3E}">
        <p14:creationId xmlns:p14="http://schemas.microsoft.com/office/powerpoint/2010/main" val="17644651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500" fill="hold"/>
                                        <p:tgtEl>
                                          <p:spTgt spid="6"/>
                                        </p:tgtEl>
                                        <p:attrNameLst>
                                          <p:attrName>ppt_w</p:attrName>
                                        </p:attrNameLst>
                                      </p:cBhvr>
                                      <p:tavLst>
                                        <p:tav tm="0">
                                          <p:val>
                                            <p:fltVal val="0"/>
                                          </p:val>
                                        </p:tav>
                                        <p:tav tm="100000">
                                          <p:val>
                                            <p:strVal val="#ppt_w"/>
                                          </p:val>
                                        </p:tav>
                                      </p:tavLst>
                                    </p:anim>
                                    <p:anim calcmode="lin" valueType="num">
                                      <p:cBhvr>
                                        <p:cTn id="17" dur="500" fill="hold"/>
                                        <p:tgtEl>
                                          <p:spTgt spid="6"/>
                                        </p:tgtEl>
                                        <p:attrNameLst>
                                          <p:attrName>ppt_h</p:attrName>
                                        </p:attrNameLst>
                                      </p:cBhvr>
                                      <p:tavLst>
                                        <p:tav tm="0">
                                          <p:val>
                                            <p:fltVal val="0"/>
                                          </p:val>
                                        </p:tav>
                                        <p:tav tm="100000">
                                          <p:val>
                                            <p:strVal val="#ppt_h"/>
                                          </p:val>
                                        </p:tav>
                                      </p:tavLst>
                                    </p:anim>
                                    <p:animEffect transition="in" filter="fad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Graphic spid="6"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Espace réservé du contenu 5">
            <a:extLst>
              <a:ext uri="{FF2B5EF4-FFF2-40B4-BE49-F238E27FC236}">
                <a16:creationId xmlns:a16="http://schemas.microsoft.com/office/drawing/2014/main" id="{B95C7574-1D66-464A-822C-B2016C517D71}"/>
              </a:ext>
            </a:extLst>
          </p:cNvPr>
          <p:cNvGraphicFramePr>
            <a:graphicFrameLocks noGrp="1"/>
          </p:cNvGraphicFramePr>
          <p:nvPr>
            <p:ph idx="1"/>
            <p:extLst>
              <p:ext uri="{D42A27DB-BD31-4B8C-83A1-F6EECF244321}">
                <p14:modId xmlns:p14="http://schemas.microsoft.com/office/powerpoint/2010/main" val="1794443152"/>
              </p:ext>
            </p:extLst>
          </p:nvPr>
        </p:nvGraphicFramePr>
        <p:xfrm>
          <a:off x="569166" y="1875451"/>
          <a:ext cx="11053668" cy="46466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Espace réservé du contenu 2">
            <a:extLst>
              <a:ext uri="{FF2B5EF4-FFF2-40B4-BE49-F238E27FC236}">
                <a16:creationId xmlns:a16="http://schemas.microsoft.com/office/drawing/2014/main" id="{4BE97934-1B18-4BE3-9A7C-3B85B70DCACF}"/>
              </a:ext>
            </a:extLst>
          </p:cNvPr>
          <p:cNvSpPr txBox="1">
            <a:spLocks/>
          </p:cNvSpPr>
          <p:nvPr/>
        </p:nvSpPr>
        <p:spPr>
          <a:xfrm>
            <a:off x="2346648" y="1457303"/>
            <a:ext cx="7498703" cy="455472"/>
          </a:xfrm>
          <a:prstGeom prst="rect">
            <a:avLst/>
          </a:prstGeom>
        </p:spPr>
        <p:txBody>
          <a:bodyPr vert="horz" lIns="91440" tIns="45720" rIns="91440" bIns="45720" rtlCol="0">
            <a:normAutofit/>
          </a:bodyPr>
          <a:lst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marL="0" indent="0">
              <a:buNone/>
            </a:pPr>
            <a:r>
              <a:rPr lang="fr-CI" sz="1900" dirty="0">
                <a:effectLst/>
                <a:latin typeface="Calibri" panose="020F0502020204030204" pitchFamily="34" charset="0"/>
                <a:ea typeface="Calibri" panose="020F0502020204030204" pitchFamily="34" charset="0"/>
                <a:cs typeface="Times New Roman" panose="02020603050405020304" pitchFamily="18" charset="0"/>
              </a:rPr>
              <a:t>Dans la biologie moléculaire le concept d’information joue un grand rôle.</a:t>
            </a:r>
            <a:endParaRPr lang="fr-FR" sz="1900" dirty="0"/>
          </a:p>
        </p:txBody>
      </p:sp>
      <p:sp>
        <p:nvSpPr>
          <p:cNvPr id="10" name="Titre 1">
            <a:extLst>
              <a:ext uri="{FF2B5EF4-FFF2-40B4-BE49-F238E27FC236}">
                <a16:creationId xmlns:a16="http://schemas.microsoft.com/office/drawing/2014/main" id="{CBD150D3-0364-482F-808D-C2F784A75722}"/>
              </a:ext>
            </a:extLst>
          </p:cNvPr>
          <p:cNvSpPr>
            <a:spLocks noGrp="1"/>
          </p:cNvSpPr>
          <p:nvPr>
            <p:ph type="title"/>
          </p:nvPr>
        </p:nvSpPr>
        <p:spPr>
          <a:xfrm>
            <a:off x="1001483" y="74040"/>
            <a:ext cx="10058400" cy="1371600"/>
          </a:xfrm>
        </p:spPr>
        <p:txBody>
          <a:bodyPr>
            <a:normAutofit/>
          </a:bodyPr>
          <a:lstStyle/>
          <a:p>
            <a:r>
              <a:rPr lang="fr-FR" sz="3500" dirty="0"/>
              <a:t>c - La biologie moléculaire</a:t>
            </a:r>
            <a:br>
              <a:rPr lang="fr-FR" sz="3500" dirty="0"/>
            </a:br>
            <a:r>
              <a:rPr lang="fr-FR" sz="3500" dirty="0"/>
              <a:t>(2/2)</a:t>
            </a:r>
          </a:p>
        </p:txBody>
      </p:sp>
    </p:spTree>
    <p:extLst>
      <p:ext uri="{BB962C8B-B14F-4D97-AF65-F5344CB8AC3E}">
        <p14:creationId xmlns:p14="http://schemas.microsoft.com/office/powerpoint/2010/main" val="23698981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8">
                                            <p:graphicEl>
                                              <a:dgm id="{1A32BE0A-382E-447B-A821-6BA575436DD5}"/>
                                            </p:graphicEl>
                                          </p:spTgt>
                                        </p:tgtEl>
                                        <p:attrNameLst>
                                          <p:attrName>style.visibility</p:attrName>
                                        </p:attrNameLst>
                                      </p:cBhvr>
                                      <p:to>
                                        <p:strVal val="visible"/>
                                      </p:to>
                                    </p:set>
                                    <p:anim calcmode="lin" valueType="num">
                                      <p:cBhvr additive="base">
                                        <p:cTn id="7" dur="500" fill="hold"/>
                                        <p:tgtEl>
                                          <p:spTgt spid="8">
                                            <p:graphicEl>
                                              <a:dgm id="{1A32BE0A-382E-447B-A821-6BA575436DD5}"/>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
                                            <p:graphicEl>
                                              <a:dgm id="{1A32BE0A-382E-447B-A821-6BA575436DD5}"/>
                                            </p:graphic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8">
                                            <p:graphicEl>
                                              <a:dgm id="{ED67CB99-9EBA-4224-9AA4-B3FA221928E1}"/>
                                            </p:graphicEl>
                                          </p:spTgt>
                                        </p:tgtEl>
                                        <p:attrNameLst>
                                          <p:attrName>style.visibility</p:attrName>
                                        </p:attrNameLst>
                                      </p:cBhvr>
                                      <p:to>
                                        <p:strVal val="visible"/>
                                      </p:to>
                                    </p:set>
                                    <p:anim calcmode="lin" valueType="num">
                                      <p:cBhvr additive="base">
                                        <p:cTn id="11" dur="500" fill="hold"/>
                                        <p:tgtEl>
                                          <p:spTgt spid="8">
                                            <p:graphicEl>
                                              <a:dgm id="{ED67CB99-9EBA-4224-9AA4-B3FA221928E1}"/>
                                            </p:graphic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8">
                                            <p:graphicEl>
                                              <a:dgm id="{ED67CB99-9EBA-4224-9AA4-B3FA221928E1}"/>
                                            </p:graphic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8">
                                            <p:graphicEl>
                                              <a:dgm id="{606972C6-062E-4C7F-A6DE-28E4065C377F}"/>
                                            </p:graphicEl>
                                          </p:spTgt>
                                        </p:tgtEl>
                                        <p:attrNameLst>
                                          <p:attrName>style.visibility</p:attrName>
                                        </p:attrNameLst>
                                      </p:cBhvr>
                                      <p:to>
                                        <p:strVal val="visible"/>
                                      </p:to>
                                    </p:set>
                                    <p:anim calcmode="lin" valueType="num">
                                      <p:cBhvr additive="base">
                                        <p:cTn id="15" dur="500" fill="hold"/>
                                        <p:tgtEl>
                                          <p:spTgt spid="8">
                                            <p:graphicEl>
                                              <a:dgm id="{606972C6-062E-4C7F-A6DE-28E4065C377F}"/>
                                            </p:graphic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8">
                                            <p:graphicEl>
                                              <a:dgm id="{606972C6-062E-4C7F-A6DE-28E4065C377F}"/>
                                            </p:graphic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8">
                                            <p:graphicEl>
                                              <a:dgm id="{7C59062F-C146-4F53-AD81-9620FF483283}"/>
                                            </p:graphicEl>
                                          </p:spTgt>
                                        </p:tgtEl>
                                        <p:attrNameLst>
                                          <p:attrName>style.visibility</p:attrName>
                                        </p:attrNameLst>
                                      </p:cBhvr>
                                      <p:to>
                                        <p:strVal val="visible"/>
                                      </p:to>
                                    </p:set>
                                    <p:anim calcmode="lin" valueType="num">
                                      <p:cBhvr additive="base">
                                        <p:cTn id="19" dur="500" fill="hold"/>
                                        <p:tgtEl>
                                          <p:spTgt spid="8">
                                            <p:graphicEl>
                                              <a:dgm id="{7C59062F-C146-4F53-AD81-9620FF483283}"/>
                                            </p:graphic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
                                            <p:graphicEl>
                                              <a:dgm id="{7C59062F-C146-4F53-AD81-9620FF483283}"/>
                                            </p:graphicEl>
                                          </p:spTgt>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2" presetClass="entr" presetSubtype="2" fill="hold" grpId="0" nodeType="afterEffect">
                                  <p:stCondLst>
                                    <p:cond delay="0"/>
                                  </p:stCondLst>
                                  <p:childTnLst>
                                    <p:set>
                                      <p:cBhvr>
                                        <p:cTn id="23" dur="1" fill="hold">
                                          <p:stCondLst>
                                            <p:cond delay="0"/>
                                          </p:stCondLst>
                                        </p:cTn>
                                        <p:tgtEl>
                                          <p:spTgt spid="8">
                                            <p:graphicEl>
                                              <a:dgm id="{39E818EB-B25B-437C-8BB9-B98374156267}"/>
                                            </p:graphicEl>
                                          </p:spTgt>
                                        </p:tgtEl>
                                        <p:attrNameLst>
                                          <p:attrName>style.visibility</p:attrName>
                                        </p:attrNameLst>
                                      </p:cBhvr>
                                      <p:to>
                                        <p:strVal val="visible"/>
                                      </p:to>
                                    </p:set>
                                    <p:anim calcmode="lin" valueType="num">
                                      <p:cBhvr additive="base">
                                        <p:cTn id="24" dur="500" fill="hold"/>
                                        <p:tgtEl>
                                          <p:spTgt spid="8">
                                            <p:graphicEl>
                                              <a:dgm id="{39E818EB-B25B-437C-8BB9-B98374156267}"/>
                                            </p:graphicEl>
                                          </p:spTgt>
                                        </p:tgtEl>
                                        <p:attrNameLst>
                                          <p:attrName>ppt_x</p:attrName>
                                        </p:attrNameLst>
                                      </p:cBhvr>
                                      <p:tavLst>
                                        <p:tav tm="0">
                                          <p:val>
                                            <p:strVal val="1+#ppt_w/2"/>
                                          </p:val>
                                        </p:tav>
                                        <p:tav tm="100000">
                                          <p:val>
                                            <p:strVal val="#ppt_x"/>
                                          </p:val>
                                        </p:tav>
                                      </p:tavLst>
                                    </p:anim>
                                    <p:anim calcmode="lin" valueType="num">
                                      <p:cBhvr additive="base">
                                        <p:cTn id="25" dur="500" fill="hold"/>
                                        <p:tgtEl>
                                          <p:spTgt spid="8">
                                            <p:graphicEl>
                                              <a:dgm id="{39E818EB-B25B-437C-8BB9-B98374156267}"/>
                                            </p:graphicEl>
                                          </p:spTgt>
                                        </p:tgtEl>
                                        <p:attrNameLst>
                                          <p:attrName>ppt_y</p:attrName>
                                        </p:attrNameLst>
                                      </p:cBhvr>
                                      <p:tavLst>
                                        <p:tav tm="0">
                                          <p:val>
                                            <p:strVal val="#ppt_y"/>
                                          </p:val>
                                        </p:tav>
                                        <p:tav tm="100000">
                                          <p:val>
                                            <p:strVal val="#ppt_y"/>
                                          </p:val>
                                        </p:tav>
                                      </p:tavLst>
                                    </p:anim>
                                  </p:childTnLst>
                                </p:cTn>
                              </p:par>
                            </p:childTnLst>
                          </p:cTn>
                        </p:par>
                        <p:par>
                          <p:cTn id="26" fill="hold">
                            <p:stCondLst>
                              <p:cond delay="1000"/>
                            </p:stCondLst>
                            <p:childTnLst>
                              <p:par>
                                <p:cTn id="27" presetID="2" presetClass="entr" presetSubtype="2" fill="hold" grpId="0" nodeType="afterEffect">
                                  <p:stCondLst>
                                    <p:cond delay="0"/>
                                  </p:stCondLst>
                                  <p:childTnLst>
                                    <p:set>
                                      <p:cBhvr>
                                        <p:cTn id="28" dur="1" fill="hold">
                                          <p:stCondLst>
                                            <p:cond delay="0"/>
                                          </p:stCondLst>
                                        </p:cTn>
                                        <p:tgtEl>
                                          <p:spTgt spid="8">
                                            <p:graphicEl>
                                              <a:dgm id="{38F98C1B-72F9-4269-9506-0BF71D43B612}"/>
                                            </p:graphicEl>
                                          </p:spTgt>
                                        </p:tgtEl>
                                        <p:attrNameLst>
                                          <p:attrName>style.visibility</p:attrName>
                                        </p:attrNameLst>
                                      </p:cBhvr>
                                      <p:to>
                                        <p:strVal val="visible"/>
                                      </p:to>
                                    </p:set>
                                    <p:anim calcmode="lin" valueType="num">
                                      <p:cBhvr additive="base">
                                        <p:cTn id="29" dur="500" fill="hold"/>
                                        <p:tgtEl>
                                          <p:spTgt spid="8">
                                            <p:graphicEl>
                                              <a:dgm id="{38F98C1B-72F9-4269-9506-0BF71D43B612}"/>
                                            </p:graphic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8">
                                            <p:graphicEl>
                                              <a:dgm id="{38F98C1B-72F9-4269-9506-0BF71D43B612}"/>
                                            </p:graphic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8">
                                            <p:graphicEl>
                                              <a:dgm id="{86358D04-AC32-48E8-A61F-A3944EE64296}"/>
                                            </p:graphicEl>
                                          </p:spTgt>
                                        </p:tgtEl>
                                        <p:attrNameLst>
                                          <p:attrName>style.visibility</p:attrName>
                                        </p:attrNameLst>
                                      </p:cBhvr>
                                      <p:to>
                                        <p:strVal val="visible"/>
                                      </p:to>
                                    </p:set>
                                    <p:anim calcmode="lin" valueType="num">
                                      <p:cBhvr additive="base">
                                        <p:cTn id="35" dur="500" fill="hold"/>
                                        <p:tgtEl>
                                          <p:spTgt spid="8">
                                            <p:graphicEl>
                                              <a:dgm id="{86358D04-AC32-48E8-A61F-A3944EE64296}"/>
                                            </p:graphic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8">
                                            <p:graphicEl>
                                              <a:dgm id="{86358D04-AC32-48E8-A61F-A3944EE64296}"/>
                                            </p:graphicEl>
                                          </p:spTgt>
                                        </p:tgtEl>
                                        <p:attrNameLst>
                                          <p:attrName>ppt_y</p:attrName>
                                        </p:attrNameLst>
                                      </p:cBhvr>
                                      <p:tavLst>
                                        <p:tav tm="0">
                                          <p:val>
                                            <p:strVal val="#ppt_y"/>
                                          </p:val>
                                        </p:tav>
                                        <p:tav tm="100000">
                                          <p:val>
                                            <p:strVal val="#ppt_y"/>
                                          </p:val>
                                        </p:tav>
                                      </p:tavLst>
                                    </p:anim>
                                  </p:childTnLst>
                                </p:cTn>
                              </p:par>
                            </p:childTnLst>
                          </p:cTn>
                        </p:par>
                        <p:par>
                          <p:cTn id="37" fill="hold">
                            <p:stCondLst>
                              <p:cond delay="500"/>
                            </p:stCondLst>
                            <p:childTnLst>
                              <p:par>
                                <p:cTn id="38" presetID="2" presetClass="entr" presetSubtype="2" fill="hold" grpId="0" nodeType="afterEffect">
                                  <p:stCondLst>
                                    <p:cond delay="0"/>
                                  </p:stCondLst>
                                  <p:childTnLst>
                                    <p:set>
                                      <p:cBhvr>
                                        <p:cTn id="39" dur="1" fill="hold">
                                          <p:stCondLst>
                                            <p:cond delay="0"/>
                                          </p:stCondLst>
                                        </p:cTn>
                                        <p:tgtEl>
                                          <p:spTgt spid="8">
                                            <p:graphicEl>
                                              <a:dgm id="{09B96CA3-08B0-4FD9-AD53-AAA554063CF3}"/>
                                            </p:graphicEl>
                                          </p:spTgt>
                                        </p:tgtEl>
                                        <p:attrNameLst>
                                          <p:attrName>style.visibility</p:attrName>
                                        </p:attrNameLst>
                                      </p:cBhvr>
                                      <p:to>
                                        <p:strVal val="visible"/>
                                      </p:to>
                                    </p:set>
                                    <p:anim calcmode="lin" valueType="num">
                                      <p:cBhvr additive="base">
                                        <p:cTn id="40" dur="500" fill="hold"/>
                                        <p:tgtEl>
                                          <p:spTgt spid="8">
                                            <p:graphicEl>
                                              <a:dgm id="{09B96CA3-08B0-4FD9-AD53-AAA554063CF3}"/>
                                            </p:graphicEl>
                                          </p:spTgt>
                                        </p:tgtEl>
                                        <p:attrNameLst>
                                          <p:attrName>ppt_x</p:attrName>
                                        </p:attrNameLst>
                                      </p:cBhvr>
                                      <p:tavLst>
                                        <p:tav tm="0">
                                          <p:val>
                                            <p:strVal val="1+#ppt_w/2"/>
                                          </p:val>
                                        </p:tav>
                                        <p:tav tm="100000">
                                          <p:val>
                                            <p:strVal val="#ppt_x"/>
                                          </p:val>
                                        </p:tav>
                                      </p:tavLst>
                                    </p:anim>
                                    <p:anim calcmode="lin" valueType="num">
                                      <p:cBhvr additive="base">
                                        <p:cTn id="41" dur="500" fill="hold"/>
                                        <p:tgtEl>
                                          <p:spTgt spid="8">
                                            <p:graphicEl>
                                              <a:dgm id="{09B96CA3-08B0-4FD9-AD53-AAA554063CF3}"/>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uiExpand="1">
        <p:bldSub>
          <a:bldDgm bld="lvlAtOnce"/>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789312-CCAF-413D-8364-2642A28F6052}"/>
              </a:ext>
            </a:extLst>
          </p:cNvPr>
          <p:cNvSpPr>
            <a:spLocks noGrp="1"/>
          </p:cNvSpPr>
          <p:nvPr>
            <p:ph type="title"/>
          </p:nvPr>
        </p:nvSpPr>
        <p:spPr>
          <a:xfrm>
            <a:off x="1001483" y="74641"/>
            <a:ext cx="10058400" cy="1371600"/>
          </a:xfrm>
        </p:spPr>
        <p:txBody>
          <a:bodyPr>
            <a:normAutofit/>
          </a:bodyPr>
          <a:lstStyle/>
          <a:p>
            <a:r>
              <a:rPr lang="fr-FR" sz="3500" dirty="0"/>
              <a:t>d - La physique du chaos et de la complexité</a:t>
            </a:r>
            <a:br>
              <a:rPr lang="fr-FR" sz="3500" dirty="0"/>
            </a:br>
            <a:r>
              <a:rPr lang="fr-FR" sz="3500" dirty="0"/>
              <a:t>(1/2)</a:t>
            </a:r>
          </a:p>
        </p:txBody>
      </p:sp>
      <p:sp>
        <p:nvSpPr>
          <p:cNvPr id="6" name="Espace réservé du contenu 5">
            <a:extLst>
              <a:ext uri="{FF2B5EF4-FFF2-40B4-BE49-F238E27FC236}">
                <a16:creationId xmlns:a16="http://schemas.microsoft.com/office/drawing/2014/main" id="{DD46FD09-4E0B-4727-B476-89A8F825B6FC}"/>
              </a:ext>
            </a:extLst>
          </p:cNvPr>
          <p:cNvSpPr>
            <a:spLocks noGrp="1"/>
          </p:cNvSpPr>
          <p:nvPr>
            <p:ph idx="1"/>
          </p:nvPr>
        </p:nvSpPr>
        <p:spPr>
          <a:xfrm>
            <a:off x="1001483" y="1523403"/>
            <a:ext cx="10058400" cy="1685109"/>
          </a:xfrm>
        </p:spPr>
        <p:txBody>
          <a:bodyPr>
            <a:noAutofit/>
          </a:bodyPr>
          <a:lstStyle/>
          <a:p>
            <a:pPr marL="0" indent="0" algn="just">
              <a:buNone/>
            </a:pPr>
            <a:r>
              <a:rPr lang="fr-CI" sz="1900" dirty="0">
                <a:effectLst/>
                <a:latin typeface="Calibri" panose="020F0502020204030204" pitchFamily="34" charset="0"/>
                <a:ea typeface="Calibri" panose="020F0502020204030204" pitchFamily="34" charset="0"/>
                <a:cs typeface="Times New Roman" panose="02020603050405020304" pitchFamily="18" charset="0"/>
              </a:rPr>
              <a:t>Un autre domaine en ébullition est celui du chaos déterministe, qui est lié à la complexité, c'est-à-dire, à la formation de systèmes de plus en plus organisés.</a:t>
            </a:r>
            <a:endParaRPr lang="fr-CI" sz="1900" dirty="0">
              <a:latin typeface="Calibri" panose="020F0502020204030204" pitchFamily="34" charset="0"/>
              <a:ea typeface="Calibri" panose="020F0502020204030204" pitchFamily="34" charset="0"/>
              <a:cs typeface="Times New Roman" panose="02020603050405020304" pitchFamily="18" charset="0"/>
            </a:endParaRPr>
          </a:p>
          <a:p>
            <a:pPr marL="0" indent="0" algn="just">
              <a:buNone/>
            </a:pPr>
            <a:r>
              <a:rPr lang="fr-CI" sz="1900" b="1" dirty="0">
                <a:effectLst/>
                <a:latin typeface="Calibri" panose="020F0502020204030204" pitchFamily="34" charset="0"/>
                <a:ea typeface="Calibri" panose="020F0502020204030204" pitchFamily="34" charset="0"/>
                <a:cs typeface="Times New Roman" panose="02020603050405020304" pitchFamily="18" charset="0"/>
              </a:rPr>
              <a:t>Les théories du chaos déterministe permettent aussi de comprendre comment, à partir d’une collection assez limitée d’éléments et de lois de base, peuvent se former des systèmes très variés. Ainsi, les appareils scientifiques qui prétendaient tout contrôler ne suffisent plus à tout expliquer</a:t>
            </a:r>
            <a:endParaRPr lang="fr-FR" sz="19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fr-FR" sz="1900" dirty="0">
              <a:effectLst/>
              <a:latin typeface="Calibri" panose="020F0502020204030204" pitchFamily="34" charset="0"/>
              <a:ea typeface="Calibri" panose="020F0502020204030204" pitchFamily="34" charset="0"/>
              <a:cs typeface="Times New Roman" panose="02020603050405020304" pitchFamily="18" charset="0"/>
            </a:endParaRPr>
          </a:p>
          <a:p>
            <a:endParaRPr lang="fr-FR" sz="1900" dirty="0"/>
          </a:p>
        </p:txBody>
      </p:sp>
      <p:graphicFrame>
        <p:nvGraphicFramePr>
          <p:cNvPr id="7" name="Espace réservé du contenu 4">
            <a:extLst>
              <a:ext uri="{FF2B5EF4-FFF2-40B4-BE49-F238E27FC236}">
                <a16:creationId xmlns:a16="http://schemas.microsoft.com/office/drawing/2014/main" id="{897FA626-D7F8-48B3-B8D8-15B14B7B61B1}"/>
              </a:ext>
            </a:extLst>
          </p:cNvPr>
          <p:cNvGraphicFramePr>
            <a:graphicFrameLocks/>
          </p:cNvGraphicFramePr>
          <p:nvPr>
            <p:extLst>
              <p:ext uri="{D42A27DB-BD31-4B8C-83A1-F6EECF244321}">
                <p14:modId xmlns:p14="http://schemas.microsoft.com/office/powerpoint/2010/main" val="3169354069"/>
              </p:ext>
            </p:extLst>
          </p:nvPr>
        </p:nvGraphicFramePr>
        <p:xfrm>
          <a:off x="497632" y="3247055"/>
          <a:ext cx="10916818" cy="34523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763084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graphicEl>
                                              <a:dgm id="{A838B802-DDDB-41AE-B8F9-C907554D8793}"/>
                                            </p:graphicEl>
                                          </p:spTgt>
                                        </p:tgtEl>
                                        <p:attrNameLst>
                                          <p:attrName>style.visibility</p:attrName>
                                        </p:attrNameLst>
                                      </p:cBhvr>
                                      <p:to>
                                        <p:strVal val="visible"/>
                                      </p:to>
                                    </p:set>
                                    <p:animEffect transition="in" filter="fade">
                                      <p:cBhvr>
                                        <p:cTn id="7" dur="500"/>
                                        <p:tgtEl>
                                          <p:spTgt spid="7">
                                            <p:graphicEl>
                                              <a:dgm id="{A838B802-DDDB-41AE-B8F9-C907554D8793}"/>
                                            </p:graphicEl>
                                          </p:spTgt>
                                        </p:tgtEl>
                                      </p:cBhvr>
                                    </p:animEffect>
                                  </p:childTnLst>
                                </p:cTn>
                              </p:par>
                            </p:childTnLst>
                          </p:cTn>
                        </p:par>
                        <p:par>
                          <p:cTn id="8" fill="hold">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7">
                                            <p:graphicEl>
                                              <a:dgm id="{E28DFCB2-86D1-45BD-BC56-80CF5B3C0D41}"/>
                                            </p:graphicEl>
                                          </p:spTgt>
                                        </p:tgtEl>
                                        <p:attrNameLst>
                                          <p:attrName>style.visibility</p:attrName>
                                        </p:attrNameLst>
                                      </p:cBhvr>
                                      <p:to>
                                        <p:strVal val="visible"/>
                                      </p:to>
                                    </p:set>
                                    <p:animEffect transition="in" filter="barn(outVertical)">
                                      <p:cBhvr>
                                        <p:cTn id="11" dur="500"/>
                                        <p:tgtEl>
                                          <p:spTgt spid="7">
                                            <p:graphicEl>
                                              <a:dgm id="{E28DFCB2-86D1-45BD-BC56-80CF5B3C0D41}"/>
                                            </p:graphicEl>
                                          </p:spTgt>
                                        </p:tgtEl>
                                      </p:cBhvr>
                                    </p:animEffect>
                                  </p:childTnLst>
                                </p:cTn>
                              </p:par>
                              <p:par>
                                <p:cTn id="12" presetID="16" presetClass="entr" presetSubtype="37" fill="hold" grpId="0" nodeType="withEffect">
                                  <p:stCondLst>
                                    <p:cond delay="0"/>
                                  </p:stCondLst>
                                  <p:childTnLst>
                                    <p:set>
                                      <p:cBhvr>
                                        <p:cTn id="13" dur="1" fill="hold">
                                          <p:stCondLst>
                                            <p:cond delay="0"/>
                                          </p:stCondLst>
                                        </p:cTn>
                                        <p:tgtEl>
                                          <p:spTgt spid="7">
                                            <p:graphicEl>
                                              <a:dgm id="{E9D754FC-D2B7-4F19-A317-6B77A4B02839}"/>
                                            </p:graphicEl>
                                          </p:spTgt>
                                        </p:tgtEl>
                                        <p:attrNameLst>
                                          <p:attrName>style.visibility</p:attrName>
                                        </p:attrNameLst>
                                      </p:cBhvr>
                                      <p:to>
                                        <p:strVal val="visible"/>
                                      </p:to>
                                    </p:set>
                                    <p:animEffect transition="in" filter="barn(outVertical)">
                                      <p:cBhvr>
                                        <p:cTn id="14" dur="500"/>
                                        <p:tgtEl>
                                          <p:spTgt spid="7">
                                            <p:graphicEl>
                                              <a:dgm id="{E9D754FC-D2B7-4F19-A317-6B77A4B02839}"/>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uiExpand="1">
        <p:bldSub>
          <a:bldDgm bld="one"/>
        </p:bldSub>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789312-CCAF-413D-8364-2642A28F6052}"/>
              </a:ext>
            </a:extLst>
          </p:cNvPr>
          <p:cNvSpPr>
            <a:spLocks noGrp="1"/>
          </p:cNvSpPr>
          <p:nvPr>
            <p:ph type="title"/>
          </p:nvPr>
        </p:nvSpPr>
        <p:spPr>
          <a:xfrm>
            <a:off x="1001483" y="74641"/>
            <a:ext cx="10058400" cy="1371600"/>
          </a:xfrm>
        </p:spPr>
        <p:txBody>
          <a:bodyPr>
            <a:normAutofit/>
          </a:bodyPr>
          <a:lstStyle/>
          <a:p>
            <a:r>
              <a:rPr lang="fr-FR" sz="3500" dirty="0"/>
              <a:t>d - La physique du chaos et de la complexité</a:t>
            </a:r>
            <a:br>
              <a:rPr lang="fr-FR" sz="3500" dirty="0"/>
            </a:br>
            <a:r>
              <a:rPr lang="fr-FR" sz="3500" dirty="0"/>
              <a:t>(2/2)</a:t>
            </a:r>
          </a:p>
        </p:txBody>
      </p:sp>
      <p:sp>
        <p:nvSpPr>
          <p:cNvPr id="6" name="Espace réservé du contenu 5">
            <a:extLst>
              <a:ext uri="{FF2B5EF4-FFF2-40B4-BE49-F238E27FC236}">
                <a16:creationId xmlns:a16="http://schemas.microsoft.com/office/drawing/2014/main" id="{DD46FD09-4E0B-4727-B476-89A8F825B6FC}"/>
              </a:ext>
            </a:extLst>
          </p:cNvPr>
          <p:cNvSpPr>
            <a:spLocks noGrp="1"/>
          </p:cNvSpPr>
          <p:nvPr>
            <p:ph idx="1"/>
          </p:nvPr>
        </p:nvSpPr>
        <p:spPr>
          <a:xfrm>
            <a:off x="1001483" y="1523403"/>
            <a:ext cx="10058400" cy="1685109"/>
          </a:xfrm>
        </p:spPr>
        <p:txBody>
          <a:bodyPr>
            <a:noAutofit/>
          </a:bodyPr>
          <a:lstStyle/>
          <a:p>
            <a:pPr marL="0" indent="0" algn="just">
              <a:buNone/>
            </a:pPr>
            <a:r>
              <a:rPr lang="fr-CI" sz="1900" dirty="0">
                <a:effectLst/>
                <a:latin typeface="Calibri" panose="020F0502020204030204" pitchFamily="34" charset="0"/>
                <a:ea typeface="Calibri" panose="020F0502020204030204" pitchFamily="34" charset="0"/>
                <a:cs typeface="Times New Roman" panose="02020603050405020304" pitchFamily="18" charset="0"/>
              </a:rPr>
              <a:t>Un autre domaine en ébullition est celui du chaos déterministe, qui est lié à la complexité, c'est-à-dire, à la formation de systèmes de plus en plus organisés.</a:t>
            </a:r>
            <a:endParaRPr lang="fr-CI" sz="1900" dirty="0">
              <a:latin typeface="Calibri" panose="020F0502020204030204" pitchFamily="34" charset="0"/>
              <a:ea typeface="Calibri" panose="020F0502020204030204" pitchFamily="34" charset="0"/>
              <a:cs typeface="Times New Roman" panose="02020603050405020304" pitchFamily="18" charset="0"/>
            </a:endParaRPr>
          </a:p>
          <a:p>
            <a:pPr marL="0" indent="0" algn="just">
              <a:buNone/>
            </a:pPr>
            <a:r>
              <a:rPr lang="fr-CI" sz="1900" b="1" dirty="0">
                <a:effectLst/>
                <a:latin typeface="Calibri" panose="020F0502020204030204" pitchFamily="34" charset="0"/>
                <a:ea typeface="Calibri" panose="020F0502020204030204" pitchFamily="34" charset="0"/>
                <a:cs typeface="Times New Roman" panose="02020603050405020304" pitchFamily="18" charset="0"/>
              </a:rPr>
              <a:t>Les théories du chaos déterministe permettent aussi de comprendre comment, à partir d’une collection assez limitée d’éléments et de lois de base, peuvent se former des systèmes très variés. Ainsi, les appareils scientifiques qui prétendaient tout contrôler ne suffisent plus à tout expliquer</a:t>
            </a:r>
            <a:endParaRPr lang="fr-FR" sz="19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fr-FR" sz="1900" dirty="0">
              <a:effectLst/>
              <a:latin typeface="Calibri" panose="020F0502020204030204" pitchFamily="34" charset="0"/>
              <a:ea typeface="Calibri" panose="020F0502020204030204" pitchFamily="34" charset="0"/>
              <a:cs typeface="Times New Roman" panose="02020603050405020304" pitchFamily="18" charset="0"/>
            </a:endParaRPr>
          </a:p>
          <a:p>
            <a:endParaRPr lang="fr-FR" sz="1900" dirty="0"/>
          </a:p>
        </p:txBody>
      </p:sp>
      <p:graphicFrame>
        <p:nvGraphicFramePr>
          <p:cNvPr id="7" name="Espace réservé du contenu 4">
            <a:extLst>
              <a:ext uri="{FF2B5EF4-FFF2-40B4-BE49-F238E27FC236}">
                <a16:creationId xmlns:a16="http://schemas.microsoft.com/office/drawing/2014/main" id="{897FA626-D7F8-48B3-B8D8-15B14B7B61B1}"/>
              </a:ext>
            </a:extLst>
          </p:cNvPr>
          <p:cNvGraphicFramePr>
            <a:graphicFrameLocks/>
          </p:cNvGraphicFramePr>
          <p:nvPr>
            <p:extLst>
              <p:ext uri="{D42A27DB-BD31-4B8C-83A1-F6EECF244321}">
                <p14:modId xmlns:p14="http://schemas.microsoft.com/office/powerpoint/2010/main" val="2280833966"/>
              </p:ext>
            </p:extLst>
          </p:nvPr>
        </p:nvGraphicFramePr>
        <p:xfrm>
          <a:off x="497632" y="3247055"/>
          <a:ext cx="10916818" cy="34523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07360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7">
                                            <p:graphicEl>
                                              <a:dgm id="{E28DFCB2-86D1-45BD-BC56-80CF5B3C0D41}"/>
                                            </p:graphicEl>
                                          </p:spTgt>
                                        </p:tgtEl>
                                        <p:attrNameLst>
                                          <p:attrName>style.visibility</p:attrName>
                                        </p:attrNameLst>
                                      </p:cBhvr>
                                      <p:to>
                                        <p:strVal val="visible"/>
                                      </p:to>
                                    </p:set>
                                    <p:animEffect transition="in" filter="barn(inVertical)">
                                      <p:cBhvr>
                                        <p:cTn id="7" dur="500"/>
                                        <p:tgtEl>
                                          <p:spTgt spid="7">
                                            <p:graphicEl>
                                              <a:dgm id="{E28DFCB2-86D1-45BD-BC56-80CF5B3C0D41}"/>
                                            </p:graphicEl>
                                          </p:spTgt>
                                        </p:tgtEl>
                                      </p:cBhvr>
                                    </p:animEffect>
                                  </p:childTnLst>
                                </p:cTn>
                              </p:par>
                              <p:par>
                                <p:cTn id="8" presetID="16" presetClass="entr" presetSubtype="37" fill="hold" grpId="0" nodeType="withEffect">
                                  <p:stCondLst>
                                    <p:cond delay="0"/>
                                  </p:stCondLst>
                                  <p:childTnLst>
                                    <p:set>
                                      <p:cBhvr>
                                        <p:cTn id="9" dur="1" fill="hold">
                                          <p:stCondLst>
                                            <p:cond delay="0"/>
                                          </p:stCondLst>
                                        </p:cTn>
                                        <p:tgtEl>
                                          <p:spTgt spid="7">
                                            <p:graphicEl>
                                              <a:dgm id="{E9D754FC-D2B7-4F19-A317-6B77A4B02839}"/>
                                            </p:graphicEl>
                                          </p:spTgt>
                                        </p:tgtEl>
                                        <p:attrNameLst>
                                          <p:attrName>style.visibility</p:attrName>
                                        </p:attrNameLst>
                                      </p:cBhvr>
                                      <p:to>
                                        <p:strVal val="visible"/>
                                      </p:to>
                                    </p:set>
                                    <p:animEffect transition="in" filter="barn(outVertical)">
                                      <p:cBhvr>
                                        <p:cTn id="10" dur="500"/>
                                        <p:tgtEl>
                                          <p:spTgt spid="7">
                                            <p:graphicEl>
                                              <a:dgm id="{E9D754FC-D2B7-4F19-A317-6B77A4B02839}"/>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uiExpand="1">
        <p:bldSub>
          <a:bldDgm bld="one"/>
        </p:bldSub>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Espace réservé du contenu 4">
            <a:extLst>
              <a:ext uri="{FF2B5EF4-FFF2-40B4-BE49-F238E27FC236}">
                <a16:creationId xmlns:a16="http://schemas.microsoft.com/office/drawing/2014/main" id="{9DAE2F3B-DBE7-4112-BE24-E46143C495C9}"/>
              </a:ext>
            </a:extLst>
          </p:cNvPr>
          <p:cNvGraphicFramePr>
            <a:graphicFrameLocks noGrp="1"/>
          </p:cNvGraphicFramePr>
          <p:nvPr>
            <p:ph idx="1"/>
            <p:extLst>
              <p:ext uri="{D42A27DB-BD31-4B8C-83A1-F6EECF244321}">
                <p14:modId xmlns:p14="http://schemas.microsoft.com/office/powerpoint/2010/main" val="1224606443"/>
              </p:ext>
            </p:extLst>
          </p:nvPr>
        </p:nvGraphicFramePr>
        <p:xfrm>
          <a:off x="195943" y="2238267"/>
          <a:ext cx="11800114" cy="28231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Espace réservé du contenu 2">
            <a:extLst>
              <a:ext uri="{FF2B5EF4-FFF2-40B4-BE49-F238E27FC236}">
                <a16:creationId xmlns:a16="http://schemas.microsoft.com/office/drawing/2014/main" id="{5F8B0C52-A6F3-4F8F-A7F7-C13174302AFD}"/>
              </a:ext>
            </a:extLst>
          </p:cNvPr>
          <p:cNvSpPr txBox="1">
            <a:spLocks/>
          </p:cNvSpPr>
          <p:nvPr/>
        </p:nvSpPr>
        <p:spPr>
          <a:xfrm>
            <a:off x="830424" y="1362271"/>
            <a:ext cx="10294776" cy="1156999"/>
          </a:xfrm>
          <a:prstGeom prst="rect">
            <a:avLst/>
          </a:prstGeom>
        </p:spPr>
        <p:txBody>
          <a:bodyPr vert="horz" lIns="91440" tIns="45720" rIns="91440" bIns="45720" rtlCol="0">
            <a:normAutofit/>
          </a:bodyPr>
          <a:lst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marL="0" indent="0" algn="just">
              <a:buNone/>
            </a:pPr>
            <a:r>
              <a:rPr lang="fr-FR" sz="1900" dirty="0">
                <a:latin typeface="Calibri" panose="020F0502020204030204" pitchFamily="34" charset="0"/>
                <a:cs typeface="Calibri" panose="020F0502020204030204" pitchFamily="34" charset="0"/>
              </a:rPr>
              <a:t>Le concept d’information joue un rôle de plus en plus important dans la science (surtout, mais pas seulement, dans la biologie).</a:t>
            </a:r>
          </a:p>
          <a:p>
            <a:pPr marL="0" indent="0">
              <a:buNone/>
            </a:pPr>
            <a:r>
              <a:rPr lang="fr-FR" sz="1900" dirty="0">
                <a:latin typeface="Calibri" panose="020F0502020204030204" pitchFamily="34" charset="0"/>
                <a:cs typeface="Calibri" panose="020F0502020204030204" pitchFamily="34" charset="0"/>
              </a:rPr>
              <a:t>On l’utilise avec trois acceptions :</a:t>
            </a:r>
          </a:p>
          <a:p>
            <a:pPr marL="0" indent="0">
              <a:buNone/>
            </a:pPr>
            <a:endParaRPr lang="fr-FR" sz="1900" dirty="0"/>
          </a:p>
        </p:txBody>
      </p:sp>
      <p:sp>
        <p:nvSpPr>
          <p:cNvPr id="6" name="Espace réservé du contenu 2">
            <a:extLst>
              <a:ext uri="{FF2B5EF4-FFF2-40B4-BE49-F238E27FC236}">
                <a16:creationId xmlns:a16="http://schemas.microsoft.com/office/drawing/2014/main" id="{CADEE029-3370-4675-9C59-47A8E89D5F16}"/>
              </a:ext>
            </a:extLst>
          </p:cNvPr>
          <p:cNvSpPr txBox="1">
            <a:spLocks/>
          </p:cNvSpPr>
          <p:nvPr/>
        </p:nvSpPr>
        <p:spPr>
          <a:xfrm>
            <a:off x="830424" y="4968086"/>
            <a:ext cx="10515600" cy="1517914"/>
          </a:xfrm>
          <a:prstGeom prst="rect">
            <a:avLst/>
          </a:prstGeom>
        </p:spPr>
        <p:txBody>
          <a:bodyPr vert="horz" lIns="91440" tIns="45720" rIns="91440" bIns="45720" rtlCol="0">
            <a:normAutofit fontScale="92500" lnSpcReduction="10000"/>
          </a:bodyPr>
          <a:lst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marL="0" indent="0" algn="just">
              <a:buNone/>
            </a:pPr>
            <a:r>
              <a:rPr lang="fr-FR" sz="2100" dirty="0">
                <a:latin typeface="Calibri" panose="020F0502020204030204" pitchFamily="34" charset="0"/>
                <a:cs typeface="Calibri" panose="020F0502020204030204" pitchFamily="34" charset="0"/>
              </a:rPr>
              <a:t>La théorie de l’information s’occupe de l’étude scientifique du traitement et de la transmission de l’information.</a:t>
            </a:r>
          </a:p>
          <a:p>
            <a:pPr marL="0" indent="0" algn="just">
              <a:buNone/>
            </a:pPr>
            <a:r>
              <a:rPr lang="fr-FR" sz="2100" dirty="0">
                <a:latin typeface="Calibri" panose="020F0502020204030204" pitchFamily="34" charset="0"/>
                <a:cs typeface="Calibri" panose="020F0502020204030204" pitchFamily="34" charset="0"/>
              </a:rPr>
              <a:t>L’informatique étudie ce domaine, y compris les ordinateurs, les télécommunications, la microélectronique et les programmes et instructions qui les font fonctionner. Il s’agit d’un domaine en forte expansion aux conséquences énormes, aussi bien conceptuelles que pratiques.</a:t>
            </a:r>
          </a:p>
          <a:p>
            <a:pPr marL="0" indent="0" algn="just">
              <a:buNone/>
            </a:pPr>
            <a:endParaRPr lang="fr-FR" sz="1900" dirty="0"/>
          </a:p>
        </p:txBody>
      </p:sp>
      <p:sp>
        <p:nvSpPr>
          <p:cNvPr id="9" name="Titre 1">
            <a:extLst>
              <a:ext uri="{FF2B5EF4-FFF2-40B4-BE49-F238E27FC236}">
                <a16:creationId xmlns:a16="http://schemas.microsoft.com/office/drawing/2014/main" id="{523C323E-64F8-40F3-BF9F-826FF7E297B4}"/>
              </a:ext>
            </a:extLst>
          </p:cNvPr>
          <p:cNvSpPr>
            <a:spLocks noGrp="1"/>
          </p:cNvSpPr>
          <p:nvPr>
            <p:ph type="title"/>
          </p:nvPr>
        </p:nvSpPr>
        <p:spPr>
          <a:xfrm>
            <a:off x="1001483" y="74641"/>
            <a:ext cx="10058400" cy="1371600"/>
          </a:xfrm>
        </p:spPr>
        <p:txBody>
          <a:bodyPr>
            <a:normAutofit/>
          </a:bodyPr>
          <a:lstStyle/>
          <a:p>
            <a:r>
              <a:rPr lang="fr-FR" sz="3500" dirty="0"/>
              <a:t>e – L’informatique</a:t>
            </a:r>
            <a:br>
              <a:rPr lang="fr-FR" sz="3500" dirty="0"/>
            </a:br>
            <a:r>
              <a:rPr lang="fr-FR" sz="3500" dirty="0"/>
              <a:t>(1/1)</a:t>
            </a:r>
          </a:p>
        </p:txBody>
      </p:sp>
    </p:spTree>
    <p:extLst>
      <p:ext uri="{BB962C8B-B14F-4D97-AF65-F5344CB8AC3E}">
        <p14:creationId xmlns:p14="http://schemas.microsoft.com/office/powerpoint/2010/main" val="2468268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9EC277A6-D59A-4F7B-97E9-0938D3D0E882}"/>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graphicEl>
                                              <a:dgm id="{ACEA9281-AC54-4FC3-8D43-9BE3230D42C1}"/>
                                            </p:graphicEl>
                                          </p:spTgt>
                                        </p:tgtEl>
                                        <p:attrNameLst>
                                          <p:attrName>style.visibility</p:attrName>
                                        </p:attrNameLst>
                                      </p:cBhvr>
                                      <p:to>
                                        <p:strVal val="visible"/>
                                      </p:to>
                                    </p:set>
                                  </p:childTnLst>
                                </p:cTn>
                              </p:par>
                              <p:par>
                                <p:cTn id="9" presetID="16" presetClass="entr" presetSubtype="21" fill="hold" grpId="0" nodeType="withEffect">
                                  <p:stCondLst>
                                    <p:cond delay="0"/>
                                  </p:stCondLst>
                                  <p:childTnLst>
                                    <p:set>
                                      <p:cBhvr>
                                        <p:cTn id="10" dur="1" fill="hold">
                                          <p:stCondLst>
                                            <p:cond delay="0"/>
                                          </p:stCondLst>
                                        </p:cTn>
                                        <p:tgtEl>
                                          <p:spTgt spid="5">
                                            <p:graphicEl>
                                              <a:dgm id="{791F5EF3-977B-47A3-B407-A9AED871D1B5}"/>
                                            </p:graphicEl>
                                          </p:spTgt>
                                        </p:tgtEl>
                                        <p:attrNameLst>
                                          <p:attrName>style.visibility</p:attrName>
                                        </p:attrNameLst>
                                      </p:cBhvr>
                                      <p:to>
                                        <p:strVal val="visible"/>
                                      </p:to>
                                    </p:set>
                                    <p:animEffect transition="in" filter="barn(inVertical)">
                                      <p:cBhvr>
                                        <p:cTn id="11" dur="500"/>
                                        <p:tgtEl>
                                          <p:spTgt spid="5">
                                            <p:graphicEl>
                                              <a:dgm id="{791F5EF3-977B-47A3-B407-A9AED871D1B5}"/>
                                            </p:graphicEl>
                                          </p:spTgt>
                                        </p:tgtEl>
                                      </p:cBhvr>
                                    </p:animEffect>
                                  </p:childTnLst>
                                </p:cTn>
                              </p:par>
                            </p:childTnLst>
                          </p:cTn>
                        </p:par>
                        <p:par>
                          <p:cTn id="12" fill="hold">
                            <p:stCondLst>
                              <p:cond delay="500"/>
                            </p:stCondLst>
                            <p:childTnLst>
                              <p:par>
                                <p:cTn id="13" presetID="1" presetClass="entr" presetSubtype="0" fill="hold" grpId="0" nodeType="afterEffect">
                                  <p:stCondLst>
                                    <p:cond delay="0"/>
                                  </p:stCondLst>
                                  <p:childTnLst>
                                    <p:set>
                                      <p:cBhvr>
                                        <p:cTn id="14" dur="1" fill="hold">
                                          <p:stCondLst>
                                            <p:cond delay="0"/>
                                          </p:stCondLst>
                                        </p:cTn>
                                        <p:tgtEl>
                                          <p:spTgt spid="5">
                                            <p:graphicEl>
                                              <a:dgm id="{41CA5929-2D51-4DE6-88DA-DE23678793CC}"/>
                                            </p:graphicEl>
                                          </p:spTgt>
                                        </p:tgtEl>
                                        <p:attrNameLst>
                                          <p:attrName>style.visibility</p:attrName>
                                        </p:attrNameLst>
                                      </p:cBhvr>
                                      <p:to>
                                        <p:strVal val="visible"/>
                                      </p:to>
                                    </p:set>
                                  </p:childTnLst>
                                </p:cTn>
                              </p:par>
                              <p:par>
                                <p:cTn id="15" presetID="16" presetClass="entr" presetSubtype="21" fill="hold" grpId="0" nodeType="withEffect">
                                  <p:stCondLst>
                                    <p:cond delay="0"/>
                                  </p:stCondLst>
                                  <p:childTnLst>
                                    <p:set>
                                      <p:cBhvr>
                                        <p:cTn id="16" dur="1" fill="hold">
                                          <p:stCondLst>
                                            <p:cond delay="0"/>
                                          </p:stCondLst>
                                        </p:cTn>
                                        <p:tgtEl>
                                          <p:spTgt spid="5">
                                            <p:graphicEl>
                                              <a:dgm id="{80664375-26FF-4C35-B397-88F098FDEB44}"/>
                                            </p:graphicEl>
                                          </p:spTgt>
                                        </p:tgtEl>
                                        <p:attrNameLst>
                                          <p:attrName>style.visibility</p:attrName>
                                        </p:attrNameLst>
                                      </p:cBhvr>
                                      <p:to>
                                        <p:strVal val="visible"/>
                                      </p:to>
                                    </p:set>
                                    <p:animEffect transition="in" filter="barn(inVertical)">
                                      <p:cBhvr>
                                        <p:cTn id="17" dur="500"/>
                                        <p:tgtEl>
                                          <p:spTgt spid="5">
                                            <p:graphicEl>
                                              <a:dgm id="{80664375-26FF-4C35-B397-88F098FDEB44}"/>
                                            </p:graphicEl>
                                          </p:spTgt>
                                        </p:tgtEl>
                                      </p:cBhvr>
                                    </p:animEffect>
                                  </p:childTnLst>
                                </p:cTn>
                              </p:par>
                            </p:childTnLst>
                          </p:cTn>
                        </p:par>
                        <p:par>
                          <p:cTn id="18" fill="hold">
                            <p:stCondLst>
                              <p:cond delay="1000"/>
                            </p:stCondLst>
                            <p:childTnLst>
                              <p:par>
                                <p:cTn id="19" presetID="1" presetClass="entr" presetSubtype="0" fill="hold" grpId="0" nodeType="afterEffect">
                                  <p:stCondLst>
                                    <p:cond delay="0"/>
                                  </p:stCondLst>
                                  <p:childTnLst>
                                    <p:set>
                                      <p:cBhvr>
                                        <p:cTn id="20" dur="1" fill="hold">
                                          <p:stCondLst>
                                            <p:cond delay="0"/>
                                          </p:stCondLst>
                                        </p:cTn>
                                        <p:tgtEl>
                                          <p:spTgt spid="5">
                                            <p:graphicEl>
                                              <a:dgm id="{C0B6ABFA-24E4-40A9-899D-540917895468}"/>
                                            </p:graphicEl>
                                          </p:spTgt>
                                        </p:tgtEl>
                                        <p:attrNameLst>
                                          <p:attrName>style.visibility</p:attrName>
                                        </p:attrNameLst>
                                      </p:cBhvr>
                                      <p:to>
                                        <p:strVal val="visible"/>
                                      </p:to>
                                    </p:set>
                                  </p:childTnLst>
                                </p:cTn>
                              </p:par>
                              <p:par>
                                <p:cTn id="21" presetID="16" presetClass="entr" presetSubtype="21" fill="hold" grpId="0" nodeType="withEffect">
                                  <p:stCondLst>
                                    <p:cond delay="0"/>
                                  </p:stCondLst>
                                  <p:childTnLst>
                                    <p:set>
                                      <p:cBhvr>
                                        <p:cTn id="22" dur="1" fill="hold">
                                          <p:stCondLst>
                                            <p:cond delay="0"/>
                                          </p:stCondLst>
                                        </p:cTn>
                                        <p:tgtEl>
                                          <p:spTgt spid="5">
                                            <p:graphicEl>
                                              <a:dgm id="{EF84C044-C6BB-408C-8731-E35684221202}"/>
                                            </p:graphicEl>
                                          </p:spTgt>
                                        </p:tgtEl>
                                        <p:attrNameLst>
                                          <p:attrName>style.visibility</p:attrName>
                                        </p:attrNameLst>
                                      </p:cBhvr>
                                      <p:to>
                                        <p:strVal val="visible"/>
                                      </p:to>
                                    </p:set>
                                    <p:animEffect transition="in" filter="barn(inVertical)">
                                      <p:cBhvr>
                                        <p:cTn id="23" dur="500"/>
                                        <p:tgtEl>
                                          <p:spTgt spid="5">
                                            <p:graphicEl>
                                              <a:dgm id="{EF84C044-C6BB-408C-8731-E35684221202}"/>
                                            </p:graphicEl>
                                          </p:spTgt>
                                        </p:tgtEl>
                                      </p:cBhvr>
                                    </p:animEffect>
                                  </p:childTnLst>
                                </p:cTn>
                              </p:par>
                            </p:childTnLst>
                          </p:cTn>
                        </p:par>
                        <p:par>
                          <p:cTn id="24" fill="hold">
                            <p:stCondLst>
                              <p:cond delay="1500"/>
                            </p:stCondLst>
                            <p:childTnLst>
                              <p:par>
                                <p:cTn id="25" presetID="53" presetClass="entr" presetSubtype="16" fill="hold" grpId="0" nodeType="after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 calcmode="lin" valueType="num">
                                      <p:cBhvr>
                                        <p:cTn id="27" dur="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28" dur="500" fill="hold"/>
                                        <p:tgtEl>
                                          <p:spTgt spid="6">
                                            <p:txEl>
                                              <p:pRg st="0" end="0"/>
                                            </p:txEl>
                                          </p:spTgt>
                                        </p:tgtEl>
                                        <p:attrNameLst>
                                          <p:attrName>ppt_h</p:attrName>
                                        </p:attrNameLst>
                                      </p:cBhvr>
                                      <p:tavLst>
                                        <p:tav tm="0">
                                          <p:val>
                                            <p:fltVal val="0"/>
                                          </p:val>
                                        </p:tav>
                                        <p:tav tm="100000">
                                          <p:val>
                                            <p:strVal val="#ppt_h"/>
                                          </p:val>
                                        </p:tav>
                                      </p:tavLst>
                                    </p:anim>
                                    <p:animEffect transition="in" filter="fade">
                                      <p:cBhvr>
                                        <p:cTn id="29" dur="500"/>
                                        <p:tgtEl>
                                          <p:spTgt spid="6">
                                            <p:txEl>
                                              <p:pRg st="0" end="0"/>
                                            </p:txEl>
                                          </p:spTgt>
                                        </p:tgtEl>
                                      </p:cBhvr>
                                    </p:animEffect>
                                  </p:childTnLst>
                                </p:cTn>
                              </p:par>
                            </p:childTnLst>
                          </p:cTn>
                        </p:par>
                        <p:par>
                          <p:cTn id="30" fill="hold">
                            <p:stCondLst>
                              <p:cond delay="2000"/>
                            </p:stCondLst>
                            <p:childTnLst>
                              <p:par>
                                <p:cTn id="31" presetID="53" presetClass="entr" presetSubtype="16" fill="hold" grpId="0" nodeType="afterEffect">
                                  <p:stCondLst>
                                    <p:cond delay="0"/>
                                  </p:stCondLst>
                                  <p:childTnLst>
                                    <p:set>
                                      <p:cBhvr>
                                        <p:cTn id="32" dur="1" fill="hold">
                                          <p:stCondLst>
                                            <p:cond delay="0"/>
                                          </p:stCondLst>
                                        </p:cTn>
                                        <p:tgtEl>
                                          <p:spTgt spid="6">
                                            <p:txEl>
                                              <p:pRg st="1" end="1"/>
                                            </p:txEl>
                                          </p:spTgt>
                                        </p:tgtEl>
                                        <p:attrNameLst>
                                          <p:attrName>style.visibility</p:attrName>
                                        </p:attrNameLst>
                                      </p:cBhvr>
                                      <p:to>
                                        <p:strVal val="visible"/>
                                      </p:to>
                                    </p:set>
                                    <p:anim calcmode="lin" valueType="num">
                                      <p:cBhvr>
                                        <p:cTn id="33" dur="500" fill="hold"/>
                                        <p:tgtEl>
                                          <p:spTgt spid="6">
                                            <p:txEl>
                                              <p:pRg st="1" end="1"/>
                                            </p:txEl>
                                          </p:spTgt>
                                        </p:tgtEl>
                                        <p:attrNameLst>
                                          <p:attrName>ppt_w</p:attrName>
                                        </p:attrNameLst>
                                      </p:cBhvr>
                                      <p:tavLst>
                                        <p:tav tm="0">
                                          <p:val>
                                            <p:fltVal val="0"/>
                                          </p:val>
                                        </p:tav>
                                        <p:tav tm="100000">
                                          <p:val>
                                            <p:strVal val="#ppt_w"/>
                                          </p:val>
                                        </p:tav>
                                      </p:tavLst>
                                    </p:anim>
                                    <p:anim calcmode="lin" valueType="num">
                                      <p:cBhvr>
                                        <p:cTn id="34" dur="500" fill="hold"/>
                                        <p:tgtEl>
                                          <p:spTgt spid="6">
                                            <p:txEl>
                                              <p:pRg st="1" end="1"/>
                                            </p:txEl>
                                          </p:spTgt>
                                        </p:tgtEl>
                                        <p:attrNameLst>
                                          <p:attrName>ppt_h</p:attrName>
                                        </p:attrNameLst>
                                      </p:cBhvr>
                                      <p:tavLst>
                                        <p:tav tm="0">
                                          <p:val>
                                            <p:fltVal val="0"/>
                                          </p:val>
                                        </p:tav>
                                        <p:tav tm="100000">
                                          <p:val>
                                            <p:strVal val="#ppt_h"/>
                                          </p:val>
                                        </p:tav>
                                      </p:tavLst>
                                    </p:anim>
                                    <p:animEffect transition="in" filter="fade">
                                      <p:cBhvr>
                                        <p:cTn id="35"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P spid="6"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C4B9057-EFE5-46EF-8A04-B64F17E86200}"/>
              </a:ext>
            </a:extLst>
          </p:cNvPr>
          <p:cNvSpPr>
            <a:spLocks noGrp="1"/>
          </p:cNvSpPr>
          <p:nvPr>
            <p:ph idx="1"/>
          </p:nvPr>
        </p:nvSpPr>
        <p:spPr>
          <a:xfrm>
            <a:off x="531845" y="1446241"/>
            <a:ext cx="10963469" cy="5113178"/>
          </a:xfrm>
        </p:spPr>
        <p:txBody>
          <a:bodyPr>
            <a:noAutofit/>
          </a:bodyPr>
          <a:lstStyle/>
          <a:p>
            <a:pPr algn="just">
              <a:lnSpc>
                <a:spcPct val="107000"/>
              </a:lnSpc>
              <a:spcAft>
                <a:spcPts val="800"/>
              </a:spcAft>
            </a:pPr>
            <a:r>
              <a:rPr lang="fr-CI" sz="1900" dirty="0">
                <a:effectLst/>
                <a:latin typeface="Calibri" panose="020F0502020204030204" pitchFamily="34" charset="0"/>
                <a:ea typeface="Calibri" panose="020F0502020204030204" pitchFamily="34" charset="0"/>
                <a:cs typeface="Times New Roman" panose="02020603050405020304" pitchFamily="18" charset="0"/>
              </a:rPr>
              <a:t>On a déjà vu que si la biotechnologie n’en est qu’à ses commencements, elle permet déjà d’obtenir des résultats inimaginables il y a quelques décennies, et ouvre des perspectives extraordinaires.</a:t>
            </a:r>
            <a:endParaRPr lang="fr-FR" sz="19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CI" sz="1900" dirty="0">
                <a:effectLst/>
                <a:latin typeface="Calibri" panose="020F0502020204030204" pitchFamily="34" charset="0"/>
                <a:ea typeface="Calibri" panose="020F0502020204030204" pitchFamily="34" charset="0"/>
                <a:cs typeface="Times New Roman" panose="02020603050405020304" pitchFamily="18" charset="0"/>
              </a:rPr>
              <a:t> On utilise des êtres vivants pour produire des aliments, des médicaments, des produits industriels. Quelques-uns de ces processus sont utilisés depuis des siècles : la fermentation du pain ou des boissons alcoolisées, par exemple. Les progrès les plus récents concernent spécialement l’« ingénierie génétique », qui manipule l’ADN des vivants à de fins différentes, qui vont de la production de médicaments à l’obtention de vivants par clonage.</a:t>
            </a:r>
            <a:endParaRPr lang="fr-FR" sz="19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CI" sz="1900" dirty="0">
                <a:effectLst/>
                <a:latin typeface="Calibri" panose="020F0502020204030204" pitchFamily="34" charset="0"/>
                <a:ea typeface="Calibri" panose="020F0502020204030204" pitchFamily="34" charset="0"/>
                <a:cs typeface="Times New Roman" panose="02020603050405020304" pitchFamily="18" charset="0"/>
              </a:rPr>
              <a:t>Il est évident que l’ingénierie génétique soulève des questions éthiques dont la société commence à percevoir l’importance.</a:t>
            </a:r>
          </a:p>
          <a:p>
            <a:pPr algn="just">
              <a:lnSpc>
                <a:spcPct val="107000"/>
              </a:lnSpc>
              <a:spcAft>
                <a:spcPts val="800"/>
              </a:spcAft>
            </a:pPr>
            <a:r>
              <a:rPr lang="fr-FR" sz="1900" dirty="0">
                <a:effectLst/>
                <a:latin typeface="Calibri" panose="020F0502020204030204" pitchFamily="34" charset="0"/>
                <a:ea typeface="Calibri" panose="020F0502020204030204" pitchFamily="34" charset="0"/>
                <a:cs typeface="Times New Roman" panose="02020603050405020304" pitchFamily="18" charset="0"/>
              </a:rPr>
              <a:t>Dans ce domaine il est particulièrement important compter sur des principes éthiques adéquats ; autrement on pourrait perdre de vue que tout ce qui est techniquement faisable n’est pas forcément éthiquement admissible. Perdre de vue cet aspect de la question pourrait amener la société à des conséquences désastreuses. La biotechnologie offre des possibilités énormes dans le domaine de la santé ou de l’alimentation, mais elle pose aussi des défis éthiques graves.</a:t>
            </a:r>
          </a:p>
          <a:p>
            <a:pPr algn="just">
              <a:lnSpc>
                <a:spcPct val="107000"/>
              </a:lnSpc>
              <a:spcAft>
                <a:spcPts val="800"/>
              </a:spcAft>
            </a:pPr>
            <a:endParaRPr lang="fr-FR" sz="19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fr-FR" sz="1900" dirty="0"/>
          </a:p>
        </p:txBody>
      </p:sp>
      <p:sp>
        <p:nvSpPr>
          <p:cNvPr id="6" name="Titre 1">
            <a:extLst>
              <a:ext uri="{FF2B5EF4-FFF2-40B4-BE49-F238E27FC236}">
                <a16:creationId xmlns:a16="http://schemas.microsoft.com/office/drawing/2014/main" id="{D4C66448-C7DE-48CF-92CA-12B18EAB3710}"/>
              </a:ext>
            </a:extLst>
          </p:cNvPr>
          <p:cNvSpPr>
            <a:spLocks noGrp="1"/>
          </p:cNvSpPr>
          <p:nvPr>
            <p:ph type="title"/>
          </p:nvPr>
        </p:nvSpPr>
        <p:spPr>
          <a:xfrm>
            <a:off x="1001483" y="74641"/>
            <a:ext cx="10058400" cy="1371600"/>
          </a:xfrm>
        </p:spPr>
        <p:txBody>
          <a:bodyPr>
            <a:normAutofit/>
          </a:bodyPr>
          <a:lstStyle/>
          <a:p>
            <a:r>
              <a:rPr lang="fr-FR" sz="3500" dirty="0"/>
              <a:t>e – Ethique et biogénétique</a:t>
            </a:r>
            <a:br>
              <a:rPr lang="fr-FR" sz="3500" dirty="0"/>
            </a:br>
            <a:r>
              <a:rPr lang="fr-FR" sz="3500" dirty="0"/>
              <a:t>(1/2)</a:t>
            </a:r>
          </a:p>
        </p:txBody>
      </p:sp>
    </p:spTree>
    <p:extLst>
      <p:ext uri="{BB962C8B-B14F-4D97-AF65-F5344CB8AC3E}">
        <p14:creationId xmlns:p14="http://schemas.microsoft.com/office/powerpoint/2010/main" val="20858004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par>
                          <p:cTn id="8" fill="hold">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barn(outVertical)">
                                      <p:cBhvr>
                                        <p:cTn id="11" dur="500"/>
                                        <p:tgtEl>
                                          <p:spTgt spid="3">
                                            <p:txEl>
                                              <p:pRg st="1" end="1"/>
                                            </p:txEl>
                                          </p:spTgt>
                                        </p:tgtEl>
                                      </p:cBhvr>
                                    </p:animEffect>
                                  </p:childTnLst>
                                </p:cTn>
                              </p:par>
                            </p:childTnLst>
                          </p:cTn>
                        </p:par>
                        <p:par>
                          <p:cTn id="12" fill="hold">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arn(inVertical)">
                                      <p:cBhvr>
                                        <p:cTn id="15" dur="500"/>
                                        <p:tgtEl>
                                          <p:spTgt spid="3">
                                            <p:txEl>
                                              <p:pRg st="2" end="2"/>
                                            </p:txEl>
                                          </p:spTgt>
                                        </p:tgtEl>
                                      </p:cBhvr>
                                    </p:animEffect>
                                  </p:childTnLst>
                                </p:cTn>
                              </p:par>
                            </p:childTnLst>
                          </p:cTn>
                        </p:par>
                        <p:par>
                          <p:cTn id="16" fill="hold">
                            <p:stCondLst>
                              <p:cond delay="1500"/>
                            </p:stCondLst>
                            <p:childTnLst>
                              <p:par>
                                <p:cTn id="17" presetID="16" presetClass="entr" presetSubtype="37"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barn(outVertical)">
                                      <p:cBhvr>
                                        <p:cTn id="19"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C4B9057-EFE5-46EF-8A04-B64F17E86200}"/>
              </a:ext>
            </a:extLst>
          </p:cNvPr>
          <p:cNvSpPr>
            <a:spLocks noGrp="1"/>
          </p:cNvSpPr>
          <p:nvPr>
            <p:ph idx="1"/>
          </p:nvPr>
        </p:nvSpPr>
        <p:spPr>
          <a:xfrm>
            <a:off x="513184" y="1446241"/>
            <a:ext cx="11000792" cy="4040152"/>
          </a:xfrm>
        </p:spPr>
        <p:txBody>
          <a:bodyPr>
            <a:noAutofit/>
          </a:bodyPr>
          <a:lstStyle/>
          <a:p>
            <a:pPr algn="just">
              <a:lnSpc>
                <a:spcPct val="107000"/>
              </a:lnSpc>
              <a:spcAft>
                <a:spcPts val="800"/>
              </a:spcAft>
            </a:pPr>
            <a:r>
              <a:rPr lang="fr-CI" sz="1900" dirty="0">
                <a:effectLst/>
                <a:latin typeface="Calibri" panose="020F0502020204030204" pitchFamily="34" charset="0"/>
                <a:ea typeface="Calibri" panose="020F0502020204030204" pitchFamily="34" charset="0"/>
                <a:cs typeface="Times New Roman" panose="02020603050405020304" pitchFamily="18" charset="0"/>
              </a:rPr>
              <a:t>C’est dans ce domaine, plus encore que dans celui de la physique atomique, </a:t>
            </a:r>
            <a:r>
              <a:rPr lang="fr-CI" sz="1900" b="1" dirty="0">
                <a:effectLst/>
                <a:latin typeface="Calibri" panose="020F0502020204030204" pitchFamily="34" charset="0"/>
                <a:ea typeface="Calibri" panose="020F0502020204030204" pitchFamily="34" charset="0"/>
                <a:cs typeface="Times New Roman" panose="02020603050405020304" pitchFamily="18" charset="0"/>
              </a:rPr>
              <a:t>que l’on voit que la science a le droit à faire valoir son autonomie légitime, mais elle doit être encadrée par des considérations éthiques que la science ne peut pas fournir. Ainsi les termes philosophiques, les données Ethiques deviennent des thèmes en plein cœur du développement scientifique.</a:t>
            </a:r>
            <a:endParaRPr lang="fr-FR" sz="19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CI" sz="1900" b="1" dirty="0">
                <a:effectLst/>
                <a:latin typeface="Calibri" panose="020F0502020204030204" pitchFamily="34" charset="0"/>
                <a:ea typeface="Calibri" panose="020F0502020204030204" pitchFamily="34" charset="0"/>
                <a:cs typeface="Times New Roman" panose="02020603050405020304" pitchFamily="18" charset="0"/>
              </a:rPr>
              <a:t>Qui dirait que les bombes pourraient être lancées n’importe comment seulement pour se satisfaire d’une prouesse scientifique ? On dira attention, est-ce que des vies humaines innocentes ne sont pas en danger ? Est-ce que l’Economie mondiale n’encourrait pas une grave crise </a:t>
            </a:r>
            <a:r>
              <a:rPr lang="fr-CI" sz="1900" b="1" dirty="0" err="1">
                <a:effectLst/>
                <a:latin typeface="Calibri" panose="020F0502020204030204" pitchFamily="34" charset="0"/>
                <a:ea typeface="Calibri" panose="020F0502020204030204" pitchFamily="34" charset="0"/>
                <a:cs typeface="Times New Roman" panose="02020603050405020304" pitchFamily="18" charset="0"/>
              </a:rPr>
              <a:t>etc</a:t>
            </a:r>
            <a:r>
              <a:rPr lang="fr-CI" sz="1900" b="1" dirty="0">
                <a:effectLst/>
                <a:latin typeface="Calibri" panose="020F0502020204030204" pitchFamily="34" charset="0"/>
                <a:ea typeface="Calibri" panose="020F0502020204030204" pitchFamily="34" charset="0"/>
                <a:cs typeface="Times New Roman" panose="02020603050405020304" pitchFamily="18" charset="0"/>
              </a:rPr>
              <a:t> ?</a:t>
            </a:r>
            <a:endParaRPr lang="fr-FR" sz="19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CI" sz="1900" dirty="0">
                <a:effectLst/>
                <a:latin typeface="Calibri" panose="020F0502020204030204" pitchFamily="34" charset="0"/>
                <a:ea typeface="Calibri" panose="020F0502020204030204" pitchFamily="34" charset="0"/>
                <a:cs typeface="Times New Roman" panose="02020603050405020304" pitchFamily="18" charset="0"/>
              </a:rPr>
              <a:t>Comment peut-on trouver des critères objectifs d’éthique qui encadrent le travail des scientifiques ? De la réponse à ce défi passionnant dépend que l’on puisse obtenir des conditions dignes et conformes aux exigences de la dignité humaine.</a:t>
            </a:r>
            <a:endParaRPr lang="fr-FR" sz="19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fr-FR" sz="1900" dirty="0"/>
          </a:p>
        </p:txBody>
      </p:sp>
      <p:sp>
        <p:nvSpPr>
          <p:cNvPr id="6" name="Titre 1">
            <a:extLst>
              <a:ext uri="{FF2B5EF4-FFF2-40B4-BE49-F238E27FC236}">
                <a16:creationId xmlns:a16="http://schemas.microsoft.com/office/drawing/2014/main" id="{7A81AB22-82B7-4CAA-9A3D-85A222037566}"/>
              </a:ext>
            </a:extLst>
          </p:cNvPr>
          <p:cNvSpPr>
            <a:spLocks noGrp="1"/>
          </p:cNvSpPr>
          <p:nvPr>
            <p:ph type="title"/>
          </p:nvPr>
        </p:nvSpPr>
        <p:spPr>
          <a:xfrm>
            <a:off x="1001483" y="74641"/>
            <a:ext cx="10058400" cy="1371600"/>
          </a:xfrm>
        </p:spPr>
        <p:txBody>
          <a:bodyPr>
            <a:normAutofit/>
          </a:bodyPr>
          <a:lstStyle/>
          <a:p>
            <a:r>
              <a:rPr lang="fr-FR" sz="3500" dirty="0"/>
              <a:t>e – Ethique et biogénétique</a:t>
            </a:r>
            <a:br>
              <a:rPr lang="fr-FR" sz="3500" dirty="0"/>
            </a:br>
            <a:r>
              <a:rPr lang="fr-FR" sz="3500" dirty="0"/>
              <a:t>(2/2)</a:t>
            </a:r>
          </a:p>
        </p:txBody>
      </p:sp>
    </p:spTree>
    <p:extLst>
      <p:ext uri="{BB962C8B-B14F-4D97-AF65-F5344CB8AC3E}">
        <p14:creationId xmlns:p14="http://schemas.microsoft.com/office/powerpoint/2010/main" val="13907502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2298810" y="1670978"/>
            <a:ext cx="8637073" cy="2541431"/>
          </a:xfrm>
        </p:spPr>
        <p:txBody>
          <a:bodyPr>
            <a:normAutofit fontScale="90000"/>
          </a:bodyPr>
          <a:lstStyle/>
          <a:p>
            <a:pPr algn="ctr"/>
            <a:r>
              <a:rPr lang="fr-CI" b="1" dirty="0"/>
              <a:t>Partie III - Les méthodes des sciences</a:t>
            </a:r>
            <a:br>
              <a:rPr lang="en-US" dirty="0"/>
            </a:br>
            <a:endParaRPr lang="en-US" dirty="0"/>
          </a:p>
        </p:txBody>
      </p:sp>
    </p:spTree>
    <p:extLst>
      <p:ext uri="{BB962C8B-B14F-4D97-AF65-F5344CB8AC3E}">
        <p14:creationId xmlns:p14="http://schemas.microsoft.com/office/powerpoint/2010/main" val="181892165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idx="1"/>
            <p:extLst>
              <p:ext uri="{D42A27DB-BD31-4B8C-83A1-F6EECF244321}">
                <p14:modId xmlns:p14="http://schemas.microsoft.com/office/powerpoint/2010/main" val="3770333650"/>
              </p:ext>
            </p:extLst>
          </p:nvPr>
        </p:nvGraphicFramePr>
        <p:xfrm>
          <a:off x="409574" y="1389940"/>
          <a:ext cx="11294745" cy="52006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itre 1">
            <a:extLst>
              <a:ext uri="{FF2B5EF4-FFF2-40B4-BE49-F238E27FC236}">
                <a16:creationId xmlns:a16="http://schemas.microsoft.com/office/drawing/2014/main" id="{E76651B7-2957-4D7C-ABEF-142980284632}"/>
              </a:ext>
            </a:extLst>
          </p:cNvPr>
          <p:cNvSpPr txBox="1">
            <a:spLocks/>
          </p:cNvSpPr>
          <p:nvPr/>
        </p:nvSpPr>
        <p:spPr>
          <a:xfrm>
            <a:off x="1001483" y="74641"/>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r>
              <a:rPr lang="fr-FR" sz="3500" dirty="0"/>
              <a:t>1 – Les objets et constructions dans la science</a:t>
            </a:r>
            <a:br>
              <a:rPr lang="fr-FR" sz="3500" dirty="0"/>
            </a:br>
            <a:r>
              <a:rPr lang="fr-FR" sz="3500" dirty="0"/>
              <a:t>(1/2)</a:t>
            </a:r>
          </a:p>
        </p:txBody>
      </p:sp>
    </p:spTree>
    <p:extLst>
      <p:ext uri="{BB962C8B-B14F-4D97-AF65-F5344CB8AC3E}">
        <p14:creationId xmlns:p14="http://schemas.microsoft.com/office/powerpoint/2010/main" val="158677878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
                                            <p:graphicEl>
                                              <a:dgm id="{288E600A-587B-4819-B220-00ADD0708B1D}"/>
                                            </p:graphicEl>
                                          </p:spTgt>
                                        </p:tgtEl>
                                        <p:attrNameLst>
                                          <p:attrName>style.visibility</p:attrName>
                                        </p:attrNameLst>
                                      </p:cBhvr>
                                      <p:to>
                                        <p:strVal val="visible"/>
                                      </p:to>
                                    </p:set>
                                    <p:anim calcmode="lin" valueType="num">
                                      <p:cBhvr>
                                        <p:cTn id="7" dur="500" fill="hold"/>
                                        <p:tgtEl>
                                          <p:spTgt spid="4">
                                            <p:graphicEl>
                                              <a:dgm id="{288E600A-587B-4819-B220-00ADD0708B1D}"/>
                                            </p:graphicEl>
                                          </p:spTgt>
                                        </p:tgtEl>
                                        <p:attrNameLst>
                                          <p:attrName>ppt_w</p:attrName>
                                        </p:attrNameLst>
                                      </p:cBhvr>
                                      <p:tavLst>
                                        <p:tav tm="0">
                                          <p:val>
                                            <p:fltVal val="0"/>
                                          </p:val>
                                        </p:tav>
                                        <p:tav tm="100000">
                                          <p:val>
                                            <p:strVal val="#ppt_w"/>
                                          </p:val>
                                        </p:tav>
                                      </p:tavLst>
                                    </p:anim>
                                    <p:anim calcmode="lin" valueType="num">
                                      <p:cBhvr>
                                        <p:cTn id="8" dur="500" fill="hold"/>
                                        <p:tgtEl>
                                          <p:spTgt spid="4">
                                            <p:graphicEl>
                                              <a:dgm id="{288E600A-587B-4819-B220-00ADD0708B1D}"/>
                                            </p:graphicEl>
                                          </p:spTgt>
                                        </p:tgtEl>
                                        <p:attrNameLst>
                                          <p:attrName>ppt_h</p:attrName>
                                        </p:attrNameLst>
                                      </p:cBhvr>
                                      <p:tavLst>
                                        <p:tav tm="0">
                                          <p:val>
                                            <p:fltVal val="0"/>
                                          </p:val>
                                        </p:tav>
                                        <p:tav tm="100000">
                                          <p:val>
                                            <p:strVal val="#ppt_h"/>
                                          </p:val>
                                        </p:tav>
                                      </p:tavLst>
                                    </p:anim>
                                    <p:animEffect transition="in" filter="fade">
                                      <p:cBhvr>
                                        <p:cTn id="9" dur="500"/>
                                        <p:tgtEl>
                                          <p:spTgt spid="4">
                                            <p:graphicEl>
                                              <a:dgm id="{288E600A-587B-4819-B220-00ADD0708B1D}"/>
                                            </p:graphicEl>
                                          </p:spTgt>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4">
                                            <p:graphicEl>
                                              <a:dgm id="{EBBD1CFB-72F4-4176-9A7D-E8457E2AEA3B}"/>
                                            </p:graphicEl>
                                          </p:spTgt>
                                        </p:tgtEl>
                                        <p:attrNameLst>
                                          <p:attrName>style.visibility</p:attrName>
                                        </p:attrNameLst>
                                      </p:cBhvr>
                                      <p:to>
                                        <p:strVal val="visible"/>
                                      </p:to>
                                    </p:set>
                                    <p:anim calcmode="lin" valueType="num">
                                      <p:cBhvr>
                                        <p:cTn id="13" dur="500" fill="hold"/>
                                        <p:tgtEl>
                                          <p:spTgt spid="4">
                                            <p:graphicEl>
                                              <a:dgm id="{EBBD1CFB-72F4-4176-9A7D-E8457E2AEA3B}"/>
                                            </p:graphicEl>
                                          </p:spTgt>
                                        </p:tgtEl>
                                        <p:attrNameLst>
                                          <p:attrName>ppt_w</p:attrName>
                                        </p:attrNameLst>
                                      </p:cBhvr>
                                      <p:tavLst>
                                        <p:tav tm="0">
                                          <p:val>
                                            <p:fltVal val="0"/>
                                          </p:val>
                                        </p:tav>
                                        <p:tav tm="100000">
                                          <p:val>
                                            <p:strVal val="#ppt_w"/>
                                          </p:val>
                                        </p:tav>
                                      </p:tavLst>
                                    </p:anim>
                                    <p:anim calcmode="lin" valueType="num">
                                      <p:cBhvr>
                                        <p:cTn id="14" dur="500" fill="hold"/>
                                        <p:tgtEl>
                                          <p:spTgt spid="4">
                                            <p:graphicEl>
                                              <a:dgm id="{EBBD1CFB-72F4-4176-9A7D-E8457E2AEA3B}"/>
                                            </p:graphicEl>
                                          </p:spTgt>
                                        </p:tgtEl>
                                        <p:attrNameLst>
                                          <p:attrName>ppt_h</p:attrName>
                                        </p:attrNameLst>
                                      </p:cBhvr>
                                      <p:tavLst>
                                        <p:tav tm="0">
                                          <p:val>
                                            <p:fltVal val="0"/>
                                          </p:val>
                                        </p:tav>
                                        <p:tav tm="100000">
                                          <p:val>
                                            <p:strVal val="#ppt_h"/>
                                          </p:val>
                                        </p:tav>
                                      </p:tavLst>
                                    </p:anim>
                                    <p:animEffect transition="in" filter="fade">
                                      <p:cBhvr>
                                        <p:cTn id="15" dur="500"/>
                                        <p:tgtEl>
                                          <p:spTgt spid="4">
                                            <p:graphicEl>
                                              <a:dgm id="{EBBD1CFB-72F4-4176-9A7D-E8457E2AEA3B}"/>
                                            </p:graphicEl>
                                          </p:spTgt>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4">
                                            <p:graphicEl>
                                              <a:dgm id="{D8946699-69BF-419C-A600-ABD20D3A221E}"/>
                                            </p:graphicEl>
                                          </p:spTgt>
                                        </p:tgtEl>
                                        <p:attrNameLst>
                                          <p:attrName>style.visibility</p:attrName>
                                        </p:attrNameLst>
                                      </p:cBhvr>
                                      <p:to>
                                        <p:strVal val="visible"/>
                                      </p:to>
                                    </p:set>
                                    <p:anim calcmode="lin" valueType="num">
                                      <p:cBhvr>
                                        <p:cTn id="19" dur="500" fill="hold"/>
                                        <p:tgtEl>
                                          <p:spTgt spid="4">
                                            <p:graphicEl>
                                              <a:dgm id="{D8946699-69BF-419C-A600-ABD20D3A221E}"/>
                                            </p:graphicEl>
                                          </p:spTgt>
                                        </p:tgtEl>
                                        <p:attrNameLst>
                                          <p:attrName>ppt_w</p:attrName>
                                        </p:attrNameLst>
                                      </p:cBhvr>
                                      <p:tavLst>
                                        <p:tav tm="0">
                                          <p:val>
                                            <p:fltVal val="0"/>
                                          </p:val>
                                        </p:tav>
                                        <p:tav tm="100000">
                                          <p:val>
                                            <p:strVal val="#ppt_w"/>
                                          </p:val>
                                        </p:tav>
                                      </p:tavLst>
                                    </p:anim>
                                    <p:anim calcmode="lin" valueType="num">
                                      <p:cBhvr>
                                        <p:cTn id="20" dur="500" fill="hold"/>
                                        <p:tgtEl>
                                          <p:spTgt spid="4">
                                            <p:graphicEl>
                                              <a:dgm id="{D8946699-69BF-419C-A600-ABD20D3A221E}"/>
                                            </p:graphicEl>
                                          </p:spTgt>
                                        </p:tgtEl>
                                        <p:attrNameLst>
                                          <p:attrName>ppt_h</p:attrName>
                                        </p:attrNameLst>
                                      </p:cBhvr>
                                      <p:tavLst>
                                        <p:tav tm="0">
                                          <p:val>
                                            <p:fltVal val="0"/>
                                          </p:val>
                                        </p:tav>
                                        <p:tav tm="100000">
                                          <p:val>
                                            <p:strVal val="#ppt_h"/>
                                          </p:val>
                                        </p:tav>
                                      </p:tavLst>
                                    </p:anim>
                                    <p:animEffect transition="in" filter="fade">
                                      <p:cBhvr>
                                        <p:cTn id="21" dur="500"/>
                                        <p:tgtEl>
                                          <p:spTgt spid="4">
                                            <p:graphicEl>
                                              <a:dgm id="{D8946699-69BF-419C-A600-ABD20D3A221E}"/>
                                            </p:graphicEl>
                                          </p:spTgt>
                                        </p:tgtEl>
                                      </p:cBhvr>
                                    </p:animEffect>
                                  </p:childTnLst>
                                </p:cTn>
                              </p:par>
                            </p:childTnLst>
                          </p:cTn>
                        </p:par>
                        <p:par>
                          <p:cTn id="22" fill="hold">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4">
                                            <p:graphicEl>
                                              <a:dgm id="{A6E7CF93-C43B-445F-BE71-230AE5A1AA20}"/>
                                            </p:graphicEl>
                                          </p:spTgt>
                                        </p:tgtEl>
                                        <p:attrNameLst>
                                          <p:attrName>style.visibility</p:attrName>
                                        </p:attrNameLst>
                                      </p:cBhvr>
                                      <p:to>
                                        <p:strVal val="visible"/>
                                      </p:to>
                                    </p:set>
                                    <p:anim calcmode="lin" valueType="num">
                                      <p:cBhvr>
                                        <p:cTn id="25" dur="500" fill="hold"/>
                                        <p:tgtEl>
                                          <p:spTgt spid="4">
                                            <p:graphicEl>
                                              <a:dgm id="{A6E7CF93-C43B-445F-BE71-230AE5A1AA20}"/>
                                            </p:graphicEl>
                                          </p:spTgt>
                                        </p:tgtEl>
                                        <p:attrNameLst>
                                          <p:attrName>ppt_w</p:attrName>
                                        </p:attrNameLst>
                                      </p:cBhvr>
                                      <p:tavLst>
                                        <p:tav tm="0">
                                          <p:val>
                                            <p:fltVal val="0"/>
                                          </p:val>
                                        </p:tav>
                                        <p:tav tm="100000">
                                          <p:val>
                                            <p:strVal val="#ppt_w"/>
                                          </p:val>
                                        </p:tav>
                                      </p:tavLst>
                                    </p:anim>
                                    <p:anim calcmode="lin" valueType="num">
                                      <p:cBhvr>
                                        <p:cTn id="26" dur="500" fill="hold"/>
                                        <p:tgtEl>
                                          <p:spTgt spid="4">
                                            <p:graphicEl>
                                              <a:dgm id="{A6E7CF93-C43B-445F-BE71-230AE5A1AA20}"/>
                                            </p:graphicEl>
                                          </p:spTgt>
                                        </p:tgtEl>
                                        <p:attrNameLst>
                                          <p:attrName>ppt_h</p:attrName>
                                        </p:attrNameLst>
                                      </p:cBhvr>
                                      <p:tavLst>
                                        <p:tav tm="0">
                                          <p:val>
                                            <p:fltVal val="0"/>
                                          </p:val>
                                        </p:tav>
                                        <p:tav tm="100000">
                                          <p:val>
                                            <p:strVal val="#ppt_h"/>
                                          </p:val>
                                        </p:tav>
                                      </p:tavLst>
                                    </p:anim>
                                    <p:animEffect transition="in" filter="fade">
                                      <p:cBhvr>
                                        <p:cTn id="27" dur="500"/>
                                        <p:tgtEl>
                                          <p:spTgt spid="4">
                                            <p:graphicEl>
                                              <a:dgm id="{A6E7CF93-C43B-445F-BE71-230AE5A1AA20}"/>
                                            </p:graphicEl>
                                          </p:spTgt>
                                        </p:tgtEl>
                                      </p:cBhvr>
                                    </p:animEffect>
                                  </p:childTnLst>
                                </p:cTn>
                              </p:par>
                            </p:childTnLst>
                          </p:cTn>
                        </p:par>
                        <p:par>
                          <p:cTn id="28" fill="hold">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4">
                                            <p:graphicEl>
                                              <a:dgm id="{840ED59D-5DBB-47F6-B85E-9D7B4640A414}"/>
                                            </p:graphicEl>
                                          </p:spTgt>
                                        </p:tgtEl>
                                        <p:attrNameLst>
                                          <p:attrName>style.visibility</p:attrName>
                                        </p:attrNameLst>
                                      </p:cBhvr>
                                      <p:to>
                                        <p:strVal val="visible"/>
                                      </p:to>
                                    </p:set>
                                    <p:anim calcmode="lin" valueType="num">
                                      <p:cBhvr>
                                        <p:cTn id="31" dur="500" fill="hold"/>
                                        <p:tgtEl>
                                          <p:spTgt spid="4">
                                            <p:graphicEl>
                                              <a:dgm id="{840ED59D-5DBB-47F6-B85E-9D7B4640A414}"/>
                                            </p:graphicEl>
                                          </p:spTgt>
                                        </p:tgtEl>
                                        <p:attrNameLst>
                                          <p:attrName>ppt_w</p:attrName>
                                        </p:attrNameLst>
                                      </p:cBhvr>
                                      <p:tavLst>
                                        <p:tav tm="0">
                                          <p:val>
                                            <p:fltVal val="0"/>
                                          </p:val>
                                        </p:tav>
                                        <p:tav tm="100000">
                                          <p:val>
                                            <p:strVal val="#ppt_w"/>
                                          </p:val>
                                        </p:tav>
                                      </p:tavLst>
                                    </p:anim>
                                    <p:anim calcmode="lin" valueType="num">
                                      <p:cBhvr>
                                        <p:cTn id="32" dur="500" fill="hold"/>
                                        <p:tgtEl>
                                          <p:spTgt spid="4">
                                            <p:graphicEl>
                                              <a:dgm id="{840ED59D-5DBB-47F6-B85E-9D7B4640A414}"/>
                                            </p:graphicEl>
                                          </p:spTgt>
                                        </p:tgtEl>
                                        <p:attrNameLst>
                                          <p:attrName>ppt_h</p:attrName>
                                        </p:attrNameLst>
                                      </p:cBhvr>
                                      <p:tavLst>
                                        <p:tav tm="0">
                                          <p:val>
                                            <p:fltVal val="0"/>
                                          </p:val>
                                        </p:tav>
                                        <p:tav tm="100000">
                                          <p:val>
                                            <p:strVal val="#ppt_h"/>
                                          </p:val>
                                        </p:tav>
                                      </p:tavLst>
                                    </p:anim>
                                    <p:animEffect transition="in" filter="fade">
                                      <p:cBhvr>
                                        <p:cTn id="33" dur="500"/>
                                        <p:tgtEl>
                                          <p:spTgt spid="4">
                                            <p:graphicEl>
                                              <a:dgm id="{840ED59D-5DBB-47F6-B85E-9D7B4640A414}"/>
                                            </p:graphicEl>
                                          </p:spTgt>
                                        </p:tgtEl>
                                      </p:cBhvr>
                                    </p:animEffect>
                                  </p:childTnLst>
                                </p:cTn>
                              </p:par>
                            </p:childTnLst>
                          </p:cTn>
                        </p:par>
                        <p:par>
                          <p:cTn id="34" fill="hold">
                            <p:stCondLst>
                              <p:cond delay="2500"/>
                            </p:stCondLst>
                            <p:childTnLst>
                              <p:par>
                                <p:cTn id="35" presetID="53" presetClass="entr" presetSubtype="16" fill="hold" grpId="0" nodeType="afterEffect">
                                  <p:stCondLst>
                                    <p:cond delay="0"/>
                                  </p:stCondLst>
                                  <p:childTnLst>
                                    <p:set>
                                      <p:cBhvr>
                                        <p:cTn id="36" dur="1" fill="hold">
                                          <p:stCondLst>
                                            <p:cond delay="0"/>
                                          </p:stCondLst>
                                        </p:cTn>
                                        <p:tgtEl>
                                          <p:spTgt spid="4">
                                            <p:graphicEl>
                                              <a:dgm id="{9139ECB6-BC79-4751-92B0-83679A0541AB}"/>
                                            </p:graphicEl>
                                          </p:spTgt>
                                        </p:tgtEl>
                                        <p:attrNameLst>
                                          <p:attrName>style.visibility</p:attrName>
                                        </p:attrNameLst>
                                      </p:cBhvr>
                                      <p:to>
                                        <p:strVal val="visible"/>
                                      </p:to>
                                    </p:set>
                                    <p:anim calcmode="lin" valueType="num">
                                      <p:cBhvr>
                                        <p:cTn id="37" dur="500" fill="hold"/>
                                        <p:tgtEl>
                                          <p:spTgt spid="4">
                                            <p:graphicEl>
                                              <a:dgm id="{9139ECB6-BC79-4751-92B0-83679A0541AB}"/>
                                            </p:graphicEl>
                                          </p:spTgt>
                                        </p:tgtEl>
                                        <p:attrNameLst>
                                          <p:attrName>ppt_w</p:attrName>
                                        </p:attrNameLst>
                                      </p:cBhvr>
                                      <p:tavLst>
                                        <p:tav tm="0">
                                          <p:val>
                                            <p:fltVal val="0"/>
                                          </p:val>
                                        </p:tav>
                                        <p:tav tm="100000">
                                          <p:val>
                                            <p:strVal val="#ppt_w"/>
                                          </p:val>
                                        </p:tav>
                                      </p:tavLst>
                                    </p:anim>
                                    <p:anim calcmode="lin" valueType="num">
                                      <p:cBhvr>
                                        <p:cTn id="38" dur="500" fill="hold"/>
                                        <p:tgtEl>
                                          <p:spTgt spid="4">
                                            <p:graphicEl>
                                              <a:dgm id="{9139ECB6-BC79-4751-92B0-83679A0541AB}"/>
                                            </p:graphicEl>
                                          </p:spTgt>
                                        </p:tgtEl>
                                        <p:attrNameLst>
                                          <p:attrName>ppt_h</p:attrName>
                                        </p:attrNameLst>
                                      </p:cBhvr>
                                      <p:tavLst>
                                        <p:tav tm="0">
                                          <p:val>
                                            <p:fltVal val="0"/>
                                          </p:val>
                                        </p:tav>
                                        <p:tav tm="100000">
                                          <p:val>
                                            <p:strVal val="#ppt_h"/>
                                          </p:val>
                                        </p:tav>
                                      </p:tavLst>
                                    </p:anim>
                                    <p:animEffect transition="in" filter="fade">
                                      <p:cBhvr>
                                        <p:cTn id="39" dur="500"/>
                                        <p:tgtEl>
                                          <p:spTgt spid="4">
                                            <p:graphicEl>
                                              <a:dgm id="{9139ECB6-BC79-4751-92B0-83679A0541AB}"/>
                                            </p:graphicEl>
                                          </p:spTgt>
                                        </p:tgtEl>
                                      </p:cBhvr>
                                    </p:animEffect>
                                  </p:childTnLst>
                                </p:cTn>
                              </p:par>
                            </p:childTnLst>
                          </p:cTn>
                        </p:par>
                        <p:par>
                          <p:cTn id="40" fill="hold">
                            <p:stCondLst>
                              <p:cond delay="3000"/>
                            </p:stCondLst>
                            <p:childTnLst>
                              <p:par>
                                <p:cTn id="41" presetID="53" presetClass="entr" presetSubtype="16" fill="hold" grpId="0" nodeType="afterEffect">
                                  <p:stCondLst>
                                    <p:cond delay="0"/>
                                  </p:stCondLst>
                                  <p:childTnLst>
                                    <p:set>
                                      <p:cBhvr>
                                        <p:cTn id="42" dur="1" fill="hold">
                                          <p:stCondLst>
                                            <p:cond delay="0"/>
                                          </p:stCondLst>
                                        </p:cTn>
                                        <p:tgtEl>
                                          <p:spTgt spid="4">
                                            <p:graphicEl>
                                              <a:dgm id="{14C66A12-D066-45D0-B452-E7F1180EA629}"/>
                                            </p:graphicEl>
                                          </p:spTgt>
                                        </p:tgtEl>
                                        <p:attrNameLst>
                                          <p:attrName>style.visibility</p:attrName>
                                        </p:attrNameLst>
                                      </p:cBhvr>
                                      <p:to>
                                        <p:strVal val="visible"/>
                                      </p:to>
                                    </p:set>
                                    <p:anim calcmode="lin" valueType="num">
                                      <p:cBhvr>
                                        <p:cTn id="43" dur="500" fill="hold"/>
                                        <p:tgtEl>
                                          <p:spTgt spid="4">
                                            <p:graphicEl>
                                              <a:dgm id="{14C66A12-D066-45D0-B452-E7F1180EA629}"/>
                                            </p:graphicEl>
                                          </p:spTgt>
                                        </p:tgtEl>
                                        <p:attrNameLst>
                                          <p:attrName>ppt_w</p:attrName>
                                        </p:attrNameLst>
                                      </p:cBhvr>
                                      <p:tavLst>
                                        <p:tav tm="0">
                                          <p:val>
                                            <p:fltVal val="0"/>
                                          </p:val>
                                        </p:tav>
                                        <p:tav tm="100000">
                                          <p:val>
                                            <p:strVal val="#ppt_w"/>
                                          </p:val>
                                        </p:tav>
                                      </p:tavLst>
                                    </p:anim>
                                    <p:anim calcmode="lin" valueType="num">
                                      <p:cBhvr>
                                        <p:cTn id="44" dur="500" fill="hold"/>
                                        <p:tgtEl>
                                          <p:spTgt spid="4">
                                            <p:graphicEl>
                                              <a:dgm id="{14C66A12-D066-45D0-B452-E7F1180EA629}"/>
                                            </p:graphicEl>
                                          </p:spTgt>
                                        </p:tgtEl>
                                        <p:attrNameLst>
                                          <p:attrName>ppt_h</p:attrName>
                                        </p:attrNameLst>
                                      </p:cBhvr>
                                      <p:tavLst>
                                        <p:tav tm="0">
                                          <p:val>
                                            <p:fltVal val="0"/>
                                          </p:val>
                                        </p:tav>
                                        <p:tav tm="100000">
                                          <p:val>
                                            <p:strVal val="#ppt_h"/>
                                          </p:val>
                                        </p:tav>
                                      </p:tavLst>
                                    </p:anim>
                                    <p:animEffect transition="in" filter="fade">
                                      <p:cBhvr>
                                        <p:cTn id="45" dur="500"/>
                                        <p:tgtEl>
                                          <p:spTgt spid="4">
                                            <p:graphicEl>
                                              <a:dgm id="{14C66A12-D066-45D0-B452-E7F1180EA629}"/>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one"/>
        </p:bldSub>
      </p:bldGraphic>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C0DCFFF6-62FB-459A-89C6-093B5B94850E}"/>
              </a:ext>
            </a:extLst>
          </p:cNvPr>
          <p:cNvGraphicFramePr>
            <a:graphicFrameLocks noGrp="1"/>
          </p:cNvGraphicFramePr>
          <p:nvPr>
            <p:ph idx="1"/>
            <p:extLst>
              <p:ext uri="{D42A27DB-BD31-4B8C-83A1-F6EECF244321}">
                <p14:modId xmlns:p14="http://schemas.microsoft.com/office/powerpoint/2010/main" val="464890064"/>
              </p:ext>
            </p:extLst>
          </p:nvPr>
        </p:nvGraphicFramePr>
        <p:xfrm>
          <a:off x="579120" y="2875598"/>
          <a:ext cx="10657840" cy="39322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Espace réservé du contenu 2">
            <a:extLst>
              <a:ext uri="{FF2B5EF4-FFF2-40B4-BE49-F238E27FC236}">
                <a16:creationId xmlns:a16="http://schemas.microsoft.com/office/drawing/2014/main" id="{92D81D2B-3793-4809-9C29-472434E959AA}"/>
              </a:ext>
            </a:extLst>
          </p:cNvPr>
          <p:cNvSpPr txBox="1">
            <a:spLocks/>
          </p:cNvSpPr>
          <p:nvPr/>
        </p:nvSpPr>
        <p:spPr>
          <a:xfrm>
            <a:off x="830424" y="1606111"/>
            <a:ext cx="10294776" cy="710369"/>
          </a:xfrm>
          <a:prstGeom prst="rect">
            <a:avLst/>
          </a:prstGeom>
        </p:spPr>
        <p:txBody>
          <a:bodyPr vert="horz" lIns="91440" tIns="45720" rIns="91440" bIns="45720" rtlCol="0">
            <a:normAutofit/>
          </a:bodyPr>
          <a:lst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lvl="0" algn="just"/>
            <a:r>
              <a:rPr lang="fr-CI" sz="1900" dirty="0">
                <a:latin typeface="Calibri" panose="020F0502020204030204" pitchFamily="34" charset="0"/>
                <a:cs typeface="Calibri" panose="020F0502020204030204" pitchFamily="34" charset="0"/>
              </a:rPr>
              <a:t>Après avoir « construit » l’objet d’une discipline scientifique, il faut proposer des théories sur cet objet et vérifier leur validité. </a:t>
            </a:r>
          </a:p>
          <a:p>
            <a:pPr marL="0" indent="0">
              <a:buNone/>
            </a:pPr>
            <a:endParaRPr lang="fr-FR" sz="1900" dirty="0"/>
          </a:p>
        </p:txBody>
      </p:sp>
      <p:sp>
        <p:nvSpPr>
          <p:cNvPr id="6" name="Espace réservé du contenu 2">
            <a:extLst>
              <a:ext uri="{FF2B5EF4-FFF2-40B4-BE49-F238E27FC236}">
                <a16:creationId xmlns:a16="http://schemas.microsoft.com/office/drawing/2014/main" id="{C0C8FAA2-4BA8-4208-B443-EADFAE9DF2ED}"/>
              </a:ext>
            </a:extLst>
          </p:cNvPr>
          <p:cNvSpPr txBox="1">
            <a:spLocks/>
          </p:cNvSpPr>
          <p:nvPr/>
        </p:nvSpPr>
        <p:spPr>
          <a:xfrm>
            <a:off x="830424" y="2316481"/>
            <a:ext cx="10294776" cy="497840"/>
          </a:xfrm>
          <a:prstGeom prst="rect">
            <a:avLst/>
          </a:prstGeom>
        </p:spPr>
        <p:txBody>
          <a:bodyPr vert="horz" lIns="91440" tIns="45720" rIns="91440" bIns="45720" rtlCol="0">
            <a:normAutofit/>
          </a:bodyPr>
          <a:lst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lvl="0"/>
            <a:r>
              <a:rPr lang="fr-CI" sz="1900" dirty="0">
                <a:latin typeface="Calibri" panose="020F0502020204030204" pitchFamily="34" charset="0"/>
                <a:cs typeface="Calibri" panose="020F0502020204030204" pitchFamily="34" charset="0"/>
              </a:rPr>
              <a:t>Les méthodes des sciences parlent d’un schéma en deux étapes </a:t>
            </a:r>
            <a:r>
              <a:rPr lang="fr-FR" sz="1900" dirty="0">
                <a:latin typeface="Calibri" panose="020F0502020204030204" pitchFamily="34" charset="0"/>
                <a:cs typeface="Calibri" panose="020F0502020204030204" pitchFamily="34" charset="0"/>
              </a:rPr>
              <a:t>:</a:t>
            </a:r>
            <a:endParaRPr lang="fr-FR" sz="2000" dirty="0"/>
          </a:p>
        </p:txBody>
      </p:sp>
      <p:sp>
        <p:nvSpPr>
          <p:cNvPr id="7" name="Titre 1">
            <a:extLst>
              <a:ext uri="{FF2B5EF4-FFF2-40B4-BE49-F238E27FC236}">
                <a16:creationId xmlns:a16="http://schemas.microsoft.com/office/drawing/2014/main" id="{423EA747-F88D-4B02-A0DB-9DB031B46869}"/>
              </a:ext>
            </a:extLst>
          </p:cNvPr>
          <p:cNvSpPr txBox="1">
            <a:spLocks/>
          </p:cNvSpPr>
          <p:nvPr/>
        </p:nvSpPr>
        <p:spPr>
          <a:xfrm>
            <a:off x="1001483" y="74641"/>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r>
              <a:rPr lang="fr-FR" sz="3500" dirty="0"/>
              <a:t>1 – Les objets et constructions dans la science</a:t>
            </a:r>
            <a:br>
              <a:rPr lang="fr-FR" sz="3500" dirty="0"/>
            </a:br>
            <a:r>
              <a:rPr lang="fr-FR" sz="3500" dirty="0"/>
              <a:t>(2/2)</a:t>
            </a:r>
          </a:p>
        </p:txBody>
      </p:sp>
    </p:spTree>
    <p:extLst>
      <p:ext uri="{BB962C8B-B14F-4D97-AF65-F5344CB8AC3E}">
        <p14:creationId xmlns:p14="http://schemas.microsoft.com/office/powerpoint/2010/main" val="1294449050"/>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1" nodeType="clickEffect">
                                  <p:stCondLst>
                                    <p:cond delay="0"/>
                                  </p:stCondLst>
                                  <p:childTnLst>
                                    <p:set>
                                      <p:cBhvr>
                                        <p:cTn id="6" dur="1" fill="hold">
                                          <p:stCondLst>
                                            <p:cond delay="0"/>
                                          </p:stCondLst>
                                        </p:cTn>
                                        <p:tgtEl>
                                          <p:spTgt spid="4">
                                            <p:graphicEl>
                                              <a:dgm id="{B728CF91-D46F-476C-A8A0-672538116E80}"/>
                                            </p:graphicEl>
                                          </p:spTgt>
                                        </p:tgtEl>
                                        <p:attrNameLst>
                                          <p:attrName>style.visibility</p:attrName>
                                        </p:attrNameLst>
                                      </p:cBhvr>
                                      <p:to>
                                        <p:strVal val="visible"/>
                                      </p:to>
                                    </p:set>
                                    <p:animEffect transition="in" filter="wipe(down)">
                                      <p:cBhvr>
                                        <p:cTn id="7" dur="500"/>
                                        <p:tgtEl>
                                          <p:spTgt spid="4">
                                            <p:graphicEl>
                                              <a:dgm id="{B728CF91-D46F-476C-A8A0-672538116E80}"/>
                                            </p:graphicEl>
                                          </p:spTgt>
                                        </p:tgtEl>
                                      </p:cBhvr>
                                    </p:animEffect>
                                  </p:childTnLst>
                                </p:cTn>
                              </p:par>
                            </p:childTnLst>
                          </p:cTn>
                        </p:par>
                        <p:par>
                          <p:cTn id="8" fill="hold">
                            <p:stCondLst>
                              <p:cond delay="500"/>
                            </p:stCondLst>
                            <p:childTnLst>
                              <p:par>
                                <p:cTn id="9" presetID="22" presetClass="entr" presetSubtype="4" fill="hold" grpId="1" nodeType="afterEffect">
                                  <p:stCondLst>
                                    <p:cond delay="0"/>
                                  </p:stCondLst>
                                  <p:childTnLst>
                                    <p:set>
                                      <p:cBhvr>
                                        <p:cTn id="10" dur="1" fill="hold">
                                          <p:stCondLst>
                                            <p:cond delay="0"/>
                                          </p:stCondLst>
                                        </p:cTn>
                                        <p:tgtEl>
                                          <p:spTgt spid="4">
                                            <p:graphicEl>
                                              <a:dgm id="{49FA342D-9EC3-4ADB-BE2A-7C408DAFC16F}"/>
                                            </p:graphicEl>
                                          </p:spTgt>
                                        </p:tgtEl>
                                        <p:attrNameLst>
                                          <p:attrName>style.visibility</p:attrName>
                                        </p:attrNameLst>
                                      </p:cBhvr>
                                      <p:to>
                                        <p:strVal val="visible"/>
                                      </p:to>
                                    </p:set>
                                    <p:animEffect transition="in" filter="wipe(down)">
                                      <p:cBhvr>
                                        <p:cTn id="11" dur="500"/>
                                        <p:tgtEl>
                                          <p:spTgt spid="4">
                                            <p:graphicEl>
                                              <a:dgm id="{49FA342D-9EC3-4ADB-BE2A-7C408DAFC16F}"/>
                                            </p:graphicEl>
                                          </p:spTgt>
                                        </p:tgtEl>
                                      </p:cBhvr>
                                    </p:animEffect>
                                  </p:childTnLst>
                                </p:cTn>
                              </p:par>
                            </p:childTnLst>
                          </p:cTn>
                        </p:par>
                        <p:par>
                          <p:cTn id="12" fill="hold">
                            <p:stCondLst>
                              <p:cond delay="1000"/>
                            </p:stCondLst>
                            <p:childTnLst>
                              <p:par>
                                <p:cTn id="13" presetID="22" presetClass="entr" presetSubtype="4" fill="hold" grpId="1" nodeType="afterEffect">
                                  <p:stCondLst>
                                    <p:cond delay="0"/>
                                  </p:stCondLst>
                                  <p:childTnLst>
                                    <p:set>
                                      <p:cBhvr>
                                        <p:cTn id="14" dur="1" fill="hold">
                                          <p:stCondLst>
                                            <p:cond delay="0"/>
                                          </p:stCondLst>
                                        </p:cTn>
                                        <p:tgtEl>
                                          <p:spTgt spid="4">
                                            <p:graphicEl>
                                              <a:dgm id="{26364971-78E7-4FBD-8E0E-3F8A84BFA235}"/>
                                            </p:graphicEl>
                                          </p:spTgt>
                                        </p:tgtEl>
                                        <p:attrNameLst>
                                          <p:attrName>style.visibility</p:attrName>
                                        </p:attrNameLst>
                                      </p:cBhvr>
                                      <p:to>
                                        <p:strVal val="visible"/>
                                      </p:to>
                                    </p:set>
                                    <p:animEffect transition="in" filter="wipe(down)">
                                      <p:cBhvr>
                                        <p:cTn id="15" dur="500"/>
                                        <p:tgtEl>
                                          <p:spTgt spid="4">
                                            <p:graphicEl>
                                              <a:dgm id="{26364971-78E7-4FBD-8E0E-3F8A84BFA235}"/>
                                            </p:graphicEl>
                                          </p:spTgt>
                                        </p:tgtEl>
                                      </p:cBhvr>
                                    </p:animEffect>
                                  </p:childTnLst>
                                </p:cTn>
                              </p:par>
                            </p:childTnLst>
                          </p:cTn>
                        </p:par>
                        <p:par>
                          <p:cTn id="16" fill="hold">
                            <p:stCondLst>
                              <p:cond delay="1500"/>
                            </p:stCondLst>
                            <p:childTnLst>
                              <p:par>
                                <p:cTn id="17" presetID="22" presetClass="entr" presetSubtype="4" fill="hold" grpId="1" nodeType="afterEffect">
                                  <p:stCondLst>
                                    <p:cond delay="0"/>
                                  </p:stCondLst>
                                  <p:childTnLst>
                                    <p:set>
                                      <p:cBhvr>
                                        <p:cTn id="18" dur="1" fill="hold">
                                          <p:stCondLst>
                                            <p:cond delay="0"/>
                                          </p:stCondLst>
                                        </p:cTn>
                                        <p:tgtEl>
                                          <p:spTgt spid="4">
                                            <p:graphicEl>
                                              <a:dgm id="{866029F1-8DE4-4781-B6C3-2AFB6752E50B}"/>
                                            </p:graphicEl>
                                          </p:spTgt>
                                        </p:tgtEl>
                                        <p:attrNameLst>
                                          <p:attrName>style.visibility</p:attrName>
                                        </p:attrNameLst>
                                      </p:cBhvr>
                                      <p:to>
                                        <p:strVal val="visible"/>
                                      </p:to>
                                    </p:set>
                                    <p:animEffect transition="in" filter="wipe(down)">
                                      <p:cBhvr>
                                        <p:cTn id="19" dur="500"/>
                                        <p:tgtEl>
                                          <p:spTgt spid="4">
                                            <p:graphicEl>
                                              <a:dgm id="{866029F1-8DE4-4781-B6C3-2AFB6752E50B}"/>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1" uiExpand="1">
        <p:bldSub>
          <a:bldDgm bld="lvlOne"/>
        </p:bldSub>
      </p:bldGraphic>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Espace réservé du contenu 4"/>
          <p:cNvGraphicFramePr>
            <a:graphicFrameLocks noGrp="1"/>
          </p:cNvGraphicFramePr>
          <p:nvPr>
            <p:ph idx="4294967295"/>
            <p:extLst>
              <p:ext uri="{D42A27DB-BD31-4B8C-83A1-F6EECF244321}">
                <p14:modId xmlns:p14="http://schemas.microsoft.com/office/powerpoint/2010/main" val="3829758566"/>
              </p:ext>
            </p:extLst>
          </p:nvPr>
        </p:nvGraphicFramePr>
        <p:xfrm>
          <a:off x="182880" y="1751013"/>
          <a:ext cx="12192000" cy="5014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itre 1">
            <a:extLst>
              <a:ext uri="{FF2B5EF4-FFF2-40B4-BE49-F238E27FC236}">
                <a16:creationId xmlns:a16="http://schemas.microsoft.com/office/drawing/2014/main" id="{D5D03B62-5092-47E3-B779-5BED7751ED84}"/>
              </a:ext>
            </a:extLst>
          </p:cNvPr>
          <p:cNvSpPr txBox="1">
            <a:spLocks/>
          </p:cNvSpPr>
          <p:nvPr/>
        </p:nvSpPr>
        <p:spPr>
          <a:xfrm>
            <a:off x="1001483" y="74641"/>
            <a:ext cx="10058400" cy="137160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r>
              <a:rPr lang="fr-FR" sz="3500" dirty="0">
                <a:latin typeface="Century Gothic" panose="020B0502020202020204" pitchFamily="34" charset="0"/>
              </a:rPr>
              <a:t>a – Les objets et constructions dans la science</a:t>
            </a:r>
            <a:br>
              <a:rPr lang="fr-FR" sz="3500" dirty="0">
                <a:latin typeface="Century Gothic" panose="020B0502020202020204" pitchFamily="34" charset="0"/>
              </a:rPr>
            </a:br>
            <a:r>
              <a:rPr lang="fr-FR" sz="3500" dirty="0">
                <a:latin typeface="Century Gothic" panose="020B0502020202020204" pitchFamily="34" charset="0"/>
              </a:rPr>
              <a:t>(1/3)</a:t>
            </a:r>
          </a:p>
        </p:txBody>
      </p:sp>
    </p:spTree>
    <p:extLst>
      <p:ext uri="{BB962C8B-B14F-4D97-AF65-F5344CB8AC3E}">
        <p14:creationId xmlns:p14="http://schemas.microsoft.com/office/powerpoint/2010/main" val="1847110787"/>
      </p:ext>
    </p:extLst>
  </p:cSld>
  <p:clrMapOvr>
    <a:masterClrMapping/>
  </p:clrMapOvr>
  <p:transition spd="slow">
    <p:cover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graphicEl>
                                              <a:dgm id="{D8847387-F643-4280-A4AC-05EA74BF79C2}"/>
                                            </p:graphicEl>
                                          </p:spTgt>
                                        </p:tgtEl>
                                        <p:attrNameLst>
                                          <p:attrName>style.visibility</p:attrName>
                                        </p:attrNameLst>
                                      </p:cBhvr>
                                      <p:to>
                                        <p:strVal val="visible"/>
                                      </p:to>
                                    </p:set>
                                    <p:animEffect transition="in" filter="wipe(down)">
                                      <p:cBhvr>
                                        <p:cTn id="7" dur="500"/>
                                        <p:tgtEl>
                                          <p:spTgt spid="5">
                                            <p:graphicEl>
                                              <a:dgm id="{D8847387-F643-4280-A4AC-05EA74BF79C2}"/>
                                            </p:graphicEl>
                                          </p:spTgt>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5">
                                            <p:graphicEl>
                                              <a:dgm id="{2CF680E5-81D1-493A-B98D-F499BD9876E8}"/>
                                            </p:graphicEl>
                                          </p:spTgt>
                                        </p:tgtEl>
                                        <p:attrNameLst>
                                          <p:attrName>style.visibility</p:attrName>
                                        </p:attrNameLst>
                                      </p:cBhvr>
                                      <p:to>
                                        <p:strVal val="visible"/>
                                      </p:to>
                                    </p:set>
                                    <p:animEffect transition="in" filter="wipe(down)">
                                      <p:cBhvr>
                                        <p:cTn id="11" dur="500"/>
                                        <p:tgtEl>
                                          <p:spTgt spid="5">
                                            <p:graphicEl>
                                              <a:dgm id="{2CF680E5-81D1-493A-B98D-F499BD9876E8}"/>
                                            </p:graphicEl>
                                          </p:spTgt>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5">
                                            <p:graphicEl>
                                              <a:dgm id="{FDE69EAB-57AD-4698-9380-52C70549AAD1}"/>
                                            </p:graphicEl>
                                          </p:spTgt>
                                        </p:tgtEl>
                                        <p:attrNameLst>
                                          <p:attrName>style.visibility</p:attrName>
                                        </p:attrNameLst>
                                      </p:cBhvr>
                                      <p:to>
                                        <p:strVal val="visible"/>
                                      </p:to>
                                    </p:set>
                                    <p:animEffect transition="in" filter="wipe(down)">
                                      <p:cBhvr>
                                        <p:cTn id="15" dur="500"/>
                                        <p:tgtEl>
                                          <p:spTgt spid="5">
                                            <p:graphicEl>
                                              <a:dgm id="{FDE69EAB-57AD-4698-9380-52C70549AAD1}"/>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me 7"/>
          <p:cNvGraphicFramePr/>
          <p:nvPr/>
        </p:nvGraphicFramePr>
        <p:xfrm>
          <a:off x="1451579" y="2255119"/>
          <a:ext cx="7627107"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9" name="Diagramme 8"/>
          <p:cNvGraphicFramePr/>
          <p:nvPr>
            <p:extLst>
              <p:ext uri="{D42A27DB-BD31-4B8C-83A1-F6EECF244321}">
                <p14:modId xmlns:p14="http://schemas.microsoft.com/office/powerpoint/2010/main" val="1687500775"/>
              </p:ext>
            </p:extLst>
          </p:nvPr>
        </p:nvGraphicFramePr>
        <p:xfrm>
          <a:off x="37324" y="1964547"/>
          <a:ext cx="12096206" cy="533737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2" name="ZoneTexte 11"/>
          <p:cNvSpPr txBox="1"/>
          <p:nvPr/>
        </p:nvSpPr>
        <p:spPr>
          <a:xfrm>
            <a:off x="531852" y="1475241"/>
            <a:ext cx="10356820" cy="384721"/>
          </a:xfrm>
          <a:prstGeom prst="rect">
            <a:avLst/>
          </a:prstGeom>
          <a:noFill/>
        </p:spPr>
        <p:txBody>
          <a:bodyPr wrap="square" rtlCol="0">
            <a:spAutoFit/>
          </a:bodyPr>
          <a:lstStyle/>
          <a:p>
            <a:r>
              <a:rPr lang="fr-FR" sz="1900" dirty="0">
                <a:latin typeface="Calibri" panose="020F0502020204030204" pitchFamily="34" charset="0"/>
                <a:cs typeface="Calibri" panose="020F0502020204030204" pitchFamily="34" charset="0"/>
              </a:rPr>
              <a:t>Ainsi, </a:t>
            </a:r>
            <a:r>
              <a:rPr lang="fr-CI" sz="1900" dirty="0">
                <a:latin typeface="Calibri" panose="020F0502020204030204" pitchFamily="34" charset="0"/>
                <a:cs typeface="Calibri" panose="020F0502020204030204" pitchFamily="34" charset="0"/>
              </a:rPr>
              <a:t>Il peut être utile de parler de deux cas concernant justement la relativité :</a:t>
            </a:r>
          </a:p>
        </p:txBody>
      </p:sp>
      <p:sp>
        <p:nvSpPr>
          <p:cNvPr id="7" name="Titre 1">
            <a:extLst>
              <a:ext uri="{FF2B5EF4-FFF2-40B4-BE49-F238E27FC236}">
                <a16:creationId xmlns:a16="http://schemas.microsoft.com/office/drawing/2014/main" id="{1F8BE677-2D7D-4C09-8E7F-450EA9AD18DA}"/>
              </a:ext>
            </a:extLst>
          </p:cNvPr>
          <p:cNvSpPr txBox="1">
            <a:spLocks/>
          </p:cNvSpPr>
          <p:nvPr/>
        </p:nvSpPr>
        <p:spPr>
          <a:xfrm>
            <a:off x="1001483" y="-120301"/>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r>
              <a:rPr lang="fr-FR" sz="3500" dirty="0">
                <a:latin typeface="Century Gothic" panose="020B0502020202020204" pitchFamily="34" charset="0"/>
              </a:rPr>
              <a:t>a – Les constructions scientifiques</a:t>
            </a:r>
            <a:br>
              <a:rPr lang="fr-FR" sz="3500" dirty="0">
                <a:latin typeface="Century Gothic" panose="020B0502020202020204" pitchFamily="34" charset="0"/>
              </a:rPr>
            </a:br>
            <a:r>
              <a:rPr lang="fr-FR" sz="3500" dirty="0">
                <a:latin typeface="Century Gothic" panose="020B0502020202020204" pitchFamily="34" charset="0"/>
              </a:rPr>
              <a:t>(2/3)</a:t>
            </a:r>
          </a:p>
        </p:txBody>
      </p:sp>
    </p:spTree>
    <p:extLst>
      <p:ext uri="{BB962C8B-B14F-4D97-AF65-F5344CB8AC3E}">
        <p14:creationId xmlns:p14="http://schemas.microsoft.com/office/powerpoint/2010/main" val="590736480"/>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graphicEl>
                                              <a:dgm id="{694B0E4E-0FE9-412B-B188-DC60597B46EC}"/>
                                            </p:graphicEl>
                                          </p:spTgt>
                                        </p:tgtEl>
                                        <p:attrNameLst>
                                          <p:attrName>style.visibility</p:attrName>
                                        </p:attrNameLst>
                                      </p:cBhvr>
                                      <p:to>
                                        <p:strVal val="visible"/>
                                      </p:to>
                                    </p:set>
                                    <p:animEffect transition="in" filter="wipe(left)">
                                      <p:cBhvr>
                                        <p:cTn id="7" dur="500"/>
                                        <p:tgtEl>
                                          <p:spTgt spid="9">
                                            <p:graphicEl>
                                              <a:dgm id="{694B0E4E-0FE9-412B-B188-DC60597B46EC}"/>
                                            </p:graphic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graphicEl>
                                              <a:dgm id="{B4B1DD7A-2668-4E47-8A74-4F41579F59C6}"/>
                                            </p:graphicEl>
                                          </p:spTgt>
                                        </p:tgtEl>
                                        <p:attrNameLst>
                                          <p:attrName>style.visibility</p:attrName>
                                        </p:attrNameLst>
                                      </p:cBhvr>
                                      <p:to>
                                        <p:strVal val="visible"/>
                                      </p:to>
                                    </p:set>
                                    <p:animEffect transition="in" filter="wipe(left)">
                                      <p:cBhvr>
                                        <p:cTn id="10" dur="500"/>
                                        <p:tgtEl>
                                          <p:spTgt spid="9">
                                            <p:graphicEl>
                                              <a:dgm id="{B4B1DD7A-2668-4E47-8A74-4F41579F59C6}"/>
                                            </p:graphic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9">
                                            <p:graphicEl>
                                              <a:dgm id="{35BF8387-4FD4-4A02-A157-78289C9D1E68}"/>
                                            </p:graphicEl>
                                          </p:spTgt>
                                        </p:tgtEl>
                                        <p:attrNameLst>
                                          <p:attrName>style.visibility</p:attrName>
                                        </p:attrNameLst>
                                      </p:cBhvr>
                                      <p:to>
                                        <p:strVal val="visible"/>
                                      </p:to>
                                    </p:set>
                                    <p:animEffect transition="in" filter="wipe(left)">
                                      <p:cBhvr>
                                        <p:cTn id="15" dur="500"/>
                                        <p:tgtEl>
                                          <p:spTgt spid="9">
                                            <p:graphicEl>
                                              <a:dgm id="{35BF8387-4FD4-4A02-A157-78289C9D1E68}"/>
                                            </p:graphic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9">
                                            <p:graphicEl>
                                              <a:dgm id="{8008851B-C301-42A8-A3DB-F199CEC0FC29}"/>
                                            </p:graphicEl>
                                          </p:spTgt>
                                        </p:tgtEl>
                                        <p:attrNameLst>
                                          <p:attrName>style.visibility</p:attrName>
                                        </p:attrNameLst>
                                      </p:cBhvr>
                                      <p:to>
                                        <p:strVal val="visible"/>
                                      </p:to>
                                    </p:set>
                                    <p:animEffect transition="in" filter="wipe(left)">
                                      <p:cBhvr>
                                        <p:cTn id="18" dur="500"/>
                                        <p:tgtEl>
                                          <p:spTgt spid="9">
                                            <p:graphicEl>
                                              <a:dgm id="{8008851B-C301-42A8-A3DB-F199CEC0FC29}"/>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uiExpand="1">
        <p:bldSub>
          <a:bldDgm bld="one"/>
        </p:bldSub>
      </p:bldGraphic>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Espace réservé du contenu 4"/>
          <p:cNvGraphicFramePr>
            <a:graphicFrameLocks noGrp="1"/>
          </p:cNvGraphicFramePr>
          <p:nvPr>
            <p:ph idx="1"/>
          </p:nvPr>
        </p:nvGraphicFramePr>
        <p:xfrm>
          <a:off x="0" y="1750424"/>
          <a:ext cx="12191999" cy="50161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Diagramme 7"/>
          <p:cNvGraphicFramePr/>
          <p:nvPr/>
        </p:nvGraphicFramePr>
        <p:xfrm>
          <a:off x="1451579" y="2255119"/>
          <a:ext cx="7627107" cy="541866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2" name="ZoneTexte 11"/>
          <p:cNvSpPr txBox="1"/>
          <p:nvPr/>
        </p:nvSpPr>
        <p:spPr>
          <a:xfrm>
            <a:off x="917590" y="2798058"/>
            <a:ext cx="10356820" cy="1261884"/>
          </a:xfrm>
          <a:prstGeom prst="rect">
            <a:avLst/>
          </a:prstGeom>
          <a:noFill/>
        </p:spPr>
        <p:txBody>
          <a:bodyPr wrap="square" rtlCol="0">
            <a:spAutoFit/>
          </a:bodyPr>
          <a:lstStyle/>
          <a:p>
            <a:r>
              <a:rPr lang="fr-CI" sz="1900" b="1" dirty="0">
                <a:latin typeface="Calibri" panose="020F0502020204030204" pitchFamily="34" charset="0"/>
                <a:cs typeface="Calibri" panose="020F0502020204030204" pitchFamily="34" charset="0"/>
              </a:rPr>
              <a:t>De ce fait, si nous interprétons les constructions scientifiques dans le cadre des objectifs et des méthodes dans lesquels elles sont nées on évitera aussi des équivoques qui surgissent en essayant d’extrapoler des objectifs ou des méthodes d’une science à une autre ou de la science dans son ensemble à d’autres domaines</a:t>
            </a:r>
          </a:p>
        </p:txBody>
      </p:sp>
      <p:sp>
        <p:nvSpPr>
          <p:cNvPr id="6" name="Titre 1">
            <a:extLst>
              <a:ext uri="{FF2B5EF4-FFF2-40B4-BE49-F238E27FC236}">
                <a16:creationId xmlns:a16="http://schemas.microsoft.com/office/drawing/2014/main" id="{99A43097-8FC2-4E40-8977-B182C1937AD8}"/>
              </a:ext>
            </a:extLst>
          </p:cNvPr>
          <p:cNvSpPr txBox="1">
            <a:spLocks/>
          </p:cNvSpPr>
          <p:nvPr/>
        </p:nvSpPr>
        <p:spPr>
          <a:xfrm>
            <a:off x="1001483" y="-120301"/>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r>
              <a:rPr lang="fr-FR" sz="3500" dirty="0">
                <a:latin typeface="Century Gothic" panose="020B0502020202020204" pitchFamily="34" charset="0"/>
              </a:rPr>
              <a:t>a – Les constructions scientifiques</a:t>
            </a:r>
            <a:br>
              <a:rPr lang="fr-FR" sz="3500" dirty="0">
                <a:latin typeface="Century Gothic" panose="020B0502020202020204" pitchFamily="34" charset="0"/>
              </a:rPr>
            </a:br>
            <a:r>
              <a:rPr lang="fr-FR" sz="3500" dirty="0">
                <a:latin typeface="Century Gothic" panose="020B0502020202020204" pitchFamily="34" charset="0"/>
              </a:rPr>
              <a:t>(3/3)</a:t>
            </a:r>
          </a:p>
        </p:txBody>
      </p:sp>
    </p:spTree>
    <p:extLst>
      <p:ext uri="{BB962C8B-B14F-4D97-AF65-F5344CB8AC3E}">
        <p14:creationId xmlns:p14="http://schemas.microsoft.com/office/powerpoint/2010/main" val="629607214"/>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p:tgtEl>
                                          <p:spTgt spid="12"/>
                                        </p:tgtEl>
                                        <p:attrNameLst>
                                          <p:attrName>ppt_y</p:attrName>
                                        </p:attrNameLst>
                                      </p:cBhvr>
                                      <p:tavLst>
                                        <p:tav tm="0">
                                          <p:val>
                                            <p:strVal val="#ppt_y+#ppt_h*1.125000"/>
                                          </p:val>
                                        </p:tav>
                                        <p:tav tm="100000">
                                          <p:val>
                                            <p:strVal val="#ppt_y"/>
                                          </p:val>
                                        </p:tav>
                                      </p:tavLst>
                                    </p:anim>
                                    <p:animEffect transition="in" filter="wipe(up)">
                                      <p:cBhvr>
                                        <p:cTn id="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4294967295"/>
          </p:nvPr>
        </p:nvSpPr>
        <p:spPr>
          <a:xfrm>
            <a:off x="796143" y="1876163"/>
            <a:ext cx="10699167" cy="3449638"/>
          </a:xfrm>
        </p:spPr>
        <p:txBody>
          <a:bodyPr>
            <a:normAutofit fontScale="92500"/>
          </a:bodyPr>
          <a:lstStyle/>
          <a:p>
            <a:pPr algn="just">
              <a:buFont typeface="Wingdings" panose="05000000000000000000" pitchFamily="2" charset="2"/>
              <a:buChar char="Ø"/>
            </a:pPr>
            <a:r>
              <a:rPr lang="fr-CI" dirty="0">
                <a:latin typeface="Calibri" panose="020F0502020204030204" pitchFamily="34" charset="0"/>
                <a:cs typeface="Calibri" panose="020F0502020204030204" pitchFamily="34" charset="0"/>
              </a:rPr>
              <a:t>L’évaluation des connaissances scientifiques doit être faite en prenant en compte les contextes des différentes sciences, c'est-à-dire leurs objectifs et leurs méthodes. C’est ainsi que l’on verra facilement que les sciences particulières ne peuvent pas démontrer ni réfuter des thèses qui se situent en dehors de leur domaine.</a:t>
            </a:r>
            <a:endParaRPr lang="en-US" dirty="0">
              <a:latin typeface="Calibri" panose="020F0502020204030204" pitchFamily="34" charset="0"/>
              <a:cs typeface="Calibri" panose="020F0502020204030204" pitchFamily="34" charset="0"/>
            </a:endParaRPr>
          </a:p>
          <a:p>
            <a:pPr marL="0" indent="0" algn="just">
              <a:buNone/>
            </a:pPr>
            <a:endParaRPr lang="en-US" dirty="0">
              <a:latin typeface="Calibri" panose="020F0502020204030204" pitchFamily="34" charset="0"/>
              <a:cs typeface="Calibri" panose="020F0502020204030204" pitchFamily="34" charset="0"/>
            </a:endParaRPr>
          </a:p>
          <a:p>
            <a:pPr algn="just">
              <a:buFont typeface="Wingdings" panose="05000000000000000000" pitchFamily="2" charset="2"/>
              <a:buChar char="Ø"/>
            </a:pPr>
            <a:r>
              <a:rPr lang="fr-CI" dirty="0">
                <a:latin typeface="Calibri" panose="020F0502020204030204" pitchFamily="34" charset="0"/>
                <a:cs typeface="Calibri" panose="020F0502020204030204" pitchFamily="34" charset="0"/>
              </a:rPr>
              <a:t>l’activité scientifique a une ouverture à la recherche ultérieure, de caractère provisoire et partiel, de problèmes en attente de solution. si l’on prétend qu’une théorie qui en est au stade d’hypothèse « assez bien vérifiée avec les données dont on dispose aujourd’hui » est déjà une « théorie absolument établie et unanimement acceptée par la communauté scientifique » on entrave la recherche.</a:t>
            </a:r>
            <a:endParaRPr lang="en-US" dirty="0">
              <a:latin typeface="Calibri" panose="020F0502020204030204" pitchFamily="34" charset="0"/>
              <a:cs typeface="Calibri" panose="020F0502020204030204" pitchFamily="34" charset="0"/>
            </a:endParaRPr>
          </a:p>
        </p:txBody>
      </p:sp>
      <p:sp>
        <p:nvSpPr>
          <p:cNvPr id="4" name="Titre 1">
            <a:extLst>
              <a:ext uri="{FF2B5EF4-FFF2-40B4-BE49-F238E27FC236}">
                <a16:creationId xmlns:a16="http://schemas.microsoft.com/office/drawing/2014/main" id="{D98A4885-A2E9-4514-B581-C90EDA93E8A4}"/>
              </a:ext>
            </a:extLst>
          </p:cNvPr>
          <p:cNvSpPr txBox="1">
            <a:spLocks/>
          </p:cNvSpPr>
          <p:nvPr/>
        </p:nvSpPr>
        <p:spPr>
          <a:xfrm>
            <a:off x="1001483" y="-120301"/>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r>
              <a:rPr lang="fr-FR" sz="3500" dirty="0">
                <a:latin typeface="Century Gothic" panose="020B0502020202020204" pitchFamily="34" charset="0"/>
              </a:rPr>
              <a:t>b – Vérification de la validité des théories</a:t>
            </a:r>
            <a:br>
              <a:rPr lang="fr-FR" sz="3500" dirty="0">
                <a:latin typeface="Century Gothic" panose="020B0502020202020204" pitchFamily="34" charset="0"/>
              </a:rPr>
            </a:br>
            <a:r>
              <a:rPr lang="fr-FR" sz="3500" dirty="0">
                <a:latin typeface="Century Gothic" panose="020B0502020202020204" pitchFamily="34" charset="0"/>
              </a:rPr>
              <a:t>(3/3)</a:t>
            </a:r>
          </a:p>
        </p:txBody>
      </p:sp>
    </p:spTree>
    <p:extLst>
      <p:ext uri="{BB962C8B-B14F-4D97-AF65-F5344CB8AC3E}">
        <p14:creationId xmlns:p14="http://schemas.microsoft.com/office/powerpoint/2010/main" val="14465381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Espace réservé du contenu 6"/>
          <p:cNvGraphicFramePr>
            <a:graphicFrameLocks noGrp="1"/>
          </p:cNvGraphicFramePr>
          <p:nvPr>
            <p:ph idx="4294967295"/>
            <p:extLst>
              <p:ext uri="{D42A27DB-BD31-4B8C-83A1-F6EECF244321}">
                <p14:modId xmlns:p14="http://schemas.microsoft.com/office/powerpoint/2010/main" val="2281029495"/>
              </p:ext>
            </p:extLst>
          </p:nvPr>
        </p:nvGraphicFramePr>
        <p:xfrm>
          <a:off x="0" y="1842217"/>
          <a:ext cx="11874500" cy="4829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re 1">
            <a:extLst>
              <a:ext uri="{FF2B5EF4-FFF2-40B4-BE49-F238E27FC236}">
                <a16:creationId xmlns:a16="http://schemas.microsoft.com/office/drawing/2014/main" id="{74CAE2D8-71A2-4EA3-8067-301B66112EB2}"/>
              </a:ext>
            </a:extLst>
          </p:cNvPr>
          <p:cNvSpPr txBox="1">
            <a:spLocks/>
          </p:cNvSpPr>
          <p:nvPr/>
        </p:nvSpPr>
        <p:spPr>
          <a:xfrm>
            <a:off x="1001483" y="-120301"/>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r>
              <a:rPr lang="fr-FR" sz="3500" dirty="0">
                <a:latin typeface="Century Gothic" panose="020B0502020202020204" pitchFamily="34" charset="0"/>
              </a:rPr>
              <a:t>2 – Les Objectif et les Objets</a:t>
            </a:r>
            <a:br>
              <a:rPr lang="fr-FR" sz="3500" dirty="0">
                <a:latin typeface="Century Gothic" panose="020B0502020202020204" pitchFamily="34" charset="0"/>
              </a:rPr>
            </a:br>
            <a:r>
              <a:rPr lang="fr-FR" sz="3500" dirty="0">
                <a:latin typeface="Century Gothic" panose="020B0502020202020204" pitchFamily="34" charset="0"/>
              </a:rPr>
              <a:t>(1/2)</a:t>
            </a:r>
          </a:p>
        </p:txBody>
      </p:sp>
    </p:spTree>
    <p:extLst>
      <p:ext uri="{BB962C8B-B14F-4D97-AF65-F5344CB8AC3E}">
        <p14:creationId xmlns:p14="http://schemas.microsoft.com/office/powerpoint/2010/main" val="212393523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1" nodeType="afterEffect">
                                  <p:stCondLst>
                                    <p:cond delay="0"/>
                                  </p:stCondLst>
                                  <p:childTnLst>
                                    <p:set>
                                      <p:cBhvr>
                                        <p:cTn id="6" dur="1" fill="hold">
                                          <p:stCondLst>
                                            <p:cond delay="0"/>
                                          </p:stCondLst>
                                        </p:cTn>
                                        <p:tgtEl>
                                          <p:spTgt spid="7">
                                            <p:graphicEl>
                                              <a:dgm id="{8807C940-AC6B-4796-BE15-32F876685B8B}"/>
                                            </p:graphicEl>
                                          </p:spTgt>
                                        </p:tgtEl>
                                        <p:attrNameLst>
                                          <p:attrName>style.visibility</p:attrName>
                                        </p:attrNameLst>
                                      </p:cBhvr>
                                      <p:to>
                                        <p:strVal val="visible"/>
                                      </p:to>
                                    </p:set>
                                    <p:anim calcmode="lin" valueType="num">
                                      <p:cBhvr additive="base">
                                        <p:cTn id="7" dur="500"/>
                                        <p:tgtEl>
                                          <p:spTgt spid="7">
                                            <p:graphicEl>
                                              <a:dgm id="{8807C940-AC6B-4796-BE15-32F876685B8B}"/>
                                            </p:graphicEl>
                                          </p:spTgt>
                                        </p:tgtEl>
                                        <p:attrNameLst>
                                          <p:attrName>ppt_y</p:attrName>
                                        </p:attrNameLst>
                                      </p:cBhvr>
                                      <p:tavLst>
                                        <p:tav tm="0">
                                          <p:val>
                                            <p:strVal val="#ppt_y+#ppt_h*1.125000"/>
                                          </p:val>
                                        </p:tav>
                                        <p:tav tm="100000">
                                          <p:val>
                                            <p:strVal val="#ppt_y"/>
                                          </p:val>
                                        </p:tav>
                                      </p:tavLst>
                                    </p:anim>
                                    <p:animEffect transition="in" filter="wipe(up)">
                                      <p:cBhvr>
                                        <p:cTn id="8" dur="500"/>
                                        <p:tgtEl>
                                          <p:spTgt spid="7">
                                            <p:graphicEl>
                                              <a:dgm id="{8807C940-AC6B-4796-BE15-32F876685B8B}"/>
                                            </p:graphicEl>
                                          </p:spTgt>
                                        </p:tgtEl>
                                      </p:cBhvr>
                                    </p:animEffect>
                                  </p:childTnLst>
                                </p:cTn>
                              </p:par>
                            </p:childTnLst>
                          </p:cTn>
                        </p:par>
                        <p:par>
                          <p:cTn id="9" fill="hold">
                            <p:stCondLst>
                              <p:cond delay="500"/>
                            </p:stCondLst>
                            <p:childTnLst>
                              <p:par>
                                <p:cTn id="10" presetID="26" presetClass="emph" presetSubtype="0" fill="hold" grpId="0" nodeType="afterEffect">
                                  <p:stCondLst>
                                    <p:cond delay="0"/>
                                  </p:stCondLst>
                                  <p:childTnLst>
                                    <p:animEffect transition="out" filter="fade">
                                      <p:cBhvr>
                                        <p:cTn id="11" dur="500" tmFilter="0, 0; .2, .5; .8, .5; 1, 0"/>
                                        <p:tgtEl>
                                          <p:spTgt spid="7">
                                            <p:graphicEl>
                                              <a:dgm id="{8807C940-AC6B-4796-BE15-32F876685B8B}"/>
                                            </p:graphicEl>
                                          </p:spTgt>
                                        </p:tgtEl>
                                      </p:cBhvr>
                                    </p:animEffect>
                                    <p:animScale>
                                      <p:cBhvr>
                                        <p:cTn id="12" dur="250" autoRev="1" fill="hold"/>
                                        <p:tgtEl>
                                          <p:spTgt spid="7">
                                            <p:graphicEl>
                                              <a:dgm id="{8807C940-AC6B-4796-BE15-32F876685B8B}"/>
                                            </p:graphicEl>
                                          </p:spTgt>
                                        </p:tgtEl>
                                      </p:cBhvr>
                                      <p:by x="105000" y="105000"/>
                                    </p:animScale>
                                  </p:childTnLst>
                                </p:cTn>
                              </p:par>
                            </p:childTnLst>
                          </p:cTn>
                        </p:par>
                        <p:par>
                          <p:cTn id="13" fill="hold">
                            <p:stCondLst>
                              <p:cond delay="1000"/>
                            </p:stCondLst>
                            <p:childTnLst>
                              <p:par>
                                <p:cTn id="14" presetID="12" presetClass="entr" presetSubtype="4" fill="hold" grpId="1" nodeType="afterEffect">
                                  <p:stCondLst>
                                    <p:cond delay="0"/>
                                  </p:stCondLst>
                                  <p:childTnLst>
                                    <p:set>
                                      <p:cBhvr>
                                        <p:cTn id="15" dur="1" fill="hold">
                                          <p:stCondLst>
                                            <p:cond delay="0"/>
                                          </p:stCondLst>
                                        </p:cTn>
                                        <p:tgtEl>
                                          <p:spTgt spid="7">
                                            <p:graphicEl>
                                              <a:dgm id="{73F40891-3FE9-46AE-8536-233E359B77B4}"/>
                                            </p:graphicEl>
                                          </p:spTgt>
                                        </p:tgtEl>
                                        <p:attrNameLst>
                                          <p:attrName>style.visibility</p:attrName>
                                        </p:attrNameLst>
                                      </p:cBhvr>
                                      <p:to>
                                        <p:strVal val="visible"/>
                                      </p:to>
                                    </p:set>
                                    <p:anim calcmode="lin" valueType="num">
                                      <p:cBhvr additive="base">
                                        <p:cTn id="16" dur="500"/>
                                        <p:tgtEl>
                                          <p:spTgt spid="7">
                                            <p:graphicEl>
                                              <a:dgm id="{73F40891-3FE9-46AE-8536-233E359B77B4}"/>
                                            </p:graphicEl>
                                          </p:spTgt>
                                        </p:tgtEl>
                                        <p:attrNameLst>
                                          <p:attrName>ppt_y</p:attrName>
                                        </p:attrNameLst>
                                      </p:cBhvr>
                                      <p:tavLst>
                                        <p:tav tm="0">
                                          <p:val>
                                            <p:strVal val="#ppt_y+#ppt_h*1.125000"/>
                                          </p:val>
                                        </p:tav>
                                        <p:tav tm="100000">
                                          <p:val>
                                            <p:strVal val="#ppt_y"/>
                                          </p:val>
                                        </p:tav>
                                      </p:tavLst>
                                    </p:anim>
                                    <p:animEffect transition="in" filter="wipe(up)">
                                      <p:cBhvr>
                                        <p:cTn id="17" dur="500"/>
                                        <p:tgtEl>
                                          <p:spTgt spid="7">
                                            <p:graphicEl>
                                              <a:dgm id="{73F40891-3FE9-46AE-8536-233E359B77B4}"/>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uiExpand="1">
        <p:bldSub>
          <a:bldDgm bld="lvlOne"/>
        </p:bldSub>
      </p:bldGraphic>
      <p:bldGraphic spid="7" grpId="1" uiExpand="1">
        <p:bldSub>
          <a:bldDgm bld="lvlOne"/>
        </p:bldSub>
      </p:bldGraphic>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Espace réservé du contenu 6"/>
          <p:cNvGraphicFramePr>
            <a:graphicFrameLocks noGrp="1"/>
          </p:cNvGraphicFramePr>
          <p:nvPr>
            <p:ph idx="4294967295"/>
            <p:extLst>
              <p:ext uri="{D42A27DB-BD31-4B8C-83A1-F6EECF244321}">
                <p14:modId xmlns:p14="http://schemas.microsoft.com/office/powerpoint/2010/main" val="2135385771"/>
              </p:ext>
            </p:extLst>
          </p:nvPr>
        </p:nvGraphicFramePr>
        <p:xfrm>
          <a:off x="0" y="1758235"/>
          <a:ext cx="11874500" cy="4829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ZoneTexte 7"/>
          <p:cNvSpPr txBox="1"/>
          <p:nvPr/>
        </p:nvSpPr>
        <p:spPr>
          <a:xfrm>
            <a:off x="550506" y="2922345"/>
            <a:ext cx="10898155" cy="3570208"/>
          </a:xfrm>
          <a:prstGeom prst="rect">
            <a:avLst/>
          </a:prstGeom>
          <a:noFill/>
        </p:spPr>
        <p:txBody>
          <a:bodyPr wrap="square" rtlCol="0">
            <a:spAutoFit/>
          </a:bodyPr>
          <a:lstStyle/>
          <a:p>
            <a:pPr marL="285750" indent="-107950" algn="just">
              <a:buFont typeface="Arial" panose="020B0604020202020204" pitchFamily="34" charset="0"/>
              <a:buChar char="•"/>
            </a:pPr>
            <a:r>
              <a:rPr lang="fr-CI" sz="1900" dirty="0">
                <a:latin typeface="Calibri" panose="020F0502020204030204" pitchFamily="34" charset="0"/>
                <a:cs typeface="Calibri" panose="020F0502020204030204" pitchFamily="34" charset="0"/>
              </a:rPr>
              <a:t>L’objet matériel est le type d’êtres dont une science s’occupe : les vivants, les astres…</a:t>
            </a:r>
          </a:p>
          <a:p>
            <a:pPr marL="285750" indent="-107950" algn="just"/>
            <a:endParaRPr lang="en-US" sz="1900" dirty="0">
              <a:latin typeface="Calibri" panose="020F0502020204030204" pitchFamily="34" charset="0"/>
              <a:cs typeface="Calibri" panose="020F0502020204030204" pitchFamily="34" charset="0"/>
            </a:endParaRPr>
          </a:p>
          <a:p>
            <a:pPr marL="285750" indent="-107950" algn="just">
              <a:buFont typeface="Arial" panose="020B0604020202020204" pitchFamily="34" charset="0"/>
              <a:buChar char="•"/>
            </a:pPr>
            <a:r>
              <a:rPr lang="fr-CI" sz="1900" dirty="0">
                <a:latin typeface="Calibri" panose="020F0502020204030204" pitchFamily="34" charset="0"/>
                <a:cs typeface="Calibri" panose="020F0502020204030204" pitchFamily="34" charset="0"/>
              </a:rPr>
              <a:t>L’objet formel quod est le point de vue sous lequel une science déterminée étudie son objet matériel : les vivants sont l’objet matériel de la physiologie et de la philosophie de la nature ; c’est l’objet formel quod qui constitue la différence entre ces deux sciences.</a:t>
            </a:r>
          </a:p>
          <a:p>
            <a:pPr marL="285750" indent="-107950" algn="just">
              <a:buFont typeface="Arial" panose="020B0604020202020204" pitchFamily="34" charset="0"/>
              <a:buChar char="•"/>
            </a:pPr>
            <a:endParaRPr lang="fr-CI" sz="1900" dirty="0">
              <a:latin typeface="Calibri" panose="020F0502020204030204" pitchFamily="34" charset="0"/>
              <a:cs typeface="Calibri" panose="020F0502020204030204" pitchFamily="34" charset="0"/>
            </a:endParaRPr>
          </a:p>
          <a:p>
            <a:pPr marL="285750" indent="-107950" algn="just">
              <a:buFont typeface="Arial" panose="020B0604020202020204" pitchFamily="34" charset="0"/>
              <a:buChar char="•"/>
            </a:pPr>
            <a:r>
              <a:rPr lang="fr-CI" sz="1900" dirty="0">
                <a:latin typeface="Calibri" panose="020F0502020204030204" pitchFamily="34" charset="0"/>
                <a:cs typeface="Calibri" panose="020F0502020204030204" pitchFamily="34" charset="0"/>
              </a:rPr>
              <a:t>L’objet formel quo est la perspective avec laquelle la science aborde son sujet ; autrement dit, les ressources qui sont mises à contribution ; l’exemple classique est la différence entre la théologie naturelle, faite avec la raison, et la théologie surnaturelle, qui utilise avec la raison la foi et les données fournies par la révélation surnaturelle.</a:t>
            </a:r>
            <a:endParaRPr lang="en-US" sz="1900" dirty="0">
              <a:latin typeface="Calibri" panose="020F0502020204030204" pitchFamily="34" charset="0"/>
              <a:cs typeface="Calibri" panose="020F0502020204030204" pitchFamily="34" charset="0"/>
            </a:endParaRPr>
          </a:p>
          <a:p>
            <a:endParaRPr lang="en-US" dirty="0"/>
          </a:p>
          <a:p>
            <a:pPr marL="285750" indent="-285750">
              <a:buFont typeface="Arial" panose="020B0604020202020204" pitchFamily="34" charset="0"/>
              <a:buChar char="•"/>
            </a:pPr>
            <a:endParaRPr lang="en-US" dirty="0"/>
          </a:p>
        </p:txBody>
      </p:sp>
      <p:sp>
        <p:nvSpPr>
          <p:cNvPr id="5" name="Titre 1">
            <a:extLst>
              <a:ext uri="{FF2B5EF4-FFF2-40B4-BE49-F238E27FC236}">
                <a16:creationId xmlns:a16="http://schemas.microsoft.com/office/drawing/2014/main" id="{638A64CA-C97B-4E1F-B96D-2E13B337EC04}"/>
              </a:ext>
            </a:extLst>
          </p:cNvPr>
          <p:cNvSpPr txBox="1">
            <a:spLocks/>
          </p:cNvSpPr>
          <p:nvPr/>
        </p:nvSpPr>
        <p:spPr>
          <a:xfrm>
            <a:off x="1001483" y="-120301"/>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r>
              <a:rPr lang="fr-FR" sz="3500" dirty="0">
                <a:latin typeface="Century Gothic" panose="020B0502020202020204" pitchFamily="34" charset="0"/>
              </a:rPr>
              <a:t>2 – Les Objectif et les Objets</a:t>
            </a:r>
            <a:br>
              <a:rPr lang="fr-FR" sz="3500" dirty="0">
                <a:latin typeface="Century Gothic" panose="020B0502020202020204" pitchFamily="34" charset="0"/>
              </a:rPr>
            </a:br>
            <a:r>
              <a:rPr lang="fr-FR" sz="3500" dirty="0">
                <a:latin typeface="Century Gothic" panose="020B0502020202020204" pitchFamily="34" charset="0"/>
              </a:rPr>
              <a:t>(2/2)</a:t>
            </a:r>
          </a:p>
        </p:txBody>
      </p:sp>
    </p:spTree>
    <p:extLst>
      <p:ext uri="{BB962C8B-B14F-4D97-AF65-F5344CB8AC3E}">
        <p14:creationId xmlns:p14="http://schemas.microsoft.com/office/powerpoint/2010/main" val="105741977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mph" presetSubtype="0" fill="remove" grpId="0" nodeType="afterEffect">
                                  <p:stCondLst>
                                    <p:cond delay="0"/>
                                  </p:stCondLst>
                                  <p:childTnLst>
                                    <p:animClr clrSpc="rgb" dir="cw">
                                      <p:cBhvr override="childStyle">
                                        <p:cTn id="6" dur="250" autoRev="1" fill="remove"/>
                                        <p:tgtEl>
                                          <p:spTgt spid="7">
                                            <p:graphicEl>
                                              <a:dgm id="{023008AA-EB48-461E-ABD0-36597E98AA63}"/>
                                            </p:graphicEl>
                                          </p:spTgt>
                                        </p:tgtEl>
                                        <p:attrNameLst>
                                          <p:attrName>style.color</p:attrName>
                                        </p:attrNameLst>
                                      </p:cBhvr>
                                      <p:to>
                                        <a:schemeClr val="bg1"/>
                                      </p:to>
                                    </p:animClr>
                                    <p:animClr clrSpc="rgb" dir="cw">
                                      <p:cBhvr>
                                        <p:cTn id="7" dur="250" autoRev="1" fill="remove"/>
                                        <p:tgtEl>
                                          <p:spTgt spid="7">
                                            <p:graphicEl>
                                              <a:dgm id="{023008AA-EB48-461E-ABD0-36597E98AA63}"/>
                                            </p:graphicEl>
                                          </p:spTgt>
                                        </p:tgtEl>
                                        <p:attrNameLst>
                                          <p:attrName>fillcolor</p:attrName>
                                        </p:attrNameLst>
                                      </p:cBhvr>
                                      <p:to>
                                        <a:schemeClr val="bg1"/>
                                      </p:to>
                                    </p:animClr>
                                    <p:set>
                                      <p:cBhvr>
                                        <p:cTn id="8" dur="250" autoRev="1" fill="remove"/>
                                        <p:tgtEl>
                                          <p:spTgt spid="7">
                                            <p:graphicEl>
                                              <a:dgm id="{023008AA-EB48-461E-ABD0-36597E98AA63}"/>
                                            </p:graphicEl>
                                          </p:spTgt>
                                        </p:tgtEl>
                                        <p:attrNameLst>
                                          <p:attrName>fill.type</p:attrName>
                                        </p:attrNameLst>
                                      </p:cBhvr>
                                      <p:to>
                                        <p:strVal val="solid"/>
                                      </p:to>
                                    </p:set>
                                    <p:set>
                                      <p:cBhvr>
                                        <p:cTn id="9" dur="250" autoRev="1" fill="remove"/>
                                        <p:tgtEl>
                                          <p:spTgt spid="7">
                                            <p:graphicEl>
                                              <a:dgm id="{023008AA-EB48-461E-ABD0-36597E98AA63}"/>
                                            </p:graphic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p:bldSub>
      </p:bldGraphic>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2298810" y="1670978"/>
            <a:ext cx="8637073" cy="2541431"/>
          </a:xfrm>
        </p:spPr>
        <p:txBody>
          <a:bodyPr>
            <a:normAutofit fontScale="90000"/>
          </a:bodyPr>
          <a:lstStyle/>
          <a:p>
            <a:pPr algn="ctr"/>
            <a:r>
              <a:rPr lang="fr-CI" b="1" dirty="0"/>
              <a:t>Partie IV - LA REFLEXION PHILOSOPHIQUE SUR LA SCIENCE</a:t>
            </a:r>
            <a:br>
              <a:rPr lang="en-US" dirty="0"/>
            </a:br>
            <a:endParaRPr lang="en-US" dirty="0"/>
          </a:p>
        </p:txBody>
      </p:sp>
    </p:spTree>
    <p:extLst>
      <p:ext uri="{BB962C8B-B14F-4D97-AF65-F5344CB8AC3E}">
        <p14:creationId xmlns:p14="http://schemas.microsoft.com/office/powerpoint/2010/main" val="286651403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E76651B7-2957-4D7C-ABEF-142980284632}"/>
              </a:ext>
            </a:extLst>
          </p:cNvPr>
          <p:cNvSpPr txBox="1">
            <a:spLocks/>
          </p:cNvSpPr>
          <p:nvPr/>
        </p:nvSpPr>
        <p:spPr>
          <a:xfrm>
            <a:off x="1001483" y="74641"/>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35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n-ea"/>
                <a:cs typeface="+mn-cs"/>
              </a:rPr>
              <a:t>– </a:t>
            </a:r>
            <a:r>
              <a:rPr lang="fr-FR" sz="3500" dirty="0">
                <a:solidFill>
                  <a:prstClr val="black">
                    <a:lumMod val="85000"/>
                    <a:lumOff val="15000"/>
                  </a:prstClr>
                </a:solidFill>
                <a:latin typeface="Century Gothic" panose="020B0502020202020204"/>
              </a:rPr>
              <a:t>Introduction</a:t>
            </a:r>
            <a:br>
              <a:rPr kumimoji="0" lang="fr-FR" sz="35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n-ea"/>
                <a:cs typeface="+mn-cs"/>
              </a:rPr>
            </a:br>
            <a:r>
              <a:rPr kumimoji="0" lang="fr-FR" sz="35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n-ea"/>
                <a:cs typeface="+mn-cs"/>
              </a:rPr>
              <a:t>(1/2)</a:t>
            </a:r>
          </a:p>
        </p:txBody>
      </p:sp>
      <p:sp>
        <p:nvSpPr>
          <p:cNvPr id="3" name="Espace réservé du contenu 2">
            <a:extLst>
              <a:ext uri="{FF2B5EF4-FFF2-40B4-BE49-F238E27FC236}">
                <a16:creationId xmlns:a16="http://schemas.microsoft.com/office/drawing/2014/main" id="{4323CC87-2AA8-487F-8117-C98604112F3C}"/>
              </a:ext>
            </a:extLst>
          </p:cNvPr>
          <p:cNvSpPr>
            <a:spLocks noGrp="1"/>
          </p:cNvSpPr>
          <p:nvPr>
            <p:ph idx="1"/>
          </p:nvPr>
        </p:nvSpPr>
        <p:spPr>
          <a:xfrm>
            <a:off x="615819" y="1838130"/>
            <a:ext cx="10916817" cy="4710093"/>
          </a:xfrm>
        </p:spPr>
        <p:txBody>
          <a:bodyPr>
            <a:normAutofit/>
          </a:bodyPr>
          <a:lstStyle/>
          <a:p>
            <a:pPr algn="just">
              <a:lnSpc>
                <a:spcPct val="107000"/>
              </a:lnSpc>
              <a:spcAft>
                <a:spcPts val="800"/>
              </a:spcAft>
            </a:pPr>
            <a:r>
              <a:rPr lang="fr-CI" sz="1900" dirty="0">
                <a:effectLst/>
                <a:latin typeface="Calibri" panose="020F0502020204030204" pitchFamily="34" charset="0"/>
                <a:ea typeface="Calibri" panose="020F0502020204030204" pitchFamily="34" charset="0"/>
                <a:cs typeface="Times New Roman" panose="02020603050405020304" pitchFamily="18" charset="0"/>
              </a:rPr>
              <a:t>On appelle Épistémologie, </a:t>
            </a:r>
            <a:r>
              <a:rPr lang="fr-CI" sz="1900" b="1" dirty="0">
                <a:effectLst/>
                <a:latin typeface="Calibri" panose="020F0502020204030204" pitchFamily="34" charset="0"/>
                <a:ea typeface="Calibri" panose="020F0502020204030204" pitchFamily="34" charset="0"/>
                <a:cs typeface="Times New Roman" panose="02020603050405020304" pitchFamily="18" charset="0"/>
              </a:rPr>
              <a:t>l’étude critique des sciences, destinée à déterminer leur origine logique, leur valeur et leur portée (théorie de la connaissance). Pour notre cours, c’est ce qu’on nous appelons Réflexion philosophique sur la Science. Et donc une critique sur tout ce qui entre en ligne de compte avec la science : ses méthodes, ses finalités, ses résultats, ses tâtonnements etc.</a:t>
            </a:r>
            <a:endParaRPr lang="fr-FR" sz="19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CI" sz="1900" dirty="0">
                <a:effectLst/>
                <a:latin typeface="Calibri" panose="020F0502020204030204" pitchFamily="34" charset="0"/>
                <a:ea typeface="Calibri" panose="020F0502020204030204" pitchFamily="34" charset="0"/>
                <a:cs typeface="Times New Roman" panose="02020603050405020304" pitchFamily="18" charset="0"/>
              </a:rPr>
              <a:t>La science naturelle, la philosophie et la théologie ont été cultivées dès l’antiquité grecque ; cet intérêt a été toujours accompagné de la </a:t>
            </a:r>
            <a:r>
              <a:rPr lang="fr-CI" sz="19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réflexion philosophique sur la nature et la portée de la science</a:t>
            </a:r>
            <a:r>
              <a:rPr lang="fr-CI" sz="1900" dirty="0">
                <a:effectLst/>
                <a:latin typeface="Calibri" panose="020F0502020204030204" pitchFamily="34" charset="0"/>
                <a:ea typeface="Calibri" panose="020F0502020204030204" pitchFamily="34" charset="0"/>
                <a:cs typeface="Times New Roman" panose="02020603050405020304" pitchFamily="18" charset="0"/>
              </a:rPr>
              <a:t>.</a:t>
            </a:r>
            <a:endParaRPr lang="fr-FR" sz="19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CI" sz="1900" dirty="0">
                <a:effectLst/>
                <a:latin typeface="Calibri" panose="020F0502020204030204" pitchFamily="34" charset="0"/>
                <a:ea typeface="Calibri" panose="020F0502020204030204" pitchFamily="34" charset="0"/>
                <a:cs typeface="Times New Roman" panose="02020603050405020304" pitchFamily="18" charset="0"/>
              </a:rPr>
              <a:t>Mais le succès grandissant de la science expérimentale moderne a créé une situation nouvelle : le </a:t>
            </a:r>
            <a:r>
              <a:rPr lang="fr-CI" sz="1900" b="1" dirty="0">
                <a:effectLst/>
                <a:latin typeface="Calibri" panose="020F0502020204030204" pitchFamily="34" charset="0"/>
                <a:ea typeface="Calibri" panose="020F0502020204030204" pitchFamily="34" charset="0"/>
                <a:cs typeface="Times New Roman" panose="02020603050405020304" pitchFamily="18" charset="0"/>
              </a:rPr>
              <a:t>terme « science »</a:t>
            </a:r>
            <a:r>
              <a:rPr lang="fr-CI" sz="1900" dirty="0">
                <a:effectLst/>
                <a:latin typeface="Calibri" panose="020F0502020204030204" pitchFamily="34" charset="0"/>
                <a:ea typeface="Calibri" panose="020F0502020204030204" pitchFamily="34" charset="0"/>
                <a:cs typeface="Times New Roman" panose="02020603050405020304" pitchFamily="18" charset="0"/>
              </a:rPr>
              <a:t> a été appliqué de façon de plus en plus </a:t>
            </a:r>
            <a:r>
              <a:rPr lang="fr-CI" sz="1900" b="1" dirty="0">
                <a:effectLst/>
                <a:latin typeface="Calibri" panose="020F0502020204030204" pitchFamily="34" charset="0"/>
                <a:ea typeface="Calibri" panose="020F0502020204030204" pitchFamily="34" charset="0"/>
                <a:cs typeface="Times New Roman" panose="02020603050405020304" pitchFamily="18" charset="0"/>
              </a:rPr>
              <a:t>exclusive à la science expérimentale</a:t>
            </a:r>
            <a:r>
              <a:rPr lang="fr-CI" sz="1900" dirty="0">
                <a:effectLst/>
                <a:latin typeface="Calibri" panose="020F0502020204030204" pitchFamily="34" charset="0"/>
                <a:ea typeface="Calibri" panose="020F0502020204030204" pitchFamily="34" charset="0"/>
                <a:cs typeface="Times New Roman" panose="02020603050405020304" pitchFamily="18" charset="0"/>
              </a:rPr>
              <a:t>, conçue comme le paradigme de la vraie connaissance ; </a:t>
            </a:r>
            <a:r>
              <a:rPr lang="fr-CI" sz="1900" b="1" dirty="0">
                <a:effectLst/>
                <a:latin typeface="Calibri" panose="020F0502020204030204" pitchFamily="34" charset="0"/>
                <a:ea typeface="Calibri" panose="020F0502020204030204" pitchFamily="34" charset="0"/>
                <a:cs typeface="Times New Roman" panose="02020603050405020304" pitchFamily="18" charset="0"/>
              </a:rPr>
              <a:t>les sciences humaines</a:t>
            </a:r>
            <a:r>
              <a:rPr lang="fr-CI" sz="1900" dirty="0">
                <a:effectLst/>
                <a:latin typeface="Calibri" panose="020F0502020204030204" pitchFamily="34" charset="0"/>
                <a:ea typeface="Calibri" panose="020F0502020204030204" pitchFamily="34" charset="0"/>
                <a:cs typeface="Times New Roman" panose="02020603050405020304" pitchFamily="18" charset="0"/>
              </a:rPr>
              <a:t> ont essayé de se développer en s’approchant le plus possible de ce paradigme, ces deux tendances entraînent des conséquences pour la réflexion philosophique sur la science.</a:t>
            </a:r>
            <a:endParaRPr lang="fr-FR" sz="1900" dirty="0">
              <a:effectLst/>
              <a:latin typeface="Calibri" panose="020F0502020204030204" pitchFamily="34" charset="0"/>
              <a:ea typeface="Calibri" panose="020F0502020204030204" pitchFamily="34" charset="0"/>
              <a:cs typeface="Times New Roman" panose="02020603050405020304" pitchFamily="18" charset="0"/>
            </a:endParaRPr>
          </a:p>
          <a:p>
            <a:endParaRPr lang="fr-FR" sz="1900" dirty="0"/>
          </a:p>
        </p:txBody>
      </p:sp>
    </p:spTree>
    <p:extLst>
      <p:ext uri="{BB962C8B-B14F-4D97-AF65-F5344CB8AC3E}">
        <p14:creationId xmlns:p14="http://schemas.microsoft.com/office/powerpoint/2010/main" val="1404721681"/>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p:tgtEl>
                                          <p:spTgt spid="3">
                                            <p:txEl>
                                              <p:pRg st="0" end="0"/>
                                            </p:txEl>
                                          </p:spTgt>
                                        </p:tgtEl>
                                        <p:attrNameLst>
                                          <p:attrName>ppt_x</p:attrName>
                                        </p:attrNameLst>
                                      </p:cBhvr>
                                      <p:tavLst>
                                        <p:tav tm="0">
                                          <p:val>
                                            <p:strVal val="#ppt_x-#ppt_w*1.125000"/>
                                          </p:val>
                                        </p:tav>
                                        <p:tav tm="100000">
                                          <p:val>
                                            <p:strVal val="#ppt_x"/>
                                          </p:val>
                                        </p:tav>
                                      </p:tavLst>
                                    </p:anim>
                                    <p:animEffect transition="in" filter="wipe(right)">
                                      <p:cBhvr>
                                        <p:cTn id="8" dur="500"/>
                                        <p:tgtEl>
                                          <p:spTgt spid="3">
                                            <p:txEl>
                                              <p:pRg st="0" end="0"/>
                                            </p:txEl>
                                          </p:spTgt>
                                        </p:tgtEl>
                                      </p:cBhvr>
                                    </p:animEffect>
                                  </p:childTnLst>
                                </p:cTn>
                              </p:par>
                              <p:par>
                                <p:cTn id="9" presetID="12" presetClass="entr" presetSubtype="2"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p:tgtEl>
                                          <p:spTgt spid="3">
                                            <p:txEl>
                                              <p:pRg st="1" end="1"/>
                                            </p:txEl>
                                          </p:spTgt>
                                        </p:tgtEl>
                                        <p:attrNameLst>
                                          <p:attrName>ppt_x</p:attrName>
                                        </p:attrNameLst>
                                      </p:cBhvr>
                                      <p:tavLst>
                                        <p:tav tm="0">
                                          <p:val>
                                            <p:strVal val="#ppt_x+#ppt_w*1.125000"/>
                                          </p:val>
                                        </p:tav>
                                        <p:tav tm="100000">
                                          <p:val>
                                            <p:strVal val="#ppt_x"/>
                                          </p:val>
                                        </p:tav>
                                      </p:tavLst>
                                    </p:anim>
                                    <p:animEffect transition="in" filter="wipe(left)">
                                      <p:cBhvr>
                                        <p:cTn id="12" dur="500"/>
                                        <p:tgtEl>
                                          <p:spTgt spid="3">
                                            <p:txEl>
                                              <p:pRg st="1" end="1"/>
                                            </p:txEl>
                                          </p:spTgt>
                                        </p:tgtEl>
                                      </p:cBhvr>
                                    </p:animEffect>
                                  </p:childTnLst>
                                </p:cTn>
                              </p:par>
                              <p:par>
                                <p:cTn id="13" presetID="12" presetClass="entr" presetSubtype="8"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p:tgtEl>
                                          <p:spTgt spid="3">
                                            <p:txEl>
                                              <p:pRg st="2" end="2"/>
                                            </p:txEl>
                                          </p:spTgt>
                                        </p:tgtEl>
                                        <p:attrNameLst>
                                          <p:attrName>ppt_x</p:attrName>
                                        </p:attrNameLst>
                                      </p:cBhvr>
                                      <p:tavLst>
                                        <p:tav tm="0">
                                          <p:val>
                                            <p:strVal val="#ppt_x-#ppt_w*1.125000"/>
                                          </p:val>
                                        </p:tav>
                                        <p:tav tm="100000">
                                          <p:val>
                                            <p:strVal val="#ppt_x"/>
                                          </p:val>
                                        </p:tav>
                                      </p:tavLst>
                                    </p:anim>
                                    <p:animEffect transition="in" filter="wipe(right)">
                                      <p:cBhvr>
                                        <p:cTn id="16"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E76651B7-2957-4D7C-ABEF-142980284632}"/>
              </a:ext>
            </a:extLst>
          </p:cNvPr>
          <p:cNvSpPr txBox="1">
            <a:spLocks/>
          </p:cNvSpPr>
          <p:nvPr/>
        </p:nvSpPr>
        <p:spPr>
          <a:xfrm>
            <a:off x="1001483" y="74641"/>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35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n-ea"/>
                <a:cs typeface="+mn-cs"/>
              </a:rPr>
              <a:t>– Introduction</a:t>
            </a:r>
            <a:br>
              <a:rPr kumimoji="0" lang="fr-FR" sz="35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n-ea"/>
                <a:cs typeface="+mn-cs"/>
              </a:rPr>
            </a:br>
            <a:r>
              <a:rPr kumimoji="0" lang="fr-FR" sz="35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n-ea"/>
                <a:cs typeface="+mn-cs"/>
              </a:rPr>
              <a:t>(2/2)</a:t>
            </a:r>
          </a:p>
        </p:txBody>
      </p:sp>
      <p:sp>
        <p:nvSpPr>
          <p:cNvPr id="3" name="Espace réservé du contenu 2">
            <a:extLst>
              <a:ext uri="{FF2B5EF4-FFF2-40B4-BE49-F238E27FC236}">
                <a16:creationId xmlns:a16="http://schemas.microsoft.com/office/drawing/2014/main" id="{4323CC87-2AA8-487F-8117-C98604112F3C}"/>
              </a:ext>
            </a:extLst>
          </p:cNvPr>
          <p:cNvSpPr>
            <a:spLocks noGrp="1"/>
          </p:cNvSpPr>
          <p:nvPr>
            <p:ph idx="1"/>
          </p:nvPr>
        </p:nvSpPr>
        <p:spPr>
          <a:xfrm>
            <a:off x="615819" y="1838131"/>
            <a:ext cx="10916817" cy="2155372"/>
          </a:xfrm>
        </p:spPr>
        <p:txBody>
          <a:bodyPr>
            <a:normAutofit/>
          </a:bodyPr>
          <a:lstStyle/>
          <a:p>
            <a:pPr algn="just">
              <a:lnSpc>
                <a:spcPct val="107000"/>
              </a:lnSpc>
              <a:spcAft>
                <a:spcPts val="800"/>
              </a:spcAft>
            </a:pPr>
            <a:r>
              <a:rPr lang="fr-CI" sz="1800" dirty="0">
                <a:effectLst/>
                <a:latin typeface="Calibri" panose="020F0502020204030204" pitchFamily="34" charset="0"/>
                <a:ea typeface="Calibri" panose="020F0502020204030204" pitchFamily="34" charset="0"/>
                <a:cs typeface="Times New Roman" panose="02020603050405020304" pitchFamily="18" charset="0"/>
              </a:rPr>
              <a:t>Cette réflexion est naturellement conditionnée par l’état de développement de la science à chaque époque, et par des idées philosophiques qui ont essayé d’interpréter la science en utilisant des </a:t>
            </a:r>
            <a:r>
              <a:rPr lang="fr-CI" sz="18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catégories conçues en fonction d’intérêts étrangers à la science</a:t>
            </a:r>
            <a:r>
              <a:rPr lang="fr-CI" sz="1800" dirty="0">
                <a:effectLst/>
                <a:latin typeface="Calibri" panose="020F0502020204030204" pitchFamily="34" charset="0"/>
                <a:ea typeface="Calibri" panose="020F0502020204030204" pitchFamily="34" charset="0"/>
                <a:cs typeface="Times New Roman" panose="02020603050405020304" pitchFamily="18" charset="0"/>
              </a:rPr>
              <a:t>. Par ailleurs, jusqu’au XXème siècle, la philosophie de la science a été cultivée de façon plutôt sporadique ; c’est seulement à partir des années 1920 qu’elle a été l’objet d’une attention soutenue. Dans ces conditions, il est logique que les auteurs qui ont le plus d’intérêt dans ce domaine appartiennent tous du XXème siècle.</a:t>
            </a: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fr-FR" sz="1900" dirty="0"/>
          </a:p>
        </p:txBody>
      </p:sp>
    </p:spTree>
    <p:extLst>
      <p:ext uri="{BB962C8B-B14F-4D97-AF65-F5344CB8AC3E}">
        <p14:creationId xmlns:p14="http://schemas.microsoft.com/office/powerpoint/2010/main" val="62945917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outVertical)">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E76651B7-2957-4D7C-ABEF-142980284632}"/>
              </a:ext>
            </a:extLst>
          </p:cNvPr>
          <p:cNvSpPr txBox="1">
            <a:spLocks/>
          </p:cNvSpPr>
          <p:nvPr/>
        </p:nvSpPr>
        <p:spPr>
          <a:xfrm>
            <a:off x="1001483" y="74641"/>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3500" dirty="0">
                <a:solidFill>
                  <a:prstClr val="black">
                    <a:lumMod val="85000"/>
                    <a:lumOff val="15000"/>
                  </a:prstClr>
                </a:solidFill>
                <a:latin typeface="Century Gothic" panose="020B0502020202020204"/>
              </a:rPr>
              <a:t>I</a:t>
            </a:r>
            <a:r>
              <a:rPr kumimoji="0" lang="fr-FR" sz="35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n-ea"/>
                <a:cs typeface="+mn-cs"/>
              </a:rPr>
              <a:t> – Différentes attitudes philosophiques face à la science</a:t>
            </a:r>
          </a:p>
        </p:txBody>
      </p:sp>
      <p:sp>
        <p:nvSpPr>
          <p:cNvPr id="3" name="Espace réservé du contenu 2">
            <a:extLst>
              <a:ext uri="{FF2B5EF4-FFF2-40B4-BE49-F238E27FC236}">
                <a16:creationId xmlns:a16="http://schemas.microsoft.com/office/drawing/2014/main" id="{4323CC87-2AA8-487F-8117-C98604112F3C}"/>
              </a:ext>
            </a:extLst>
          </p:cNvPr>
          <p:cNvSpPr>
            <a:spLocks noGrp="1"/>
          </p:cNvSpPr>
          <p:nvPr>
            <p:ph idx="1"/>
          </p:nvPr>
        </p:nvSpPr>
        <p:spPr>
          <a:xfrm>
            <a:off x="615819" y="1838131"/>
            <a:ext cx="10916817" cy="1240971"/>
          </a:xfrm>
        </p:spPr>
        <p:txBody>
          <a:bodyPr>
            <a:normAutofit/>
          </a:bodyPr>
          <a:lstStyle/>
          <a:p>
            <a:pPr algn="just">
              <a:lnSpc>
                <a:spcPct val="107000"/>
              </a:lnSpc>
              <a:spcAft>
                <a:spcPts val="800"/>
              </a:spcAft>
            </a:pPr>
            <a:r>
              <a:rPr lang="fr-CI" sz="1800" dirty="0">
                <a:effectLst/>
                <a:latin typeface="Calibri" panose="020F0502020204030204" pitchFamily="34" charset="0"/>
                <a:ea typeface="Calibri" panose="020F0502020204030204" pitchFamily="34" charset="0"/>
                <a:cs typeface="Times New Roman" panose="02020603050405020304" pitchFamily="18" charset="0"/>
              </a:rPr>
              <a:t>Les idées d’Aristote sur la science ont joui d’une place prépondérante jusqu’au XVIIème siècle. Aux XVIIème et XVIIIème siècles les idées dominantes étaient le rationalisme et l’empirisme. Le positivisme a eu une grande influence au XIXème siècle.</a:t>
            </a: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fr-FR" sz="1900" dirty="0"/>
          </a:p>
        </p:txBody>
      </p:sp>
      <p:graphicFrame>
        <p:nvGraphicFramePr>
          <p:cNvPr id="4" name="Espace réservé du contenu 3">
            <a:extLst>
              <a:ext uri="{FF2B5EF4-FFF2-40B4-BE49-F238E27FC236}">
                <a16:creationId xmlns:a16="http://schemas.microsoft.com/office/drawing/2014/main" id="{C40C2585-543A-42DC-A5C2-B9CFD9159FCB}"/>
              </a:ext>
            </a:extLst>
          </p:cNvPr>
          <p:cNvGraphicFramePr>
            <a:graphicFrameLocks/>
          </p:cNvGraphicFramePr>
          <p:nvPr>
            <p:extLst>
              <p:ext uri="{D42A27DB-BD31-4B8C-83A1-F6EECF244321}">
                <p14:modId xmlns:p14="http://schemas.microsoft.com/office/powerpoint/2010/main" val="2516622318"/>
              </p:ext>
            </p:extLst>
          </p:nvPr>
        </p:nvGraphicFramePr>
        <p:xfrm>
          <a:off x="1066800" y="3163078"/>
          <a:ext cx="9262188" cy="28725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25547273"/>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par>
                          <p:cTn id="10" fill="hold">
                            <p:stCondLst>
                              <p:cond delay="500"/>
                            </p:stCondLst>
                            <p:childTnLst>
                              <p:par>
                                <p:cTn id="11" presetID="12" presetClass="entr" presetSubtype="4" fill="hold" grpId="0" nodeType="afterEffect">
                                  <p:stCondLst>
                                    <p:cond delay="0"/>
                                  </p:stCondLst>
                                  <p:childTnLst>
                                    <p:set>
                                      <p:cBhvr>
                                        <p:cTn id="12" dur="1" fill="hold">
                                          <p:stCondLst>
                                            <p:cond delay="0"/>
                                          </p:stCondLst>
                                        </p:cTn>
                                        <p:tgtEl>
                                          <p:spTgt spid="4">
                                            <p:graphicEl>
                                              <a:dgm id="{0E451ABD-0CE1-4E21-B3FA-A888E78C9F6C}"/>
                                            </p:graphicEl>
                                          </p:spTgt>
                                        </p:tgtEl>
                                        <p:attrNameLst>
                                          <p:attrName>style.visibility</p:attrName>
                                        </p:attrNameLst>
                                      </p:cBhvr>
                                      <p:to>
                                        <p:strVal val="visible"/>
                                      </p:to>
                                    </p:set>
                                    <p:anim calcmode="lin" valueType="num">
                                      <p:cBhvr additive="base">
                                        <p:cTn id="13" dur="500"/>
                                        <p:tgtEl>
                                          <p:spTgt spid="4">
                                            <p:graphicEl>
                                              <a:dgm id="{0E451ABD-0CE1-4E21-B3FA-A888E78C9F6C}"/>
                                            </p:graphicEl>
                                          </p:spTgt>
                                        </p:tgtEl>
                                        <p:attrNameLst>
                                          <p:attrName>ppt_y</p:attrName>
                                        </p:attrNameLst>
                                      </p:cBhvr>
                                      <p:tavLst>
                                        <p:tav tm="0">
                                          <p:val>
                                            <p:strVal val="#ppt_y+#ppt_h*1.125000"/>
                                          </p:val>
                                        </p:tav>
                                        <p:tav tm="100000">
                                          <p:val>
                                            <p:strVal val="#ppt_y"/>
                                          </p:val>
                                        </p:tav>
                                      </p:tavLst>
                                    </p:anim>
                                    <p:animEffect transition="in" filter="wipe(up)">
                                      <p:cBhvr>
                                        <p:cTn id="14" dur="500"/>
                                        <p:tgtEl>
                                          <p:spTgt spid="4">
                                            <p:graphicEl>
                                              <a:dgm id="{0E451ABD-0CE1-4E21-B3FA-A888E78C9F6C}"/>
                                            </p:graphicEl>
                                          </p:spTgt>
                                        </p:tgtEl>
                                      </p:cBhvr>
                                    </p:animEffect>
                                  </p:childTnLst>
                                </p:cTn>
                              </p:par>
                              <p:par>
                                <p:cTn id="15" presetID="12" presetClass="entr" presetSubtype="4" fill="hold" grpId="0" nodeType="withEffect">
                                  <p:stCondLst>
                                    <p:cond delay="0"/>
                                  </p:stCondLst>
                                  <p:childTnLst>
                                    <p:set>
                                      <p:cBhvr>
                                        <p:cTn id="16" dur="1" fill="hold">
                                          <p:stCondLst>
                                            <p:cond delay="0"/>
                                          </p:stCondLst>
                                        </p:cTn>
                                        <p:tgtEl>
                                          <p:spTgt spid="4">
                                            <p:graphicEl>
                                              <a:dgm id="{1B1ED14C-28A9-41D5-9F41-7CFCA6DB0D4C}"/>
                                            </p:graphicEl>
                                          </p:spTgt>
                                        </p:tgtEl>
                                        <p:attrNameLst>
                                          <p:attrName>style.visibility</p:attrName>
                                        </p:attrNameLst>
                                      </p:cBhvr>
                                      <p:to>
                                        <p:strVal val="visible"/>
                                      </p:to>
                                    </p:set>
                                    <p:anim calcmode="lin" valueType="num">
                                      <p:cBhvr additive="base">
                                        <p:cTn id="17" dur="500"/>
                                        <p:tgtEl>
                                          <p:spTgt spid="4">
                                            <p:graphicEl>
                                              <a:dgm id="{1B1ED14C-28A9-41D5-9F41-7CFCA6DB0D4C}"/>
                                            </p:graphicEl>
                                          </p:spTgt>
                                        </p:tgtEl>
                                        <p:attrNameLst>
                                          <p:attrName>ppt_y</p:attrName>
                                        </p:attrNameLst>
                                      </p:cBhvr>
                                      <p:tavLst>
                                        <p:tav tm="0">
                                          <p:val>
                                            <p:strVal val="#ppt_y+#ppt_h*1.125000"/>
                                          </p:val>
                                        </p:tav>
                                        <p:tav tm="100000">
                                          <p:val>
                                            <p:strVal val="#ppt_y"/>
                                          </p:val>
                                        </p:tav>
                                      </p:tavLst>
                                    </p:anim>
                                    <p:animEffect transition="in" filter="wipe(up)">
                                      <p:cBhvr>
                                        <p:cTn id="18" dur="500"/>
                                        <p:tgtEl>
                                          <p:spTgt spid="4">
                                            <p:graphicEl>
                                              <a:dgm id="{1B1ED14C-28A9-41D5-9F41-7CFCA6DB0D4C}"/>
                                            </p:graphicEl>
                                          </p:spTgt>
                                        </p:tgtEl>
                                      </p:cBhvr>
                                    </p:animEffect>
                                  </p:childTnLst>
                                </p:cTn>
                              </p:par>
                            </p:childTnLst>
                          </p:cTn>
                        </p:par>
                        <p:par>
                          <p:cTn id="19" fill="hold">
                            <p:stCondLst>
                              <p:cond delay="1000"/>
                            </p:stCondLst>
                            <p:childTnLst>
                              <p:par>
                                <p:cTn id="20" presetID="12" presetClass="entr" presetSubtype="4" fill="hold" grpId="0" nodeType="afterEffect">
                                  <p:stCondLst>
                                    <p:cond delay="0"/>
                                  </p:stCondLst>
                                  <p:childTnLst>
                                    <p:set>
                                      <p:cBhvr>
                                        <p:cTn id="21" dur="1" fill="hold">
                                          <p:stCondLst>
                                            <p:cond delay="0"/>
                                          </p:stCondLst>
                                        </p:cTn>
                                        <p:tgtEl>
                                          <p:spTgt spid="4">
                                            <p:graphicEl>
                                              <a:dgm id="{FD0C5DCA-9997-42A1-99AB-7BA725618326}"/>
                                            </p:graphicEl>
                                          </p:spTgt>
                                        </p:tgtEl>
                                        <p:attrNameLst>
                                          <p:attrName>style.visibility</p:attrName>
                                        </p:attrNameLst>
                                      </p:cBhvr>
                                      <p:to>
                                        <p:strVal val="visible"/>
                                      </p:to>
                                    </p:set>
                                    <p:anim calcmode="lin" valueType="num">
                                      <p:cBhvr additive="base">
                                        <p:cTn id="22" dur="500"/>
                                        <p:tgtEl>
                                          <p:spTgt spid="4">
                                            <p:graphicEl>
                                              <a:dgm id="{FD0C5DCA-9997-42A1-99AB-7BA725618326}"/>
                                            </p:graphicEl>
                                          </p:spTgt>
                                        </p:tgtEl>
                                        <p:attrNameLst>
                                          <p:attrName>ppt_y</p:attrName>
                                        </p:attrNameLst>
                                      </p:cBhvr>
                                      <p:tavLst>
                                        <p:tav tm="0">
                                          <p:val>
                                            <p:strVal val="#ppt_y+#ppt_h*1.125000"/>
                                          </p:val>
                                        </p:tav>
                                        <p:tav tm="100000">
                                          <p:val>
                                            <p:strVal val="#ppt_y"/>
                                          </p:val>
                                        </p:tav>
                                      </p:tavLst>
                                    </p:anim>
                                    <p:animEffect transition="in" filter="wipe(up)">
                                      <p:cBhvr>
                                        <p:cTn id="23" dur="500"/>
                                        <p:tgtEl>
                                          <p:spTgt spid="4">
                                            <p:graphicEl>
                                              <a:dgm id="{FD0C5DCA-9997-42A1-99AB-7BA725618326}"/>
                                            </p:graphicEl>
                                          </p:spTgt>
                                        </p:tgtEl>
                                      </p:cBhvr>
                                    </p:animEffect>
                                  </p:childTnLst>
                                </p:cTn>
                              </p:par>
                              <p:par>
                                <p:cTn id="24" presetID="12" presetClass="entr" presetSubtype="4" fill="hold" grpId="0" nodeType="withEffect">
                                  <p:stCondLst>
                                    <p:cond delay="0"/>
                                  </p:stCondLst>
                                  <p:childTnLst>
                                    <p:set>
                                      <p:cBhvr>
                                        <p:cTn id="25" dur="1" fill="hold">
                                          <p:stCondLst>
                                            <p:cond delay="0"/>
                                          </p:stCondLst>
                                        </p:cTn>
                                        <p:tgtEl>
                                          <p:spTgt spid="4">
                                            <p:graphicEl>
                                              <a:dgm id="{2463DCF4-86AE-4D92-9144-98000F70D049}"/>
                                            </p:graphicEl>
                                          </p:spTgt>
                                        </p:tgtEl>
                                        <p:attrNameLst>
                                          <p:attrName>style.visibility</p:attrName>
                                        </p:attrNameLst>
                                      </p:cBhvr>
                                      <p:to>
                                        <p:strVal val="visible"/>
                                      </p:to>
                                    </p:set>
                                    <p:anim calcmode="lin" valueType="num">
                                      <p:cBhvr additive="base">
                                        <p:cTn id="26" dur="500"/>
                                        <p:tgtEl>
                                          <p:spTgt spid="4">
                                            <p:graphicEl>
                                              <a:dgm id="{2463DCF4-86AE-4D92-9144-98000F70D049}"/>
                                            </p:graphicEl>
                                          </p:spTgt>
                                        </p:tgtEl>
                                        <p:attrNameLst>
                                          <p:attrName>ppt_y</p:attrName>
                                        </p:attrNameLst>
                                      </p:cBhvr>
                                      <p:tavLst>
                                        <p:tav tm="0">
                                          <p:val>
                                            <p:strVal val="#ppt_y+#ppt_h*1.125000"/>
                                          </p:val>
                                        </p:tav>
                                        <p:tav tm="100000">
                                          <p:val>
                                            <p:strVal val="#ppt_y"/>
                                          </p:val>
                                        </p:tav>
                                      </p:tavLst>
                                    </p:anim>
                                    <p:animEffect transition="in" filter="wipe(up)">
                                      <p:cBhvr>
                                        <p:cTn id="27" dur="500"/>
                                        <p:tgtEl>
                                          <p:spTgt spid="4">
                                            <p:graphicEl>
                                              <a:dgm id="{2463DCF4-86AE-4D92-9144-98000F70D049}"/>
                                            </p:graphicEl>
                                          </p:spTgt>
                                        </p:tgtEl>
                                      </p:cBhvr>
                                    </p:animEffect>
                                  </p:childTnLst>
                                </p:cTn>
                              </p:par>
                            </p:childTnLst>
                          </p:cTn>
                        </p:par>
                        <p:par>
                          <p:cTn id="28" fill="hold">
                            <p:stCondLst>
                              <p:cond delay="1500"/>
                            </p:stCondLst>
                            <p:childTnLst>
                              <p:par>
                                <p:cTn id="29" presetID="12" presetClass="entr" presetSubtype="4" fill="hold" grpId="0" nodeType="afterEffect">
                                  <p:stCondLst>
                                    <p:cond delay="0"/>
                                  </p:stCondLst>
                                  <p:childTnLst>
                                    <p:set>
                                      <p:cBhvr>
                                        <p:cTn id="30" dur="1" fill="hold">
                                          <p:stCondLst>
                                            <p:cond delay="0"/>
                                          </p:stCondLst>
                                        </p:cTn>
                                        <p:tgtEl>
                                          <p:spTgt spid="4">
                                            <p:graphicEl>
                                              <a:dgm id="{866417AB-0477-4BF3-8070-E44C66C79577}"/>
                                            </p:graphicEl>
                                          </p:spTgt>
                                        </p:tgtEl>
                                        <p:attrNameLst>
                                          <p:attrName>style.visibility</p:attrName>
                                        </p:attrNameLst>
                                      </p:cBhvr>
                                      <p:to>
                                        <p:strVal val="visible"/>
                                      </p:to>
                                    </p:set>
                                    <p:anim calcmode="lin" valueType="num">
                                      <p:cBhvr additive="base">
                                        <p:cTn id="31" dur="500"/>
                                        <p:tgtEl>
                                          <p:spTgt spid="4">
                                            <p:graphicEl>
                                              <a:dgm id="{866417AB-0477-4BF3-8070-E44C66C79577}"/>
                                            </p:graphicEl>
                                          </p:spTgt>
                                        </p:tgtEl>
                                        <p:attrNameLst>
                                          <p:attrName>ppt_y</p:attrName>
                                        </p:attrNameLst>
                                      </p:cBhvr>
                                      <p:tavLst>
                                        <p:tav tm="0">
                                          <p:val>
                                            <p:strVal val="#ppt_y+#ppt_h*1.125000"/>
                                          </p:val>
                                        </p:tav>
                                        <p:tav tm="100000">
                                          <p:val>
                                            <p:strVal val="#ppt_y"/>
                                          </p:val>
                                        </p:tav>
                                      </p:tavLst>
                                    </p:anim>
                                    <p:animEffect transition="in" filter="wipe(up)">
                                      <p:cBhvr>
                                        <p:cTn id="32" dur="500"/>
                                        <p:tgtEl>
                                          <p:spTgt spid="4">
                                            <p:graphicEl>
                                              <a:dgm id="{866417AB-0477-4BF3-8070-E44C66C79577}"/>
                                            </p:graphicEl>
                                          </p:spTgt>
                                        </p:tgtEl>
                                      </p:cBhvr>
                                    </p:animEffect>
                                  </p:childTnLst>
                                </p:cTn>
                              </p:par>
                              <p:par>
                                <p:cTn id="33" presetID="12" presetClass="entr" presetSubtype="4" fill="hold" grpId="0" nodeType="withEffect">
                                  <p:stCondLst>
                                    <p:cond delay="0"/>
                                  </p:stCondLst>
                                  <p:childTnLst>
                                    <p:set>
                                      <p:cBhvr>
                                        <p:cTn id="34" dur="1" fill="hold">
                                          <p:stCondLst>
                                            <p:cond delay="0"/>
                                          </p:stCondLst>
                                        </p:cTn>
                                        <p:tgtEl>
                                          <p:spTgt spid="4">
                                            <p:graphicEl>
                                              <a:dgm id="{DB34CDC7-8507-47D1-8ED9-80E4B907A06E}"/>
                                            </p:graphicEl>
                                          </p:spTgt>
                                        </p:tgtEl>
                                        <p:attrNameLst>
                                          <p:attrName>style.visibility</p:attrName>
                                        </p:attrNameLst>
                                      </p:cBhvr>
                                      <p:to>
                                        <p:strVal val="visible"/>
                                      </p:to>
                                    </p:set>
                                    <p:anim calcmode="lin" valueType="num">
                                      <p:cBhvr additive="base">
                                        <p:cTn id="35" dur="500"/>
                                        <p:tgtEl>
                                          <p:spTgt spid="4">
                                            <p:graphicEl>
                                              <a:dgm id="{DB34CDC7-8507-47D1-8ED9-80E4B907A06E}"/>
                                            </p:graphicEl>
                                          </p:spTgt>
                                        </p:tgtEl>
                                        <p:attrNameLst>
                                          <p:attrName>ppt_y</p:attrName>
                                        </p:attrNameLst>
                                      </p:cBhvr>
                                      <p:tavLst>
                                        <p:tav tm="0">
                                          <p:val>
                                            <p:strVal val="#ppt_y+#ppt_h*1.125000"/>
                                          </p:val>
                                        </p:tav>
                                        <p:tav tm="100000">
                                          <p:val>
                                            <p:strVal val="#ppt_y"/>
                                          </p:val>
                                        </p:tav>
                                      </p:tavLst>
                                    </p:anim>
                                    <p:animEffect transition="in" filter="wipe(up)">
                                      <p:cBhvr>
                                        <p:cTn id="36" dur="500"/>
                                        <p:tgtEl>
                                          <p:spTgt spid="4">
                                            <p:graphicEl>
                                              <a:dgm id="{DB34CDC7-8507-47D1-8ED9-80E4B907A06E}"/>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Graphic spid="4" grpId="0" uiExpand="1">
        <p:bldSub>
          <a:bldDgm/>
        </p:bldSub>
      </p:bldGraphic>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E76651B7-2957-4D7C-ABEF-142980284632}"/>
              </a:ext>
            </a:extLst>
          </p:cNvPr>
          <p:cNvSpPr txBox="1">
            <a:spLocks/>
          </p:cNvSpPr>
          <p:nvPr/>
        </p:nvSpPr>
        <p:spPr>
          <a:xfrm>
            <a:off x="1001483" y="74641"/>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3500" dirty="0">
                <a:solidFill>
                  <a:prstClr val="black">
                    <a:lumMod val="85000"/>
                    <a:lumOff val="15000"/>
                  </a:prstClr>
                </a:solidFill>
                <a:latin typeface="Century Gothic" panose="020B0502020202020204"/>
              </a:rPr>
              <a:t>1- La métaphysique et les sciences particulières chez Aristote (1/2)</a:t>
            </a:r>
          </a:p>
        </p:txBody>
      </p:sp>
      <p:sp>
        <p:nvSpPr>
          <p:cNvPr id="3" name="Espace réservé du contenu 2">
            <a:extLst>
              <a:ext uri="{FF2B5EF4-FFF2-40B4-BE49-F238E27FC236}">
                <a16:creationId xmlns:a16="http://schemas.microsoft.com/office/drawing/2014/main" id="{4323CC87-2AA8-487F-8117-C98604112F3C}"/>
              </a:ext>
            </a:extLst>
          </p:cNvPr>
          <p:cNvSpPr>
            <a:spLocks noGrp="1"/>
          </p:cNvSpPr>
          <p:nvPr>
            <p:ph idx="1"/>
          </p:nvPr>
        </p:nvSpPr>
        <p:spPr>
          <a:xfrm>
            <a:off x="279918" y="1315607"/>
            <a:ext cx="11597951" cy="4982551"/>
          </a:xfrm>
        </p:spPr>
        <p:txBody>
          <a:bodyPr>
            <a:noAutofit/>
          </a:bodyPr>
          <a:lstStyle/>
          <a:p>
            <a:pPr algn="just">
              <a:lnSpc>
                <a:spcPct val="107000"/>
              </a:lnSpc>
              <a:spcAft>
                <a:spcPts val="800"/>
              </a:spcAft>
            </a:pPr>
            <a:r>
              <a:rPr lang="fr-FR" sz="1900" dirty="0">
                <a:effectLst/>
                <a:latin typeface="Calibri" panose="020F0502020204030204" pitchFamily="34" charset="0"/>
                <a:ea typeface="Calibri" panose="020F0502020204030204" pitchFamily="34" charset="0"/>
                <a:cs typeface="Times New Roman" panose="02020603050405020304" pitchFamily="18" charset="0"/>
              </a:rPr>
              <a:t>D’après Aristote (-384 à -322 </a:t>
            </a:r>
            <a:r>
              <a:rPr lang="fr-FR" sz="1900" dirty="0" err="1">
                <a:effectLst/>
                <a:latin typeface="Calibri" panose="020F0502020204030204" pitchFamily="34" charset="0"/>
                <a:ea typeface="Calibri" panose="020F0502020204030204" pitchFamily="34" charset="0"/>
                <a:cs typeface="Times New Roman" panose="02020603050405020304" pitchFamily="18" charset="0"/>
              </a:rPr>
              <a:t>avt</a:t>
            </a:r>
            <a:r>
              <a:rPr lang="fr-FR" sz="1900" dirty="0">
                <a:effectLst/>
                <a:latin typeface="Calibri" panose="020F0502020204030204" pitchFamily="34" charset="0"/>
                <a:ea typeface="Calibri" panose="020F0502020204030204" pitchFamily="34" charset="0"/>
                <a:cs typeface="Times New Roman" panose="02020603050405020304" pitchFamily="18" charset="0"/>
              </a:rPr>
              <a:t> JC) la science est une connaissance certaine par des causes. La science rigoureuse cherche des connaissances universelles et nécessaires, qui sont acquises lorsque l’on en connaît les causes. Causes matérielle, formelle, efficiente et finale.</a:t>
            </a:r>
          </a:p>
          <a:p>
            <a:pPr algn="just">
              <a:lnSpc>
                <a:spcPct val="107000"/>
              </a:lnSpc>
              <a:spcAft>
                <a:spcPts val="800"/>
              </a:spcAft>
            </a:pPr>
            <a:r>
              <a:rPr lang="fr-FR" sz="1900" dirty="0">
                <a:effectLst/>
                <a:latin typeface="Calibri" panose="020F0502020204030204" pitchFamily="34" charset="0"/>
                <a:ea typeface="Calibri" panose="020F0502020204030204" pitchFamily="34" charset="0"/>
                <a:cs typeface="Times New Roman" panose="02020603050405020304" pitchFamily="18" charset="0"/>
              </a:rPr>
              <a:t>Lorsque l’on étudie des types concrets d’êtres, on est dans le domaine des sciences particulières, qui se différencient les unes des autres par leur objet matériel et le point de vue adopté (objet formel). La science qui s’occupe de l’être lui-même, de ce que tous les êtres particuliers ont en commun, est la métaphysique.</a:t>
            </a:r>
          </a:p>
          <a:p>
            <a:pPr algn="just">
              <a:lnSpc>
                <a:spcPct val="107000"/>
              </a:lnSpc>
              <a:spcAft>
                <a:spcPts val="800"/>
              </a:spcAft>
            </a:pPr>
            <a:r>
              <a:rPr lang="fr-FR" sz="1900" dirty="0">
                <a:effectLst/>
                <a:latin typeface="Calibri" panose="020F0502020204030204" pitchFamily="34" charset="0"/>
                <a:ea typeface="Calibri" panose="020F0502020204030204" pitchFamily="34" charset="0"/>
                <a:cs typeface="Times New Roman" panose="02020603050405020304" pitchFamily="18" charset="0"/>
              </a:rPr>
              <a:t>Dans l’optique d’Aristote la métaphysique est donc non pas seulement une science : </a:t>
            </a:r>
            <a:r>
              <a:rPr lang="fr-FR" sz="1900" b="1" dirty="0">
                <a:effectLst/>
                <a:latin typeface="Calibri" panose="020F0502020204030204" pitchFamily="34" charset="0"/>
                <a:ea typeface="Calibri" panose="020F0502020204030204" pitchFamily="34" charset="0"/>
                <a:cs typeface="Times New Roman" panose="02020603050405020304" pitchFamily="18" charset="0"/>
              </a:rPr>
              <a:t>elle est la science la plus excellente. </a:t>
            </a:r>
            <a:r>
              <a:rPr lang="fr-FR" sz="1900" dirty="0">
                <a:effectLst/>
                <a:latin typeface="Calibri" panose="020F0502020204030204" pitchFamily="34" charset="0"/>
                <a:ea typeface="Calibri" panose="020F0502020204030204" pitchFamily="34" charset="0"/>
                <a:cs typeface="Times New Roman" panose="02020603050405020304" pitchFamily="18" charset="0"/>
              </a:rPr>
              <a:t>Le sommet de la métaphysique est la théologie naturelle : la démonstration de l’existence de Dieu comme Créateur et finalité absolue de tout ce qui existe, donc de l’homme. La métaphysique est aussi de la sagesse, qui étudie les principes qui sont communs à toutes les sciences particulières ; </a:t>
            </a:r>
            <a:r>
              <a:rPr lang="fr-FR" sz="19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elle a par conséquent une fonction prédominante dans la synthèse des savoirs</a:t>
            </a:r>
            <a:r>
              <a:rPr lang="fr-FR" sz="1900" dirty="0">
                <a:effectLst/>
                <a:latin typeface="Calibri" panose="020F0502020204030204" pitchFamily="34" charset="0"/>
                <a:ea typeface="Calibri" panose="020F0502020204030204" pitchFamily="34" charset="0"/>
                <a:cs typeface="Times New Roman" panose="02020603050405020304" pitchFamily="18" charset="0"/>
              </a:rPr>
              <a:t>.</a:t>
            </a:r>
          </a:p>
          <a:p>
            <a:pPr algn="just">
              <a:lnSpc>
                <a:spcPct val="107000"/>
              </a:lnSpc>
              <a:spcAft>
                <a:spcPts val="800"/>
              </a:spcAft>
            </a:pPr>
            <a:r>
              <a:rPr lang="fr-FR" sz="1900" dirty="0">
                <a:effectLst/>
                <a:latin typeface="Calibri" panose="020F0502020204030204" pitchFamily="34" charset="0"/>
                <a:ea typeface="Calibri" panose="020F0502020204030204" pitchFamily="34" charset="0"/>
                <a:cs typeface="Times New Roman" panose="02020603050405020304" pitchFamily="18" charset="0"/>
              </a:rPr>
              <a:t>Si donc la connaissance scientifique consiste bien en ce que nous avons posé, il est nécessaire aussi que la science démonstrative parte de </a:t>
            </a:r>
            <a:r>
              <a:rPr lang="fr-FR" sz="1900" b="1" dirty="0">
                <a:effectLst/>
                <a:latin typeface="Calibri" panose="020F0502020204030204" pitchFamily="34" charset="0"/>
                <a:ea typeface="Calibri" panose="020F0502020204030204" pitchFamily="34" charset="0"/>
                <a:cs typeface="Times New Roman" panose="02020603050405020304" pitchFamily="18" charset="0"/>
              </a:rPr>
              <a:t>prémisses qui soient vraies, premières, immédiates</a:t>
            </a:r>
            <a:r>
              <a:rPr lang="fr-FR" sz="1900" dirty="0">
                <a:effectLst/>
                <a:latin typeface="Calibri" panose="020F0502020204030204" pitchFamily="34" charset="0"/>
                <a:ea typeface="Calibri" panose="020F0502020204030204" pitchFamily="34" charset="0"/>
                <a:cs typeface="Times New Roman" panose="02020603050405020304" pitchFamily="18" charset="0"/>
              </a:rPr>
              <a:t>, plus connues que la conclusion, antérieures à elle, et dont elles sont les causes. C’est à ces conditions, en effet, que les principes de ce qui est démontré seront aussi appropriés à la conclusion. </a:t>
            </a:r>
          </a:p>
        </p:txBody>
      </p:sp>
    </p:spTree>
    <p:extLst>
      <p:ext uri="{BB962C8B-B14F-4D97-AF65-F5344CB8AC3E}">
        <p14:creationId xmlns:p14="http://schemas.microsoft.com/office/powerpoint/2010/main" val="3794552168"/>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8" dur="500" fill="hold"/>
                                        <p:tgtEl>
                                          <p:spTgt spid="3">
                                            <p:txEl>
                                              <p:pRg st="0" end="0"/>
                                            </p:txEl>
                                          </p:spTgt>
                                        </p:tgtEl>
                                        <p:attrNameLst>
                                          <p:attrName>ppt_y</p:attrName>
                                        </p:attrNameLst>
                                      </p:cBhvr>
                                      <p:tavLst>
                                        <p:tav tm="0">
                                          <p:val>
                                            <p:strVal val="#ppt_y-#ppt_h/2"/>
                                          </p:val>
                                        </p:tav>
                                        <p:tav tm="100000">
                                          <p:val>
                                            <p:strVal val="#ppt_y"/>
                                          </p:val>
                                        </p:tav>
                                      </p:tavLst>
                                    </p:anim>
                                    <p:anim calcmode="lin" valueType="num">
                                      <p:cBhvr>
                                        <p:cTn id="9" dur="500" fill="hold"/>
                                        <p:tgtEl>
                                          <p:spTgt spid="3">
                                            <p:txEl>
                                              <p:pRg st="0" end="0"/>
                                            </p:txEl>
                                          </p:spTgt>
                                        </p:tgtEl>
                                        <p:attrNameLst>
                                          <p:attrName>ppt_w</p:attrName>
                                        </p:attrNameLst>
                                      </p:cBhvr>
                                      <p:tavLst>
                                        <p:tav tm="0">
                                          <p:val>
                                            <p:strVal val="#ppt_w"/>
                                          </p:val>
                                        </p:tav>
                                        <p:tav tm="100000">
                                          <p:val>
                                            <p:strVal val="#ppt_w"/>
                                          </p:val>
                                        </p:tav>
                                      </p:tavLst>
                                    </p:anim>
                                    <p:anim calcmode="lin" valueType="num">
                                      <p:cBhvr>
                                        <p:cTn id="10" dur="500" fill="hold"/>
                                        <p:tgtEl>
                                          <p:spTgt spid="3">
                                            <p:txEl>
                                              <p:pRg st="0" end="0"/>
                                            </p:txEl>
                                          </p:spTgt>
                                        </p:tgtEl>
                                        <p:attrNameLst>
                                          <p:attrName>ppt_h</p:attrName>
                                        </p:attrNameLst>
                                      </p:cBhvr>
                                      <p:tavLst>
                                        <p:tav tm="0">
                                          <p:val>
                                            <p:fltVal val="0"/>
                                          </p:val>
                                        </p:tav>
                                        <p:tav tm="100000">
                                          <p:val>
                                            <p:strVal val="#ppt_h"/>
                                          </p:val>
                                        </p:tav>
                                      </p:tavLst>
                                    </p:anim>
                                  </p:childTnLst>
                                </p:cTn>
                              </p:par>
                            </p:childTnLst>
                          </p:cTn>
                        </p:par>
                        <p:par>
                          <p:cTn id="11" fill="hold">
                            <p:stCondLst>
                              <p:cond delay="500"/>
                            </p:stCondLst>
                            <p:childTnLst>
                              <p:par>
                                <p:cTn id="12" presetID="17" presetClass="entr" presetSubtype="1" fill="hold" grpId="0" nodeType="after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5" dur="500" fill="hold"/>
                                        <p:tgtEl>
                                          <p:spTgt spid="3">
                                            <p:txEl>
                                              <p:pRg st="1" end="1"/>
                                            </p:txEl>
                                          </p:spTgt>
                                        </p:tgtEl>
                                        <p:attrNameLst>
                                          <p:attrName>ppt_y</p:attrName>
                                        </p:attrNameLst>
                                      </p:cBhvr>
                                      <p:tavLst>
                                        <p:tav tm="0">
                                          <p:val>
                                            <p:strVal val="#ppt_y-#ppt_h/2"/>
                                          </p:val>
                                        </p:tav>
                                        <p:tav tm="100000">
                                          <p:val>
                                            <p:strVal val="#ppt_y"/>
                                          </p:val>
                                        </p:tav>
                                      </p:tavLst>
                                    </p:anim>
                                    <p:anim calcmode="lin" valueType="num">
                                      <p:cBhvr>
                                        <p:cTn id="16" dur="500" fill="hold"/>
                                        <p:tgtEl>
                                          <p:spTgt spid="3">
                                            <p:txEl>
                                              <p:pRg st="1" end="1"/>
                                            </p:txEl>
                                          </p:spTgt>
                                        </p:tgtEl>
                                        <p:attrNameLst>
                                          <p:attrName>ppt_w</p:attrName>
                                        </p:attrNameLst>
                                      </p:cBhvr>
                                      <p:tavLst>
                                        <p:tav tm="0">
                                          <p:val>
                                            <p:strVal val="#ppt_w"/>
                                          </p:val>
                                        </p:tav>
                                        <p:tav tm="100000">
                                          <p:val>
                                            <p:strVal val="#ppt_w"/>
                                          </p:val>
                                        </p:tav>
                                      </p:tavLst>
                                    </p:anim>
                                    <p:anim calcmode="lin" valueType="num">
                                      <p:cBhvr>
                                        <p:cTn id="17" dur="500" fill="hold"/>
                                        <p:tgtEl>
                                          <p:spTgt spid="3">
                                            <p:txEl>
                                              <p:pRg st="1" end="1"/>
                                            </p:txEl>
                                          </p:spTgt>
                                        </p:tgtEl>
                                        <p:attrNameLst>
                                          <p:attrName>ppt_h</p:attrName>
                                        </p:attrNameLst>
                                      </p:cBhvr>
                                      <p:tavLst>
                                        <p:tav tm="0">
                                          <p:val>
                                            <p:fltVal val="0"/>
                                          </p:val>
                                        </p:tav>
                                        <p:tav tm="100000">
                                          <p:val>
                                            <p:strVal val="#ppt_h"/>
                                          </p:val>
                                        </p:tav>
                                      </p:tavLst>
                                    </p:anim>
                                  </p:childTnLst>
                                </p:cTn>
                              </p:par>
                            </p:childTnLst>
                          </p:cTn>
                        </p:par>
                        <p:par>
                          <p:cTn id="18" fill="hold">
                            <p:stCondLst>
                              <p:cond delay="1000"/>
                            </p:stCondLst>
                            <p:childTnLst>
                              <p:par>
                                <p:cTn id="19" presetID="17" presetClass="entr" presetSubtype="1" fill="hold" grpId="0" nodeType="after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2" dur="500" fill="hold"/>
                                        <p:tgtEl>
                                          <p:spTgt spid="3">
                                            <p:txEl>
                                              <p:pRg st="2" end="2"/>
                                            </p:txEl>
                                          </p:spTgt>
                                        </p:tgtEl>
                                        <p:attrNameLst>
                                          <p:attrName>ppt_y</p:attrName>
                                        </p:attrNameLst>
                                      </p:cBhvr>
                                      <p:tavLst>
                                        <p:tav tm="0">
                                          <p:val>
                                            <p:strVal val="#ppt_y-#ppt_h/2"/>
                                          </p:val>
                                        </p:tav>
                                        <p:tav tm="100000">
                                          <p:val>
                                            <p:strVal val="#ppt_y"/>
                                          </p:val>
                                        </p:tav>
                                      </p:tavLst>
                                    </p:anim>
                                    <p:anim calcmode="lin" valueType="num">
                                      <p:cBhvr>
                                        <p:cTn id="23" dur="500" fill="hold"/>
                                        <p:tgtEl>
                                          <p:spTgt spid="3">
                                            <p:txEl>
                                              <p:pRg st="2" end="2"/>
                                            </p:txEl>
                                          </p:spTgt>
                                        </p:tgtEl>
                                        <p:attrNameLst>
                                          <p:attrName>ppt_w</p:attrName>
                                        </p:attrNameLst>
                                      </p:cBhvr>
                                      <p:tavLst>
                                        <p:tav tm="0">
                                          <p:val>
                                            <p:strVal val="#ppt_w"/>
                                          </p:val>
                                        </p:tav>
                                        <p:tav tm="100000">
                                          <p:val>
                                            <p:strVal val="#ppt_w"/>
                                          </p:val>
                                        </p:tav>
                                      </p:tavLst>
                                    </p:anim>
                                    <p:anim calcmode="lin" valueType="num">
                                      <p:cBhvr>
                                        <p:cTn id="24" dur="500" fill="hold"/>
                                        <p:tgtEl>
                                          <p:spTgt spid="3">
                                            <p:txEl>
                                              <p:pRg st="2" end="2"/>
                                            </p:txEl>
                                          </p:spTgt>
                                        </p:tgtEl>
                                        <p:attrNameLst>
                                          <p:attrName>ppt_h</p:attrName>
                                        </p:attrNameLst>
                                      </p:cBhvr>
                                      <p:tavLst>
                                        <p:tav tm="0">
                                          <p:val>
                                            <p:fltVal val="0"/>
                                          </p:val>
                                        </p:tav>
                                        <p:tav tm="100000">
                                          <p:val>
                                            <p:strVal val="#ppt_h"/>
                                          </p:val>
                                        </p:tav>
                                      </p:tavLst>
                                    </p:anim>
                                  </p:childTnLst>
                                </p:cTn>
                              </p:par>
                            </p:childTnLst>
                          </p:cTn>
                        </p:par>
                        <p:par>
                          <p:cTn id="25" fill="hold">
                            <p:stCondLst>
                              <p:cond delay="1500"/>
                            </p:stCondLst>
                            <p:childTnLst>
                              <p:par>
                                <p:cTn id="26" presetID="17" presetClass="entr" presetSubtype="1" fill="hold" grpId="0" nodeType="after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9" dur="500" fill="hold"/>
                                        <p:tgtEl>
                                          <p:spTgt spid="3">
                                            <p:txEl>
                                              <p:pRg st="3" end="3"/>
                                            </p:txEl>
                                          </p:spTgt>
                                        </p:tgtEl>
                                        <p:attrNameLst>
                                          <p:attrName>ppt_y</p:attrName>
                                        </p:attrNameLst>
                                      </p:cBhvr>
                                      <p:tavLst>
                                        <p:tav tm="0">
                                          <p:val>
                                            <p:strVal val="#ppt_y-#ppt_h/2"/>
                                          </p:val>
                                        </p:tav>
                                        <p:tav tm="100000">
                                          <p:val>
                                            <p:strVal val="#ppt_y"/>
                                          </p:val>
                                        </p:tav>
                                      </p:tavLst>
                                    </p:anim>
                                    <p:anim calcmode="lin" valueType="num">
                                      <p:cBhvr>
                                        <p:cTn id="30" dur="500" fill="hold"/>
                                        <p:tgtEl>
                                          <p:spTgt spid="3">
                                            <p:txEl>
                                              <p:pRg st="3" end="3"/>
                                            </p:txEl>
                                          </p:spTgt>
                                        </p:tgtEl>
                                        <p:attrNameLst>
                                          <p:attrName>ppt_w</p:attrName>
                                        </p:attrNameLst>
                                      </p:cBhvr>
                                      <p:tavLst>
                                        <p:tav tm="0">
                                          <p:val>
                                            <p:strVal val="#ppt_w"/>
                                          </p:val>
                                        </p:tav>
                                        <p:tav tm="100000">
                                          <p:val>
                                            <p:strVal val="#ppt_w"/>
                                          </p:val>
                                        </p:tav>
                                      </p:tavLst>
                                    </p:anim>
                                    <p:anim calcmode="lin" valueType="num">
                                      <p:cBhvr>
                                        <p:cTn id="31" dur="500" fill="hold"/>
                                        <p:tgtEl>
                                          <p:spTgt spid="3">
                                            <p:txEl>
                                              <p:pRg st="3" end="3"/>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E76651B7-2957-4D7C-ABEF-142980284632}"/>
              </a:ext>
            </a:extLst>
          </p:cNvPr>
          <p:cNvSpPr txBox="1">
            <a:spLocks/>
          </p:cNvSpPr>
          <p:nvPr/>
        </p:nvSpPr>
        <p:spPr>
          <a:xfrm>
            <a:off x="1001483" y="74641"/>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3500" dirty="0">
                <a:solidFill>
                  <a:prstClr val="black">
                    <a:lumMod val="85000"/>
                    <a:lumOff val="15000"/>
                  </a:prstClr>
                </a:solidFill>
                <a:latin typeface="Century Gothic" panose="020B0502020202020204"/>
              </a:rPr>
              <a:t>1- La métaphysique et les sciences particulières chez Aristote (2/2)</a:t>
            </a:r>
          </a:p>
        </p:txBody>
      </p:sp>
      <p:sp>
        <p:nvSpPr>
          <p:cNvPr id="3" name="Espace réservé du contenu 2">
            <a:extLst>
              <a:ext uri="{FF2B5EF4-FFF2-40B4-BE49-F238E27FC236}">
                <a16:creationId xmlns:a16="http://schemas.microsoft.com/office/drawing/2014/main" id="{4323CC87-2AA8-487F-8117-C98604112F3C}"/>
              </a:ext>
            </a:extLst>
          </p:cNvPr>
          <p:cNvSpPr>
            <a:spLocks noGrp="1"/>
          </p:cNvSpPr>
          <p:nvPr>
            <p:ph idx="1"/>
          </p:nvPr>
        </p:nvSpPr>
        <p:spPr>
          <a:xfrm>
            <a:off x="297024" y="1315608"/>
            <a:ext cx="11597951" cy="2939152"/>
          </a:xfrm>
        </p:spPr>
        <p:txBody>
          <a:bodyPr>
            <a:noAutofit/>
          </a:bodyPr>
          <a:lstStyle/>
          <a:p>
            <a:pPr algn="just">
              <a:lnSpc>
                <a:spcPct val="107000"/>
              </a:lnSpc>
              <a:spcAft>
                <a:spcPts val="800"/>
              </a:spcAft>
            </a:pPr>
            <a:r>
              <a:rPr lang="fr-CI" sz="1900" dirty="0">
                <a:effectLst/>
                <a:latin typeface="Calibri" panose="020F0502020204030204" pitchFamily="34" charset="0"/>
                <a:ea typeface="Calibri" panose="020F0502020204030204" pitchFamily="34" charset="0"/>
                <a:cs typeface="Times New Roman" panose="02020603050405020304" pitchFamily="18" charset="0"/>
              </a:rPr>
              <a:t>En accord avec cette façon de concevoir la science, </a:t>
            </a:r>
            <a:r>
              <a:rPr lang="fr-CI" sz="1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la physique est fondamentalement pour Aristote l’étude de la nature d’un point de vue philosophique</a:t>
            </a:r>
            <a:r>
              <a:rPr lang="fr-CI" sz="1900" dirty="0">
                <a:effectLst/>
                <a:latin typeface="Calibri" panose="020F0502020204030204" pitchFamily="34" charset="0"/>
                <a:ea typeface="Calibri" panose="020F0502020204030204" pitchFamily="34" charset="0"/>
                <a:cs typeface="Times New Roman" panose="02020603050405020304" pitchFamily="18" charset="0"/>
              </a:rPr>
              <a:t> : c’est plutôt ce que nous appelons la philosophie de la nature.</a:t>
            </a:r>
            <a:endParaRPr lang="fr-FR" sz="19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CI" sz="19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L’astronomie était cultivée d’une façon plus proche de ce que nous appelons aujourd’hui la science</a:t>
            </a:r>
            <a:r>
              <a:rPr lang="fr-CI" sz="1900" dirty="0">
                <a:effectLst/>
                <a:latin typeface="Calibri" panose="020F0502020204030204" pitchFamily="34" charset="0"/>
                <a:ea typeface="Calibri" panose="020F0502020204030204" pitchFamily="34" charset="0"/>
                <a:cs typeface="Times New Roman" panose="02020603050405020304" pitchFamily="18" charset="0"/>
              </a:rPr>
              <a:t>. Les hypothèses astronomiques, qui faisaient appel aux mathématiques pour étudier les mouvements des astres, étaient considérées généralement comme ce qu’elles étaient </a:t>
            </a:r>
            <a:r>
              <a:rPr lang="fr-CI" sz="19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 des hypothèses, qui ne pouvaient atteindre une valeur démonstrative</a:t>
            </a:r>
            <a:r>
              <a:rPr lang="fr-CI" sz="1900" dirty="0">
                <a:effectLst/>
                <a:latin typeface="Calibri" panose="020F0502020204030204" pitchFamily="34" charset="0"/>
                <a:ea typeface="Calibri" panose="020F0502020204030204" pitchFamily="34" charset="0"/>
                <a:cs typeface="Times New Roman" panose="02020603050405020304" pitchFamily="18" charset="0"/>
              </a:rPr>
              <a:t>, car les mêmes phénomènes pouvaient être expliqués avec d’autres hypothèses différentes. Comme nous l’avons déjà dit, en mentionnant saint Thomas, la finalité de ces théories était de « sauver les apparences » : être cohérentes avec les données observées.</a:t>
            </a:r>
            <a:endParaRPr lang="fr-FR" sz="19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3713091"/>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par>
                          <p:cTn id="8" fill="hold">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barn(outVertical)">
                                      <p:cBhvr>
                                        <p:cTn id="11"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E76651B7-2957-4D7C-ABEF-142980284632}"/>
              </a:ext>
            </a:extLst>
          </p:cNvPr>
          <p:cNvSpPr txBox="1">
            <a:spLocks/>
          </p:cNvSpPr>
          <p:nvPr/>
        </p:nvSpPr>
        <p:spPr>
          <a:xfrm>
            <a:off x="1001483" y="74641"/>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3500" dirty="0">
                <a:solidFill>
                  <a:prstClr val="black">
                    <a:lumMod val="85000"/>
                    <a:lumOff val="15000"/>
                  </a:prstClr>
                </a:solidFill>
                <a:latin typeface="Century Gothic" panose="020B0502020202020204"/>
              </a:rPr>
              <a:t>2- La science selon le rationalisme et l’empirisme (1/3) </a:t>
            </a:r>
          </a:p>
        </p:txBody>
      </p:sp>
      <p:sp>
        <p:nvSpPr>
          <p:cNvPr id="3" name="Espace réservé du contenu 2">
            <a:extLst>
              <a:ext uri="{FF2B5EF4-FFF2-40B4-BE49-F238E27FC236}">
                <a16:creationId xmlns:a16="http://schemas.microsoft.com/office/drawing/2014/main" id="{4323CC87-2AA8-487F-8117-C98604112F3C}"/>
              </a:ext>
            </a:extLst>
          </p:cNvPr>
          <p:cNvSpPr>
            <a:spLocks noGrp="1"/>
          </p:cNvSpPr>
          <p:nvPr>
            <p:ph idx="1"/>
          </p:nvPr>
        </p:nvSpPr>
        <p:spPr>
          <a:xfrm>
            <a:off x="242597" y="1306287"/>
            <a:ext cx="11672596" cy="4973216"/>
          </a:xfrm>
        </p:spPr>
        <p:txBody>
          <a:bodyPr>
            <a:noAutofit/>
          </a:bodyPr>
          <a:lstStyle/>
          <a:p>
            <a:pPr algn="just">
              <a:lnSpc>
                <a:spcPct val="107000"/>
              </a:lnSpc>
              <a:spcAft>
                <a:spcPts val="800"/>
              </a:spcAft>
            </a:pPr>
            <a:r>
              <a:rPr lang="fr-CI" sz="1900" dirty="0">
                <a:effectLst/>
                <a:latin typeface="Calibri" panose="020F0502020204030204" pitchFamily="34" charset="0"/>
                <a:ea typeface="Calibri" panose="020F0502020204030204" pitchFamily="34" charset="0"/>
                <a:cs typeface="Times New Roman" panose="02020603050405020304" pitchFamily="18" charset="0"/>
              </a:rPr>
              <a:t>« Des révolutions des sphères célestes » fut publiée en 1543, peu de temps avant la mort de son auteur, Copernic. La préface, écrite par Osiander, disait que les théories qui y étaient exposées n’étaient que des hypothèses mathématiques utiles pour calculer les mouvements des planètes ; ce qui probablement n’était qu’une mesure de prudence que le propre Copernic ne partageait pas. En tout cas, Kepler (1571-1630) et Galilée (1564-1642) ne la partageaient pas.</a:t>
            </a:r>
            <a:endParaRPr lang="fr-FR" sz="19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CI" sz="1900" dirty="0">
                <a:effectLst/>
                <a:latin typeface="Calibri" panose="020F0502020204030204" pitchFamily="34" charset="0"/>
                <a:ea typeface="Calibri" panose="020F0502020204030204" pitchFamily="34" charset="0"/>
                <a:cs typeface="Times New Roman" panose="02020603050405020304" pitchFamily="18" charset="0"/>
              </a:rPr>
              <a:t>La nouvelle « Philosophie de la Nature » gardait le nom de l’ancienne mais se dressait contre elle. La mécanique de Newton (1642-1727) fut exposée dans un ouvrage publié beaucoup plus tard (1687) mais le nom était encore « Principes mathématiques de philosophie naturelle ». </a:t>
            </a:r>
            <a:endParaRPr lang="fr-FR" sz="19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CI" sz="1900" dirty="0">
                <a:effectLst/>
                <a:latin typeface="Calibri" panose="020F0502020204030204" pitchFamily="34" charset="0"/>
                <a:ea typeface="Calibri" panose="020F0502020204030204" pitchFamily="34" charset="0"/>
                <a:cs typeface="Times New Roman" panose="02020603050405020304" pitchFamily="18" charset="0"/>
              </a:rPr>
              <a:t>La nouvelle science, en </a:t>
            </a:r>
            <a:r>
              <a:rPr lang="fr-CI" sz="19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soulignant l’importance de l’expérience et de la formulation mathématique</a:t>
            </a:r>
            <a:r>
              <a:rPr lang="fr-CI" sz="1900" dirty="0">
                <a:effectLst/>
                <a:latin typeface="Calibri" panose="020F0502020204030204" pitchFamily="34" charset="0"/>
                <a:ea typeface="Calibri" panose="020F0502020204030204" pitchFamily="34" charset="0"/>
                <a:cs typeface="Times New Roman" panose="02020603050405020304" pitchFamily="18" charset="0"/>
              </a:rPr>
              <a:t>, aboutissait en même temps à une philosophie de la nature </a:t>
            </a:r>
            <a:r>
              <a:rPr lang="fr-CI" sz="1900" b="1" dirty="0">
                <a:effectLst/>
                <a:latin typeface="Calibri" panose="020F0502020204030204" pitchFamily="34" charset="0"/>
                <a:ea typeface="Calibri" panose="020F0502020204030204" pitchFamily="34" charset="0"/>
                <a:cs typeface="Times New Roman" panose="02020603050405020304" pitchFamily="18" charset="0"/>
              </a:rPr>
              <a:t>mécaniste, réductrice, qui n’était pas capable de prendre en compte les qualités</a:t>
            </a:r>
            <a:r>
              <a:rPr lang="fr-CI" sz="1900" dirty="0">
                <a:effectLst/>
                <a:latin typeface="Calibri" panose="020F0502020204030204" pitchFamily="34" charset="0"/>
                <a:ea typeface="Calibri" panose="020F0502020204030204" pitchFamily="34" charset="0"/>
                <a:cs typeface="Times New Roman" panose="02020603050405020304" pitchFamily="18" charset="0"/>
              </a:rPr>
              <a:t>, les aspects transcendantaux et la finalité des choses considérés d’ailleurs comme des entraves (obstacles ou encore des données non utiles) </a:t>
            </a:r>
            <a:r>
              <a:rPr lang="fr-CI" sz="1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léguées par Aristote incompatibles avec le progrès de la nouvelle science.</a:t>
            </a:r>
            <a:endParaRPr lang="fr-FR" sz="19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1612324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3" presetClass="entr" presetSubtype="16" fill="hold" grpId="0" nodeType="after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p:cTn id="12"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3">
                                            <p:txEl>
                                              <p:pRg st="1" end="1"/>
                                            </p:txEl>
                                          </p:spTgt>
                                        </p:tgtEl>
                                        <p:attrNameLst>
                                          <p:attrName>ppt_h</p:attrName>
                                        </p:attrNameLst>
                                      </p:cBhvr>
                                      <p:tavLst>
                                        <p:tav tm="0">
                                          <p:val>
                                            <p:fltVal val="0"/>
                                          </p:val>
                                        </p:tav>
                                        <p:tav tm="100000">
                                          <p:val>
                                            <p:strVal val="#ppt_h"/>
                                          </p:val>
                                        </p:tav>
                                      </p:tavLst>
                                    </p:anim>
                                  </p:childTnLst>
                                </p:cTn>
                              </p:par>
                            </p:childTnLst>
                          </p:cTn>
                        </p:par>
                        <p:par>
                          <p:cTn id="14" fill="hold">
                            <p:stCondLst>
                              <p:cond delay="1000"/>
                            </p:stCondLst>
                            <p:childTnLst>
                              <p:par>
                                <p:cTn id="15" presetID="23" presetClass="entr" presetSubtype="16" fill="hold" grpId="0" nodeType="after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p:cTn id="17"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3">
                                            <p:txEl>
                                              <p:pRg st="2" end="2"/>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E76651B7-2957-4D7C-ABEF-142980284632}"/>
              </a:ext>
            </a:extLst>
          </p:cNvPr>
          <p:cNvSpPr txBox="1">
            <a:spLocks/>
          </p:cNvSpPr>
          <p:nvPr/>
        </p:nvSpPr>
        <p:spPr>
          <a:xfrm>
            <a:off x="1001483" y="74641"/>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3500" dirty="0">
                <a:solidFill>
                  <a:prstClr val="black">
                    <a:lumMod val="85000"/>
                    <a:lumOff val="15000"/>
                  </a:prstClr>
                </a:solidFill>
                <a:latin typeface="Century Gothic" panose="020B0502020202020204"/>
              </a:rPr>
              <a:t>2- La science selon le rationalisme et l’empirisme (2/3) </a:t>
            </a:r>
          </a:p>
        </p:txBody>
      </p:sp>
      <p:sp>
        <p:nvSpPr>
          <p:cNvPr id="3" name="Espace réservé du contenu 2">
            <a:extLst>
              <a:ext uri="{FF2B5EF4-FFF2-40B4-BE49-F238E27FC236}">
                <a16:creationId xmlns:a16="http://schemas.microsoft.com/office/drawing/2014/main" id="{4323CC87-2AA8-487F-8117-C98604112F3C}"/>
              </a:ext>
            </a:extLst>
          </p:cNvPr>
          <p:cNvSpPr>
            <a:spLocks noGrp="1"/>
          </p:cNvSpPr>
          <p:nvPr>
            <p:ph idx="1"/>
          </p:nvPr>
        </p:nvSpPr>
        <p:spPr>
          <a:xfrm>
            <a:off x="242596" y="1306287"/>
            <a:ext cx="11663265" cy="5346440"/>
          </a:xfrm>
        </p:spPr>
        <p:txBody>
          <a:bodyPr>
            <a:noAutofit/>
          </a:bodyPr>
          <a:lstStyle/>
          <a:p>
            <a:pPr algn="just">
              <a:lnSpc>
                <a:spcPct val="107000"/>
              </a:lnSpc>
              <a:spcAft>
                <a:spcPts val="800"/>
              </a:spcAft>
            </a:pPr>
            <a:r>
              <a:rPr lang="fr-CI" sz="1900" dirty="0">
                <a:effectLst/>
                <a:latin typeface="Calibri" panose="020F0502020204030204" pitchFamily="34" charset="0"/>
                <a:ea typeface="Calibri" panose="020F0502020204030204" pitchFamily="34" charset="0"/>
                <a:cs typeface="Times New Roman" panose="02020603050405020304" pitchFamily="18" charset="0"/>
              </a:rPr>
              <a:t>D’autres facteurs compliquaient le panorama : </a:t>
            </a:r>
            <a:r>
              <a:rPr lang="fr-CI" sz="1900" b="1" dirty="0">
                <a:effectLst/>
                <a:latin typeface="Calibri" panose="020F0502020204030204" pitchFamily="34" charset="0"/>
                <a:ea typeface="Calibri" panose="020F0502020204030204" pitchFamily="34" charset="0"/>
                <a:cs typeface="Times New Roman" panose="02020603050405020304" pitchFamily="18" charset="0"/>
              </a:rPr>
              <a:t>La philosophie de Descartes (1596-1650)</a:t>
            </a:r>
            <a:r>
              <a:rPr lang="fr-CI" sz="1900" dirty="0">
                <a:effectLst/>
                <a:latin typeface="Calibri" panose="020F0502020204030204" pitchFamily="34" charset="0"/>
                <a:ea typeface="Calibri" panose="020F0502020204030204" pitchFamily="34" charset="0"/>
                <a:cs typeface="Times New Roman" panose="02020603050405020304" pitchFamily="18" charset="0"/>
              </a:rPr>
              <a:t> exerçait une grande influence, surtout dans le continent européen, alors que la mécanique de Newton s’était déjà imposée dans le Royaume Uni. </a:t>
            </a:r>
            <a:r>
              <a:rPr lang="fr-CI" sz="1900" b="1" dirty="0">
                <a:effectLst/>
                <a:latin typeface="Calibri" panose="020F0502020204030204" pitchFamily="34" charset="0"/>
                <a:ea typeface="Calibri" panose="020F0502020204030204" pitchFamily="34" charset="0"/>
                <a:cs typeface="Times New Roman" panose="02020603050405020304" pitchFamily="18" charset="0"/>
              </a:rPr>
              <a:t>Francis Bacon (1561-1626)</a:t>
            </a:r>
            <a:r>
              <a:rPr lang="fr-CI" sz="1900" dirty="0">
                <a:effectLst/>
                <a:latin typeface="Calibri" panose="020F0502020204030204" pitchFamily="34" charset="0"/>
                <a:ea typeface="Calibri" panose="020F0502020204030204" pitchFamily="34" charset="0"/>
                <a:cs typeface="Times New Roman" panose="02020603050405020304" pitchFamily="18" charset="0"/>
              </a:rPr>
              <a:t> proposait une interprétation de la science dominée par l’induction et l’empirisme.</a:t>
            </a:r>
            <a:endParaRPr lang="fr-FR" sz="19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CI" sz="1900" dirty="0">
                <a:effectLst/>
                <a:latin typeface="Calibri" panose="020F0502020204030204" pitchFamily="34" charset="0"/>
                <a:ea typeface="Calibri" panose="020F0502020204030204" pitchFamily="34" charset="0"/>
                <a:cs typeface="Times New Roman" panose="02020603050405020304" pitchFamily="18" charset="0"/>
              </a:rPr>
              <a:t>La science moderne naît au même temps que la philosophie moderne de Descartes. Descartes proposait comme point de départ l’évidence indubitable du sujet pensant ; à partir de là, la méthode serait l’utilisation d’une logique rigoureuse et des idées « claires et distinctes ». Dans le cas de la nature, ces idées sont assez limitées au domaine des mathématiques. Son rationalisme ne faisait pas beaucoup de place à l’expérience.</a:t>
            </a:r>
            <a:endParaRPr lang="fr-FR" sz="19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CI" sz="1900" dirty="0">
                <a:effectLst/>
                <a:latin typeface="Calibri" panose="020F0502020204030204" pitchFamily="34" charset="0"/>
                <a:ea typeface="Calibri" panose="020F0502020204030204" pitchFamily="34" charset="0"/>
                <a:cs typeface="Times New Roman" panose="02020603050405020304" pitchFamily="18" charset="0"/>
              </a:rPr>
              <a:t>Á l’autre extrême, </a:t>
            </a:r>
            <a:r>
              <a:rPr lang="fr-CI" sz="19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l’empirisme de Francis Bacon, John Locke (1632-1704) et David Hume (1711-1776) semblait être beaucoup plus proche de la vraie nature de la science expérimentale</a:t>
            </a:r>
            <a:r>
              <a:rPr lang="fr-CI" sz="1900" dirty="0">
                <a:effectLst/>
                <a:latin typeface="Calibri" panose="020F0502020204030204" pitchFamily="34" charset="0"/>
                <a:ea typeface="Calibri" panose="020F0502020204030204" pitchFamily="34" charset="0"/>
                <a:cs typeface="Times New Roman" panose="02020603050405020304" pitchFamily="18" charset="0"/>
              </a:rPr>
              <a:t>. Newton lui-même tenait la méthode inductive, </a:t>
            </a:r>
            <a:r>
              <a:rPr lang="fr-CI" sz="1900" b="1" dirty="0">
                <a:effectLst/>
                <a:latin typeface="Calibri" panose="020F0502020204030204" pitchFamily="34" charset="0"/>
                <a:ea typeface="Calibri" panose="020F0502020204030204" pitchFamily="34" charset="0"/>
                <a:cs typeface="Times New Roman" panose="02020603050405020304" pitchFamily="18" charset="0"/>
              </a:rPr>
              <a:t>faite de généralisations à partir des observations</a:t>
            </a:r>
            <a:r>
              <a:rPr lang="fr-CI" sz="1900" dirty="0">
                <a:effectLst/>
                <a:latin typeface="Calibri" panose="020F0502020204030204" pitchFamily="34" charset="0"/>
                <a:ea typeface="Calibri" panose="020F0502020204030204" pitchFamily="34" charset="0"/>
                <a:cs typeface="Times New Roman" panose="02020603050405020304" pitchFamily="18" charset="0"/>
              </a:rPr>
              <a:t>, pour une caractéristique essentielle de la nouvelle science. </a:t>
            </a:r>
            <a:endParaRPr lang="fr-FR" sz="19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CI" sz="1900" dirty="0">
                <a:effectLst/>
                <a:latin typeface="Calibri" panose="020F0502020204030204" pitchFamily="34" charset="0"/>
                <a:ea typeface="Calibri" panose="020F0502020204030204" pitchFamily="34" charset="0"/>
                <a:cs typeface="Times New Roman" panose="02020603050405020304" pitchFamily="18" charset="0"/>
              </a:rPr>
              <a:t>Mais l’empirisme ne réussissait pas à expliquer </a:t>
            </a:r>
            <a:r>
              <a:rPr lang="fr-CI" sz="1900" u="sng" dirty="0">
                <a:effectLst/>
                <a:latin typeface="Calibri" panose="020F0502020204030204" pitchFamily="34" charset="0"/>
                <a:ea typeface="Calibri" panose="020F0502020204030204" pitchFamily="34" charset="0"/>
                <a:cs typeface="Times New Roman" panose="02020603050405020304" pitchFamily="18" charset="0"/>
              </a:rPr>
              <a:t>l’importance de la composante rationnelle dans le travail scientifique</a:t>
            </a:r>
            <a:r>
              <a:rPr lang="fr-CI" sz="1900" dirty="0">
                <a:effectLst/>
                <a:latin typeface="Calibri" panose="020F0502020204030204" pitchFamily="34" charset="0"/>
                <a:ea typeface="Calibri" panose="020F0502020204030204" pitchFamily="34" charset="0"/>
                <a:cs typeface="Times New Roman" panose="02020603050405020304" pitchFamily="18" charset="0"/>
              </a:rPr>
              <a:t> : en effet, la science expérimentale </a:t>
            </a:r>
            <a:r>
              <a:rPr lang="fr-CI" sz="1900" u="sng" dirty="0">
                <a:effectLst/>
                <a:latin typeface="Calibri" panose="020F0502020204030204" pitchFamily="34" charset="0"/>
                <a:ea typeface="Calibri" panose="020F0502020204030204" pitchFamily="34" charset="0"/>
                <a:cs typeface="Times New Roman" panose="02020603050405020304" pitchFamily="18" charset="0"/>
              </a:rPr>
              <a:t>exige la construction de concepts, d’énoncés, de théories ; les procédés expérimentaux utilisés para vérifier les théories sont conçus et dirigés par les conceptions du scientifique.</a:t>
            </a:r>
            <a:endParaRPr lang="fr-FR" sz="19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22275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2"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3">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3">
                                            <p:txEl>
                                              <p:pRg st="0" end="0"/>
                                            </p:txEl>
                                          </p:spTgt>
                                        </p:tgtEl>
                                        <p:attrNameLst>
                                          <p:attrName>ppt_h</p:attrName>
                                        </p:attrNameLst>
                                      </p:cBhvr>
                                      <p:tavLst>
                                        <p:tav tm="0">
                                          <p:val>
                                            <p:strVal val="#ppt_h"/>
                                          </p:val>
                                        </p:tav>
                                        <p:tav tm="100000">
                                          <p:val>
                                            <p:strVal val="#ppt_h"/>
                                          </p:val>
                                        </p:tav>
                                      </p:tavLst>
                                    </p:anim>
                                  </p:childTnLst>
                                </p:cTn>
                              </p:par>
                              <p:par>
                                <p:cTn id="11" presetID="17" presetClass="entr" presetSubtype="8"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500" fill="hold"/>
                                        <p:tgtEl>
                                          <p:spTgt spid="3">
                                            <p:txEl>
                                              <p:pRg st="1" end="1"/>
                                            </p:txEl>
                                          </p:spTgt>
                                        </p:tgtEl>
                                        <p:attrNameLst>
                                          <p:attrName>ppt_x</p:attrName>
                                        </p:attrNameLst>
                                      </p:cBhvr>
                                      <p:tavLst>
                                        <p:tav tm="0">
                                          <p:val>
                                            <p:strVal val="#ppt_x-#ppt_w/2"/>
                                          </p:val>
                                        </p:tav>
                                        <p:tav tm="100000">
                                          <p:val>
                                            <p:strVal val="#ppt_x"/>
                                          </p:val>
                                        </p:tav>
                                      </p:tavLst>
                                    </p:anim>
                                    <p:anim calcmode="lin" valueType="num">
                                      <p:cBhvr>
                                        <p:cTn id="14" dur="500" fill="hold"/>
                                        <p:tgtEl>
                                          <p:spTgt spid="3">
                                            <p:txEl>
                                              <p:pRg st="1" end="1"/>
                                            </p:txEl>
                                          </p:spTgt>
                                        </p:tgtEl>
                                        <p:attrNameLst>
                                          <p:attrName>ppt_y</p:attrName>
                                        </p:attrNameLst>
                                      </p:cBhvr>
                                      <p:tavLst>
                                        <p:tav tm="0">
                                          <p:val>
                                            <p:strVal val="#ppt_y"/>
                                          </p:val>
                                        </p:tav>
                                        <p:tav tm="100000">
                                          <p:val>
                                            <p:strVal val="#ppt_y"/>
                                          </p:val>
                                        </p:tav>
                                      </p:tavLst>
                                    </p:anim>
                                    <p:anim calcmode="lin" valueType="num">
                                      <p:cBhvr>
                                        <p:cTn id="15"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6" dur="500" fill="hold"/>
                                        <p:tgtEl>
                                          <p:spTgt spid="3">
                                            <p:txEl>
                                              <p:pRg st="1" end="1"/>
                                            </p:txEl>
                                          </p:spTgt>
                                        </p:tgtEl>
                                        <p:attrNameLst>
                                          <p:attrName>ppt_h</p:attrName>
                                        </p:attrNameLst>
                                      </p:cBhvr>
                                      <p:tavLst>
                                        <p:tav tm="0">
                                          <p:val>
                                            <p:strVal val="#ppt_h"/>
                                          </p:val>
                                        </p:tav>
                                        <p:tav tm="100000">
                                          <p:val>
                                            <p:strVal val="#ppt_h"/>
                                          </p:val>
                                        </p:tav>
                                      </p:tavLst>
                                    </p:anim>
                                  </p:childTnLst>
                                </p:cTn>
                              </p:par>
                              <p:par>
                                <p:cTn id="17" presetID="17" presetClass="entr" presetSubtype="2"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500" fill="hold"/>
                                        <p:tgtEl>
                                          <p:spTgt spid="3">
                                            <p:txEl>
                                              <p:pRg st="2" end="2"/>
                                            </p:txEl>
                                          </p:spTgt>
                                        </p:tgtEl>
                                        <p:attrNameLst>
                                          <p:attrName>ppt_x</p:attrName>
                                        </p:attrNameLst>
                                      </p:cBhvr>
                                      <p:tavLst>
                                        <p:tav tm="0">
                                          <p:val>
                                            <p:strVal val="#ppt_x+#ppt_w/2"/>
                                          </p:val>
                                        </p:tav>
                                        <p:tav tm="100000">
                                          <p:val>
                                            <p:strVal val="#ppt_x"/>
                                          </p:val>
                                        </p:tav>
                                      </p:tavLst>
                                    </p:anim>
                                    <p:anim calcmode="lin" valueType="num">
                                      <p:cBhvr>
                                        <p:cTn id="20" dur="500" fill="hold"/>
                                        <p:tgtEl>
                                          <p:spTgt spid="3">
                                            <p:txEl>
                                              <p:pRg st="2" end="2"/>
                                            </p:txEl>
                                          </p:spTgt>
                                        </p:tgtEl>
                                        <p:attrNameLst>
                                          <p:attrName>ppt_y</p:attrName>
                                        </p:attrNameLst>
                                      </p:cBhvr>
                                      <p:tavLst>
                                        <p:tav tm="0">
                                          <p:val>
                                            <p:strVal val="#ppt_y"/>
                                          </p:val>
                                        </p:tav>
                                        <p:tav tm="100000">
                                          <p:val>
                                            <p:strVal val="#ppt_y"/>
                                          </p:val>
                                        </p:tav>
                                      </p:tavLst>
                                    </p:anim>
                                    <p:anim calcmode="lin" valueType="num">
                                      <p:cBhvr>
                                        <p:cTn id="2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2" end="2"/>
                                            </p:txEl>
                                          </p:spTgt>
                                        </p:tgtEl>
                                        <p:attrNameLst>
                                          <p:attrName>ppt_h</p:attrName>
                                        </p:attrNameLst>
                                      </p:cBhvr>
                                      <p:tavLst>
                                        <p:tav tm="0">
                                          <p:val>
                                            <p:strVal val="#ppt_h"/>
                                          </p:val>
                                        </p:tav>
                                        <p:tav tm="100000">
                                          <p:val>
                                            <p:strVal val="#ppt_h"/>
                                          </p:val>
                                        </p:tav>
                                      </p:tavLst>
                                    </p:anim>
                                  </p:childTnLst>
                                </p:cTn>
                              </p:par>
                              <p:par>
                                <p:cTn id="23" presetID="17" presetClass="entr" presetSubtype="8" fill="hold" grpId="0"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p:cTn id="25" dur="500" fill="hold"/>
                                        <p:tgtEl>
                                          <p:spTgt spid="3">
                                            <p:txEl>
                                              <p:pRg st="3" end="3"/>
                                            </p:txEl>
                                          </p:spTgt>
                                        </p:tgtEl>
                                        <p:attrNameLst>
                                          <p:attrName>ppt_x</p:attrName>
                                        </p:attrNameLst>
                                      </p:cBhvr>
                                      <p:tavLst>
                                        <p:tav tm="0">
                                          <p:val>
                                            <p:strVal val="#ppt_x-#ppt_w/2"/>
                                          </p:val>
                                        </p:tav>
                                        <p:tav tm="100000">
                                          <p:val>
                                            <p:strVal val="#ppt_x"/>
                                          </p:val>
                                        </p:tav>
                                      </p:tavLst>
                                    </p:anim>
                                    <p:anim calcmode="lin" valueType="num">
                                      <p:cBhvr>
                                        <p:cTn id="26" dur="500" fill="hold"/>
                                        <p:tgtEl>
                                          <p:spTgt spid="3">
                                            <p:txEl>
                                              <p:pRg st="3" end="3"/>
                                            </p:txEl>
                                          </p:spTgt>
                                        </p:tgtEl>
                                        <p:attrNameLst>
                                          <p:attrName>ppt_y</p:attrName>
                                        </p:attrNameLst>
                                      </p:cBhvr>
                                      <p:tavLst>
                                        <p:tav tm="0">
                                          <p:val>
                                            <p:strVal val="#ppt_y"/>
                                          </p:val>
                                        </p:tav>
                                        <p:tav tm="100000">
                                          <p:val>
                                            <p:strVal val="#ppt_y"/>
                                          </p:val>
                                        </p:tav>
                                      </p:tavLst>
                                    </p:anim>
                                    <p:anim calcmode="lin" valueType="num">
                                      <p:cBhvr>
                                        <p:cTn id="27"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8" dur="500" fill="hold"/>
                                        <p:tgtEl>
                                          <p:spTgt spid="3">
                                            <p:txEl>
                                              <p:pRg st="3" end="3"/>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E76651B7-2957-4D7C-ABEF-142980284632}"/>
              </a:ext>
            </a:extLst>
          </p:cNvPr>
          <p:cNvSpPr txBox="1">
            <a:spLocks/>
          </p:cNvSpPr>
          <p:nvPr/>
        </p:nvSpPr>
        <p:spPr>
          <a:xfrm>
            <a:off x="1001483" y="74641"/>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3500" dirty="0">
                <a:solidFill>
                  <a:prstClr val="black">
                    <a:lumMod val="85000"/>
                    <a:lumOff val="15000"/>
                  </a:prstClr>
                </a:solidFill>
                <a:latin typeface="Century Gothic" panose="020B0502020202020204"/>
              </a:rPr>
              <a:t>2- La science selon le rationalisme et l’empirisme (3/3) </a:t>
            </a:r>
          </a:p>
        </p:txBody>
      </p:sp>
      <p:sp>
        <p:nvSpPr>
          <p:cNvPr id="3" name="Espace réservé du contenu 2">
            <a:extLst>
              <a:ext uri="{FF2B5EF4-FFF2-40B4-BE49-F238E27FC236}">
                <a16:creationId xmlns:a16="http://schemas.microsoft.com/office/drawing/2014/main" id="{4323CC87-2AA8-487F-8117-C98604112F3C}"/>
              </a:ext>
            </a:extLst>
          </p:cNvPr>
          <p:cNvSpPr>
            <a:spLocks noGrp="1"/>
          </p:cNvSpPr>
          <p:nvPr>
            <p:ph idx="1"/>
          </p:nvPr>
        </p:nvSpPr>
        <p:spPr>
          <a:xfrm>
            <a:off x="242596" y="1306287"/>
            <a:ext cx="11663265" cy="4870578"/>
          </a:xfrm>
        </p:spPr>
        <p:txBody>
          <a:bodyPr>
            <a:noAutofit/>
          </a:bodyPr>
          <a:lstStyle/>
          <a:p>
            <a:pPr algn="just">
              <a:lnSpc>
                <a:spcPct val="107000"/>
              </a:lnSpc>
              <a:spcAft>
                <a:spcPts val="800"/>
              </a:spcAft>
            </a:pPr>
            <a:r>
              <a:rPr lang="fr-CI" sz="1900" dirty="0">
                <a:effectLst/>
                <a:latin typeface="Calibri" panose="020F0502020204030204" pitchFamily="34" charset="0"/>
                <a:ea typeface="Calibri" panose="020F0502020204030204" pitchFamily="34" charset="0"/>
                <a:cs typeface="Times New Roman" panose="02020603050405020304" pitchFamily="18" charset="0"/>
              </a:rPr>
              <a:t>Les choses deviennent plus compliquées encore au XVIIIème siècle. </a:t>
            </a:r>
            <a:r>
              <a:rPr lang="fr-CI" sz="1900" b="1" dirty="0">
                <a:effectLst/>
                <a:latin typeface="Calibri" panose="020F0502020204030204" pitchFamily="34" charset="0"/>
                <a:ea typeface="Calibri" panose="020F0502020204030204" pitchFamily="34" charset="0"/>
                <a:cs typeface="Times New Roman" panose="02020603050405020304" pitchFamily="18" charset="0"/>
              </a:rPr>
              <a:t>Immanuel Kant (1724-1804)</a:t>
            </a:r>
            <a:r>
              <a:rPr lang="fr-CI" sz="1900" dirty="0">
                <a:effectLst/>
                <a:latin typeface="Calibri" panose="020F0502020204030204" pitchFamily="34" charset="0"/>
                <a:ea typeface="Calibri" panose="020F0502020204030204" pitchFamily="34" charset="0"/>
                <a:cs typeface="Times New Roman" panose="02020603050405020304" pitchFamily="18" charset="0"/>
              </a:rPr>
              <a:t> veut « rationaliser » l’expérimentation ; </a:t>
            </a:r>
            <a:r>
              <a:rPr lang="fr-CI" sz="1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la mécanique de Newton a à ses yeux une valeur définitive et indubitable</a:t>
            </a:r>
            <a:r>
              <a:rPr lang="fr-CI" sz="1900" dirty="0">
                <a:effectLst/>
                <a:latin typeface="Calibri" panose="020F0502020204030204" pitchFamily="34" charset="0"/>
                <a:ea typeface="Calibri" panose="020F0502020204030204" pitchFamily="34" charset="0"/>
                <a:cs typeface="Times New Roman" panose="02020603050405020304" pitchFamily="18" charset="0"/>
              </a:rPr>
              <a:t>. Si </a:t>
            </a:r>
            <a:r>
              <a:rPr lang="fr-CI" sz="19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la métaphysique</a:t>
            </a:r>
            <a:r>
              <a:rPr lang="fr-CI" sz="1900" dirty="0">
                <a:effectLst/>
                <a:latin typeface="Calibri" panose="020F0502020204030204" pitchFamily="34" charset="0"/>
                <a:ea typeface="Calibri" panose="020F0502020204030204" pitchFamily="34" charset="0"/>
                <a:cs typeface="Times New Roman" panose="02020603050405020304" pitchFamily="18" charset="0"/>
              </a:rPr>
              <a:t> prétendait se constituer en science rigoureuse, </a:t>
            </a:r>
            <a:r>
              <a:rPr lang="fr-CI" sz="19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elle devait adopter la même méthode</a:t>
            </a:r>
            <a:r>
              <a:rPr lang="fr-CI" sz="1900" dirty="0">
                <a:effectLst/>
                <a:latin typeface="Calibri" panose="020F0502020204030204" pitchFamily="34" charset="0"/>
                <a:ea typeface="Calibri" panose="020F0502020204030204" pitchFamily="34" charset="0"/>
                <a:cs typeface="Times New Roman" panose="02020603050405020304" pitchFamily="18" charset="0"/>
              </a:rPr>
              <a:t> que la mécanique de Newton !!!. </a:t>
            </a:r>
            <a:r>
              <a:rPr lang="fr-CI" sz="1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Le temps et l’espace absolus de Newton sont érigés par Kant en catégories ou conditions préalables à toute connaissance</a:t>
            </a:r>
            <a:r>
              <a:rPr lang="fr-CI" sz="1900" dirty="0">
                <a:effectLst/>
                <a:latin typeface="Calibri" panose="020F0502020204030204" pitchFamily="34" charset="0"/>
                <a:ea typeface="Calibri" panose="020F0502020204030204" pitchFamily="34" charset="0"/>
                <a:cs typeface="Times New Roman" panose="02020603050405020304" pitchFamily="18" charset="0"/>
              </a:rPr>
              <a:t>. </a:t>
            </a:r>
            <a:r>
              <a:rPr lang="fr-CI" sz="1900" b="1" dirty="0">
                <a:effectLst/>
                <a:latin typeface="Calibri" panose="020F0502020204030204" pitchFamily="34" charset="0"/>
                <a:ea typeface="Calibri" panose="020F0502020204030204" pitchFamily="34" charset="0"/>
                <a:cs typeface="Times New Roman" panose="02020603050405020304" pitchFamily="18" charset="0"/>
              </a:rPr>
              <a:t>Kant revendiquait pour la physique de Newton les caractéristiques d’universalité et de nécessité qui étaient exigées par la science classique, même au prix de construire une théorie de la connaissance ad hoc, en introduisant quelques éléments arbitraires mais nécessaires pour la cohérence de la théorie.</a:t>
            </a:r>
            <a:endParaRPr lang="fr-FR" sz="19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CI" sz="1900" dirty="0">
                <a:effectLst/>
                <a:latin typeface="Calibri" panose="020F0502020204030204" pitchFamily="34" charset="0"/>
                <a:ea typeface="Calibri" panose="020F0502020204030204" pitchFamily="34" charset="0"/>
                <a:cs typeface="Times New Roman" panose="02020603050405020304" pitchFamily="18" charset="0"/>
              </a:rPr>
              <a:t>Conclusion : La science expérimentale se fait par une combinaison particulière de théorie et expérimentation. Le rationalisme et l’empirisme classiques soulignaient l’un ou l’autre aspect de façon excessivement unilatérale, et ne réussissaient à fournir une explication satisfaisante de la réussite de la science. La synthèse proposée par Kant, en plus de ne pas être convaincante, était trop conditionnée à l’état de la science à ce moment précis de l’histoire.</a:t>
            </a:r>
            <a:endParaRPr lang="fr-FR" sz="19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CI" sz="1900" dirty="0">
                <a:effectLst/>
                <a:latin typeface="Calibri" panose="020F0502020204030204" pitchFamily="34" charset="0"/>
                <a:ea typeface="Calibri" panose="020F0502020204030204" pitchFamily="34" charset="0"/>
                <a:cs typeface="Times New Roman" panose="02020603050405020304" pitchFamily="18" charset="0"/>
              </a:rPr>
              <a:t>On peut dire que la réflexion philosophique sur la science est née au XVIIème siècle et s’est fortement développée au XVIIIème. Mais malgré les progrès accomplis, les résultats atteints ne rendaient pas une image fidèle de la vraie nature de la science expérimentale.</a:t>
            </a:r>
            <a:endParaRPr lang="fr-FR" sz="19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669611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
                                            <p:txEl>
                                              <p:pRg st="0" end="0"/>
                                            </p:txEl>
                                          </p:spTgt>
                                        </p:tgtEl>
                                      </p:cBhvr>
                                    </p:animEffect>
                                  </p:childTnLst>
                                </p:cTn>
                              </p:par>
                            </p:childTnLst>
                          </p:cTn>
                        </p:par>
                        <p:par>
                          <p:cTn id="9" fill="hold">
                            <p:stCondLst>
                              <p:cond delay="500"/>
                            </p:stCondLst>
                            <p:childTnLst>
                              <p:par>
                                <p:cTn id="10" presetID="12" presetClass="entr" presetSubtype="4" fill="hold" grpId="0" nodeType="after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p:tgtEl>
                                          <p:spTgt spid="3">
                                            <p:txEl>
                                              <p:pRg st="1" end="1"/>
                                            </p:txEl>
                                          </p:spTgt>
                                        </p:tgtEl>
                                        <p:attrNameLst>
                                          <p:attrName>ppt_y</p:attrName>
                                        </p:attrNameLst>
                                      </p:cBhvr>
                                      <p:tavLst>
                                        <p:tav tm="0">
                                          <p:val>
                                            <p:strVal val="#ppt_y+#ppt_h*1.125000"/>
                                          </p:val>
                                        </p:tav>
                                        <p:tav tm="100000">
                                          <p:val>
                                            <p:strVal val="#ppt_y"/>
                                          </p:val>
                                        </p:tav>
                                      </p:tavLst>
                                    </p:anim>
                                    <p:animEffect transition="in" filter="wipe(up)">
                                      <p:cBhvr>
                                        <p:cTn id="13" dur="500"/>
                                        <p:tgtEl>
                                          <p:spTgt spid="3">
                                            <p:txEl>
                                              <p:pRg st="1" end="1"/>
                                            </p:txEl>
                                          </p:spTgt>
                                        </p:tgtEl>
                                      </p:cBhvr>
                                    </p:animEffect>
                                  </p:childTnLst>
                                </p:cTn>
                              </p:par>
                            </p:childTnLst>
                          </p:cTn>
                        </p:par>
                        <p:par>
                          <p:cTn id="14" fill="hold">
                            <p:stCondLst>
                              <p:cond delay="1000"/>
                            </p:stCondLst>
                            <p:childTnLst>
                              <p:par>
                                <p:cTn id="15" presetID="12" presetClass="entr" presetSubtype="4" fill="hold" grpId="0" nodeType="after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p:tgtEl>
                                          <p:spTgt spid="3">
                                            <p:txEl>
                                              <p:pRg st="2" end="2"/>
                                            </p:txEl>
                                          </p:spTgt>
                                        </p:tgtEl>
                                        <p:attrNameLst>
                                          <p:attrName>ppt_y</p:attrName>
                                        </p:attrNameLst>
                                      </p:cBhvr>
                                      <p:tavLst>
                                        <p:tav tm="0">
                                          <p:val>
                                            <p:strVal val="#ppt_y+#ppt_h*1.125000"/>
                                          </p:val>
                                        </p:tav>
                                        <p:tav tm="100000">
                                          <p:val>
                                            <p:strVal val="#ppt_y"/>
                                          </p:val>
                                        </p:tav>
                                      </p:tavLst>
                                    </p:anim>
                                    <p:animEffect transition="in" filter="wipe(up)">
                                      <p:cBhvr>
                                        <p:cTn id="18"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E76651B7-2957-4D7C-ABEF-142980284632}"/>
              </a:ext>
            </a:extLst>
          </p:cNvPr>
          <p:cNvSpPr txBox="1">
            <a:spLocks/>
          </p:cNvSpPr>
          <p:nvPr/>
        </p:nvSpPr>
        <p:spPr>
          <a:xfrm>
            <a:off x="1001483" y="74641"/>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3500" dirty="0">
                <a:solidFill>
                  <a:prstClr val="black">
                    <a:lumMod val="85000"/>
                    <a:lumOff val="15000"/>
                  </a:prstClr>
                </a:solidFill>
                <a:latin typeface="Century Gothic" panose="020B0502020202020204"/>
              </a:rPr>
              <a:t>3- L’épistémologie positiviste</a:t>
            </a:r>
          </a:p>
          <a:p>
            <a:pPr marL="0" marR="0" lvl="0" indent="0" algn="l" defTabSz="914400" rtl="0" eaLnBrk="1" fontAlgn="auto" latinLnBrk="0" hangingPunct="1">
              <a:lnSpc>
                <a:spcPct val="90000"/>
              </a:lnSpc>
              <a:spcBef>
                <a:spcPct val="0"/>
              </a:spcBef>
              <a:spcAft>
                <a:spcPts val="0"/>
              </a:spcAft>
              <a:buClrTx/>
              <a:buSzTx/>
              <a:buFontTx/>
              <a:buNone/>
              <a:tabLst/>
              <a:defRPr/>
            </a:pPr>
            <a:r>
              <a:rPr lang="fr-FR" sz="3500" dirty="0">
                <a:solidFill>
                  <a:prstClr val="black">
                    <a:lumMod val="85000"/>
                    <a:lumOff val="15000"/>
                  </a:prstClr>
                </a:solidFill>
                <a:latin typeface="Century Gothic" panose="020B0502020202020204"/>
              </a:rPr>
              <a:t>(1/3) </a:t>
            </a:r>
          </a:p>
        </p:txBody>
      </p:sp>
      <p:sp>
        <p:nvSpPr>
          <p:cNvPr id="3" name="Espace réservé du contenu 2">
            <a:extLst>
              <a:ext uri="{FF2B5EF4-FFF2-40B4-BE49-F238E27FC236}">
                <a16:creationId xmlns:a16="http://schemas.microsoft.com/office/drawing/2014/main" id="{4323CC87-2AA8-487F-8117-C98604112F3C}"/>
              </a:ext>
            </a:extLst>
          </p:cNvPr>
          <p:cNvSpPr>
            <a:spLocks noGrp="1"/>
          </p:cNvSpPr>
          <p:nvPr>
            <p:ph idx="1"/>
          </p:nvPr>
        </p:nvSpPr>
        <p:spPr>
          <a:xfrm>
            <a:off x="233265" y="1315616"/>
            <a:ext cx="11625944" cy="5243805"/>
          </a:xfrm>
        </p:spPr>
        <p:txBody>
          <a:bodyPr>
            <a:noAutofit/>
          </a:bodyPr>
          <a:lstStyle/>
          <a:p>
            <a:pPr algn="just">
              <a:lnSpc>
                <a:spcPct val="107000"/>
              </a:lnSpc>
              <a:spcAft>
                <a:spcPts val="800"/>
              </a:spcAft>
            </a:pPr>
            <a:r>
              <a:rPr lang="fr-CI" sz="1900" dirty="0">
                <a:effectLst/>
                <a:latin typeface="Calibri" panose="020F0502020204030204" pitchFamily="34" charset="0"/>
                <a:ea typeface="Calibri" panose="020F0502020204030204" pitchFamily="34" charset="0"/>
                <a:cs typeface="Times New Roman" panose="02020603050405020304" pitchFamily="18" charset="0"/>
              </a:rPr>
              <a:t>La situation est devenue encore plus confuse au XIXème siècle. Le positivisme </a:t>
            </a:r>
            <a:r>
              <a:rPr lang="fr-CI" sz="19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d’Auguste Comte (1798-1857)</a:t>
            </a:r>
            <a:r>
              <a:rPr lang="fr-CI" sz="1900" dirty="0">
                <a:effectLst/>
                <a:latin typeface="Calibri" panose="020F0502020204030204" pitchFamily="34" charset="0"/>
                <a:ea typeface="Calibri" panose="020F0502020204030204" pitchFamily="34" charset="0"/>
                <a:cs typeface="Times New Roman" panose="02020603050405020304" pitchFamily="18" charset="0"/>
              </a:rPr>
              <a:t> était une philosophie très marquée du point de vue idéologique, avec une vision déformée de la science comme </a:t>
            </a:r>
            <a:r>
              <a:rPr lang="fr-CI" sz="1900" b="1" dirty="0">
                <a:effectLst/>
                <a:latin typeface="Calibri" panose="020F0502020204030204" pitchFamily="34" charset="0"/>
                <a:ea typeface="Calibri" panose="020F0502020204030204" pitchFamily="34" charset="0"/>
                <a:cs typeface="Times New Roman" panose="02020603050405020304" pitchFamily="18" charset="0"/>
              </a:rPr>
              <a:t>pur instrument</a:t>
            </a:r>
            <a:r>
              <a:rPr lang="fr-CI" sz="1900" dirty="0">
                <a:effectLst/>
                <a:latin typeface="Calibri" panose="020F0502020204030204" pitchFamily="34" charset="0"/>
                <a:ea typeface="Calibri" panose="020F0502020204030204" pitchFamily="34" charset="0"/>
                <a:cs typeface="Times New Roman" panose="02020603050405020304" pitchFamily="18" charset="0"/>
              </a:rPr>
              <a:t>. </a:t>
            </a:r>
            <a:r>
              <a:rPr lang="fr-CI" sz="1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La science en était réduite à mettre en rapport des phénomènes observables, en s’interdisant d’émettre des hypothèses sur les causes</a:t>
            </a:r>
            <a:r>
              <a:rPr lang="fr-CI" sz="1900" dirty="0">
                <a:effectLst/>
                <a:latin typeface="Calibri" panose="020F0502020204030204" pitchFamily="34" charset="0"/>
                <a:ea typeface="Calibri" panose="020F0502020204030204" pitchFamily="34" charset="0"/>
                <a:cs typeface="Times New Roman" panose="02020603050405020304" pitchFamily="18" charset="0"/>
              </a:rPr>
              <a:t> (c’est là l’erreur fondamentale du positivisme). Si les scientifiques s’étaient pliés à des contraintes pareilles, la physique atomique (étude des atomes), qui en était alors à ses premiers pas, aurait dû être abandonnée. Or les atomes ont été découvert par le Philosophe grec Démocrite : Philosophe grec (vers 460-vers 370 avant J. -C.) ; la philosophie de Démocrite réside dans un </a:t>
            </a:r>
            <a:r>
              <a:rPr lang="fr-CI" sz="1900" b="1" dirty="0">
                <a:effectLst/>
                <a:latin typeface="Calibri" panose="020F0502020204030204" pitchFamily="34" charset="0"/>
                <a:ea typeface="Calibri" panose="020F0502020204030204" pitchFamily="34" charset="0"/>
                <a:cs typeface="Times New Roman" panose="02020603050405020304" pitchFamily="18" charset="0"/>
              </a:rPr>
              <a:t>matérialisme mécaniste atomiste</a:t>
            </a:r>
            <a:r>
              <a:rPr lang="fr-CI" sz="1900" dirty="0">
                <a:effectLst/>
                <a:latin typeface="Calibri" panose="020F0502020204030204" pitchFamily="34" charset="0"/>
                <a:ea typeface="Calibri" panose="020F0502020204030204" pitchFamily="34" charset="0"/>
                <a:cs typeface="Times New Roman" panose="02020603050405020304" pitchFamily="18" charset="0"/>
              </a:rPr>
              <a:t>, qui sera repris plus tard par Épicure et Lucrèce. </a:t>
            </a:r>
            <a:r>
              <a:rPr lang="fr-CI" sz="1900" b="1" dirty="0">
                <a:effectLst/>
                <a:latin typeface="Calibri" panose="020F0502020204030204" pitchFamily="34" charset="0"/>
                <a:ea typeface="Calibri" panose="020F0502020204030204" pitchFamily="34" charset="0"/>
                <a:cs typeface="Times New Roman" panose="02020603050405020304" pitchFamily="18" charset="0"/>
              </a:rPr>
              <a:t>Pour Démocrite, la nature est composée de vide et d'atomes, particules matérielles indivisibles, éternelles et invariables.</a:t>
            </a:r>
            <a:endParaRPr lang="fr-FR" sz="19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CI" sz="1900" dirty="0">
                <a:effectLst/>
                <a:latin typeface="Calibri" panose="020F0502020204030204" pitchFamily="34" charset="0"/>
                <a:ea typeface="Calibri" panose="020F0502020204030204" pitchFamily="34" charset="0"/>
                <a:cs typeface="Times New Roman" panose="02020603050405020304" pitchFamily="18" charset="0"/>
              </a:rPr>
              <a:t>Malgré ces incohérences, l’empirisme, le rationalisme et le positivisme ont exercé une influence considérable. Le Cercle de Vienne a donné une forte impulsion à la philosophie de la science dans les années 1920 </a:t>
            </a:r>
            <a:r>
              <a:rPr lang="fr-CI" sz="19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à cause de sa détermination à libérer tout du joug, dit-il, de toute métaphysique et esprit dans la recherche scientifique et même dans la vie</a:t>
            </a:r>
            <a:r>
              <a:rPr lang="fr-CI" sz="1900" dirty="0">
                <a:effectLst/>
                <a:latin typeface="Calibri" panose="020F0502020204030204" pitchFamily="34" charset="0"/>
                <a:ea typeface="Calibri" panose="020F0502020204030204" pitchFamily="34" charset="0"/>
                <a:cs typeface="Times New Roman" panose="02020603050405020304" pitchFamily="18" charset="0"/>
              </a:rPr>
              <a:t>. Aussi bien ses membres que des simples sympathisants, voire certains opposants tels que Karl R. Popper étaient très influencés par les courants empiristes et positivistes. La philosophie proposée par le Cercle de Vienne a été appelée « néopositivisme ». Popper est très influencé par l’empirisme et le rationalisme classiques, tout en s’en démarquant.</a:t>
            </a:r>
            <a:endParaRPr lang="fr-FR" sz="1900" dirty="0">
              <a:effectLst/>
              <a:latin typeface="Calibri" panose="020F0502020204030204" pitchFamily="34" charset="0"/>
              <a:ea typeface="Calibri" panose="020F0502020204030204" pitchFamily="34" charset="0"/>
              <a:cs typeface="Times New Roman" panose="02020603050405020304" pitchFamily="18" charset="0"/>
            </a:endParaRPr>
          </a:p>
          <a:p>
            <a:endParaRPr lang="fr-FR" sz="1900" dirty="0"/>
          </a:p>
        </p:txBody>
      </p:sp>
    </p:spTree>
    <p:extLst>
      <p:ext uri="{BB962C8B-B14F-4D97-AF65-F5344CB8AC3E}">
        <p14:creationId xmlns:p14="http://schemas.microsoft.com/office/powerpoint/2010/main" val="232277502"/>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
                                            <p:txEl>
                                              <p:pRg st="0" end="0"/>
                                            </p:txEl>
                                          </p:spTgt>
                                        </p:tgtEl>
                                      </p:cBhvr>
                                    </p:animEffect>
                                  </p:childTnLst>
                                </p:cTn>
                              </p:par>
                            </p:childTnLst>
                          </p:cTn>
                        </p:par>
                        <p:par>
                          <p:cTn id="9" fill="hold">
                            <p:stCondLst>
                              <p:cond delay="500"/>
                            </p:stCondLst>
                            <p:childTnLst>
                              <p:par>
                                <p:cTn id="10" presetID="12" presetClass="entr" presetSubtype="4" fill="hold" grpId="0" nodeType="after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p:tgtEl>
                                          <p:spTgt spid="3">
                                            <p:txEl>
                                              <p:pRg st="1" end="1"/>
                                            </p:txEl>
                                          </p:spTgt>
                                        </p:tgtEl>
                                        <p:attrNameLst>
                                          <p:attrName>ppt_y</p:attrName>
                                        </p:attrNameLst>
                                      </p:cBhvr>
                                      <p:tavLst>
                                        <p:tav tm="0">
                                          <p:val>
                                            <p:strVal val="#ppt_y+#ppt_h*1.125000"/>
                                          </p:val>
                                        </p:tav>
                                        <p:tav tm="100000">
                                          <p:val>
                                            <p:strVal val="#ppt_y"/>
                                          </p:val>
                                        </p:tav>
                                      </p:tavLst>
                                    </p:anim>
                                    <p:animEffect transition="in" filter="wipe(up)">
                                      <p:cBhvr>
                                        <p:cTn id="13"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E76651B7-2957-4D7C-ABEF-142980284632}"/>
              </a:ext>
            </a:extLst>
          </p:cNvPr>
          <p:cNvSpPr txBox="1">
            <a:spLocks/>
          </p:cNvSpPr>
          <p:nvPr/>
        </p:nvSpPr>
        <p:spPr>
          <a:xfrm>
            <a:off x="1001483" y="74641"/>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3500" dirty="0">
                <a:solidFill>
                  <a:prstClr val="black">
                    <a:lumMod val="85000"/>
                    <a:lumOff val="15000"/>
                  </a:prstClr>
                </a:solidFill>
                <a:latin typeface="Century Gothic" panose="020B0502020202020204"/>
              </a:rPr>
              <a:t>3- L’épistémologie positiviste</a:t>
            </a:r>
          </a:p>
          <a:p>
            <a:pPr marL="0" marR="0" lvl="0" indent="0" algn="l" defTabSz="914400" rtl="0" eaLnBrk="1" fontAlgn="auto" latinLnBrk="0" hangingPunct="1">
              <a:lnSpc>
                <a:spcPct val="90000"/>
              </a:lnSpc>
              <a:spcBef>
                <a:spcPct val="0"/>
              </a:spcBef>
              <a:spcAft>
                <a:spcPts val="0"/>
              </a:spcAft>
              <a:buClrTx/>
              <a:buSzTx/>
              <a:buFontTx/>
              <a:buNone/>
              <a:tabLst/>
              <a:defRPr/>
            </a:pPr>
            <a:r>
              <a:rPr lang="fr-FR" sz="3500" dirty="0">
                <a:solidFill>
                  <a:prstClr val="black">
                    <a:lumMod val="85000"/>
                    <a:lumOff val="15000"/>
                  </a:prstClr>
                </a:solidFill>
                <a:latin typeface="Century Gothic" panose="020B0502020202020204"/>
              </a:rPr>
              <a:t>(2/3) </a:t>
            </a:r>
          </a:p>
        </p:txBody>
      </p:sp>
      <p:sp>
        <p:nvSpPr>
          <p:cNvPr id="3" name="Espace réservé du contenu 2">
            <a:extLst>
              <a:ext uri="{FF2B5EF4-FFF2-40B4-BE49-F238E27FC236}">
                <a16:creationId xmlns:a16="http://schemas.microsoft.com/office/drawing/2014/main" id="{4323CC87-2AA8-487F-8117-C98604112F3C}"/>
              </a:ext>
            </a:extLst>
          </p:cNvPr>
          <p:cNvSpPr>
            <a:spLocks noGrp="1"/>
          </p:cNvSpPr>
          <p:nvPr>
            <p:ph idx="1"/>
          </p:nvPr>
        </p:nvSpPr>
        <p:spPr>
          <a:xfrm>
            <a:off x="233265" y="1334279"/>
            <a:ext cx="11625944" cy="3396342"/>
          </a:xfrm>
        </p:spPr>
        <p:txBody>
          <a:bodyPr>
            <a:noAutofit/>
          </a:bodyPr>
          <a:lstStyle/>
          <a:p>
            <a:pPr algn="just">
              <a:lnSpc>
                <a:spcPct val="107000"/>
              </a:lnSpc>
              <a:spcAft>
                <a:spcPts val="800"/>
              </a:spcAft>
            </a:pPr>
            <a:r>
              <a:rPr lang="fr-CI" sz="1800" dirty="0">
                <a:effectLst/>
                <a:latin typeface="Calibri" panose="020F0502020204030204" pitchFamily="34" charset="0"/>
                <a:ea typeface="Calibri" panose="020F0502020204030204" pitchFamily="34" charset="0"/>
                <a:cs typeface="Times New Roman" panose="02020603050405020304" pitchFamily="18" charset="0"/>
              </a:rPr>
              <a:t>Au fond de cette histoire se trouve un problème bien réel et de grande importance : </a:t>
            </a:r>
            <a:r>
              <a:rPr lang="fr-CI" sz="1800" u="sng" dirty="0">
                <a:effectLst/>
                <a:latin typeface="Calibri" panose="020F0502020204030204" pitchFamily="34" charset="0"/>
                <a:ea typeface="Calibri" panose="020F0502020204030204" pitchFamily="34" charset="0"/>
                <a:cs typeface="Times New Roman" panose="02020603050405020304" pitchFamily="18" charset="0"/>
              </a:rPr>
              <a:t>dans quelle mesure la science expérimentale correspond-elle à l’idéal classique d’une connaissance certaine, démonstrative et par ses causes ? Ou encore, y a-t-il des causes aux phénomènes observés ?</a:t>
            </a: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CI" sz="1800" dirty="0">
                <a:effectLst/>
                <a:latin typeface="Calibri" panose="020F0502020204030204" pitchFamily="34" charset="0"/>
                <a:ea typeface="Calibri" panose="020F0502020204030204" pitchFamily="34" charset="0"/>
                <a:cs typeface="Times New Roman" panose="02020603050405020304" pitchFamily="18" charset="0"/>
              </a:rPr>
              <a:t>On se trouve devant un dilemme qui semble défier la logique. Il serait bien beau pouvoir exiger, comme le faisait Aristote, que les démonstrations soient fondées sur des « prémisses vraies, primaires, immédiates, mieux connues, antérieures aux conclusions et qui sont leurs causes ». Mais la science expérimentale ne fonctionne pas de cette façon-là.</a:t>
            </a: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CI" sz="1800" dirty="0">
                <a:effectLst/>
                <a:latin typeface="Calibri" panose="020F0502020204030204" pitchFamily="34" charset="0"/>
                <a:ea typeface="Calibri" panose="020F0502020204030204" pitchFamily="34" charset="0"/>
                <a:cs typeface="Times New Roman" panose="02020603050405020304" pitchFamily="18" charset="0"/>
              </a:rPr>
              <a:t>Par exemple, la mécanique de Newton est fondée sur trois axiomes qui, outre qu’ils ne sont pas évidents, semblent défier le bon sens : ce corps isolé de toute influence extérieure, qui demeurerait au repos ou qui garderait une vitesse constante sur une trajectoire rectiligne ne correspond pas à quelque chose de vécu ou d’observé.</a:t>
            </a: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fr-FR" sz="1900" dirty="0"/>
          </a:p>
        </p:txBody>
      </p:sp>
    </p:spTree>
    <p:extLst>
      <p:ext uri="{BB962C8B-B14F-4D97-AF65-F5344CB8AC3E}">
        <p14:creationId xmlns:p14="http://schemas.microsoft.com/office/powerpoint/2010/main" val="21040242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anim calcmode="lin" valueType="num">
                                      <p:cBhvr>
                                        <p:cTn id="10" dur="500" fill="hold"/>
                                        <p:tgtEl>
                                          <p:spTgt spid="3">
                                            <p:txEl>
                                              <p:pRg st="0" end="0"/>
                                            </p:txEl>
                                          </p:spTgt>
                                        </p:tgtEl>
                                        <p:attrNameLst>
                                          <p:attrName>ppt_x</p:attrName>
                                        </p:attrNameLst>
                                      </p:cBhvr>
                                      <p:tavLst>
                                        <p:tav tm="0">
                                          <p:val>
                                            <p:fltVal val="0.5"/>
                                          </p:val>
                                        </p:tav>
                                        <p:tav tm="100000">
                                          <p:val>
                                            <p:strVal val="#ppt_x"/>
                                          </p:val>
                                        </p:tav>
                                      </p:tavLst>
                                    </p:anim>
                                    <p:anim calcmode="lin" valueType="num">
                                      <p:cBhvr>
                                        <p:cTn id="11" dur="500" fill="hold"/>
                                        <p:tgtEl>
                                          <p:spTgt spid="3">
                                            <p:txEl>
                                              <p:pRg st="0" end="0"/>
                                            </p:txEl>
                                          </p:spTgt>
                                        </p:tgtEl>
                                        <p:attrNameLst>
                                          <p:attrName>ppt_y</p:attrName>
                                        </p:attrNameLst>
                                      </p:cBhvr>
                                      <p:tavLst>
                                        <p:tav tm="0">
                                          <p:val>
                                            <p:fltVal val="0.5"/>
                                          </p:val>
                                        </p:tav>
                                        <p:tav tm="100000">
                                          <p:val>
                                            <p:strVal val="#ppt_y"/>
                                          </p:val>
                                        </p:tav>
                                      </p:tavLst>
                                    </p:anim>
                                  </p:childTnLst>
                                </p:cTn>
                              </p:par>
                            </p:childTnLst>
                          </p:cTn>
                        </p:par>
                        <p:par>
                          <p:cTn id="12" fill="hold">
                            <p:stCondLst>
                              <p:cond delay="500"/>
                            </p:stCondLst>
                            <p:childTnLst>
                              <p:par>
                                <p:cTn id="13" presetID="53" presetClass="entr" presetSubtype="528" fill="hold" grpId="0" nodeType="after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p:cTn id="15"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6"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7" dur="500"/>
                                        <p:tgtEl>
                                          <p:spTgt spid="3">
                                            <p:txEl>
                                              <p:pRg st="1" end="1"/>
                                            </p:txEl>
                                          </p:spTgt>
                                        </p:tgtEl>
                                      </p:cBhvr>
                                    </p:animEffect>
                                    <p:anim calcmode="lin" valueType="num">
                                      <p:cBhvr>
                                        <p:cTn id="18" dur="500" fill="hold"/>
                                        <p:tgtEl>
                                          <p:spTgt spid="3">
                                            <p:txEl>
                                              <p:pRg st="1" end="1"/>
                                            </p:txEl>
                                          </p:spTgt>
                                        </p:tgtEl>
                                        <p:attrNameLst>
                                          <p:attrName>ppt_x</p:attrName>
                                        </p:attrNameLst>
                                      </p:cBhvr>
                                      <p:tavLst>
                                        <p:tav tm="0">
                                          <p:val>
                                            <p:fltVal val="0.5"/>
                                          </p:val>
                                        </p:tav>
                                        <p:tav tm="100000">
                                          <p:val>
                                            <p:strVal val="#ppt_x"/>
                                          </p:val>
                                        </p:tav>
                                      </p:tavLst>
                                    </p:anim>
                                    <p:anim calcmode="lin" valueType="num">
                                      <p:cBhvr>
                                        <p:cTn id="19" dur="500" fill="hold"/>
                                        <p:tgtEl>
                                          <p:spTgt spid="3">
                                            <p:txEl>
                                              <p:pRg st="1" end="1"/>
                                            </p:txEl>
                                          </p:spTgt>
                                        </p:tgtEl>
                                        <p:attrNameLst>
                                          <p:attrName>ppt_y</p:attrName>
                                        </p:attrNameLst>
                                      </p:cBhvr>
                                      <p:tavLst>
                                        <p:tav tm="0">
                                          <p:val>
                                            <p:fltVal val="0.5"/>
                                          </p:val>
                                        </p:tav>
                                        <p:tav tm="100000">
                                          <p:val>
                                            <p:strVal val="#ppt_y"/>
                                          </p:val>
                                        </p:tav>
                                      </p:tavLst>
                                    </p:anim>
                                  </p:childTnLst>
                                </p:cTn>
                              </p:par>
                            </p:childTnLst>
                          </p:cTn>
                        </p:par>
                        <p:par>
                          <p:cTn id="20" fill="hold">
                            <p:stCondLst>
                              <p:cond delay="1000"/>
                            </p:stCondLst>
                            <p:childTnLst>
                              <p:par>
                                <p:cTn id="21" presetID="53" presetClass="entr" presetSubtype="528" fill="hold" grpId="0" nodeType="after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p:cTn id="23"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5" dur="500"/>
                                        <p:tgtEl>
                                          <p:spTgt spid="3">
                                            <p:txEl>
                                              <p:pRg st="2" end="2"/>
                                            </p:txEl>
                                          </p:spTgt>
                                        </p:tgtEl>
                                      </p:cBhvr>
                                    </p:animEffect>
                                    <p:anim calcmode="lin" valueType="num">
                                      <p:cBhvr>
                                        <p:cTn id="26" dur="500" fill="hold"/>
                                        <p:tgtEl>
                                          <p:spTgt spid="3">
                                            <p:txEl>
                                              <p:pRg st="2" end="2"/>
                                            </p:txEl>
                                          </p:spTgt>
                                        </p:tgtEl>
                                        <p:attrNameLst>
                                          <p:attrName>ppt_x</p:attrName>
                                        </p:attrNameLst>
                                      </p:cBhvr>
                                      <p:tavLst>
                                        <p:tav tm="0">
                                          <p:val>
                                            <p:fltVal val="0.5"/>
                                          </p:val>
                                        </p:tav>
                                        <p:tav tm="100000">
                                          <p:val>
                                            <p:strVal val="#ppt_x"/>
                                          </p:val>
                                        </p:tav>
                                      </p:tavLst>
                                    </p:anim>
                                    <p:anim calcmode="lin" valueType="num">
                                      <p:cBhvr>
                                        <p:cTn id="27" dur="500" fill="hold"/>
                                        <p:tgtEl>
                                          <p:spTgt spid="3">
                                            <p:txEl>
                                              <p:pRg st="2" end="2"/>
                                            </p:txEl>
                                          </p:spTgt>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E76651B7-2957-4D7C-ABEF-142980284632}"/>
              </a:ext>
            </a:extLst>
          </p:cNvPr>
          <p:cNvSpPr txBox="1">
            <a:spLocks/>
          </p:cNvSpPr>
          <p:nvPr/>
        </p:nvSpPr>
        <p:spPr>
          <a:xfrm>
            <a:off x="1001483" y="74641"/>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3500" dirty="0">
                <a:solidFill>
                  <a:prstClr val="black">
                    <a:lumMod val="85000"/>
                    <a:lumOff val="15000"/>
                  </a:prstClr>
                </a:solidFill>
                <a:latin typeface="Century Gothic" panose="020B0502020202020204"/>
              </a:rPr>
              <a:t>3- L’épistémologie positiviste</a:t>
            </a:r>
          </a:p>
          <a:p>
            <a:pPr marL="0" marR="0" lvl="0" indent="0" algn="l" defTabSz="914400" rtl="0" eaLnBrk="1" fontAlgn="auto" latinLnBrk="0" hangingPunct="1">
              <a:lnSpc>
                <a:spcPct val="90000"/>
              </a:lnSpc>
              <a:spcBef>
                <a:spcPct val="0"/>
              </a:spcBef>
              <a:spcAft>
                <a:spcPts val="0"/>
              </a:spcAft>
              <a:buClrTx/>
              <a:buSzTx/>
              <a:buFontTx/>
              <a:buNone/>
              <a:tabLst/>
              <a:defRPr/>
            </a:pPr>
            <a:r>
              <a:rPr lang="fr-FR" sz="3500" dirty="0">
                <a:solidFill>
                  <a:prstClr val="black">
                    <a:lumMod val="85000"/>
                    <a:lumOff val="15000"/>
                  </a:prstClr>
                </a:solidFill>
                <a:latin typeface="Century Gothic" panose="020B0502020202020204"/>
              </a:rPr>
              <a:t>(3/3) </a:t>
            </a:r>
          </a:p>
        </p:txBody>
      </p:sp>
      <p:sp>
        <p:nvSpPr>
          <p:cNvPr id="3" name="Espace réservé du contenu 2">
            <a:extLst>
              <a:ext uri="{FF2B5EF4-FFF2-40B4-BE49-F238E27FC236}">
                <a16:creationId xmlns:a16="http://schemas.microsoft.com/office/drawing/2014/main" id="{4323CC87-2AA8-487F-8117-C98604112F3C}"/>
              </a:ext>
            </a:extLst>
          </p:cNvPr>
          <p:cNvSpPr>
            <a:spLocks noGrp="1"/>
          </p:cNvSpPr>
          <p:nvPr>
            <p:ph idx="1"/>
          </p:nvPr>
        </p:nvSpPr>
        <p:spPr>
          <a:xfrm>
            <a:off x="233265" y="1334278"/>
            <a:ext cx="11625944" cy="5243805"/>
          </a:xfrm>
        </p:spPr>
        <p:txBody>
          <a:bodyPr>
            <a:noAutofit/>
          </a:bodyPr>
          <a:lstStyle/>
          <a:p>
            <a:pPr algn="just">
              <a:lnSpc>
                <a:spcPct val="107000"/>
              </a:lnSpc>
              <a:spcAft>
                <a:spcPts val="800"/>
              </a:spcAft>
            </a:pPr>
            <a:r>
              <a:rPr lang="fr-CI" sz="1800" dirty="0">
                <a:effectLst/>
                <a:latin typeface="Calibri" panose="020F0502020204030204" pitchFamily="34" charset="0"/>
                <a:ea typeface="Calibri" panose="020F0502020204030204" pitchFamily="34" charset="0"/>
                <a:cs typeface="Times New Roman" panose="02020603050405020304" pitchFamily="18" charset="0"/>
              </a:rPr>
              <a:t>Pour un logicien, la solution au dilemme serait d’accepter les théories comme étant de simples recours pour obtenir une « économie de la pensée » concernant la prédiction des phénomènes, tel que le disait Ernst Mach ; la valeur de ces théories ne serait que celle de « sauver les apparences » des phénomènes observés. C’est l’idée du positivisme : inutile de chercher des explications « métaphysiques » ; contentons-nous d’établir des rapports entre les phénomènes et d’utiliser ceux-là pour acquérir une maîtrise contrôlée de ceux-ci. </a:t>
            </a:r>
            <a:r>
              <a:rPr lang="fr-CI" sz="18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Mais la portée croissante des connaissances scientifiques et leur validité constatée suggèrent qu’elles font bien plus que « sauver les apparences ».</a:t>
            </a: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CI" sz="1800" dirty="0">
                <a:effectLst/>
                <a:latin typeface="Calibri" panose="020F0502020204030204" pitchFamily="34" charset="0"/>
                <a:ea typeface="Calibri" panose="020F0502020204030204" pitchFamily="34" charset="0"/>
                <a:cs typeface="Times New Roman" panose="02020603050405020304" pitchFamily="18" charset="0"/>
              </a:rPr>
              <a:t>Une autre solution envisageable consisterait à supposer que la science expérimentale correspond au modèle classique de science, </a:t>
            </a:r>
            <a:r>
              <a:rPr lang="fr-CI" sz="1800" u="sng" dirty="0">
                <a:effectLst/>
                <a:latin typeface="Calibri" panose="020F0502020204030204" pitchFamily="34" charset="0"/>
                <a:ea typeface="Calibri" panose="020F0502020204030204" pitchFamily="34" charset="0"/>
                <a:cs typeface="Times New Roman" panose="02020603050405020304" pitchFamily="18" charset="0"/>
              </a:rPr>
              <a:t>limité à la méthode hypothético-déductive</a:t>
            </a:r>
            <a:r>
              <a:rPr lang="fr-CI" sz="1800" dirty="0">
                <a:effectLst/>
                <a:latin typeface="Calibri" panose="020F0502020204030204" pitchFamily="34" charset="0"/>
                <a:ea typeface="Calibri" panose="020F0502020204030204" pitchFamily="34" charset="0"/>
                <a:cs typeface="Times New Roman" panose="02020603050405020304" pitchFamily="18" charset="0"/>
              </a:rPr>
              <a:t> : les principes de départ ne seraient pas des prémisses connues comme vraies mais seulement des hypothèses dont la valeur ne peut être jugée qu’à la lumière des conclusions que l’on en tire. </a:t>
            </a:r>
            <a:r>
              <a:rPr lang="fr-CI" sz="1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Dans ce cas, les démonstrations ne seraient jamais concluantes et les hypothèses n’atteindraient jamais le statut de vérités définitivement établies</a:t>
            </a:r>
            <a:r>
              <a:rPr lang="fr-CI" sz="1800" dirty="0">
                <a:effectLst/>
                <a:latin typeface="Calibri" panose="020F0502020204030204" pitchFamily="34" charset="0"/>
                <a:ea typeface="Calibri" panose="020F0502020204030204" pitchFamily="34" charset="0"/>
                <a:cs typeface="Times New Roman" panose="02020603050405020304" pitchFamily="18" charset="0"/>
              </a:rPr>
              <a:t>. Il y a du vrai dans cette façon de voir les choses ; mais l’efficacité constamment démontrée des progrès scientifiques invite à leur accorder un statut plus honorable que celui d’hypothèses utiles à titre provisoire.</a:t>
            </a: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CI" sz="1800" dirty="0">
                <a:effectLst/>
                <a:latin typeface="Calibri" panose="020F0502020204030204" pitchFamily="34" charset="0"/>
                <a:ea typeface="Calibri" panose="020F0502020204030204" pitchFamily="34" charset="0"/>
                <a:cs typeface="Times New Roman" panose="02020603050405020304" pitchFamily="18" charset="0"/>
              </a:rPr>
              <a:t>Tout nous pousse donc à examiner plus en détail la nature et la portée de la connaissance scientifique. C’est la tâche centrale que s’est proposée la philosophie de la science, qui s’est développée comme un nouveau domaine dès le commencement du XXème siècle.</a:t>
            </a: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endParaRPr lang="fr-FR" sz="1900" dirty="0">
              <a:effectLst/>
              <a:latin typeface="Calibri" panose="020F0502020204030204" pitchFamily="34" charset="0"/>
              <a:ea typeface="Calibri" panose="020F0502020204030204" pitchFamily="34" charset="0"/>
              <a:cs typeface="Times New Roman" panose="02020603050405020304" pitchFamily="18" charset="0"/>
            </a:endParaRPr>
          </a:p>
          <a:p>
            <a:endParaRPr lang="fr-FR" sz="1900" dirty="0"/>
          </a:p>
        </p:txBody>
      </p:sp>
    </p:spTree>
    <p:extLst>
      <p:ext uri="{BB962C8B-B14F-4D97-AF65-F5344CB8AC3E}">
        <p14:creationId xmlns:p14="http://schemas.microsoft.com/office/powerpoint/2010/main" val="4114673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E76651B7-2957-4D7C-ABEF-142980284632}"/>
              </a:ext>
            </a:extLst>
          </p:cNvPr>
          <p:cNvSpPr txBox="1">
            <a:spLocks/>
          </p:cNvSpPr>
          <p:nvPr/>
        </p:nvSpPr>
        <p:spPr>
          <a:xfrm>
            <a:off x="1001483" y="74641"/>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3500" dirty="0">
                <a:solidFill>
                  <a:prstClr val="black">
                    <a:lumMod val="85000"/>
                    <a:lumOff val="15000"/>
                  </a:prstClr>
                </a:solidFill>
                <a:latin typeface="Century Gothic" panose="020B0502020202020204"/>
              </a:rPr>
              <a:t>II</a:t>
            </a:r>
            <a:r>
              <a:rPr kumimoji="0" lang="fr-FR" sz="35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n-ea"/>
                <a:cs typeface="+mn-cs"/>
              </a:rPr>
              <a:t> – La naissance et le développement de la Philosophie de la Science</a:t>
            </a:r>
          </a:p>
        </p:txBody>
      </p:sp>
      <p:sp>
        <p:nvSpPr>
          <p:cNvPr id="3" name="Espace réservé du contenu 2">
            <a:extLst>
              <a:ext uri="{FF2B5EF4-FFF2-40B4-BE49-F238E27FC236}">
                <a16:creationId xmlns:a16="http://schemas.microsoft.com/office/drawing/2014/main" id="{4323CC87-2AA8-487F-8117-C98604112F3C}"/>
              </a:ext>
            </a:extLst>
          </p:cNvPr>
          <p:cNvSpPr>
            <a:spLocks noGrp="1"/>
          </p:cNvSpPr>
          <p:nvPr>
            <p:ph idx="1"/>
          </p:nvPr>
        </p:nvSpPr>
        <p:spPr>
          <a:xfrm>
            <a:off x="615819" y="1838131"/>
            <a:ext cx="10916817" cy="1240971"/>
          </a:xfrm>
        </p:spPr>
        <p:txBody>
          <a:bodyPr>
            <a:noAutofit/>
          </a:bodyPr>
          <a:lstStyle/>
          <a:p>
            <a:pPr algn="just">
              <a:lnSpc>
                <a:spcPct val="107000"/>
              </a:lnSpc>
              <a:spcAft>
                <a:spcPts val="800"/>
              </a:spcAft>
            </a:pPr>
            <a:r>
              <a:rPr lang="fr-CI" sz="1900" dirty="0">
                <a:effectLst/>
                <a:latin typeface="Calibri" panose="020F0502020204030204" pitchFamily="34" charset="0"/>
                <a:ea typeface="Calibri" panose="020F0502020204030204" pitchFamily="34" charset="0"/>
                <a:cs typeface="Times New Roman" panose="02020603050405020304" pitchFamily="18" charset="0"/>
              </a:rPr>
              <a:t>La Philosophie de la Science a pris son envol quand elle fut propulsée par les interrogations que les résultats extraordinaires de la science posaient au </a:t>
            </a:r>
            <a:r>
              <a:rPr lang="fr-CI" sz="19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commencement du XXème siècle</a:t>
            </a:r>
            <a:r>
              <a:rPr lang="fr-CI" sz="1900" dirty="0">
                <a:effectLst/>
                <a:latin typeface="Calibri" panose="020F0502020204030204" pitchFamily="34" charset="0"/>
                <a:ea typeface="Calibri" panose="020F0502020204030204" pitchFamily="34" charset="0"/>
                <a:cs typeface="Times New Roman" panose="02020603050405020304" pitchFamily="18" charset="0"/>
              </a:rPr>
              <a:t>. Les idées néo-positivistes du Cercle de Vienne ainsi que les idées qui l’ont précédées comme ci-dessus brossées, ont exercé une grande influence sur la nécessité de la réflexion sur la science.</a:t>
            </a:r>
            <a:endParaRPr lang="fr-FR" sz="1900" dirty="0">
              <a:effectLst/>
              <a:latin typeface="Calibri" panose="020F0502020204030204" pitchFamily="34" charset="0"/>
              <a:ea typeface="Calibri" panose="020F0502020204030204" pitchFamily="34" charset="0"/>
              <a:cs typeface="Times New Roman" panose="02020603050405020304" pitchFamily="18" charset="0"/>
            </a:endParaRPr>
          </a:p>
          <a:p>
            <a:endParaRPr lang="fr-FR" sz="1900" dirty="0"/>
          </a:p>
        </p:txBody>
      </p:sp>
    </p:spTree>
    <p:extLst>
      <p:ext uri="{BB962C8B-B14F-4D97-AF65-F5344CB8AC3E}">
        <p14:creationId xmlns:p14="http://schemas.microsoft.com/office/powerpoint/2010/main" val="4090688914"/>
      </p:ext>
    </p:extLst>
  </p:cSld>
  <p:clrMapOvr>
    <a:masterClrMapping/>
  </p:clrMapOvr>
  <mc:AlternateContent xmlns:mc="http://schemas.openxmlformats.org/markup-compatibility/2006" xmlns:p14="http://schemas.microsoft.com/office/powerpoint/2010/main">
    <mc:Choice Requires="p14">
      <p:transition spd="slow" p14:dur="1250">
        <p14:flip dir="l"/>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E76651B7-2957-4D7C-ABEF-142980284632}"/>
              </a:ext>
            </a:extLst>
          </p:cNvPr>
          <p:cNvSpPr txBox="1">
            <a:spLocks/>
          </p:cNvSpPr>
          <p:nvPr/>
        </p:nvSpPr>
        <p:spPr>
          <a:xfrm>
            <a:off x="1001483" y="74641"/>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35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n-ea"/>
                <a:cs typeface="+mn-cs"/>
              </a:rPr>
              <a:t>1 – La philosophie face aux progrès de la science au XXème siècle (1/3)</a:t>
            </a:r>
          </a:p>
        </p:txBody>
      </p:sp>
      <p:sp>
        <p:nvSpPr>
          <p:cNvPr id="3" name="Espace réservé du contenu 2">
            <a:extLst>
              <a:ext uri="{FF2B5EF4-FFF2-40B4-BE49-F238E27FC236}">
                <a16:creationId xmlns:a16="http://schemas.microsoft.com/office/drawing/2014/main" id="{4323CC87-2AA8-487F-8117-C98604112F3C}"/>
              </a:ext>
            </a:extLst>
          </p:cNvPr>
          <p:cNvSpPr>
            <a:spLocks noGrp="1"/>
          </p:cNvSpPr>
          <p:nvPr>
            <p:ph idx="1"/>
          </p:nvPr>
        </p:nvSpPr>
        <p:spPr>
          <a:xfrm>
            <a:off x="615819" y="1838131"/>
            <a:ext cx="10916817" cy="2146040"/>
          </a:xfrm>
        </p:spPr>
        <p:txBody>
          <a:bodyPr>
            <a:noAutofit/>
          </a:bodyPr>
          <a:lstStyle/>
          <a:p>
            <a:pPr algn="just">
              <a:lnSpc>
                <a:spcPct val="107000"/>
              </a:lnSpc>
              <a:spcAft>
                <a:spcPts val="800"/>
              </a:spcAft>
            </a:pPr>
            <a:r>
              <a:rPr lang="fr-CI" sz="1900" dirty="0">
                <a:effectLst/>
                <a:latin typeface="Calibri" panose="020F0502020204030204" pitchFamily="34" charset="0"/>
                <a:ea typeface="Calibri" panose="020F0502020204030204" pitchFamily="34" charset="0"/>
                <a:cs typeface="Times New Roman" panose="02020603050405020304" pitchFamily="18" charset="0"/>
              </a:rPr>
              <a:t>Les nouvelles conceptions apportées par la physique atomique, la relativité et la mécanique quantique avaient un aspect révolutionnaire : Les certitudes de la science classique étaient sérieusement ébranlées ; la relativité renforçait le point de vue des positivistes, qui demandaient que la science ne prenne en compte que des concepts susceptibles de faire l’objet d’une définition rigoureuse basée sur l’observation. Donc la réflexion sur les méthodes et la nature du travail scientifique ainsi que sur la portée des concepts et des théories élaborées s’imposait. </a:t>
            </a:r>
            <a:r>
              <a:rPr lang="fr-CI" sz="1900" b="1" dirty="0">
                <a:effectLst/>
                <a:latin typeface="Calibri" panose="020F0502020204030204" pitchFamily="34" charset="0"/>
                <a:ea typeface="Calibri" panose="020F0502020204030204" pitchFamily="34" charset="0"/>
                <a:cs typeface="Times New Roman" panose="02020603050405020304" pitchFamily="18" charset="0"/>
              </a:rPr>
              <a:t>La Philosophie de la Science se consolidait comme une science autonome. </a:t>
            </a:r>
            <a:endParaRPr lang="fr-FR" sz="1900" dirty="0"/>
          </a:p>
        </p:txBody>
      </p:sp>
      <p:graphicFrame>
        <p:nvGraphicFramePr>
          <p:cNvPr id="6" name="Diagramme 5">
            <a:extLst>
              <a:ext uri="{FF2B5EF4-FFF2-40B4-BE49-F238E27FC236}">
                <a16:creationId xmlns:a16="http://schemas.microsoft.com/office/drawing/2014/main" id="{49E9724B-51EC-4CEB-AAA3-38BDB61ACD88}"/>
              </a:ext>
            </a:extLst>
          </p:cNvPr>
          <p:cNvGraphicFramePr/>
          <p:nvPr>
            <p:extLst>
              <p:ext uri="{D42A27DB-BD31-4B8C-83A1-F6EECF244321}">
                <p14:modId xmlns:p14="http://schemas.microsoft.com/office/powerpoint/2010/main" val="451053104"/>
              </p:ext>
            </p:extLst>
          </p:nvPr>
        </p:nvGraphicFramePr>
        <p:xfrm>
          <a:off x="376851" y="3873414"/>
          <a:ext cx="11394751" cy="27093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28920413"/>
      </p:ext>
    </p:extLst>
  </p:cSld>
  <p:clrMapOvr>
    <a:masterClrMapping/>
  </p:clrMapOvr>
  <mc:AlternateContent xmlns:mc="http://schemas.openxmlformats.org/markup-compatibility/2006" xmlns:p14="http://schemas.microsoft.com/office/powerpoint/2010/main">
    <mc:Choice Requires="p14">
      <p:transition spd="slow" p14:dur="1250">
        <p14:switch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6">
                                            <p:graphicEl>
                                              <a:dgm id="{26D6943B-B66D-4B2D-AA18-DF8538114F1B}"/>
                                            </p:graphicEl>
                                          </p:spTgt>
                                        </p:tgtEl>
                                        <p:attrNameLst>
                                          <p:attrName>style.visibility</p:attrName>
                                        </p:attrNameLst>
                                      </p:cBhvr>
                                      <p:to>
                                        <p:strVal val="visible"/>
                                      </p:to>
                                    </p:set>
                                    <p:anim calcmode="lin" valueType="num">
                                      <p:cBhvr additive="base">
                                        <p:cTn id="11" dur="500"/>
                                        <p:tgtEl>
                                          <p:spTgt spid="6">
                                            <p:graphicEl>
                                              <a:dgm id="{26D6943B-B66D-4B2D-AA18-DF8538114F1B}"/>
                                            </p:graphicEl>
                                          </p:spTgt>
                                        </p:tgtEl>
                                        <p:attrNameLst>
                                          <p:attrName>ppt_x</p:attrName>
                                        </p:attrNameLst>
                                      </p:cBhvr>
                                      <p:tavLst>
                                        <p:tav tm="0">
                                          <p:val>
                                            <p:strVal val="#ppt_x-#ppt_w*1.125000"/>
                                          </p:val>
                                        </p:tav>
                                        <p:tav tm="100000">
                                          <p:val>
                                            <p:strVal val="#ppt_x"/>
                                          </p:val>
                                        </p:tav>
                                      </p:tavLst>
                                    </p:anim>
                                    <p:animEffect transition="in" filter="wipe(right)">
                                      <p:cBhvr>
                                        <p:cTn id="12" dur="500"/>
                                        <p:tgtEl>
                                          <p:spTgt spid="6">
                                            <p:graphicEl>
                                              <a:dgm id="{26D6943B-B66D-4B2D-AA18-DF8538114F1B}"/>
                                            </p:graphicEl>
                                          </p:spTgt>
                                        </p:tgtEl>
                                      </p:cBhvr>
                                    </p:animEffect>
                                  </p:childTnLst>
                                </p:cTn>
                              </p:par>
                            </p:childTnLst>
                          </p:cTn>
                        </p:par>
                        <p:par>
                          <p:cTn id="13" fill="hold">
                            <p:stCondLst>
                              <p:cond delay="1000"/>
                            </p:stCondLst>
                            <p:childTnLst>
                              <p:par>
                                <p:cTn id="14" presetID="12" presetClass="entr" presetSubtype="8" fill="hold" grpId="0" nodeType="afterEffect">
                                  <p:stCondLst>
                                    <p:cond delay="0"/>
                                  </p:stCondLst>
                                  <p:childTnLst>
                                    <p:set>
                                      <p:cBhvr>
                                        <p:cTn id="15" dur="1" fill="hold">
                                          <p:stCondLst>
                                            <p:cond delay="0"/>
                                          </p:stCondLst>
                                        </p:cTn>
                                        <p:tgtEl>
                                          <p:spTgt spid="6">
                                            <p:graphicEl>
                                              <a:dgm id="{5F5D41F7-E3A1-4CA5-BD2C-6D07099CE9E3}"/>
                                            </p:graphicEl>
                                          </p:spTgt>
                                        </p:tgtEl>
                                        <p:attrNameLst>
                                          <p:attrName>style.visibility</p:attrName>
                                        </p:attrNameLst>
                                      </p:cBhvr>
                                      <p:to>
                                        <p:strVal val="visible"/>
                                      </p:to>
                                    </p:set>
                                    <p:anim calcmode="lin" valueType="num">
                                      <p:cBhvr additive="base">
                                        <p:cTn id="16" dur="500"/>
                                        <p:tgtEl>
                                          <p:spTgt spid="6">
                                            <p:graphicEl>
                                              <a:dgm id="{5F5D41F7-E3A1-4CA5-BD2C-6D07099CE9E3}"/>
                                            </p:graphicEl>
                                          </p:spTgt>
                                        </p:tgtEl>
                                        <p:attrNameLst>
                                          <p:attrName>ppt_x</p:attrName>
                                        </p:attrNameLst>
                                      </p:cBhvr>
                                      <p:tavLst>
                                        <p:tav tm="0">
                                          <p:val>
                                            <p:strVal val="#ppt_x-#ppt_w*1.125000"/>
                                          </p:val>
                                        </p:tav>
                                        <p:tav tm="100000">
                                          <p:val>
                                            <p:strVal val="#ppt_x"/>
                                          </p:val>
                                        </p:tav>
                                      </p:tavLst>
                                    </p:anim>
                                    <p:animEffect transition="in" filter="wipe(right)">
                                      <p:cBhvr>
                                        <p:cTn id="17" dur="500"/>
                                        <p:tgtEl>
                                          <p:spTgt spid="6">
                                            <p:graphicEl>
                                              <a:dgm id="{5F5D41F7-E3A1-4CA5-BD2C-6D07099CE9E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Graphic spid="6" grpId="0" uiExpand="1">
        <p:bldSub>
          <a:bldDgm bld="one"/>
        </p:bldSub>
      </p:bldGraphic>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E76651B7-2957-4D7C-ABEF-142980284632}"/>
              </a:ext>
            </a:extLst>
          </p:cNvPr>
          <p:cNvSpPr txBox="1">
            <a:spLocks/>
          </p:cNvSpPr>
          <p:nvPr/>
        </p:nvSpPr>
        <p:spPr>
          <a:xfrm>
            <a:off x="1001483" y="74641"/>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35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n-ea"/>
                <a:cs typeface="+mn-cs"/>
              </a:rPr>
              <a:t>1 – La philosophie face aux progrès de la science au XXème siècle (2/3)</a:t>
            </a:r>
          </a:p>
        </p:txBody>
      </p:sp>
      <p:sp>
        <p:nvSpPr>
          <p:cNvPr id="3" name="Espace réservé du contenu 2">
            <a:extLst>
              <a:ext uri="{FF2B5EF4-FFF2-40B4-BE49-F238E27FC236}">
                <a16:creationId xmlns:a16="http://schemas.microsoft.com/office/drawing/2014/main" id="{4323CC87-2AA8-487F-8117-C98604112F3C}"/>
              </a:ext>
            </a:extLst>
          </p:cNvPr>
          <p:cNvSpPr>
            <a:spLocks noGrp="1"/>
          </p:cNvSpPr>
          <p:nvPr>
            <p:ph idx="1"/>
          </p:nvPr>
        </p:nvSpPr>
        <p:spPr>
          <a:xfrm>
            <a:off x="637591" y="5654356"/>
            <a:ext cx="10916817" cy="998376"/>
          </a:xfrm>
        </p:spPr>
        <p:txBody>
          <a:bodyPr>
            <a:noAutofit/>
          </a:bodyPr>
          <a:lstStyle/>
          <a:p>
            <a:pPr marL="0" indent="0" algn="just">
              <a:lnSpc>
                <a:spcPct val="107000"/>
              </a:lnSpc>
              <a:spcAft>
                <a:spcPts val="800"/>
              </a:spcAft>
              <a:buNone/>
            </a:pPr>
            <a:r>
              <a:rPr lang="fr-CI" sz="1900" dirty="0">
                <a:effectLst/>
                <a:latin typeface="Calibri" panose="020F0502020204030204" pitchFamily="34" charset="0"/>
                <a:ea typeface="Calibri" panose="020F0502020204030204" pitchFamily="34" charset="0"/>
                <a:cs typeface="Times New Roman" panose="02020603050405020304" pitchFamily="18" charset="0"/>
              </a:rPr>
              <a:t>Conclusion pour Mach : Une telle conception de la science apparaît excessivement modeste, voir pessimiste, si l’on prétend comprendre et évaluer l’activité scientifique dans son ensemble ; plus encore si l’on prétend en tirer des conséquences philosophiques générales sur la valeur de la connaissance humaine.</a:t>
            </a:r>
            <a:endParaRPr lang="fr-FR" sz="19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endParaRPr lang="fr-FR" sz="1900" dirty="0"/>
          </a:p>
        </p:txBody>
      </p:sp>
      <p:graphicFrame>
        <p:nvGraphicFramePr>
          <p:cNvPr id="7" name="Diagramme 6">
            <a:extLst>
              <a:ext uri="{FF2B5EF4-FFF2-40B4-BE49-F238E27FC236}">
                <a16:creationId xmlns:a16="http://schemas.microsoft.com/office/drawing/2014/main" id="{F92A1C4F-A036-453D-AC70-0154C2E0C9A6}"/>
              </a:ext>
            </a:extLst>
          </p:cNvPr>
          <p:cNvGraphicFramePr/>
          <p:nvPr>
            <p:extLst>
              <p:ext uri="{D42A27DB-BD31-4B8C-83A1-F6EECF244321}">
                <p14:modId xmlns:p14="http://schemas.microsoft.com/office/powerpoint/2010/main" val="3905116509"/>
              </p:ext>
            </p:extLst>
          </p:nvPr>
        </p:nvGraphicFramePr>
        <p:xfrm>
          <a:off x="333307" y="1335484"/>
          <a:ext cx="11394751" cy="43095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01895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7">
                                            <p:graphicEl>
                                              <a:dgm id="{26D6943B-B66D-4B2D-AA18-DF8538114F1B}"/>
                                            </p:graphicEl>
                                          </p:spTgt>
                                        </p:tgtEl>
                                        <p:attrNameLst>
                                          <p:attrName>style.visibility</p:attrName>
                                        </p:attrNameLst>
                                      </p:cBhvr>
                                      <p:to>
                                        <p:strVal val="visible"/>
                                      </p:to>
                                    </p:set>
                                    <p:anim calcmode="lin" valueType="num">
                                      <p:cBhvr additive="base">
                                        <p:cTn id="7" dur="500"/>
                                        <p:tgtEl>
                                          <p:spTgt spid="7">
                                            <p:graphicEl>
                                              <a:dgm id="{26D6943B-B66D-4B2D-AA18-DF8538114F1B}"/>
                                            </p:graphicEl>
                                          </p:spTgt>
                                        </p:tgtEl>
                                        <p:attrNameLst>
                                          <p:attrName>ppt_x</p:attrName>
                                        </p:attrNameLst>
                                      </p:cBhvr>
                                      <p:tavLst>
                                        <p:tav tm="0">
                                          <p:val>
                                            <p:strVal val="#ppt_x-#ppt_w*1.125000"/>
                                          </p:val>
                                        </p:tav>
                                        <p:tav tm="100000">
                                          <p:val>
                                            <p:strVal val="#ppt_x"/>
                                          </p:val>
                                        </p:tav>
                                      </p:tavLst>
                                    </p:anim>
                                    <p:animEffect transition="in" filter="wipe(right)">
                                      <p:cBhvr>
                                        <p:cTn id="8" dur="500"/>
                                        <p:tgtEl>
                                          <p:spTgt spid="7">
                                            <p:graphicEl>
                                              <a:dgm id="{26D6943B-B66D-4B2D-AA18-DF8538114F1B}"/>
                                            </p:graphicEl>
                                          </p:spTgt>
                                        </p:tgtEl>
                                      </p:cBhvr>
                                    </p:animEffect>
                                  </p:childTnLst>
                                </p:cTn>
                              </p:par>
                            </p:childTnLst>
                          </p:cTn>
                        </p:par>
                        <p:par>
                          <p:cTn id="9" fill="hold">
                            <p:stCondLst>
                              <p:cond delay="500"/>
                            </p:stCondLst>
                            <p:childTnLst>
                              <p:par>
                                <p:cTn id="10" presetID="12" presetClass="entr" presetSubtype="8" fill="hold" grpId="0" nodeType="afterEffect">
                                  <p:stCondLst>
                                    <p:cond delay="0"/>
                                  </p:stCondLst>
                                  <p:childTnLst>
                                    <p:set>
                                      <p:cBhvr>
                                        <p:cTn id="11" dur="1" fill="hold">
                                          <p:stCondLst>
                                            <p:cond delay="0"/>
                                          </p:stCondLst>
                                        </p:cTn>
                                        <p:tgtEl>
                                          <p:spTgt spid="7">
                                            <p:graphicEl>
                                              <a:dgm id="{AD70A291-9824-4DC3-BC14-BC325D6ACD38}"/>
                                            </p:graphicEl>
                                          </p:spTgt>
                                        </p:tgtEl>
                                        <p:attrNameLst>
                                          <p:attrName>style.visibility</p:attrName>
                                        </p:attrNameLst>
                                      </p:cBhvr>
                                      <p:to>
                                        <p:strVal val="visible"/>
                                      </p:to>
                                    </p:set>
                                    <p:anim calcmode="lin" valueType="num">
                                      <p:cBhvr additive="base">
                                        <p:cTn id="12" dur="500"/>
                                        <p:tgtEl>
                                          <p:spTgt spid="7">
                                            <p:graphicEl>
                                              <a:dgm id="{AD70A291-9824-4DC3-BC14-BC325D6ACD38}"/>
                                            </p:graphicEl>
                                          </p:spTgt>
                                        </p:tgtEl>
                                        <p:attrNameLst>
                                          <p:attrName>ppt_x</p:attrName>
                                        </p:attrNameLst>
                                      </p:cBhvr>
                                      <p:tavLst>
                                        <p:tav tm="0">
                                          <p:val>
                                            <p:strVal val="#ppt_x-#ppt_w*1.125000"/>
                                          </p:val>
                                        </p:tav>
                                        <p:tav tm="100000">
                                          <p:val>
                                            <p:strVal val="#ppt_x"/>
                                          </p:val>
                                        </p:tav>
                                      </p:tavLst>
                                    </p:anim>
                                    <p:animEffect transition="in" filter="wipe(right)">
                                      <p:cBhvr>
                                        <p:cTn id="13" dur="500"/>
                                        <p:tgtEl>
                                          <p:spTgt spid="7">
                                            <p:graphicEl>
                                              <a:dgm id="{AD70A291-9824-4DC3-BC14-BC325D6ACD38}"/>
                                            </p:graphicEl>
                                          </p:spTgt>
                                        </p:tgtEl>
                                      </p:cBhvr>
                                    </p:animEffect>
                                  </p:childTnLst>
                                </p:cTn>
                              </p:par>
                            </p:childTnLst>
                          </p:cTn>
                        </p:par>
                        <p:par>
                          <p:cTn id="14" fill="hold">
                            <p:stCondLst>
                              <p:cond delay="1000"/>
                            </p:stCondLst>
                            <p:childTnLst>
                              <p:par>
                                <p:cTn id="15" presetID="12" presetClass="entr" presetSubtype="8" fill="hold" grpId="0" nodeType="afterEffect">
                                  <p:stCondLst>
                                    <p:cond delay="0"/>
                                  </p:stCondLst>
                                  <p:childTnLst>
                                    <p:set>
                                      <p:cBhvr>
                                        <p:cTn id="16" dur="1" fill="hold">
                                          <p:stCondLst>
                                            <p:cond delay="0"/>
                                          </p:stCondLst>
                                        </p:cTn>
                                        <p:tgtEl>
                                          <p:spTgt spid="7">
                                            <p:graphicEl>
                                              <a:dgm id="{5F5D41F7-E3A1-4CA5-BD2C-6D07099CE9E3}"/>
                                            </p:graphicEl>
                                          </p:spTgt>
                                        </p:tgtEl>
                                        <p:attrNameLst>
                                          <p:attrName>style.visibility</p:attrName>
                                        </p:attrNameLst>
                                      </p:cBhvr>
                                      <p:to>
                                        <p:strVal val="visible"/>
                                      </p:to>
                                    </p:set>
                                    <p:anim calcmode="lin" valueType="num">
                                      <p:cBhvr additive="base">
                                        <p:cTn id="17" dur="500"/>
                                        <p:tgtEl>
                                          <p:spTgt spid="7">
                                            <p:graphicEl>
                                              <a:dgm id="{5F5D41F7-E3A1-4CA5-BD2C-6D07099CE9E3}"/>
                                            </p:graphicEl>
                                          </p:spTgt>
                                        </p:tgtEl>
                                        <p:attrNameLst>
                                          <p:attrName>ppt_x</p:attrName>
                                        </p:attrNameLst>
                                      </p:cBhvr>
                                      <p:tavLst>
                                        <p:tav tm="0">
                                          <p:val>
                                            <p:strVal val="#ppt_x-#ppt_w*1.125000"/>
                                          </p:val>
                                        </p:tav>
                                        <p:tav tm="100000">
                                          <p:val>
                                            <p:strVal val="#ppt_x"/>
                                          </p:val>
                                        </p:tav>
                                      </p:tavLst>
                                    </p:anim>
                                    <p:animEffect transition="in" filter="wipe(right)">
                                      <p:cBhvr>
                                        <p:cTn id="18" dur="500"/>
                                        <p:tgtEl>
                                          <p:spTgt spid="7">
                                            <p:graphicEl>
                                              <a:dgm id="{5F5D41F7-E3A1-4CA5-BD2C-6D07099CE9E3}"/>
                                            </p:graphicEl>
                                          </p:spTgt>
                                        </p:tgtEl>
                                      </p:cBhvr>
                                    </p:animEffect>
                                  </p:childTnLst>
                                </p:cTn>
                              </p:par>
                            </p:childTnLst>
                          </p:cTn>
                        </p:par>
                        <p:par>
                          <p:cTn id="19" fill="hold">
                            <p:stCondLst>
                              <p:cond delay="1500"/>
                            </p:stCondLst>
                            <p:childTnLst>
                              <p:par>
                                <p:cTn id="20" presetID="12" presetClass="entr" presetSubtype="8" fill="hold" grpId="0" nodeType="afterEffect">
                                  <p:stCondLst>
                                    <p:cond delay="0"/>
                                  </p:stCondLst>
                                  <p:childTnLst>
                                    <p:set>
                                      <p:cBhvr>
                                        <p:cTn id="21" dur="1" fill="hold">
                                          <p:stCondLst>
                                            <p:cond delay="0"/>
                                          </p:stCondLst>
                                        </p:cTn>
                                        <p:tgtEl>
                                          <p:spTgt spid="7">
                                            <p:graphicEl>
                                              <a:dgm id="{39C2284A-7419-499B-8921-2037CE3B7B16}"/>
                                            </p:graphicEl>
                                          </p:spTgt>
                                        </p:tgtEl>
                                        <p:attrNameLst>
                                          <p:attrName>style.visibility</p:attrName>
                                        </p:attrNameLst>
                                      </p:cBhvr>
                                      <p:to>
                                        <p:strVal val="visible"/>
                                      </p:to>
                                    </p:set>
                                    <p:anim calcmode="lin" valueType="num">
                                      <p:cBhvr additive="base">
                                        <p:cTn id="22" dur="500"/>
                                        <p:tgtEl>
                                          <p:spTgt spid="7">
                                            <p:graphicEl>
                                              <a:dgm id="{39C2284A-7419-499B-8921-2037CE3B7B16}"/>
                                            </p:graphicEl>
                                          </p:spTgt>
                                        </p:tgtEl>
                                        <p:attrNameLst>
                                          <p:attrName>ppt_x</p:attrName>
                                        </p:attrNameLst>
                                      </p:cBhvr>
                                      <p:tavLst>
                                        <p:tav tm="0">
                                          <p:val>
                                            <p:strVal val="#ppt_x-#ppt_w*1.125000"/>
                                          </p:val>
                                        </p:tav>
                                        <p:tav tm="100000">
                                          <p:val>
                                            <p:strVal val="#ppt_x"/>
                                          </p:val>
                                        </p:tav>
                                      </p:tavLst>
                                    </p:anim>
                                    <p:animEffect transition="in" filter="wipe(right)">
                                      <p:cBhvr>
                                        <p:cTn id="23" dur="500"/>
                                        <p:tgtEl>
                                          <p:spTgt spid="7">
                                            <p:graphicEl>
                                              <a:dgm id="{39C2284A-7419-499B-8921-2037CE3B7B16}"/>
                                            </p:graphicEl>
                                          </p:spTgt>
                                        </p:tgtEl>
                                      </p:cBhvr>
                                    </p:animEffect>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0" end="0"/>
                                            </p:txEl>
                                          </p:spTgt>
                                        </p:tgtEl>
                                        <p:attrNameLst>
                                          <p:attrName>style.visibility</p:attrName>
                                        </p:attrNameLst>
                                      </p:cBhvr>
                                      <p:to>
                                        <p:strVal val="visible"/>
                                      </p:to>
                                    </p:set>
                                    <p:anim calcmode="lin" valueType="num">
                                      <p:cBhvr additive="base">
                                        <p:cTn id="2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Graphic spid="7" grpId="0">
        <p:bldSub>
          <a:bldDgm bld="lvlOne"/>
        </p:bldSub>
      </p:bldGraphic>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space réservé du contenu 8">
            <a:extLst>
              <a:ext uri="{FF2B5EF4-FFF2-40B4-BE49-F238E27FC236}">
                <a16:creationId xmlns:a16="http://schemas.microsoft.com/office/drawing/2014/main" id="{ED3085DB-CFF2-4AE1-B512-30409E952B60}"/>
              </a:ext>
            </a:extLst>
          </p:cNvPr>
          <p:cNvSpPr>
            <a:spLocks noGrp="1"/>
          </p:cNvSpPr>
          <p:nvPr>
            <p:ph idx="1"/>
          </p:nvPr>
        </p:nvSpPr>
        <p:spPr>
          <a:xfrm>
            <a:off x="270587" y="1440652"/>
            <a:ext cx="11635273" cy="3931920"/>
          </a:xfrm>
        </p:spPr>
        <p:txBody>
          <a:bodyPr>
            <a:noAutofit/>
          </a:bodyPr>
          <a:lstStyle/>
          <a:p>
            <a:pPr>
              <a:buFont typeface="Wingdings" panose="05000000000000000000" pitchFamily="2" charset="2"/>
              <a:buChar char="q"/>
            </a:pPr>
            <a:r>
              <a:rPr lang="fr-FR" sz="1900" dirty="0">
                <a:latin typeface="Calibri" panose="020F0502020204030204" pitchFamily="34" charset="0"/>
                <a:cs typeface="Calibri" panose="020F0502020204030204" pitchFamily="34" charset="0"/>
              </a:rPr>
              <a:t>Dans les premières décades du XXème siècle, les nouvelles découvertes scientifiques sont allées jusqu’à faire de la Philosophie, de la Recherche de l’existence de Dieu créateur.</a:t>
            </a:r>
          </a:p>
          <a:p>
            <a:pPr>
              <a:buFont typeface="Wingdings" panose="05000000000000000000" pitchFamily="2" charset="2"/>
              <a:buChar char="q"/>
            </a:pPr>
            <a:r>
              <a:rPr lang="fr-FR" sz="1900" dirty="0">
                <a:latin typeface="Calibri" panose="020F0502020204030204" pitchFamily="34" charset="0"/>
                <a:cs typeface="Calibri" panose="020F0502020204030204" pitchFamily="34" charset="0"/>
              </a:rPr>
              <a:t>Au sein même de la recherche scientifique sont nées des auto-critiques compte tenu de l’ampleur des découvertes et de l’étonnement des résultats observables. Certains soutiennent que les constructions scientifiques ne sont que des conventions utiles pour maîtriser la nature: il ne s’agit pas de savoir si elles sont vraies ou pas : ce serait d’ailleurs impossible.</a:t>
            </a:r>
          </a:p>
          <a:p>
            <a:pPr>
              <a:buFont typeface="Wingdings" panose="05000000000000000000" pitchFamily="2" charset="2"/>
              <a:buChar char="q"/>
            </a:pPr>
            <a:r>
              <a:rPr lang="fr-FR" sz="1900" dirty="0">
                <a:latin typeface="Calibri" panose="020F0502020204030204" pitchFamily="34" charset="0"/>
                <a:cs typeface="Calibri" panose="020F0502020204030204" pitchFamily="34" charset="0"/>
              </a:rPr>
              <a:t>Le conventionnalisme soutient, qui a pour auteur principal </a:t>
            </a:r>
            <a:r>
              <a:rPr lang="fr-FR" sz="1900" b="1" dirty="0">
                <a:latin typeface="Calibri" panose="020F0502020204030204" pitchFamily="34" charset="0"/>
                <a:cs typeface="Calibri" panose="020F0502020204030204" pitchFamily="34" charset="0"/>
              </a:rPr>
              <a:t>Pierre Duhem (1861-1916) </a:t>
            </a:r>
            <a:r>
              <a:rPr lang="fr-FR" sz="1900" dirty="0">
                <a:latin typeface="Calibri" panose="020F0502020204030204" pitchFamily="34" charset="0"/>
                <a:cs typeface="Calibri" panose="020F0502020204030204" pitchFamily="34" charset="0"/>
              </a:rPr>
              <a:t>soutient qu’on ne peut pas démontrer la vérité des hypothèses physiques à partir des données fournies par l’observation, car il sera toujours possible de formuler des théories différentes qui permettent retrouver les mêmes données.</a:t>
            </a:r>
          </a:p>
          <a:p>
            <a:pPr>
              <a:buFont typeface="Wingdings" panose="05000000000000000000" pitchFamily="2" charset="2"/>
              <a:buChar char="q"/>
            </a:pPr>
            <a:r>
              <a:rPr lang="fr-FR" sz="1900" dirty="0">
                <a:latin typeface="Calibri" panose="020F0502020204030204" pitchFamily="34" charset="0"/>
                <a:cs typeface="Calibri" panose="020F0502020204030204" pitchFamily="34" charset="0"/>
              </a:rPr>
              <a:t>D’autres vont prétendre plutôt que les théories scientifiques ne sont que des instruments qui permettent d’atteindre des objectifs pratiques. L’instrumentalisme est une doctrine semblable dont l’auteur principal est </a:t>
            </a:r>
            <a:r>
              <a:rPr lang="fr-FR" sz="1900" b="1" dirty="0">
                <a:latin typeface="Calibri" panose="020F0502020204030204" pitchFamily="34" charset="0"/>
                <a:cs typeface="Calibri" panose="020F0502020204030204" pitchFamily="34" charset="0"/>
              </a:rPr>
              <a:t>Henri Poincaré (1854-1912)</a:t>
            </a:r>
          </a:p>
          <a:p>
            <a:pPr>
              <a:buFont typeface="Wingdings" panose="05000000000000000000" pitchFamily="2" charset="2"/>
              <a:buChar char="q"/>
            </a:pPr>
            <a:r>
              <a:rPr lang="fr-FR" sz="1900" b="1" dirty="0">
                <a:latin typeface="Calibri" panose="020F0502020204030204" pitchFamily="34" charset="0"/>
                <a:cs typeface="Calibri" panose="020F0502020204030204" pitchFamily="34" charset="0"/>
              </a:rPr>
              <a:t>Karl Popper (1992-1994) </a:t>
            </a:r>
            <a:r>
              <a:rPr lang="fr-FR" sz="1900" dirty="0">
                <a:latin typeface="Calibri" panose="020F0502020204030204" pitchFamily="34" charset="0"/>
                <a:cs typeface="Calibri" panose="020F0502020204030204" pitchFamily="34" charset="0"/>
              </a:rPr>
              <a:t>dit, spécialement contre le Cercle de Vienne, dans Logique de la découverte scientifique (1934) que “les positivistes, dans leur désir d’anéantir la métaphysique, anéantissent avec elle la science naturelle”. Popper était viennois, ami de quelques-uns des membres du Cercle de Vienne et </a:t>
            </a:r>
            <a:r>
              <a:rPr lang="fr-FR" sz="1900" dirty="0">
                <a:highlight>
                  <a:srgbClr val="FFFF00"/>
                </a:highlight>
                <a:latin typeface="Calibri" panose="020F0502020204030204" pitchFamily="34" charset="0"/>
                <a:cs typeface="Calibri" panose="020F0502020204030204" pitchFamily="34" charset="0"/>
              </a:rPr>
              <a:t>agnostique</a:t>
            </a:r>
            <a:r>
              <a:rPr lang="fr-FR" sz="1900" dirty="0">
                <a:latin typeface="Calibri" panose="020F0502020204030204" pitchFamily="34" charset="0"/>
                <a:cs typeface="Calibri" panose="020F0502020204030204" pitchFamily="34" charset="0"/>
              </a:rPr>
              <a:t> (doute pratique sur l’existence de Dieu). Mais il se démarquait clairement de leurs positions.</a:t>
            </a:r>
          </a:p>
          <a:p>
            <a:pPr>
              <a:buFont typeface="Wingdings" panose="05000000000000000000" pitchFamily="2" charset="2"/>
              <a:buChar char="q"/>
            </a:pPr>
            <a:endParaRPr lang="fr-FR" sz="1900" dirty="0">
              <a:latin typeface="Calibri" panose="020F0502020204030204" pitchFamily="34" charset="0"/>
              <a:cs typeface="Calibri" panose="020F0502020204030204" pitchFamily="34" charset="0"/>
            </a:endParaRPr>
          </a:p>
        </p:txBody>
      </p:sp>
      <p:sp>
        <p:nvSpPr>
          <p:cNvPr id="10" name="Titre 1">
            <a:extLst>
              <a:ext uri="{FF2B5EF4-FFF2-40B4-BE49-F238E27FC236}">
                <a16:creationId xmlns:a16="http://schemas.microsoft.com/office/drawing/2014/main" id="{F7FE5E5F-DF87-474F-BC2C-7EE299B10A78}"/>
              </a:ext>
            </a:extLst>
          </p:cNvPr>
          <p:cNvSpPr txBox="1">
            <a:spLocks/>
          </p:cNvSpPr>
          <p:nvPr/>
        </p:nvSpPr>
        <p:spPr>
          <a:xfrm>
            <a:off x="1001483" y="74641"/>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35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n-ea"/>
                <a:cs typeface="+mn-cs"/>
              </a:rPr>
              <a:t>1 – La philosophie face aux progrès de la science au XXème siècle (3/3)</a:t>
            </a:r>
          </a:p>
        </p:txBody>
      </p:sp>
    </p:spTree>
    <p:extLst>
      <p:ext uri="{BB962C8B-B14F-4D97-AF65-F5344CB8AC3E}">
        <p14:creationId xmlns:p14="http://schemas.microsoft.com/office/powerpoint/2010/main" val="1613250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p:cTn id="7" dur="500" fill="hold"/>
                                        <p:tgtEl>
                                          <p:spTgt spid="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9">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9">
                                            <p:txEl>
                                              <p:pRg st="0" end="0"/>
                                            </p:txEl>
                                          </p:spTgt>
                                        </p:tgtEl>
                                      </p:cBhvr>
                                    </p:animEffect>
                                    <p:anim calcmode="lin" valueType="num">
                                      <p:cBhvr>
                                        <p:cTn id="10" dur="500" fill="hold"/>
                                        <p:tgtEl>
                                          <p:spTgt spid="9">
                                            <p:txEl>
                                              <p:pRg st="0" end="0"/>
                                            </p:txEl>
                                          </p:spTgt>
                                        </p:tgtEl>
                                        <p:attrNameLst>
                                          <p:attrName>ppt_x</p:attrName>
                                        </p:attrNameLst>
                                      </p:cBhvr>
                                      <p:tavLst>
                                        <p:tav tm="0">
                                          <p:val>
                                            <p:fltVal val="0.5"/>
                                          </p:val>
                                        </p:tav>
                                        <p:tav tm="100000">
                                          <p:val>
                                            <p:strVal val="#ppt_x"/>
                                          </p:val>
                                        </p:tav>
                                      </p:tavLst>
                                    </p:anim>
                                    <p:anim calcmode="lin" valueType="num">
                                      <p:cBhvr>
                                        <p:cTn id="11" dur="500" fill="hold"/>
                                        <p:tgtEl>
                                          <p:spTgt spid="9">
                                            <p:txEl>
                                              <p:pRg st="0" end="0"/>
                                            </p:txEl>
                                          </p:spTgt>
                                        </p:tgtEl>
                                        <p:attrNameLst>
                                          <p:attrName>ppt_y</p:attrName>
                                        </p:attrNameLst>
                                      </p:cBhvr>
                                      <p:tavLst>
                                        <p:tav tm="0">
                                          <p:val>
                                            <p:fltVal val="0.5"/>
                                          </p:val>
                                        </p:tav>
                                        <p:tav tm="100000">
                                          <p:val>
                                            <p:strVal val="#ppt_y"/>
                                          </p:val>
                                        </p:tav>
                                      </p:tavLst>
                                    </p:anim>
                                  </p:childTnLst>
                                </p:cTn>
                              </p:par>
                            </p:childTnLst>
                          </p:cTn>
                        </p:par>
                        <p:par>
                          <p:cTn id="12" fill="hold">
                            <p:stCondLst>
                              <p:cond delay="500"/>
                            </p:stCondLst>
                            <p:childTnLst>
                              <p:par>
                                <p:cTn id="13" presetID="53" presetClass="entr" presetSubtype="528" fill="hold" grpId="0" nodeType="after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anim calcmode="lin" valueType="num">
                                      <p:cBhvr>
                                        <p:cTn id="15" dur="500" fill="hold"/>
                                        <p:tgtEl>
                                          <p:spTgt spid="9">
                                            <p:txEl>
                                              <p:pRg st="1" end="1"/>
                                            </p:txEl>
                                          </p:spTgt>
                                        </p:tgtEl>
                                        <p:attrNameLst>
                                          <p:attrName>ppt_w</p:attrName>
                                        </p:attrNameLst>
                                      </p:cBhvr>
                                      <p:tavLst>
                                        <p:tav tm="0">
                                          <p:val>
                                            <p:fltVal val="0"/>
                                          </p:val>
                                        </p:tav>
                                        <p:tav tm="100000">
                                          <p:val>
                                            <p:strVal val="#ppt_w"/>
                                          </p:val>
                                        </p:tav>
                                      </p:tavLst>
                                    </p:anim>
                                    <p:anim calcmode="lin" valueType="num">
                                      <p:cBhvr>
                                        <p:cTn id="16" dur="500" fill="hold"/>
                                        <p:tgtEl>
                                          <p:spTgt spid="9">
                                            <p:txEl>
                                              <p:pRg st="1" end="1"/>
                                            </p:txEl>
                                          </p:spTgt>
                                        </p:tgtEl>
                                        <p:attrNameLst>
                                          <p:attrName>ppt_h</p:attrName>
                                        </p:attrNameLst>
                                      </p:cBhvr>
                                      <p:tavLst>
                                        <p:tav tm="0">
                                          <p:val>
                                            <p:fltVal val="0"/>
                                          </p:val>
                                        </p:tav>
                                        <p:tav tm="100000">
                                          <p:val>
                                            <p:strVal val="#ppt_h"/>
                                          </p:val>
                                        </p:tav>
                                      </p:tavLst>
                                    </p:anim>
                                    <p:animEffect transition="in" filter="fade">
                                      <p:cBhvr>
                                        <p:cTn id="17" dur="500"/>
                                        <p:tgtEl>
                                          <p:spTgt spid="9">
                                            <p:txEl>
                                              <p:pRg st="1" end="1"/>
                                            </p:txEl>
                                          </p:spTgt>
                                        </p:tgtEl>
                                      </p:cBhvr>
                                    </p:animEffect>
                                    <p:anim calcmode="lin" valueType="num">
                                      <p:cBhvr>
                                        <p:cTn id="18" dur="500" fill="hold"/>
                                        <p:tgtEl>
                                          <p:spTgt spid="9">
                                            <p:txEl>
                                              <p:pRg st="1" end="1"/>
                                            </p:txEl>
                                          </p:spTgt>
                                        </p:tgtEl>
                                        <p:attrNameLst>
                                          <p:attrName>ppt_x</p:attrName>
                                        </p:attrNameLst>
                                      </p:cBhvr>
                                      <p:tavLst>
                                        <p:tav tm="0">
                                          <p:val>
                                            <p:fltVal val="0.5"/>
                                          </p:val>
                                        </p:tav>
                                        <p:tav tm="100000">
                                          <p:val>
                                            <p:strVal val="#ppt_x"/>
                                          </p:val>
                                        </p:tav>
                                      </p:tavLst>
                                    </p:anim>
                                    <p:anim calcmode="lin" valueType="num">
                                      <p:cBhvr>
                                        <p:cTn id="19" dur="500" fill="hold"/>
                                        <p:tgtEl>
                                          <p:spTgt spid="9">
                                            <p:txEl>
                                              <p:pRg st="1" end="1"/>
                                            </p:txEl>
                                          </p:spTgt>
                                        </p:tgtEl>
                                        <p:attrNameLst>
                                          <p:attrName>ppt_y</p:attrName>
                                        </p:attrNameLst>
                                      </p:cBhvr>
                                      <p:tavLst>
                                        <p:tav tm="0">
                                          <p:val>
                                            <p:fltVal val="0.5"/>
                                          </p:val>
                                        </p:tav>
                                        <p:tav tm="100000">
                                          <p:val>
                                            <p:strVal val="#ppt_y"/>
                                          </p:val>
                                        </p:tav>
                                      </p:tavLst>
                                    </p:anim>
                                  </p:childTnLst>
                                </p:cTn>
                              </p:par>
                            </p:childTnLst>
                          </p:cTn>
                        </p:par>
                        <p:par>
                          <p:cTn id="20" fill="hold">
                            <p:stCondLst>
                              <p:cond delay="1000"/>
                            </p:stCondLst>
                            <p:childTnLst>
                              <p:par>
                                <p:cTn id="21" presetID="53" presetClass="entr" presetSubtype="528" fill="hold" grpId="0" nodeType="afterEffect">
                                  <p:stCondLst>
                                    <p:cond delay="0"/>
                                  </p:stCondLst>
                                  <p:childTnLst>
                                    <p:set>
                                      <p:cBhvr>
                                        <p:cTn id="22" dur="1" fill="hold">
                                          <p:stCondLst>
                                            <p:cond delay="0"/>
                                          </p:stCondLst>
                                        </p:cTn>
                                        <p:tgtEl>
                                          <p:spTgt spid="9">
                                            <p:txEl>
                                              <p:pRg st="2" end="2"/>
                                            </p:txEl>
                                          </p:spTgt>
                                        </p:tgtEl>
                                        <p:attrNameLst>
                                          <p:attrName>style.visibility</p:attrName>
                                        </p:attrNameLst>
                                      </p:cBhvr>
                                      <p:to>
                                        <p:strVal val="visible"/>
                                      </p:to>
                                    </p:set>
                                    <p:anim calcmode="lin" valueType="num">
                                      <p:cBhvr>
                                        <p:cTn id="23" dur="500" fill="hold"/>
                                        <p:tgtEl>
                                          <p:spTgt spid="9">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9">
                                            <p:txEl>
                                              <p:pRg st="2" end="2"/>
                                            </p:txEl>
                                          </p:spTgt>
                                        </p:tgtEl>
                                        <p:attrNameLst>
                                          <p:attrName>ppt_h</p:attrName>
                                        </p:attrNameLst>
                                      </p:cBhvr>
                                      <p:tavLst>
                                        <p:tav tm="0">
                                          <p:val>
                                            <p:fltVal val="0"/>
                                          </p:val>
                                        </p:tav>
                                        <p:tav tm="100000">
                                          <p:val>
                                            <p:strVal val="#ppt_h"/>
                                          </p:val>
                                        </p:tav>
                                      </p:tavLst>
                                    </p:anim>
                                    <p:animEffect transition="in" filter="fade">
                                      <p:cBhvr>
                                        <p:cTn id="25" dur="500"/>
                                        <p:tgtEl>
                                          <p:spTgt spid="9">
                                            <p:txEl>
                                              <p:pRg st="2" end="2"/>
                                            </p:txEl>
                                          </p:spTgt>
                                        </p:tgtEl>
                                      </p:cBhvr>
                                    </p:animEffect>
                                    <p:anim calcmode="lin" valueType="num">
                                      <p:cBhvr>
                                        <p:cTn id="26" dur="500" fill="hold"/>
                                        <p:tgtEl>
                                          <p:spTgt spid="9">
                                            <p:txEl>
                                              <p:pRg st="2" end="2"/>
                                            </p:txEl>
                                          </p:spTgt>
                                        </p:tgtEl>
                                        <p:attrNameLst>
                                          <p:attrName>ppt_x</p:attrName>
                                        </p:attrNameLst>
                                      </p:cBhvr>
                                      <p:tavLst>
                                        <p:tav tm="0">
                                          <p:val>
                                            <p:fltVal val="0.5"/>
                                          </p:val>
                                        </p:tav>
                                        <p:tav tm="100000">
                                          <p:val>
                                            <p:strVal val="#ppt_x"/>
                                          </p:val>
                                        </p:tav>
                                      </p:tavLst>
                                    </p:anim>
                                    <p:anim calcmode="lin" valueType="num">
                                      <p:cBhvr>
                                        <p:cTn id="27" dur="500" fill="hold"/>
                                        <p:tgtEl>
                                          <p:spTgt spid="9">
                                            <p:txEl>
                                              <p:pRg st="2" end="2"/>
                                            </p:txEl>
                                          </p:spTgt>
                                        </p:tgtEl>
                                        <p:attrNameLst>
                                          <p:attrName>ppt_y</p:attrName>
                                        </p:attrNameLst>
                                      </p:cBhvr>
                                      <p:tavLst>
                                        <p:tav tm="0">
                                          <p:val>
                                            <p:fltVal val="0.5"/>
                                          </p:val>
                                        </p:tav>
                                        <p:tav tm="100000">
                                          <p:val>
                                            <p:strVal val="#ppt_y"/>
                                          </p:val>
                                        </p:tav>
                                      </p:tavLst>
                                    </p:anim>
                                  </p:childTnLst>
                                </p:cTn>
                              </p:par>
                            </p:childTnLst>
                          </p:cTn>
                        </p:par>
                        <p:par>
                          <p:cTn id="28" fill="hold">
                            <p:stCondLst>
                              <p:cond delay="1500"/>
                            </p:stCondLst>
                            <p:childTnLst>
                              <p:par>
                                <p:cTn id="29" presetID="53" presetClass="entr" presetSubtype="528" fill="hold" grpId="0" nodeType="afterEffect">
                                  <p:stCondLst>
                                    <p:cond delay="0"/>
                                  </p:stCondLst>
                                  <p:childTnLst>
                                    <p:set>
                                      <p:cBhvr>
                                        <p:cTn id="30" dur="1" fill="hold">
                                          <p:stCondLst>
                                            <p:cond delay="0"/>
                                          </p:stCondLst>
                                        </p:cTn>
                                        <p:tgtEl>
                                          <p:spTgt spid="9">
                                            <p:txEl>
                                              <p:pRg st="3" end="3"/>
                                            </p:txEl>
                                          </p:spTgt>
                                        </p:tgtEl>
                                        <p:attrNameLst>
                                          <p:attrName>style.visibility</p:attrName>
                                        </p:attrNameLst>
                                      </p:cBhvr>
                                      <p:to>
                                        <p:strVal val="visible"/>
                                      </p:to>
                                    </p:set>
                                    <p:anim calcmode="lin" valueType="num">
                                      <p:cBhvr>
                                        <p:cTn id="31" dur="500" fill="hold"/>
                                        <p:tgtEl>
                                          <p:spTgt spid="9">
                                            <p:txEl>
                                              <p:pRg st="3" end="3"/>
                                            </p:txEl>
                                          </p:spTgt>
                                        </p:tgtEl>
                                        <p:attrNameLst>
                                          <p:attrName>ppt_w</p:attrName>
                                        </p:attrNameLst>
                                      </p:cBhvr>
                                      <p:tavLst>
                                        <p:tav tm="0">
                                          <p:val>
                                            <p:fltVal val="0"/>
                                          </p:val>
                                        </p:tav>
                                        <p:tav tm="100000">
                                          <p:val>
                                            <p:strVal val="#ppt_w"/>
                                          </p:val>
                                        </p:tav>
                                      </p:tavLst>
                                    </p:anim>
                                    <p:anim calcmode="lin" valueType="num">
                                      <p:cBhvr>
                                        <p:cTn id="32" dur="500" fill="hold"/>
                                        <p:tgtEl>
                                          <p:spTgt spid="9">
                                            <p:txEl>
                                              <p:pRg st="3" end="3"/>
                                            </p:txEl>
                                          </p:spTgt>
                                        </p:tgtEl>
                                        <p:attrNameLst>
                                          <p:attrName>ppt_h</p:attrName>
                                        </p:attrNameLst>
                                      </p:cBhvr>
                                      <p:tavLst>
                                        <p:tav tm="0">
                                          <p:val>
                                            <p:fltVal val="0"/>
                                          </p:val>
                                        </p:tav>
                                        <p:tav tm="100000">
                                          <p:val>
                                            <p:strVal val="#ppt_h"/>
                                          </p:val>
                                        </p:tav>
                                      </p:tavLst>
                                    </p:anim>
                                    <p:animEffect transition="in" filter="fade">
                                      <p:cBhvr>
                                        <p:cTn id="33" dur="500"/>
                                        <p:tgtEl>
                                          <p:spTgt spid="9">
                                            <p:txEl>
                                              <p:pRg st="3" end="3"/>
                                            </p:txEl>
                                          </p:spTgt>
                                        </p:tgtEl>
                                      </p:cBhvr>
                                    </p:animEffect>
                                    <p:anim calcmode="lin" valueType="num">
                                      <p:cBhvr>
                                        <p:cTn id="34" dur="500" fill="hold"/>
                                        <p:tgtEl>
                                          <p:spTgt spid="9">
                                            <p:txEl>
                                              <p:pRg st="3" end="3"/>
                                            </p:txEl>
                                          </p:spTgt>
                                        </p:tgtEl>
                                        <p:attrNameLst>
                                          <p:attrName>ppt_x</p:attrName>
                                        </p:attrNameLst>
                                      </p:cBhvr>
                                      <p:tavLst>
                                        <p:tav tm="0">
                                          <p:val>
                                            <p:fltVal val="0.5"/>
                                          </p:val>
                                        </p:tav>
                                        <p:tav tm="100000">
                                          <p:val>
                                            <p:strVal val="#ppt_x"/>
                                          </p:val>
                                        </p:tav>
                                      </p:tavLst>
                                    </p:anim>
                                    <p:anim calcmode="lin" valueType="num">
                                      <p:cBhvr>
                                        <p:cTn id="35" dur="500" fill="hold"/>
                                        <p:tgtEl>
                                          <p:spTgt spid="9">
                                            <p:txEl>
                                              <p:pRg st="3" end="3"/>
                                            </p:txEl>
                                          </p:spTgt>
                                        </p:tgtEl>
                                        <p:attrNameLst>
                                          <p:attrName>ppt_y</p:attrName>
                                        </p:attrNameLst>
                                      </p:cBhvr>
                                      <p:tavLst>
                                        <p:tav tm="0">
                                          <p:val>
                                            <p:fltVal val="0.5"/>
                                          </p:val>
                                        </p:tav>
                                        <p:tav tm="100000">
                                          <p:val>
                                            <p:strVal val="#ppt_y"/>
                                          </p:val>
                                        </p:tav>
                                      </p:tavLst>
                                    </p:anim>
                                  </p:childTnLst>
                                </p:cTn>
                              </p:par>
                            </p:childTnLst>
                          </p:cTn>
                        </p:par>
                        <p:par>
                          <p:cTn id="36" fill="hold">
                            <p:stCondLst>
                              <p:cond delay="2000"/>
                            </p:stCondLst>
                            <p:childTnLst>
                              <p:par>
                                <p:cTn id="37" presetID="53" presetClass="entr" presetSubtype="528" fill="hold" grpId="0" nodeType="afterEffect">
                                  <p:stCondLst>
                                    <p:cond delay="0"/>
                                  </p:stCondLst>
                                  <p:childTnLst>
                                    <p:set>
                                      <p:cBhvr>
                                        <p:cTn id="38" dur="1" fill="hold">
                                          <p:stCondLst>
                                            <p:cond delay="0"/>
                                          </p:stCondLst>
                                        </p:cTn>
                                        <p:tgtEl>
                                          <p:spTgt spid="9">
                                            <p:txEl>
                                              <p:pRg st="4" end="4"/>
                                            </p:txEl>
                                          </p:spTgt>
                                        </p:tgtEl>
                                        <p:attrNameLst>
                                          <p:attrName>style.visibility</p:attrName>
                                        </p:attrNameLst>
                                      </p:cBhvr>
                                      <p:to>
                                        <p:strVal val="visible"/>
                                      </p:to>
                                    </p:set>
                                    <p:anim calcmode="lin" valueType="num">
                                      <p:cBhvr>
                                        <p:cTn id="39" dur="500" fill="hold"/>
                                        <p:tgtEl>
                                          <p:spTgt spid="9">
                                            <p:txEl>
                                              <p:pRg st="4" end="4"/>
                                            </p:txEl>
                                          </p:spTgt>
                                        </p:tgtEl>
                                        <p:attrNameLst>
                                          <p:attrName>ppt_w</p:attrName>
                                        </p:attrNameLst>
                                      </p:cBhvr>
                                      <p:tavLst>
                                        <p:tav tm="0">
                                          <p:val>
                                            <p:fltVal val="0"/>
                                          </p:val>
                                        </p:tav>
                                        <p:tav tm="100000">
                                          <p:val>
                                            <p:strVal val="#ppt_w"/>
                                          </p:val>
                                        </p:tav>
                                      </p:tavLst>
                                    </p:anim>
                                    <p:anim calcmode="lin" valueType="num">
                                      <p:cBhvr>
                                        <p:cTn id="40" dur="500" fill="hold"/>
                                        <p:tgtEl>
                                          <p:spTgt spid="9">
                                            <p:txEl>
                                              <p:pRg st="4" end="4"/>
                                            </p:txEl>
                                          </p:spTgt>
                                        </p:tgtEl>
                                        <p:attrNameLst>
                                          <p:attrName>ppt_h</p:attrName>
                                        </p:attrNameLst>
                                      </p:cBhvr>
                                      <p:tavLst>
                                        <p:tav tm="0">
                                          <p:val>
                                            <p:fltVal val="0"/>
                                          </p:val>
                                        </p:tav>
                                        <p:tav tm="100000">
                                          <p:val>
                                            <p:strVal val="#ppt_h"/>
                                          </p:val>
                                        </p:tav>
                                      </p:tavLst>
                                    </p:anim>
                                    <p:animEffect transition="in" filter="fade">
                                      <p:cBhvr>
                                        <p:cTn id="41" dur="500"/>
                                        <p:tgtEl>
                                          <p:spTgt spid="9">
                                            <p:txEl>
                                              <p:pRg st="4" end="4"/>
                                            </p:txEl>
                                          </p:spTgt>
                                        </p:tgtEl>
                                      </p:cBhvr>
                                    </p:animEffect>
                                    <p:anim calcmode="lin" valueType="num">
                                      <p:cBhvr>
                                        <p:cTn id="42" dur="500" fill="hold"/>
                                        <p:tgtEl>
                                          <p:spTgt spid="9">
                                            <p:txEl>
                                              <p:pRg st="4" end="4"/>
                                            </p:txEl>
                                          </p:spTgt>
                                        </p:tgtEl>
                                        <p:attrNameLst>
                                          <p:attrName>ppt_x</p:attrName>
                                        </p:attrNameLst>
                                      </p:cBhvr>
                                      <p:tavLst>
                                        <p:tav tm="0">
                                          <p:val>
                                            <p:fltVal val="0.5"/>
                                          </p:val>
                                        </p:tav>
                                        <p:tav tm="100000">
                                          <p:val>
                                            <p:strVal val="#ppt_x"/>
                                          </p:val>
                                        </p:tav>
                                      </p:tavLst>
                                    </p:anim>
                                    <p:anim calcmode="lin" valueType="num">
                                      <p:cBhvr>
                                        <p:cTn id="43" dur="500" fill="hold"/>
                                        <p:tgtEl>
                                          <p:spTgt spid="9">
                                            <p:txEl>
                                              <p:pRg st="4" end="4"/>
                                            </p:txEl>
                                          </p:spTgt>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F7FE5E5F-DF87-474F-BC2C-7EE299B10A78}"/>
              </a:ext>
            </a:extLst>
          </p:cNvPr>
          <p:cNvSpPr txBox="1">
            <a:spLocks/>
          </p:cNvSpPr>
          <p:nvPr/>
        </p:nvSpPr>
        <p:spPr>
          <a:xfrm>
            <a:off x="1001483" y="74641"/>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35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n-ea"/>
                <a:cs typeface="+mn-cs"/>
              </a:rPr>
              <a:t>a - La Réflexion sur la science se focalise encore sur deux questions fondamentales</a:t>
            </a:r>
          </a:p>
        </p:txBody>
      </p:sp>
      <p:graphicFrame>
        <p:nvGraphicFramePr>
          <p:cNvPr id="5" name="Espace réservé du contenu 4">
            <a:extLst>
              <a:ext uri="{FF2B5EF4-FFF2-40B4-BE49-F238E27FC236}">
                <a16:creationId xmlns:a16="http://schemas.microsoft.com/office/drawing/2014/main" id="{19E1F1AB-13C9-4867-B83C-5FEF3C62E2EF}"/>
              </a:ext>
            </a:extLst>
          </p:cNvPr>
          <p:cNvGraphicFramePr>
            <a:graphicFrameLocks noGrp="1"/>
          </p:cNvGraphicFramePr>
          <p:nvPr>
            <p:ph idx="1"/>
            <p:extLst>
              <p:ext uri="{D42A27DB-BD31-4B8C-83A1-F6EECF244321}">
                <p14:modId xmlns:p14="http://schemas.microsoft.com/office/powerpoint/2010/main" val="2037770240"/>
              </p:ext>
            </p:extLst>
          </p:nvPr>
        </p:nvGraphicFramePr>
        <p:xfrm>
          <a:off x="637590" y="1446241"/>
          <a:ext cx="10932369" cy="41054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7905736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F7FE5E5F-DF87-474F-BC2C-7EE299B10A78}"/>
              </a:ext>
            </a:extLst>
          </p:cNvPr>
          <p:cNvSpPr txBox="1">
            <a:spLocks/>
          </p:cNvSpPr>
          <p:nvPr/>
        </p:nvSpPr>
        <p:spPr>
          <a:xfrm>
            <a:off x="1001483" y="74641"/>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3500" dirty="0">
                <a:solidFill>
                  <a:prstClr val="black">
                    <a:lumMod val="85000"/>
                    <a:lumOff val="15000"/>
                  </a:prstClr>
                </a:solidFill>
                <a:latin typeface="Century Gothic" panose="020B0502020202020204"/>
              </a:rPr>
              <a:t>b</a:t>
            </a:r>
            <a:r>
              <a:rPr kumimoji="0" lang="fr-FR" sz="35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n-ea"/>
                <a:cs typeface="+mn-cs"/>
              </a:rPr>
              <a:t> - Quelques apports des différents auteurs</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35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n-ea"/>
                <a:cs typeface="+mn-cs"/>
              </a:rPr>
              <a:t>(1/3)</a:t>
            </a:r>
          </a:p>
        </p:txBody>
      </p:sp>
      <p:graphicFrame>
        <p:nvGraphicFramePr>
          <p:cNvPr id="4" name="Espace réservé du contenu 3">
            <a:extLst>
              <a:ext uri="{FF2B5EF4-FFF2-40B4-BE49-F238E27FC236}">
                <a16:creationId xmlns:a16="http://schemas.microsoft.com/office/drawing/2014/main" id="{076A9ABE-3DE4-4E07-9F28-6A563D7C11AE}"/>
              </a:ext>
            </a:extLst>
          </p:cNvPr>
          <p:cNvGraphicFramePr>
            <a:graphicFrameLocks noGrp="1"/>
          </p:cNvGraphicFramePr>
          <p:nvPr>
            <p:ph idx="1"/>
            <p:extLst>
              <p:ext uri="{D42A27DB-BD31-4B8C-83A1-F6EECF244321}">
                <p14:modId xmlns:p14="http://schemas.microsoft.com/office/powerpoint/2010/main" val="1906142737"/>
              </p:ext>
            </p:extLst>
          </p:nvPr>
        </p:nvGraphicFramePr>
        <p:xfrm>
          <a:off x="307910" y="1306286"/>
          <a:ext cx="11485984" cy="47293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96092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F7FE5E5F-DF87-474F-BC2C-7EE299B10A78}"/>
              </a:ext>
            </a:extLst>
          </p:cNvPr>
          <p:cNvSpPr txBox="1">
            <a:spLocks/>
          </p:cNvSpPr>
          <p:nvPr/>
        </p:nvSpPr>
        <p:spPr>
          <a:xfrm>
            <a:off x="1001483" y="74641"/>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3500" dirty="0">
                <a:solidFill>
                  <a:prstClr val="black">
                    <a:lumMod val="85000"/>
                    <a:lumOff val="15000"/>
                  </a:prstClr>
                </a:solidFill>
                <a:latin typeface="Century Gothic" panose="020B0502020202020204"/>
              </a:rPr>
              <a:t>b</a:t>
            </a:r>
            <a:r>
              <a:rPr kumimoji="0" lang="fr-FR" sz="35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n-ea"/>
                <a:cs typeface="+mn-cs"/>
              </a:rPr>
              <a:t> - Quelques apports des différents auteurs</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35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n-ea"/>
                <a:cs typeface="+mn-cs"/>
              </a:rPr>
              <a:t>(2/3)</a:t>
            </a:r>
          </a:p>
        </p:txBody>
      </p:sp>
      <p:graphicFrame>
        <p:nvGraphicFramePr>
          <p:cNvPr id="4" name="Espace réservé du contenu 3">
            <a:extLst>
              <a:ext uri="{FF2B5EF4-FFF2-40B4-BE49-F238E27FC236}">
                <a16:creationId xmlns:a16="http://schemas.microsoft.com/office/drawing/2014/main" id="{076A9ABE-3DE4-4E07-9F28-6A563D7C11AE}"/>
              </a:ext>
            </a:extLst>
          </p:cNvPr>
          <p:cNvGraphicFramePr>
            <a:graphicFrameLocks noGrp="1"/>
          </p:cNvGraphicFramePr>
          <p:nvPr>
            <p:ph idx="1"/>
            <p:extLst>
              <p:ext uri="{D42A27DB-BD31-4B8C-83A1-F6EECF244321}">
                <p14:modId xmlns:p14="http://schemas.microsoft.com/office/powerpoint/2010/main" val="1767997855"/>
              </p:ext>
            </p:extLst>
          </p:nvPr>
        </p:nvGraphicFramePr>
        <p:xfrm>
          <a:off x="307910" y="1306286"/>
          <a:ext cx="11485984" cy="54770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30835870"/>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F7FE5E5F-DF87-474F-BC2C-7EE299B10A78}"/>
              </a:ext>
            </a:extLst>
          </p:cNvPr>
          <p:cNvSpPr txBox="1">
            <a:spLocks/>
          </p:cNvSpPr>
          <p:nvPr/>
        </p:nvSpPr>
        <p:spPr>
          <a:xfrm>
            <a:off x="1001483" y="74641"/>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3500" dirty="0">
                <a:solidFill>
                  <a:prstClr val="black">
                    <a:lumMod val="85000"/>
                    <a:lumOff val="15000"/>
                  </a:prstClr>
                </a:solidFill>
                <a:latin typeface="Century Gothic" panose="020B0502020202020204"/>
              </a:rPr>
              <a:t>b</a:t>
            </a:r>
            <a:r>
              <a:rPr kumimoji="0" lang="fr-FR" sz="35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n-ea"/>
                <a:cs typeface="+mn-cs"/>
              </a:rPr>
              <a:t> - Quelques apports des différents auteurs</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35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n-ea"/>
                <a:cs typeface="+mn-cs"/>
              </a:rPr>
              <a:t>(3/3)</a:t>
            </a:r>
          </a:p>
        </p:txBody>
      </p:sp>
      <p:graphicFrame>
        <p:nvGraphicFramePr>
          <p:cNvPr id="4" name="Espace réservé du contenu 3">
            <a:extLst>
              <a:ext uri="{FF2B5EF4-FFF2-40B4-BE49-F238E27FC236}">
                <a16:creationId xmlns:a16="http://schemas.microsoft.com/office/drawing/2014/main" id="{076A9ABE-3DE4-4E07-9F28-6A563D7C11AE}"/>
              </a:ext>
            </a:extLst>
          </p:cNvPr>
          <p:cNvGraphicFramePr>
            <a:graphicFrameLocks noGrp="1"/>
          </p:cNvGraphicFramePr>
          <p:nvPr>
            <p:ph idx="1"/>
            <p:extLst>
              <p:ext uri="{D42A27DB-BD31-4B8C-83A1-F6EECF244321}">
                <p14:modId xmlns:p14="http://schemas.microsoft.com/office/powerpoint/2010/main" val="3674719258"/>
              </p:ext>
            </p:extLst>
          </p:nvPr>
        </p:nvGraphicFramePr>
        <p:xfrm>
          <a:off x="307910" y="1306286"/>
          <a:ext cx="11485984" cy="54770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713532"/>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E76651B7-2957-4D7C-ABEF-142980284632}"/>
              </a:ext>
            </a:extLst>
          </p:cNvPr>
          <p:cNvSpPr txBox="1">
            <a:spLocks/>
          </p:cNvSpPr>
          <p:nvPr/>
        </p:nvSpPr>
        <p:spPr>
          <a:xfrm>
            <a:off x="1001483" y="74641"/>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3500" dirty="0">
                <a:solidFill>
                  <a:prstClr val="black">
                    <a:lumMod val="85000"/>
                    <a:lumOff val="15000"/>
                  </a:prstClr>
                </a:solidFill>
                <a:latin typeface="Century Gothic" panose="020B0502020202020204"/>
              </a:rPr>
              <a:t>2</a:t>
            </a:r>
            <a:r>
              <a:rPr kumimoji="0" lang="fr-FR" sz="35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n-ea"/>
                <a:cs typeface="+mn-cs"/>
              </a:rPr>
              <a:t> – D’autres réflexions annexes sur la Science</a:t>
            </a:r>
          </a:p>
          <a:p>
            <a:pPr marL="0" marR="0" lvl="0" indent="0" algn="l" defTabSz="914400" rtl="0" eaLnBrk="1" fontAlgn="auto" latinLnBrk="0" hangingPunct="1">
              <a:lnSpc>
                <a:spcPct val="90000"/>
              </a:lnSpc>
              <a:spcBef>
                <a:spcPct val="0"/>
              </a:spcBef>
              <a:spcAft>
                <a:spcPts val="0"/>
              </a:spcAft>
              <a:buClrTx/>
              <a:buSzTx/>
              <a:buFontTx/>
              <a:buNone/>
              <a:tabLst/>
              <a:defRPr/>
            </a:pPr>
            <a:r>
              <a:rPr lang="fr-FR" sz="3500" dirty="0">
                <a:solidFill>
                  <a:prstClr val="black">
                    <a:lumMod val="85000"/>
                    <a:lumOff val="15000"/>
                  </a:prstClr>
                </a:solidFill>
                <a:latin typeface="Century Gothic" panose="020B0502020202020204"/>
              </a:rPr>
              <a:t>(1/3)</a:t>
            </a:r>
            <a:endParaRPr kumimoji="0" lang="fr-FR" sz="35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n-ea"/>
              <a:cs typeface="+mn-cs"/>
            </a:endParaRPr>
          </a:p>
        </p:txBody>
      </p:sp>
      <p:graphicFrame>
        <p:nvGraphicFramePr>
          <p:cNvPr id="2" name="Espace réservé du contenu 1">
            <a:extLst>
              <a:ext uri="{FF2B5EF4-FFF2-40B4-BE49-F238E27FC236}">
                <a16:creationId xmlns:a16="http://schemas.microsoft.com/office/drawing/2014/main" id="{5F399703-4CB8-421C-98FA-744A2B80F178}"/>
              </a:ext>
            </a:extLst>
          </p:cNvPr>
          <p:cNvGraphicFramePr>
            <a:graphicFrameLocks noGrp="1"/>
          </p:cNvGraphicFramePr>
          <p:nvPr>
            <p:ph idx="1"/>
            <p:extLst>
              <p:ext uri="{D42A27DB-BD31-4B8C-83A1-F6EECF244321}">
                <p14:modId xmlns:p14="http://schemas.microsoft.com/office/powerpoint/2010/main" val="3281451799"/>
              </p:ext>
            </p:extLst>
          </p:nvPr>
        </p:nvGraphicFramePr>
        <p:xfrm>
          <a:off x="326571" y="1166328"/>
          <a:ext cx="11476653" cy="31350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Espace réservé du contenu 2">
            <a:extLst>
              <a:ext uri="{FF2B5EF4-FFF2-40B4-BE49-F238E27FC236}">
                <a16:creationId xmlns:a16="http://schemas.microsoft.com/office/drawing/2014/main" id="{DC4B0393-BEE1-4537-8F76-4BC7FB45577A}"/>
              </a:ext>
            </a:extLst>
          </p:cNvPr>
          <p:cNvSpPr txBox="1">
            <a:spLocks/>
          </p:cNvSpPr>
          <p:nvPr/>
        </p:nvSpPr>
        <p:spPr>
          <a:xfrm>
            <a:off x="572275" y="4329405"/>
            <a:ext cx="8693024" cy="559837"/>
          </a:xfrm>
          <a:prstGeom prst="rect">
            <a:avLst/>
          </a:prstGeom>
        </p:spPr>
        <p:txBody>
          <a:bodyPr vert="horz" lIns="91440" tIns="45720" rIns="91440" bIns="45720" rtlCol="0">
            <a:noAutofit/>
          </a:bodyPr>
          <a:lst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algn="just">
              <a:lnSpc>
                <a:spcPct val="107000"/>
              </a:lnSpc>
              <a:spcAft>
                <a:spcPts val="800"/>
              </a:spcAft>
            </a:pPr>
            <a:r>
              <a:rPr lang="fr-CI" sz="18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Entre ces deux extrêmes, des penseurs ont adopté des positions conciliantes :</a:t>
            </a:r>
            <a:endParaRPr lang="fr-FR" sz="18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fr-FR" sz="1900" dirty="0">
              <a:highlight>
                <a:srgbClr val="FFFF00"/>
              </a:highlight>
            </a:endParaRPr>
          </a:p>
        </p:txBody>
      </p:sp>
    </p:spTree>
    <p:extLst>
      <p:ext uri="{BB962C8B-B14F-4D97-AF65-F5344CB8AC3E}">
        <p14:creationId xmlns:p14="http://schemas.microsoft.com/office/powerpoint/2010/main" val="33770695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graphicEl>
                                              <a:dgm id="{649F80F7-861F-4817-8221-2003992468A9}"/>
                                            </p:graphicEl>
                                          </p:spTgt>
                                        </p:tgtEl>
                                        <p:attrNameLst>
                                          <p:attrName>style.visibility</p:attrName>
                                        </p:attrNameLst>
                                      </p:cBhvr>
                                      <p:to>
                                        <p:strVal val="visible"/>
                                      </p:to>
                                    </p:set>
                                    <p:animEffect transition="in" filter="wipe(up)">
                                      <p:cBhvr>
                                        <p:cTn id="7" dur="500"/>
                                        <p:tgtEl>
                                          <p:spTgt spid="2">
                                            <p:graphicEl>
                                              <a:dgm id="{649F80F7-861F-4817-8221-2003992468A9}"/>
                                            </p:graphic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graphicEl>
                                              <a:dgm id="{30C0A05C-28B3-4B97-BABB-F8E1230DAA52}"/>
                                            </p:graphicEl>
                                          </p:spTgt>
                                        </p:tgtEl>
                                        <p:attrNameLst>
                                          <p:attrName>style.visibility</p:attrName>
                                        </p:attrNameLst>
                                      </p:cBhvr>
                                      <p:to>
                                        <p:strVal val="visible"/>
                                      </p:to>
                                    </p:set>
                                    <p:animEffect transition="in" filter="wipe(up)">
                                      <p:cBhvr>
                                        <p:cTn id="11" dur="500"/>
                                        <p:tgtEl>
                                          <p:spTgt spid="2">
                                            <p:graphicEl>
                                              <a:dgm id="{30C0A05C-28B3-4B97-BABB-F8E1230DAA52}"/>
                                            </p:graphicEl>
                                          </p:spTgt>
                                        </p:tgtEl>
                                      </p:cBhvr>
                                    </p:animEffect>
                                  </p:childTnLst>
                                </p:cTn>
                              </p:par>
                            </p:childTnLst>
                          </p:cTn>
                        </p:par>
                        <p:par>
                          <p:cTn id="12" fill="hold">
                            <p:stCondLst>
                              <p:cond delay="1000"/>
                            </p:stCondLst>
                            <p:childTnLst>
                              <p:par>
                                <p:cTn id="13" presetID="2" presetClass="entr" presetSubtype="8"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P spid="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E76651B7-2957-4D7C-ABEF-142980284632}"/>
              </a:ext>
            </a:extLst>
          </p:cNvPr>
          <p:cNvSpPr txBox="1">
            <a:spLocks/>
          </p:cNvSpPr>
          <p:nvPr/>
        </p:nvSpPr>
        <p:spPr>
          <a:xfrm>
            <a:off x="1001483" y="74641"/>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3500" dirty="0">
                <a:solidFill>
                  <a:prstClr val="black">
                    <a:lumMod val="85000"/>
                    <a:lumOff val="15000"/>
                  </a:prstClr>
                </a:solidFill>
                <a:latin typeface="Century Gothic" panose="020B0502020202020204"/>
              </a:rPr>
              <a:t>2</a:t>
            </a:r>
            <a:r>
              <a:rPr kumimoji="0" lang="fr-FR" sz="35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n-ea"/>
                <a:cs typeface="+mn-cs"/>
              </a:rPr>
              <a:t> – D’autres réflexions annexes sur la Science</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35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n-ea"/>
                <a:cs typeface="+mn-cs"/>
              </a:rPr>
              <a:t>(2/3)</a:t>
            </a:r>
          </a:p>
        </p:txBody>
      </p:sp>
      <p:graphicFrame>
        <p:nvGraphicFramePr>
          <p:cNvPr id="2" name="Espace réservé du contenu 1">
            <a:extLst>
              <a:ext uri="{FF2B5EF4-FFF2-40B4-BE49-F238E27FC236}">
                <a16:creationId xmlns:a16="http://schemas.microsoft.com/office/drawing/2014/main" id="{5F399703-4CB8-421C-98FA-744A2B80F178}"/>
              </a:ext>
            </a:extLst>
          </p:cNvPr>
          <p:cNvGraphicFramePr>
            <a:graphicFrameLocks noGrp="1"/>
          </p:cNvGraphicFramePr>
          <p:nvPr>
            <p:ph idx="1"/>
            <p:extLst>
              <p:ext uri="{D42A27DB-BD31-4B8C-83A1-F6EECF244321}">
                <p14:modId xmlns:p14="http://schemas.microsoft.com/office/powerpoint/2010/main" val="3976800174"/>
              </p:ext>
            </p:extLst>
          </p:nvPr>
        </p:nvGraphicFramePr>
        <p:xfrm>
          <a:off x="326571" y="1343610"/>
          <a:ext cx="11476653" cy="51411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32756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graphicEl>
                                              <a:dgm id="{30C0A05C-28B3-4B97-BABB-F8E1230DAA52}"/>
                                            </p:graphicEl>
                                          </p:spTgt>
                                        </p:tgtEl>
                                        <p:attrNameLst>
                                          <p:attrName>style.visibility</p:attrName>
                                        </p:attrNameLst>
                                      </p:cBhvr>
                                      <p:to>
                                        <p:strVal val="visible"/>
                                      </p:to>
                                    </p:set>
                                    <p:animEffect transition="in" filter="wipe(left)">
                                      <p:cBhvr>
                                        <p:cTn id="7" dur="500"/>
                                        <p:tgtEl>
                                          <p:spTgt spid="2">
                                            <p:graphicEl>
                                              <a:dgm id="{30C0A05C-28B3-4B97-BABB-F8E1230DAA52}"/>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uiExpand="1">
        <p:bldSub>
          <a:bldDgm bld="lvlOne"/>
        </p:bldSub>
      </p:bldGraphic>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E76651B7-2957-4D7C-ABEF-142980284632}"/>
              </a:ext>
            </a:extLst>
          </p:cNvPr>
          <p:cNvSpPr txBox="1">
            <a:spLocks/>
          </p:cNvSpPr>
          <p:nvPr/>
        </p:nvSpPr>
        <p:spPr>
          <a:xfrm>
            <a:off x="1001483" y="74641"/>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sz="3500" dirty="0">
                <a:solidFill>
                  <a:prstClr val="black">
                    <a:lumMod val="85000"/>
                    <a:lumOff val="15000"/>
                  </a:prstClr>
                </a:solidFill>
                <a:latin typeface="Century Gothic" panose="020B0502020202020204"/>
              </a:rPr>
              <a:t>2</a:t>
            </a:r>
            <a:r>
              <a:rPr kumimoji="0" lang="fr-FR" sz="35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n-ea"/>
                <a:cs typeface="+mn-cs"/>
              </a:rPr>
              <a:t> – D’autres réflexions annexes sur la Science</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35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n-ea"/>
                <a:cs typeface="+mn-cs"/>
              </a:rPr>
              <a:t>(3/3)</a:t>
            </a:r>
          </a:p>
        </p:txBody>
      </p:sp>
      <p:graphicFrame>
        <p:nvGraphicFramePr>
          <p:cNvPr id="2" name="Espace réservé du contenu 1">
            <a:extLst>
              <a:ext uri="{FF2B5EF4-FFF2-40B4-BE49-F238E27FC236}">
                <a16:creationId xmlns:a16="http://schemas.microsoft.com/office/drawing/2014/main" id="{5F399703-4CB8-421C-98FA-744A2B80F178}"/>
              </a:ext>
            </a:extLst>
          </p:cNvPr>
          <p:cNvGraphicFramePr>
            <a:graphicFrameLocks noGrp="1"/>
          </p:cNvGraphicFramePr>
          <p:nvPr>
            <p:ph idx="1"/>
            <p:extLst>
              <p:ext uri="{D42A27DB-BD31-4B8C-83A1-F6EECF244321}">
                <p14:modId xmlns:p14="http://schemas.microsoft.com/office/powerpoint/2010/main" val="1134791265"/>
              </p:ext>
            </p:extLst>
          </p:nvPr>
        </p:nvGraphicFramePr>
        <p:xfrm>
          <a:off x="326571" y="1548881"/>
          <a:ext cx="11476653" cy="51411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019360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2">
                                            <p:graphicEl>
                                              <a:dgm id="{649F80F7-861F-4817-8221-2003992468A9}"/>
                                            </p:graphicEl>
                                          </p:spTgt>
                                        </p:tgtEl>
                                        <p:attrNameLst>
                                          <p:attrName>style.visibility</p:attrName>
                                        </p:attrNameLst>
                                      </p:cBhvr>
                                      <p:to>
                                        <p:strVal val="visible"/>
                                      </p:to>
                                    </p:set>
                                    <p:animEffect transition="in" filter="fade">
                                      <p:cBhvr>
                                        <p:cTn id="7" dur="800" decel="100000"/>
                                        <p:tgtEl>
                                          <p:spTgt spid="2">
                                            <p:graphicEl>
                                              <a:dgm id="{649F80F7-861F-4817-8221-2003992468A9}"/>
                                            </p:graphicEl>
                                          </p:spTgt>
                                        </p:tgtEl>
                                      </p:cBhvr>
                                    </p:animEffect>
                                    <p:anim calcmode="lin" valueType="num">
                                      <p:cBhvr>
                                        <p:cTn id="8" dur="800" decel="100000" fill="hold"/>
                                        <p:tgtEl>
                                          <p:spTgt spid="2">
                                            <p:graphicEl>
                                              <a:dgm id="{649F80F7-861F-4817-8221-2003992468A9}"/>
                                            </p:graphicEl>
                                          </p:spTgt>
                                        </p:tgtEl>
                                        <p:attrNameLst>
                                          <p:attrName>style.rotation</p:attrName>
                                        </p:attrNameLst>
                                      </p:cBhvr>
                                      <p:tavLst>
                                        <p:tav tm="0">
                                          <p:val>
                                            <p:fltVal val="-90"/>
                                          </p:val>
                                        </p:tav>
                                        <p:tav tm="100000">
                                          <p:val>
                                            <p:fltVal val="0"/>
                                          </p:val>
                                        </p:tav>
                                      </p:tavLst>
                                    </p:anim>
                                    <p:anim calcmode="lin" valueType="num">
                                      <p:cBhvr>
                                        <p:cTn id="9" dur="800" decel="100000" fill="hold"/>
                                        <p:tgtEl>
                                          <p:spTgt spid="2">
                                            <p:graphicEl>
                                              <a:dgm id="{649F80F7-861F-4817-8221-2003992468A9}"/>
                                            </p:graphic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2">
                                            <p:graphicEl>
                                              <a:dgm id="{649F80F7-861F-4817-8221-2003992468A9}"/>
                                            </p:graphic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2">
                                            <p:graphicEl>
                                              <a:dgm id="{649F80F7-861F-4817-8221-2003992468A9}"/>
                                            </p:graphic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2">
                                            <p:graphicEl>
                                              <a:dgm id="{649F80F7-861F-4817-8221-2003992468A9}"/>
                                            </p:graphicEl>
                                          </p:spTgt>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30" presetClass="entr" presetSubtype="0" fill="hold" grpId="0" nodeType="afterEffect">
                                  <p:stCondLst>
                                    <p:cond delay="0"/>
                                  </p:stCondLst>
                                  <p:childTnLst>
                                    <p:set>
                                      <p:cBhvr>
                                        <p:cTn id="15" dur="1" fill="hold">
                                          <p:stCondLst>
                                            <p:cond delay="0"/>
                                          </p:stCondLst>
                                        </p:cTn>
                                        <p:tgtEl>
                                          <p:spTgt spid="2">
                                            <p:graphicEl>
                                              <a:dgm id="{30C0A05C-28B3-4B97-BABB-F8E1230DAA52}"/>
                                            </p:graphicEl>
                                          </p:spTgt>
                                        </p:tgtEl>
                                        <p:attrNameLst>
                                          <p:attrName>style.visibility</p:attrName>
                                        </p:attrNameLst>
                                      </p:cBhvr>
                                      <p:to>
                                        <p:strVal val="visible"/>
                                      </p:to>
                                    </p:set>
                                    <p:animEffect transition="in" filter="fade">
                                      <p:cBhvr>
                                        <p:cTn id="16" dur="800" decel="100000"/>
                                        <p:tgtEl>
                                          <p:spTgt spid="2">
                                            <p:graphicEl>
                                              <a:dgm id="{30C0A05C-28B3-4B97-BABB-F8E1230DAA52}"/>
                                            </p:graphicEl>
                                          </p:spTgt>
                                        </p:tgtEl>
                                      </p:cBhvr>
                                    </p:animEffect>
                                    <p:anim calcmode="lin" valueType="num">
                                      <p:cBhvr>
                                        <p:cTn id="17" dur="800" decel="100000" fill="hold"/>
                                        <p:tgtEl>
                                          <p:spTgt spid="2">
                                            <p:graphicEl>
                                              <a:dgm id="{30C0A05C-28B3-4B97-BABB-F8E1230DAA52}"/>
                                            </p:graphicEl>
                                          </p:spTgt>
                                        </p:tgtEl>
                                        <p:attrNameLst>
                                          <p:attrName>style.rotation</p:attrName>
                                        </p:attrNameLst>
                                      </p:cBhvr>
                                      <p:tavLst>
                                        <p:tav tm="0">
                                          <p:val>
                                            <p:fltVal val="-90"/>
                                          </p:val>
                                        </p:tav>
                                        <p:tav tm="100000">
                                          <p:val>
                                            <p:fltVal val="0"/>
                                          </p:val>
                                        </p:tav>
                                      </p:tavLst>
                                    </p:anim>
                                    <p:anim calcmode="lin" valueType="num">
                                      <p:cBhvr>
                                        <p:cTn id="18" dur="800" decel="100000" fill="hold"/>
                                        <p:tgtEl>
                                          <p:spTgt spid="2">
                                            <p:graphicEl>
                                              <a:dgm id="{30C0A05C-28B3-4B97-BABB-F8E1230DAA52}"/>
                                            </p:graphicEl>
                                          </p:spTgt>
                                        </p:tgtEl>
                                        <p:attrNameLst>
                                          <p:attrName>ppt_x</p:attrName>
                                        </p:attrNameLst>
                                      </p:cBhvr>
                                      <p:tavLst>
                                        <p:tav tm="0">
                                          <p:val>
                                            <p:strVal val="#ppt_x+0.4"/>
                                          </p:val>
                                        </p:tav>
                                        <p:tav tm="100000">
                                          <p:val>
                                            <p:strVal val="#ppt_x-0.05"/>
                                          </p:val>
                                        </p:tav>
                                      </p:tavLst>
                                    </p:anim>
                                    <p:anim calcmode="lin" valueType="num">
                                      <p:cBhvr>
                                        <p:cTn id="19" dur="800" decel="100000" fill="hold"/>
                                        <p:tgtEl>
                                          <p:spTgt spid="2">
                                            <p:graphicEl>
                                              <a:dgm id="{30C0A05C-28B3-4B97-BABB-F8E1230DAA52}"/>
                                            </p:graphicEl>
                                          </p:spTgt>
                                        </p:tgtEl>
                                        <p:attrNameLst>
                                          <p:attrName>ppt_y</p:attrName>
                                        </p:attrNameLst>
                                      </p:cBhvr>
                                      <p:tavLst>
                                        <p:tav tm="0">
                                          <p:val>
                                            <p:strVal val="#ppt_y-0.4"/>
                                          </p:val>
                                        </p:tav>
                                        <p:tav tm="100000">
                                          <p:val>
                                            <p:strVal val="#ppt_y+0.1"/>
                                          </p:val>
                                        </p:tav>
                                      </p:tavLst>
                                    </p:anim>
                                    <p:anim calcmode="lin" valueType="num">
                                      <p:cBhvr>
                                        <p:cTn id="20" dur="200" accel="100000" fill="hold">
                                          <p:stCondLst>
                                            <p:cond delay="800"/>
                                          </p:stCondLst>
                                        </p:cTn>
                                        <p:tgtEl>
                                          <p:spTgt spid="2">
                                            <p:graphicEl>
                                              <a:dgm id="{30C0A05C-28B3-4B97-BABB-F8E1230DAA52}"/>
                                            </p:graphicEl>
                                          </p:spTgt>
                                        </p:tgtEl>
                                        <p:attrNameLst>
                                          <p:attrName>ppt_x</p:attrName>
                                        </p:attrNameLst>
                                      </p:cBhvr>
                                      <p:tavLst>
                                        <p:tav tm="0">
                                          <p:val>
                                            <p:strVal val="#ppt_x-0.05"/>
                                          </p:val>
                                        </p:tav>
                                        <p:tav tm="100000">
                                          <p:val>
                                            <p:strVal val="#ppt_x"/>
                                          </p:val>
                                        </p:tav>
                                      </p:tavLst>
                                    </p:anim>
                                    <p:anim calcmode="lin" valueType="num">
                                      <p:cBhvr>
                                        <p:cTn id="21" dur="200" accel="100000" fill="hold">
                                          <p:stCondLst>
                                            <p:cond delay="800"/>
                                          </p:stCondLst>
                                        </p:cTn>
                                        <p:tgtEl>
                                          <p:spTgt spid="2">
                                            <p:graphicEl>
                                              <a:dgm id="{30C0A05C-28B3-4B97-BABB-F8E1230DAA52}"/>
                                            </p:graphic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lvlAtOnce"/>
        </p:bldSub>
      </p:bldGraphic>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E76651B7-2957-4D7C-ABEF-142980284632}"/>
              </a:ext>
            </a:extLst>
          </p:cNvPr>
          <p:cNvSpPr txBox="1">
            <a:spLocks/>
          </p:cNvSpPr>
          <p:nvPr/>
        </p:nvSpPr>
        <p:spPr>
          <a:xfrm>
            <a:off x="1001483" y="74641"/>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35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n-ea"/>
                <a:cs typeface="+mn-cs"/>
              </a:rPr>
              <a:t>3 – Les puissances actives qui appartiennent à la nature des choses (1/2)</a:t>
            </a:r>
          </a:p>
        </p:txBody>
      </p:sp>
      <p:sp>
        <p:nvSpPr>
          <p:cNvPr id="4" name="Espace réservé du contenu 3">
            <a:extLst>
              <a:ext uri="{FF2B5EF4-FFF2-40B4-BE49-F238E27FC236}">
                <a16:creationId xmlns:a16="http://schemas.microsoft.com/office/drawing/2014/main" id="{EFFAA360-5A5A-4341-B225-B6B3FF810D0B}"/>
              </a:ext>
            </a:extLst>
          </p:cNvPr>
          <p:cNvSpPr>
            <a:spLocks noGrp="1"/>
          </p:cNvSpPr>
          <p:nvPr>
            <p:ph idx="1"/>
          </p:nvPr>
        </p:nvSpPr>
        <p:spPr>
          <a:xfrm>
            <a:off x="307909" y="1446242"/>
            <a:ext cx="11532637" cy="3321702"/>
          </a:xfrm>
        </p:spPr>
        <p:txBody>
          <a:bodyPr>
            <a:noAutofit/>
          </a:bodyPr>
          <a:lstStyle/>
          <a:p>
            <a:pPr algn="just">
              <a:lnSpc>
                <a:spcPct val="107000"/>
              </a:lnSpc>
              <a:spcAft>
                <a:spcPts val="800"/>
              </a:spcAft>
            </a:pPr>
            <a:r>
              <a:rPr lang="fr-CI" dirty="0">
                <a:effectLst/>
                <a:latin typeface="Calibri" panose="020F0502020204030204" pitchFamily="34" charset="0"/>
                <a:ea typeface="Calibri" panose="020F0502020204030204" pitchFamily="34" charset="0"/>
                <a:cs typeface="Times New Roman" panose="02020603050405020304" pitchFamily="18" charset="0"/>
              </a:rPr>
              <a:t>L’une des discussions concernant le réalisme a trait à </a:t>
            </a:r>
            <a:r>
              <a:rPr lang="fr-CI" u="sng" dirty="0">
                <a:effectLst/>
                <a:latin typeface="Calibri" panose="020F0502020204030204" pitchFamily="34" charset="0"/>
                <a:ea typeface="Calibri" panose="020F0502020204030204" pitchFamily="34" charset="0"/>
                <a:cs typeface="Times New Roman" panose="02020603050405020304" pitchFamily="18" charset="0"/>
              </a:rPr>
              <a:t>l’existence de puissances actives qui appartiennent à la nature des choses et qui jouent un rôle dans la science</a:t>
            </a:r>
            <a:r>
              <a:rPr lang="fr-CI" dirty="0">
                <a:effectLst/>
                <a:latin typeface="Calibri" panose="020F0502020204030204" pitchFamily="34" charset="0"/>
                <a:ea typeface="Calibri" panose="020F0502020204030204" pitchFamily="34" charset="0"/>
                <a:cs typeface="Times New Roman" panose="02020603050405020304" pitchFamily="18" charset="0"/>
              </a:rPr>
              <a:t>. C’est un concept qui a une fonction centrale dans la réflexion philosophique sur la science :</a:t>
            </a:r>
          </a:p>
          <a:p>
            <a:pPr algn="just">
              <a:lnSpc>
                <a:spcPct val="107000"/>
              </a:lnSpc>
              <a:spcAft>
                <a:spcPts val="800"/>
              </a:spcAft>
            </a:pPr>
            <a:endParaRPr lang="fr-FR"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CI" dirty="0">
                <a:effectLst/>
                <a:latin typeface="Calibri" panose="020F0502020204030204" pitchFamily="34" charset="0"/>
                <a:ea typeface="Calibri" panose="020F0502020204030204" pitchFamily="34" charset="0"/>
                <a:cs typeface="Times New Roman" panose="02020603050405020304" pitchFamily="18" charset="0"/>
              </a:rPr>
              <a:t>Une recherche réaliste cherchera à mieux connaître les causes et les effets. Pour rendre compte de l’intelligibilité dans la science (c’est-à-dire le fait qu’elle soit intellectuellement faisable), </a:t>
            </a:r>
            <a:r>
              <a:rPr lang="fr-CI"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il faut admettre que l’ordre que nous découvrons dans la nature existe indépendamment de l’activité humaine</a:t>
            </a:r>
            <a:r>
              <a:rPr lang="fr-CI" dirty="0">
                <a:effectLst/>
                <a:latin typeface="Calibri" panose="020F0502020204030204" pitchFamily="34" charset="0"/>
                <a:ea typeface="Calibri" panose="020F0502020204030204" pitchFamily="34" charset="0"/>
                <a:cs typeface="Times New Roman" panose="02020603050405020304" pitchFamily="18" charset="0"/>
              </a:rPr>
              <a:t>. </a:t>
            </a:r>
            <a:r>
              <a:rPr lang="fr-CI" b="1"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Cet ordre consiste en la structure et la constitution des entités et dans les lois causales. Pour expliquer le fait de la science on a besoin d’une ontologie qui donne une réponse claire à la question suivante : comment le monde doit-il être fait pour que la science soit possible.</a:t>
            </a:r>
            <a:endParaRPr lang="fr-FR" dirty="0">
              <a:effectLst/>
              <a:latin typeface="Calibri" panose="020F0502020204030204" pitchFamily="34" charset="0"/>
              <a:ea typeface="Calibri" panose="020F0502020204030204" pitchFamily="34" charset="0"/>
              <a:cs typeface="Times New Roman" panose="02020603050405020304" pitchFamily="18" charset="0"/>
            </a:endParaRPr>
          </a:p>
          <a:p>
            <a:endParaRPr lang="fr-FR" dirty="0"/>
          </a:p>
        </p:txBody>
      </p:sp>
    </p:spTree>
    <p:extLst>
      <p:ext uri="{BB962C8B-B14F-4D97-AF65-F5344CB8AC3E}">
        <p14:creationId xmlns:p14="http://schemas.microsoft.com/office/powerpoint/2010/main" val="65131479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par>
                          <p:cTn id="8" fill="hold">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animEffect transition="in" filter="barn(outVertical)">
                                      <p:cBhvr>
                                        <p:cTn id="11"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E76651B7-2957-4D7C-ABEF-142980284632}"/>
              </a:ext>
            </a:extLst>
          </p:cNvPr>
          <p:cNvSpPr txBox="1">
            <a:spLocks/>
          </p:cNvSpPr>
          <p:nvPr/>
        </p:nvSpPr>
        <p:spPr>
          <a:xfrm>
            <a:off x="1001483" y="74641"/>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3500" b="0" i="0" u="none" strike="noStrike" kern="1200" cap="none" spc="0" normalizeH="0" baseline="0" noProof="0" dirty="0">
                <a:ln>
                  <a:noFill/>
                </a:ln>
                <a:solidFill>
                  <a:prstClr val="black">
                    <a:lumMod val="85000"/>
                    <a:lumOff val="15000"/>
                  </a:prstClr>
                </a:solidFill>
                <a:effectLst/>
                <a:uLnTx/>
                <a:uFillTx/>
                <a:latin typeface="Century Gothic" panose="020B0502020202020204"/>
                <a:ea typeface="+mn-ea"/>
                <a:cs typeface="+mn-cs"/>
              </a:rPr>
              <a:t>3 – Les puissances actives qui appartiennent à la nature des choses (2/2)</a:t>
            </a:r>
          </a:p>
        </p:txBody>
      </p:sp>
      <p:sp>
        <p:nvSpPr>
          <p:cNvPr id="4" name="Espace réservé du contenu 3">
            <a:extLst>
              <a:ext uri="{FF2B5EF4-FFF2-40B4-BE49-F238E27FC236}">
                <a16:creationId xmlns:a16="http://schemas.microsoft.com/office/drawing/2014/main" id="{EFFAA360-5A5A-4341-B225-B6B3FF810D0B}"/>
              </a:ext>
            </a:extLst>
          </p:cNvPr>
          <p:cNvSpPr>
            <a:spLocks noGrp="1"/>
          </p:cNvSpPr>
          <p:nvPr>
            <p:ph idx="1"/>
          </p:nvPr>
        </p:nvSpPr>
        <p:spPr>
          <a:xfrm>
            <a:off x="307909" y="1446241"/>
            <a:ext cx="11532637" cy="5131841"/>
          </a:xfrm>
        </p:spPr>
        <p:txBody>
          <a:bodyPr>
            <a:noAutofit/>
          </a:bodyPr>
          <a:lstStyle/>
          <a:p>
            <a:pPr marL="342900" lvl="0" indent="-342900" algn="just">
              <a:lnSpc>
                <a:spcPct val="107000"/>
              </a:lnSpc>
              <a:spcAft>
                <a:spcPts val="800"/>
              </a:spcAft>
              <a:buFont typeface="Symbol" panose="05050102010706020507" pitchFamily="18" charset="2"/>
              <a:buChar char=""/>
            </a:pPr>
            <a:r>
              <a:rPr lang="fr-CI" b="1" dirty="0" err="1">
                <a:effectLst/>
                <a:latin typeface="Calibri" panose="020F0502020204030204" pitchFamily="34" charset="0"/>
                <a:ea typeface="Calibri" panose="020F0502020204030204" pitchFamily="34" charset="0"/>
                <a:cs typeface="Times New Roman" panose="02020603050405020304" pitchFamily="18" charset="0"/>
              </a:rPr>
              <a:t>Alasdair</a:t>
            </a:r>
            <a:r>
              <a:rPr lang="fr-CI" b="1" dirty="0">
                <a:effectLst/>
                <a:latin typeface="Calibri" panose="020F0502020204030204" pitchFamily="34" charset="0"/>
                <a:ea typeface="Calibri" panose="020F0502020204030204" pitchFamily="34" charset="0"/>
                <a:cs typeface="Times New Roman" panose="02020603050405020304" pitchFamily="18" charset="0"/>
              </a:rPr>
              <a:t> </a:t>
            </a:r>
            <a:r>
              <a:rPr lang="fr-CI" b="1" dirty="0" err="1">
                <a:effectLst/>
                <a:latin typeface="Calibri" panose="020F0502020204030204" pitchFamily="34" charset="0"/>
                <a:ea typeface="Calibri" panose="020F0502020204030204" pitchFamily="34" charset="0"/>
                <a:cs typeface="Times New Roman" panose="02020603050405020304" pitchFamily="18" charset="0"/>
              </a:rPr>
              <a:t>MacIntyre</a:t>
            </a:r>
            <a:r>
              <a:rPr lang="fr-CI" b="1" dirty="0">
                <a:effectLst/>
                <a:latin typeface="Calibri" panose="020F0502020204030204" pitchFamily="34" charset="0"/>
                <a:ea typeface="Calibri" panose="020F0502020204030204" pitchFamily="34" charset="0"/>
                <a:cs typeface="Times New Roman" panose="02020603050405020304" pitchFamily="18" charset="0"/>
              </a:rPr>
              <a:t> (1929- )</a:t>
            </a:r>
            <a:endParaRPr lang="fr-FR"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CI"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Il soutient qu’il est intéressant d’évoquer un aspect du réalisme qui est en rapport avec les valeurs</a:t>
            </a:r>
            <a:r>
              <a:rPr lang="fr-CI" dirty="0">
                <a:effectLst/>
                <a:latin typeface="Calibri" panose="020F0502020204030204" pitchFamily="34" charset="0"/>
                <a:ea typeface="Calibri" panose="020F0502020204030204" pitchFamily="34" charset="0"/>
                <a:cs typeface="Times New Roman" panose="02020603050405020304" pitchFamily="18" charset="0"/>
              </a:rPr>
              <a:t>. Or La recherche de la vérité est une valeur qui possède des dimensions éthiques ; par conséquent, si l’on admet le sens réaliste de la science, on devra admettre que, </a:t>
            </a:r>
            <a:r>
              <a:rPr lang="fr-CI" u="sng" dirty="0">
                <a:effectLst/>
                <a:latin typeface="Calibri" panose="020F0502020204030204" pitchFamily="34" charset="0"/>
                <a:ea typeface="Calibri" panose="020F0502020204030204" pitchFamily="34" charset="0"/>
                <a:cs typeface="Times New Roman" panose="02020603050405020304" pitchFamily="18" charset="0"/>
              </a:rPr>
              <a:t>en elle-même, en tant que recherche de la vérité, la science expérimentale a une valeur éthique</a:t>
            </a:r>
            <a:r>
              <a:rPr lang="fr-CI" dirty="0">
                <a:effectLst/>
                <a:latin typeface="Calibri" panose="020F0502020204030204" pitchFamily="34" charset="0"/>
                <a:ea typeface="Calibri" panose="020F0502020204030204" pitchFamily="34" charset="0"/>
                <a:cs typeface="Times New Roman" panose="02020603050405020304" pitchFamily="18" charset="0"/>
              </a:rPr>
              <a:t>. </a:t>
            </a:r>
            <a:endParaRPr lang="fr-FR"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CI" dirty="0" err="1">
                <a:effectLst/>
                <a:latin typeface="Calibri" panose="020F0502020204030204" pitchFamily="34" charset="0"/>
                <a:ea typeface="Calibri" panose="020F0502020204030204" pitchFamily="34" charset="0"/>
                <a:cs typeface="Times New Roman" panose="02020603050405020304" pitchFamily="18" charset="0"/>
              </a:rPr>
              <a:t>MacIntyre</a:t>
            </a:r>
            <a:r>
              <a:rPr lang="fr-CI" dirty="0">
                <a:effectLst/>
                <a:latin typeface="Calibri" panose="020F0502020204030204" pitchFamily="34" charset="0"/>
                <a:ea typeface="Calibri" panose="020F0502020204030204" pitchFamily="34" charset="0"/>
                <a:cs typeface="Times New Roman" panose="02020603050405020304" pitchFamily="18" charset="0"/>
              </a:rPr>
              <a:t> dit que la science naturelle suppose une tâche morale. Cette affirmation est importante, et elle est justifiée en faisant appel au réalisme ou, plus précisément, </a:t>
            </a:r>
            <a:r>
              <a:rPr lang="fr-CI"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à l’engagement de la science avec le réalisme</a:t>
            </a:r>
            <a:r>
              <a:rPr lang="fr-CI" dirty="0">
                <a:effectLst/>
                <a:latin typeface="Calibri" panose="020F0502020204030204" pitchFamily="34" charset="0"/>
                <a:ea typeface="Calibri" panose="020F0502020204030204" pitchFamily="34" charset="0"/>
                <a:cs typeface="Times New Roman" panose="02020603050405020304" pitchFamily="18" charset="0"/>
              </a:rPr>
              <a:t>. Il s’agit de la recherche de la vérité considérée comme étant un bien interne de la science ; et la recherche de la vérité a des connotations morales évidentes. </a:t>
            </a:r>
            <a:endParaRPr lang="fr-FR"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CI" dirty="0">
                <a:effectLst/>
                <a:latin typeface="Calibri" panose="020F0502020204030204" pitchFamily="34" charset="0"/>
                <a:ea typeface="Calibri" panose="020F0502020204030204" pitchFamily="34" charset="0"/>
                <a:cs typeface="Times New Roman" panose="02020603050405020304" pitchFamily="18" charset="0"/>
              </a:rPr>
              <a:t>Si nous admettons que la recherche de la vérité est l’objectif central de l’entreprise scientifique, il est facile d’admettre que cette entreprise possède un caractère éthique et exige un engagement éthique. Dans ce cas, la science expérimentale ne peut plus être considérée comme une activité qui n’est mue que par des intérêts particuliers. La recherche de la vérité exige du désintérêt et de l’impartialité par rapport à des intérêts subjectifs ; par ailleurs, elle correspond à l’une des aspirations les plus importantes de l’être humain. Dans ce sens, on peut dire que la science expérimentale possède un caractère éthique.</a:t>
            </a:r>
            <a:endParaRPr lang="fr-FR" dirty="0">
              <a:effectLst/>
              <a:latin typeface="Calibri" panose="020F0502020204030204" pitchFamily="34" charset="0"/>
              <a:ea typeface="Calibri" panose="020F0502020204030204" pitchFamily="34" charset="0"/>
              <a:cs typeface="Times New Roman" panose="02020603050405020304" pitchFamily="18" charset="0"/>
            </a:endParaRPr>
          </a:p>
          <a:p>
            <a:endParaRPr lang="fr-FR" dirty="0"/>
          </a:p>
        </p:txBody>
      </p:sp>
    </p:spTree>
    <p:extLst>
      <p:ext uri="{BB962C8B-B14F-4D97-AF65-F5344CB8AC3E}">
        <p14:creationId xmlns:p14="http://schemas.microsoft.com/office/powerpoint/2010/main" val="3465251523"/>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p:cTn id="7" dur="500" fill="hold"/>
                                        <p:tgtEl>
                                          <p:spTgt spid="4">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4">
                                            <p:txEl>
                                              <p:pRg st="0" end="0"/>
                                            </p:txEl>
                                          </p:spTgt>
                                        </p:tgtEl>
                                      </p:cBhvr>
                                    </p:animEffect>
                                    <p:anim calcmode="lin" valueType="num">
                                      <p:cBhvr>
                                        <p:cTn id="10" dur="500" fill="hold"/>
                                        <p:tgtEl>
                                          <p:spTgt spid="4">
                                            <p:txEl>
                                              <p:pRg st="0" end="0"/>
                                            </p:txEl>
                                          </p:spTgt>
                                        </p:tgtEl>
                                        <p:attrNameLst>
                                          <p:attrName>ppt_x</p:attrName>
                                        </p:attrNameLst>
                                      </p:cBhvr>
                                      <p:tavLst>
                                        <p:tav tm="0">
                                          <p:val>
                                            <p:fltVal val="0.5"/>
                                          </p:val>
                                        </p:tav>
                                        <p:tav tm="100000">
                                          <p:val>
                                            <p:strVal val="#ppt_x"/>
                                          </p:val>
                                        </p:tav>
                                      </p:tavLst>
                                    </p:anim>
                                    <p:anim calcmode="lin" valueType="num">
                                      <p:cBhvr>
                                        <p:cTn id="11" dur="500" fill="hold"/>
                                        <p:tgtEl>
                                          <p:spTgt spid="4">
                                            <p:txEl>
                                              <p:pRg st="0" end="0"/>
                                            </p:txEl>
                                          </p:spTgt>
                                        </p:tgtEl>
                                        <p:attrNameLst>
                                          <p:attrName>ppt_y</p:attrName>
                                        </p:attrNameLst>
                                      </p:cBhvr>
                                      <p:tavLst>
                                        <p:tav tm="0">
                                          <p:val>
                                            <p:fltVal val="0.5"/>
                                          </p:val>
                                        </p:tav>
                                        <p:tav tm="100000">
                                          <p:val>
                                            <p:strVal val="#ppt_y"/>
                                          </p:val>
                                        </p:tav>
                                      </p:tavLst>
                                    </p:anim>
                                  </p:childTnLst>
                                </p:cTn>
                              </p:par>
                            </p:childTnLst>
                          </p:cTn>
                        </p:par>
                        <p:par>
                          <p:cTn id="12" fill="hold">
                            <p:stCondLst>
                              <p:cond delay="500"/>
                            </p:stCondLst>
                            <p:childTnLst>
                              <p:par>
                                <p:cTn id="13" presetID="53" presetClass="entr" presetSubtype="528" fill="hold" grpId="0" nodeType="after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 calcmode="lin" valueType="num">
                                      <p:cBhvr>
                                        <p:cTn id="15" dur="500" fill="hold"/>
                                        <p:tgtEl>
                                          <p:spTgt spid="4">
                                            <p:txEl>
                                              <p:pRg st="1" end="1"/>
                                            </p:txEl>
                                          </p:spTgt>
                                        </p:tgtEl>
                                        <p:attrNameLst>
                                          <p:attrName>ppt_w</p:attrName>
                                        </p:attrNameLst>
                                      </p:cBhvr>
                                      <p:tavLst>
                                        <p:tav tm="0">
                                          <p:val>
                                            <p:fltVal val="0"/>
                                          </p:val>
                                        </p:tav>
                                        <p:tav tm="100000">
                                          <p:val>
                                            <p:strVal val="#ppt_w"/>
                                          </p:val>
                                        </p:tav>
                                      </p:tavLst>
                                    </p:anim>
                                    <p:anim calcmode="lin" valueType="num">
                                      <p:cBhvr>
                                        <p:cTn id="16" dur="500" fill="hold"/>
                                        <p:tgtEl>
                                          <p:spTgt spid="4">
                                            <p:txEl>
                                              <p:pRg st="1" end="1"/>
                                            </p:txEl>
                                          </p:spTgt>
                                        </p:tgtEl>
                                        <p:attrNameLst>
                                          <p:attrName>ppt_h</p:attrName>
                                        </p:attrNameLst>
                                      </p:cBhvr>
                                      <p:tavLst>
                                        <p:tav tm="0">
                                          <p:val>
                                            <p:fltVal val="0"/>
                                          </p:val>
                                        </p:tav>
                                        <p:tav tm="100000">
                                          <p:val>
                                            <p:strVal val="#ppt_h"/>
                                          </p:val>
                                        </p:tav>
                                      </p:tavLst>
                                    </p:anim>
                                    <p:animEffect transition="in" filter="fade">
                                      <p:cBhvr>
                                        <p:cTn id="17" dur="500"/>
                                        <p:tgtEl>
                                          <p:spTgt spid="4">
                                            <p:txEl>
                                              <p:pRg st="1" end="1"/>
                                            </p:txEl>
                                          </p:spTgt>
                                        </p:tgtEl>
                                      </p:cBhvr>
                                    </p:animEffect>
                                    <p:anim calcmode="lin" valueType="num">
                                      <p:cBhvr>
                                        <p:cTn id="18" dur="500" fill="hold"/>
                                        <p:tgtEl>
                                          <p:spTgt spid="4">
                                            <p:txEl>
                                              <p:pRg st="1" end="1"/>
                                            </p:txEl>
                                          </p:spTgt>
                                        </p:tgtEl>
                                        <p:attrNameLst>
                                          <p:attrName>ppt_x</p:attrName>
                                        </p:attrNameLst>
                                      </p:cBhvr>
                                      <p:tavLst>
                                        <p:tav tm="0">
                                          <p:val>
                                            <p:fltVal val="0.5"/>
                                          </p:val>
                                        </p:tav>
                                        <p:tav tm="100000">
                                          <p:val>
                                            <p:strVal val="#ppt_x"/>
                                          </p:val>
                                        </p:tav>
                                      </p:tavLst>
                                    </p:anim>
                                    <p:anim calcmode="lin" valueType="num">
                                      <p:cBhvr>
                                        <p:cTn id="19" dur="500" fill="hold"/>
                                        <p:tgtEl>
                                          <p:spTgt spid="4">
                                            <p:txEl>
                                              <p:pRg st="1" end="1"/>
                                            </p:txEl>
                                          </p:spTgt>
                                        </p:tgtEl>
                                        <p:attrNameLst>
                                          <p:attrName>ppt_y</p:attrName>
                                        </p:attrNameLst>
                                      </p:cBhvr>
                                      <p:tavLst>
                                        <p:tav tm="0">
                                          <p:val>
                                            <p:fltVal val="0.5"/>
                                          </p:val>
                                        </p:tav>
                                        <p:tav tm="100000">
                                          <p:val>
                                            <p:strVal val="#ppt_y"/>
                                          </p:val>
                                        </p:tav>
                                      </p:tavLst>
                                    </p:anim>
                                  </p:childTnLst>
                                </p:cTn>
                              </p:par>
                            </p:childTnLst>
                          </p:cTn>
                        </p:par>
                        <p:par>
                          <p:cTn id="20" fill="hold">
                            <p:stCondLst>
                              <p:cond delay="1000"/>
                            </p:stCondLst>
                            <p:childTnLst>
                              <p:par>
                                <p:cTn id="21" presetID="53" presetClass="entr" presetSubtype="528" fill="hold" grpId="0" nodeType="after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anim calcmode="lin" valueType="num">
                                      <p:cBhvr>
                                        <p:cTn id="23" dur="500" fill="hold"/>
                                        <p:tgtEl>
                                          <p:spTgt spid="4">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4">
                                            <p:txEl>
                                              <p:pRg st="2" end="2"/>
                                            </p:txEl>
                                          </p:spTgt>
                                        </p:tgtEl>
                                        <p:attrNameLst>
                                          <p:attrName>ppt_h</p:attrName>
                                        </p:attrNameLst>
                                      </p:cBhvr>
                                      <p:tavLst>
                                        <p:tav tm="0">
                                          <p:val>
                                            <p:fltVal val="0"/>
                                          </p:val>
                                        </p:tav>
                                        <p:tav tm="100000">
                                          <p:val>
                                            <p:strVal val="#ppt_h"/>
                                          </p:val>
                                        </p:tav>
                                      </p:tavLst>
                                    </p:anim>
                                    <p:animEffect transition="in" filter="fade">
                                      <p:cBhvr>
                                        <p:cTn id="25" dur="500"/>
                                        <p:tgtEl>
                                          <p:spTgt spid="4">
                                            <p:txEl>
                                              <p:pRg st="2" end="2"/>
                                            </p:txEl>
                                          </p:spTgt>
                                        </p:tgtEl>
                                      </p:cBhvr>
                                    </p:animEffect>
                                    <p:anim calcmode="lin" valueType="num">
                                      <p:cBhvr>
                                        <p:cTn id="26" dur="500" fill="hold"/>
                                        <p:tgtEl>
                                          <p:spTgt spid="4">
                                            <p:txEl>
                                              <p:pRg st="2" end="2"/>
                                            </p:txEl>
                                          </p:spTgt>
                                        </p:tgtEl>
                                        <p:attrNameLst>
                                          <p:attrName>ppt_x</p:attrName>
                                        </p:attrNameLst>
                                      </p:cBhvr>
                                      <p:tavLst>
                                        <p:tav tm="0">
                                          <p:val>
                                            <p:fltVal val="0.5"/>
                                          </p:val>
                                        </p:tav>
                                        <p:tav tm="100000">
                                          <p:val>
                                            <p:strVal val="#ppt_x"/>
                                          </p:val>
                                        </p:tav>
                                      </p:tavLst>
                                    </p:anim>
                                    <p:anim calcmode="lin" valueType="num">
                                      <p:cBhvr>
                                        <p:cTn id="27" dur="500" fill="hold"/>
                                        <p:tgtEl>
                                          <p:spTgt spid="4">
                                            <p:txEl>
                                              <p:pRg st="2" end="2"/>
                                            </p:txEl>
                                          </p:spTgt>
                                        </p:tgtEl>
                                        <p:attrNameLst>
                                          <p:attrName>ppt_y</p:attrName>
                                        </p:attrNameLst>
                                      </p:cBhvr>
                                      <p:tavLst>
                                        <p:tav tm="0">
                                          <p:val>
                                            <p:fltVal val="0.5"/>
                                          </p:val>
                                        </p:tav>
                                        <p:tav tm="100000">
                                          <p:val>
                                            <p:strVal val="#ppt_y"/>
                                          </p:val>
                                        </p:tav>
                                      </p:tavLst>
                                    </p:anim>
                                  </p:childTnLst>
                                </p:cTn>
                              </p:par>
                            </p:childTnLst>
                          </p:cTn>
                        </p:par>
                        <p:par>
                          <p:cTn id="28" fill="hold">
                            <p:stCondLst>
                              <p:cond delay="1500"/>
                            </p:stCondLst>
                            <p:childTnLst>
                              <p:par>
                                <p:cTn id="29" presetID="53" presetClass="entr" presetSubtype="528" fill="hold" grpId="0" nodeType="after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anim calcmode="lin" valueType="num">
                                      <p:cBhvr>
                                        <p:cTn id="31" dur="500" fill="hold"/>
                                        <p:tgtEl>
                                          <p:spTgt spid="4">
                                            <p:txEl>
                                              <p:pRg st="3" end="3"/>
                                            </p:txEl>
                                          </p:spTgt>
                                        </p:tgtEl>
                                        <p:attrNameLst>
                                          <p:attrName>ppt_w</p:attrName>
                                        </p:attrNameLst>
                                      </p:cBhvr>
                                      <p:tavLst>
                                        <p:tav tm="0">
                                          <p:val>
                                            <p:fltVal val="0"/>
                                          </p:val>
                                        </p:tav>
                                        <p:tav tm="100000">
                                          <p:val>
                                            <p:strVal val="#ppt_w"/>
                                          </p:val>
                                        </p:tav>
                                      </p:tavLst>
                                    </p:anim>
                                    <p:anim calcmode="lin" valueType="num">
                                      <p:cBhvr>
                                        <p:cTn id="32" dur="500" fill="hold"/>
                                        <p:tgtEl>
                                          <p:spTgt spid="4">
                                            <p:txEl>
                                              <p:pRg st="3" end="3"/>
                                            </p:txEl>
                                          </p:spTgt>
                                        </p:tgtEl>
                                        <p:attrNameLst>
                                          <p:attrName>ppt_h</p:attrName>
                                        </p:attrNameLst>
                                      </p:cBhvr>
                                      <p:tavLst>
                                        <p:tav tm="0">
                                          <p:val>
                                            <p:fltVal val="0"/>
                                          </p:val>
                                        </p:tav>
                                        <p:tav tm="100000">
                                          <p:val>
                                            <p:strVal val="#ppt_h"/>
                                          </p:val>
                                        </p:tav>
                                      </p:tavLst>
                                    </p:anim>
                                    <p:animEffect transition="in" filter="fade">
                                      <p:cBhvr>
                                        <p:cTn id="33" dur="500"/>
                                        <p:tgtEl>
                                          <p:spTgt spid="4">
                                            <p:txEl>
                                              <p:pRg st="3" end="3"/>
                                            </p:txEl>
                                          </p:spTgt>
                                        </p:tgtEl>
                                      </p:cBhvr>
                                    </p:animEffect>
                                    <p:anim calcmode="lin" valueType="num">
                                      <p:cBhvr>
                                        <p:cTn id="34" dur="500" fill="hold"/>
                                        <p:tgtEl>
                                          <p:spTgt spid="4">
                                            <p:txEl>
                                              <p:pRg st="3" end="3"/>
                                            </p:txEl>
                                          </p:spTgt>
                                        </p:tgtEl>
                                        <p:attrNameLst>
                                          <p:attrName>ppt_x</p:attrName>
                                        </p:attrNameLst>
                                      </p:cBhvr>
                                      <p:tavLst>
                                        <p:tav tm="0">
                                          <p:val>
                                            <p:fltVal val="0.5"/>
                                          </p:val>
                                        </p:tav>
                                        <p:tav tm="100000">
                                          <p:val>
                                            <p:strVal val="#ppt_x"/>
                                          </p:val>
                                        </p:tav>
                                      </p:tavLst>
                                    </p:anim>
                                    <p:anim calcmode="lin" valueType="num">
                                      <p:cBhvr>
                                        <p:cTn id="35" dur="500" fill="hold"/>
                                        <p:tgtEl>
                                          <p:spTgt spid="4">
                                            <p:txEl>
                                              <p:pRg st="3" end="3"/>
                                            </p:txEl>
                                          </p:spTgt>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DFC632-1E9B-46FB-A958-F77D4848F5F1}"/>
              </a:ext>
            </a:extLst>
          </p:cNvPr>
          <p:cNvSpPr>
            <a:spLocks noGrp="1"/>
          </p:cNvSpPr>
          <p:nvPr>
            <p:ph type="title"/>
          </p:nvPr>
        </p:nvSpPr>
        <p:spPr/>
        <p:txBody>
          <a:bodyPr/>
          <a:lstStyle/>
          <a:p>
            <a:endParaRPr lang="fr-FR"/>
          </a:p>
        </p:txBody>
      </p:sp>
      <p:sp>
        <p:nvSpPr>
          <p:cNvPr id="6" name="Espace réservé du contenu 5">
            <a:extLst>
              <a:ext uri="{FF2B5EF4-FFF2-40B4-BE49-F238E27FC236}">
                <a16:creationId xmlns:a16="http://schemas.microsoft.com/office/drawing/2014/main" id="{63E63E47-6624-4A92-A582-29DD8889ED97}"/>
              </a:ext>
            </a:extLst>
          </p:cNvPr>
          <p:cNvSpPr>
            <a:spLocks noGrp="1"/>
          </p:cNvSpPr>
          <p:nvPr>
            <p:ph idx="1"/>
          </p:nvPr>
        </p:nvSpPr>
        <p:spPr/>
        <p:txBody>
          <a:bodyPr/>
          <a:lstStyle/>
          <a:p>
            <a:endParaRPr lang="fr-FR"/>
          </a:p>
        </p:txBody>
      </p:sp>
    </p:spTree>
    <p:extLst>
      <p:ext uri="{BB962C8B-B14F-4D97-AF65-F5344CB8AC3E}">
        <p14:creationId xmlns:p14="http://schemas.microsoft.com/office/powerpoint/2010/main" val="40803766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TM03457510[[fn=Savon]]</Template>
  <TotalTime>1348</TotalTime>
  <Words>8432</Words>
  <Application>Microsoft Office PowerPoint</Application>
  <PresentationFormat>Grand écran</PresentationFormat>
  <Paragraphs>256</Paragraphs>
  <Slides>51</Slides>
  <Notes>0</Notes>
  <HiddenSlides>0</HiddenSlides>
  <MMClips>0</MMClips>
  <ScaleCrop>false</ScaleCrop>
  <HeadingPairs>
    <vt:vector size="6" baseType="variant">
      <vt:variant>
        <vt:lpstr>Polices utilisées</vt:lpstr>
      </vt:variant>
      <vt:variant>
        <vt:i4>7</vt:i4>
      </vt:variant>
      <vt:variant>
        <vt:lpstr>Thème</vt:lpstr>
      </vt:variant>
      <vt:variant>
        <vt:i4>2</vt:i4>
      </vt:variant>
      <vt:variant>
        <vt:lpstr>Titres des diapositives</vt:lpstr>
      </vt:variant>
      <vt:variant>
        <vt:i4>51</vt:i4>
      </vt:variant>
    </vt:vector>
  </HeadingPairs>
  <TitlesOfParts>
    <vt:vector size="60" baseType="lpstr">
      <vt:lpstr>Arial</vt:lpstr>
      <vt:lpstr>Calibri</vt:lpstr>
      <vt:lpstr>Century Gothic</vt:lpstr>
      <vt:lpstr>Garamond</vt:lpstr>
      <vt:lpstr>Gill Sans MT</vt:lpstr>
      <vt:lpstr>Symbol</vt:lpstr>
      <vt:lpstr>Wingdings</vt:lpstr>
      <vt:lpstr>Savon</vt:lpstr>
      <vt:lpstr>Gallery</vt:lpstr>
      <vt:lpstr>Partie II - Les révolutions scientifiques du XXème siècle </vt:lpstr>
      <vt:lpstr>a - 1915 : relativité générale  (1/3)</vt:lpstr>
      <vt:lpstr>Plusieurs théories ont tenté de rendre compte de la gravitation(2/3). </vt:lpstr>
      <vt:lpstr>Plusieurs théories ont tenté de rendre compte de la gravitation(3/3). </vt:lpstr>
      <vt:lpstr>b - La physique quantique (1/3)</vt:lpstr>
      <vt:lpstr>b - La physique quantique (1/3)</vt:lpstr>
      <vt:lpstr>b - La physique quantique (1/3)</vt:lpstr>
      <vt:lpstr>b – D’autres figures importantes de la physique quantique(1/3)</vt:lpstr>
      <vt:lpstr>b - La physique quantique (3/3)</vt:lpstr>
      <vt:lpstr>c - La biologie moléculaire (1/2)</vt:lpstr>
      <vt:lpstr>c - La biologie moléculaire (2/2)</vt:lpstr>
      <vt:lpstr>d - La physique du chaos et de la complexité (1/2)</vt:lpstr>
      <vt:lpstr>d - La physique du chaos et de la complexité (2/2)</vt:lpstr>
      <vt:lpstr>e – L’informatique (1/1)</vt:lpstr>
      <vt:lpstr>e – Ethique et biogénétique (1/2)</vt:lpstr>
      <vt:lpstr>e – Ethique et biogénétique (2/2)</vt:lpstr>
      <vt:lpstr>Partie III - Les méthodes des sciences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Partie IV - LA REFLEXION PHILOSOPHIQUE SUR LA SCIENCE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Stéphane Arnaud SOPY</dc:creator>
  <cp:lastModifiedBy>DELL</cp:lastModifiedBy>
  <cp:revision>69</cp:revision>
  <dcterms:created xsi:type="dcterms:W3CDTF">2022-04-16T11:11:26Z</dcterms:created>
  <dcterms:modified xsi:type="dcterms:W3CDTF">2022-04-29T10:45:21Z</dcterms:modified>
</cp:coreProperties>
</file>