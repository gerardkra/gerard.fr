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90" r:id="rId3"/>
    <p:sldId id="296" r:id="rId4"/>
    <p:sldId id="297" r:id="rId5"/>
    <p:sldId id="270" r:id="rId6"/>
    <p:sldId id="257" r:id="rId7"/>
    <p:sldId id="291" r:id="rId8"/>
    <p:sldId id="289" r:id="rId9"/>
    <p:sldId id="292" r:id="rId10"/>
    <p:sldId id="295" r:id="rId11"/>
    <p:sldId id="298" r:id="rId12"/>
    <p:sldId id="271" r:id="rId13"/>
    <p:sldId id="273" r:id="rId14"/>
    <p:sldId id="293" r:id="rId15"/>
    <p:sldId id="277" r:id="rId16"/>
    <p:sldId id="279" r:id="rId17"/>
    <p:sldId id="281" r:id="rId18"/>
    <p:sldId id="299" r:id="rId19"/>
    <p:sldId id="300" r:id="rId20"/>
    <p:sldId id="301" r:id="rId21"/>
    <p:sldId id="286" r:id="rId22"/>
    <p:sldId id="294" r:id="rId23"/>
    <p:sldId id="287" r:id="rId2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0" d="100"/>
          <a:sy n="80" d="100"/>
        </p:scale>
        <p:origin x="136"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1CF8332-FC3E-972E-28C7-6B1FFC0BBEE5}"/>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451F64FC-C482-A380-C296-79642B6CBAA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145A42ED-298A-7D10-8CF9-D57EE79306F9}"/>
              </a:ext>
            </a:extLst>
          </p:cNvPr>
          <p:cNvSpPr>
            <a:spLocks noGrp="1"/>
          </p:cNvSpPr>
          <p:nvPr>
            <p:ph type="dt" sz="half" idx="10"/>
          </p:nvPr>
        </p:nvSpPr>
        <p:spPr/>
        <p:txBody>
          <a:bodyPr/>
          <a:lstStyle/>
          <a:p>
            <a:fld id="{2A0D71DD-66C0-48AE-8FD0-87EB584AF4C7}" type="datetimeFigureOut">
              <a:rPr lang="fr-FR" smtClean="0"/>
              <a:t>18/01/2024</a:t>
            </a:fld>
            <a:endParaRPr lang="fr-FR"/>
          </a:p>
        </p:txBody>
      </p:sp>
      <p:sp>
        <p:nvSpPr>
          <p:cNvPr id="5" name="Espace réservé du pied de page 4">
            <a:extLst>
              <a:ext uri="{FF2B5EF4-FFF2-40B4-BE49-F238E27FC236}">
                <a16:creationId xmlns:a16="http://schemas.microsoft.com/office/drawing/2014/main" id="{B3348AD2-2B6E-2519-5E4C-740105B46B6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E19A352-D064-1A49-F276-B1F8F8E614C8}"/>
              </a:ext>
            </a:extLst>
          </p:cNvPr>
          <p:cNvSpPr>
            <a:spLocks noGrp="1"/>
          </p:cNvSpPr>
          <p:nvPr>
            <p:ph type="sldNum" sz="quarter" idx="12"/>
          </p:nvPr>
        </p:nvSpPr>
        <p:spPr/>
        <p:txBody>
          <a:bodyPr/>
          <a:lstStyle/>
          <a:p>
            <a:fld id="{89CBF3AE-620F-4C08-8BCB-6BF32EA75547}" type="slidenum">
              <a:rPr lang="fr-FR" smtClean="0"/>
              <a:t>‹N°›</a:t>
            </a:fld>
            <a:endParaRPr lang="fr-FR"/>
          </a:p>
        </p:txBody>
      </p:sp>
    </p:spTree>
    <p:extLst>
      <p:ext uri="{BB962C8B-B14F-4D97-AF65-F5344CB8AC3E}">
        <p14:creationId xmlns:p14="http://schemas.microsoft.com/office/powerpoint/2010/main" val="38829519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AC0B26-CC33-2B1C-D7C2-5B12B11934D3}"/>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3529937E-AA43-9D7A-DBEF-6D5C21759F2E}"/>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8615CC8-2181-84EC-336D-63A7828C9750}"/>
              </a:ext>
            </a:extLst>
          </p:cNvPr>
          <p:cNvSpPr>
            <a:spLocks noGrp="1"/>
          </p:cNvSpPr>
          <p:nvPr>
            <p:ph type="dt" sz="half" idx="10"/>
          </p:nvPr>
        </p:nvSpPr>
        <p:spPr/>
        <p:txBody>
          <a:bodyPr/>
          <a:lstStyle/>
          <a:p>
            <a:fld id="{2A0D71DD-66C0-48AE-8FD0-87EB584AF4C7}" type="datetimeFigureOut">
              <a:rPr lang="fr-FR" smtClean="0"/>
              <a:t>18/01/2024</a:t>
            </a:fld>
            <a:endParaRPr lang="fr-FR"/>
          </a:p>
        </p:txBody>
      </p:sp>
      <p:sp>
        <p:nvSpPr>
          <p:cNvPr id="5" name="Espace réservé du pied de page 4">
            <a:extLst>
              <a:ext uri="{FF2B5EF4-FFF2-40B4-BE49-F238E27FC236}">
                <a16:creationId xmlns:a16="http://schemas.microsoft.com/office/drawing/2014/main" id="{7C953922-EB40-1C55-6152-33527B4D79D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CF6C1E9-9DBB-5E72-404C-EBDC7B90666B}"/>
              </a:ext>
            </a:extLst>
          </p:cNvPr>
          <p:cNvSpPr>
            <a:spLocks noGrp="1"/>
          </p:cNvSpPr>
          <p:nvPr>
            <p:ph type="sldNum" sz="quarter" idx="12"/>
          </p:nvPr>
        </p:nvSpPr>
        <p:spPr/>
        <p:txBody>
          <a:bodyPr/>
          <a:lstStyle/>
          <a:p>
            <a:fld id="{89CBF3AE-620F-4C08-8BCB-6BF32EA75547}" type="slidenum">
              <a:rPr lang="fr-FR" smtClean="0"/>
              <a:t>‹N°›</a:t>
            </a:fld>
            <a:endParaRPr lang="fr-FR"/>
          </a:p>
        </p:txBody>
      </p:sp>
    </p:spTree>
    <p:extLst>
      <p:ext uri="{BB962C8B-B14F-4D97-AF65-F5344CB8AC3E}">
        <p14:creationId xmlns:p14="http://schemas.microsoft.com/office/powerpoint/2010/main" val="512735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DB675F8-FCAC-5594-03F9-06FE5BF9CE92}"/>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DFDC117E-04D6-1783-8BD2-37F9D0A8DD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D7644AF9-6721-9DEF-77F1-1C3D65828503}"/>
              </a:ext>
            </a:extLst>
          </p:cNvPr>
          <p:cNvSpPr>
            <a:spLocks noGrp="1"/>
          </p:cNvSpPr>
          <p:nvPr>
            <p:ph type="dt" sz="half" idx="10"/>
          </p:nvPr>
        </p:nvSpPr>
        <p:spPr/>
        <p:txBody>
          <a:bodyPr/>
          <a:lstStyle/>
          <a:p>
            <a:fld id="{2A0D71DD-66C0-48AE-8FD0-87EB584AF4C7}" type="datetimeFigureOut">
              <a:rPr lang="fr-FR" smtClean="0"/>
              <a:t>18/01/2024</a:t>
            </a:fld>
            <a:endParaRPr lang="fr-FR"/>
          </a:p>
        </p:txBody>
      </p:sp>
      <p:sp>
        <p:nvSpPr>
          <p:cNvPr id="5" name="Espace réservé du pied de page 4">
            <a:extLst>
              <a:ext uri="{FF2B5EF4-FFF2-40B4-BE49-F238E27FC236}">
                <a16:creationId xmlns:a16="http://schemas.microsoft.com/office/drawing/2014/main" id="{4087BB4E-69F1-31C7-E82C-03A5CAF1928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8350129-22B9-47EF-898E-462CAE5D5D81}"/>
              </a:ext>
            </a:extLst>
          </p:cNvPr>
          <p:cNvSpPr>
            <a:spLocks noGrp="1"/>
          </p:cNvSpPr>
          <p:nvPr>
            <p:ph type="sldNum" sz="quarter" idx="12"/>
          </p:nvPr>
        </p:nvSpPr>
        <p:spPr/>
        <p:txBody>
          <a:bodyPr/>
          <a:lstStyle/>
          <a:p>
            <a:fld id="{89CBF3AE-620F-4C08-8BCB-6BF32EA75547}" type="slidenum">
              <a:rPr lang="fr-FR" smtClean="0"/>
              <a:t>‹N°›</a:t>
            </a:fld>
            <a:endParaRPr lang="fr-FR"/>
          </a:p>
        </p:txBody>
      </p:sp>
    </p:spTree>
    <p:extLst>
      <p:ext uri="{BB962C8B-B14F-4D97-AF65-F5344CB8AC3E}">
        <p14:creationId xmlns:p14="http://schemas.microsoft.com/office/powerpoint/2010/main" val="14734957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D4D7D90-AB5F-6708-82A3-7D27459191E6}"/>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35128D72-43D0-E168-3036-717EC1106045}"/>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7A12F8BF-1A53-BA17-36C8-8031DBBD8686}"/>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DD003D73-0EED-8D6C-FE50-CF7C16672533}"/>
              </a:ext>
            </a:extLst>
          </p:cNvPr>
          <p:cNvSpPr>
            <a:spLocks noGrp="1"/>
          </p:cNvSpPr>
          <p:nvPr>
            <p:ph type="dt" sz="half" idx="10"/>
          </p:nvPr>
        </p:nvSpPr>
        <p:spPr/>
        <p:txBody>
          <a:bodyPr/>
          <a:lstStyle/>
          <a:p>
            <a:fld id="{2A0D71DD-66C0-48AE-8FD0-87EB584AF4C7}" type="datetimeFigureOut">
              <a:rPr lang="fr-FR" smtClean="0"/>
              <a:t>18/01/2024</a:t>
            </a:fld>
            <a:endParaRPr lang="fr-FR"/>
          </a:p>
        </p:txBody>
      </p:sp>
      <p:sp>
        <p:nvSpPr>
          <p:cNvPr id="6" name="Espace réservé du pied de page 5">
            <a:extLst>
              <a:ext uri="{FF2B5EF4-FFF2-40B4-BE49-F238E27FC236}">
                <a16:creationId xmlns:a16="http://schemas.microsoft.com/office/drawing/2014/main" id="{DEABBB70-3FE0-215F-3693-7B3D53C1FDBE}"/>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1FB20529-290E-075F-FD34-5C58D0CB06D6}"/>
              </a:ext>
            </a:extLst>
          </p:cNvPr>
          <p:cNvSpPr>
            <a:spLocks noGrp="1"/>
          </p:cNvSpPr>
          <p:nvPr>
            <p:ph type="sldNum" sz="quarter" idx="12"/>
          </p:nvPr>
        </p:nvSpPr>
        <p:spPr/>
        <p:txBody>
          <a:bodyPr/>
          <a:lstStyle/>
          <a:p>
            <a:fld id="{89CBF3AE-620F-4C08-8BCB-6BF32EA75547}" type="slidenum">
              <a:rPr lang="fr-FR" smtClean="0"/>
              <a:t>‹N°›</a:t>
            </a:fld>
            <a:endParaRPr lang="fr-FR"/>
          </a:p>
        </p:txBody>
      </p:sp>
    </p:spTree>
    <p:extLst>
      <p:ext uri="{BB962C8B-B14F-4D97-AF65-F5344CB8AC3E}">
        <p14:creationId xmlns:p14="http://schemas.microsoft.com/office/powerpoint/2010/main" val="17214256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22930FA-D3EA-E729-9571-FC4346079F80}"/>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08EAC56A-827A-0725-DB30-E9D3B620153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FA50DCDB-CCE0-2D2E-83F0-96E0267AB664}"/>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88384222-F2D6-8D31-4F2A-E1028FB2EE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59E8618E-9D2F-5E15-956B-EB5ACC871D58}"/>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0031BB46-00D1-BD81-C7D2-5391E827B4FC}"/>
              </a:ext>
            </a:extLst>
          </p:cNvPr>
          <p:cNvSpPr>
            <a:spLocks noGrp="1"/>
          </p:cNvSpPr>
          <p:nvPr>
            <p:ph type="dt" sz="half" idx="10"/>
          </p:nvPr>
        </p:nvSpPr>
        <p:spPr/>
        <p:txBody>
          <a:bodyPr/>
          <a:lstStyle/>
          <a:p>
            <a:fld id="{2A0D71DD-66C0-48AE-8FD0-87EB584AF4C7}" type="datetimeFigureOut">
              <a:rPr lang="fr-FR" smtClean="0"/>
              <a:t>18/01/2024</a:t>
            </a:fld>
            <a:endParaRPr lang="fr-FR"/>
          </a:p>
        </p:txBody>
      </p:sp>
      <p:sp>
        <p:nvSpPr>
          <p:cNvPr id="8" name="Espace réservé du pied de page 7">
            <a:extLst>
              <a:ext uri="{FF2B5EF4-FFF2-40B4-BE49-F238E27FC236}">
                <a16:creationId xmlns:a16="http://schemas.microsoft.com/office/drawing/2014/main" id="{A8669F42-A017-2270-4662-1BF4EBB524F2}"/>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888F0B27-F2CB-3122-B69B-2A28AC1F282E}"/>
              </a:ext>
            </a:extLst>
          </p:cNvPr>
          <p:cNvSpPr>
            <a:spLocks noGrp="1"/>
          </p:cNvSpPr>
          <p:nvPr>
            <p:ph type="sldNum" sz="quarter" idx="12"/>
          </p:nvPr>
        </p:nvSpPr>
        <p:spPr/>
        <p:txBody>
          <a:bodyPr/>
          <a:lstStyle/>
          <a:p>
            <a:fld id="{89CBF3AE-620F-4C08-8BCB-6BF32EA75547}" type="slidenum">
              <a:rPr lang="fr-FR" smtClean="0"/>
              <a:t>‹N°›</a:t>
            </a:fld>
            <a:endParaRPr lang="fr-FR"/>
          </a:p>
        </p:txBody>
      </p:sp>
    </p:spTree>
    <p:extLst>
      <p:ext uri="{BB962C8B-B14F-4D97-AF65-F5344CB8AC3E}">
        <p14:creationId xmlns:p14="http://schemas.microsoft.com/office/powerpoint/2010/main" val="24458806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48A317C-31ED-2468-5D52-348BC5E0EC2D}"/>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6C8DB4AE-291F-291D-B650-2CA157F697FB}"/>
              </a:ext>
            </a:extLst>
          </p:cNvPr>
          <p:cNvSpPr>
            <a:spLocks noGrp="1"/>
          </p:cNvSpPr>
          <p:nvPr>
            <p:ph type="dt" sz="half" idx="10"/>
          </p:nvPr>
        </p:nvSpPr>
        <p:spPr/>
        <p:txBody>
          <a:bodyPr/>
          <a:lstStyle/>
          <a:p>
            <a:fld id="{2A0D71DD-66C0-48AE-8FD0-87EB584AF4C7}" type="datetimeFigureOut">
              <a:rPr lang="fr-FR" smtClean="0"/>
              <a:t>18/01/2024</a:t>
            </a:fld>
            <a:endParaRPr lang="fr-FR"/>
          </a:p>
        </p:txBody>
      </p:sp>
      <p:sp>
        <p:nvSpPr>
          <p:cNvPr id="4" name="Espace réservé du pied de page 3">
            <a:extLst>
              <a:ext uri="{FF2B5EF4-FFF2-40B4-BE49-F238E27FC236}">
                <a16:creationId xmlns:a16="http://schemas.microsoft.com/office/drawing/2014/main" id="{3CE362C6-9CFF-BFB4-A12A-17831169D3E5}"/>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9125E744-D680-7475-708D-415E8C6FFBC2}"/>
              </a:ext>
            </a:extLst>
          </p:cNvPr>
          <p:cNvSpPr>
            <a:spLocks noGrp="1"/>
          </p:cNvSpPr>
          <p:nvPr>
            <p:ph type="sldNum" sz="quarter" idx="12"/>
          </p:nvPr>
        </p:nvSpPr>
        <p:spPr/>
        <p:txBody>
          <a:bodyPr/>
          <a:lstStyle/>
          <a:p>
            <a:fld id="{89CBF3AE-620F-4C08-8BCB-6BF32EA75547}" type="slidenum">
              <a:rPr lang="fr-FR" smtClean="0"/>
              <a:t>‹N°›</a:t>
            </a:fld>
            <a:endParaRPr lang="fr-FR"/>
          </a:p>
        </p:txBody>
      </p:sp>
    </p:spTree>
    <p:extLst>
      <p:ext uri="{BB962C8B-B14F-4D97-AF65-F5344CB8AC3E}">
        <p14:creationId xmlns:p14="http://schemas.microsoft.com/office/powerpoint/2010/main" val="14843650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7143F269-EFC6-2F94-7C92-92610B08E3C9}"/>
              </a:ext>
            </a:extLst>
          </p:cNvPr>
          <p:cNvSpPr>
            <a:spLocks noGrp="1"/>
          </p:cNvSpPr>
          <p:nvPr>
            <p:ph type="dt" sz="half" idx="10"/>
          </p:nvPr>
        </p:nvSpPr>
        <p:spPr/>
        <p:txBody>
          <a:bodyPr/>
          <a:lstStyle/>
          <a:p>
            <a:fld id="{2A0D71DD-66C0-48AE-8FD0-87EB584AF4C7}" type="datetimeFigureOut">
              <a:rPr lang="fr-FR" smtClean="0"/>
              <a:t>18/01/2024</a:t>
            </a:fld>
            <a:endParaRPr lang="fr-FR"/>
          </a:p>
        </p:txBody>
      </p:sp>
      <p:sp>
        <p:nvSpPr>
          <p:cNvPr id="3" name="Espace réservé du pied de page 2">
            <a:extLst>
              <a:ext uri="{FF2B5EF4-FFF2-40B4-BE49-F238E27FC236}">
                <a16:creationId xmlns:a16="http://schemas.microsoft.com/office/drawing/2014/main" id="{9FCA6F8E-BB72-56B9-3AF8-7681D6E3AB44}"/>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CE71EA99-2953-9707-9225-F1A45EF62F13}"/>
              </a:ext>
            </a:extLst>
          </p:cNvPr>
          <p:cNvSpPr>
            <a:spLocks noGrp="1"/>
          </p:cNvSpPr>
          <p:nvPr>
            <p:ph type="sldNum" sz="quarter" idx="12"/>
          </p:nvPr>
        </p:nvSpPr>
        <p:spPr/>
        <p:txBody>
          <a:bodyPr/>
          <a:lstStyle/>
          <a:p>
            <a:fld id="{89CBF3AE-620F-4C08-8BCB-6BF32EA75547}" type="slidenum">
              <a:rPr lang="fr-FR" smtClean="0"/>
              <a:t>‹N°›</a:t>
            </a:fld>
            <a:endParaRPr lang="fr-FR"/>
          </a:p>
        </p:txBody>
      </p:sp>
    </p:spTree>
    <p:extLst>
      <p:ext uri="{BB962C8B-B14F-4D97-AF65-F5344CB8AC3E}">
        <p14:creationId xmlns:p14="http://schemas.microsoft.com/office/powerpoint/2010/main" val="13285402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4B9A54-D606-6873-B859-21B718BC762B}"/>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0263BC84-D4E3-9339-53FC-3E3B305560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04270544-F061-B891-EC2E-3AF315FC05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D0F3CF0-00F0-F021-1AF6-94159C1E8030}"/>
              </a:ext>
            </a:extLst>
          </p:cNvPr>
          <p:cNvSpPr>
            <a:spLocks noGrp="1"/>
          </p:cNvSpPr>
          <p:nvPr>
            <p:ph type="dt" sz="half" idx="10"/>
          </p:nvPr>
        </p:nvSpPr>
        <p:spPr/>
        <p:txBody>
          <a:bodyPr/>
          <a:lstStyle/>
          <a:p>
            <a:fld id="{2A0D71DD-66C0-48AE-8FD0-87EB584AF4C7}" type="datetimeFigureOut">
              <a:rPr lang="fr-FR" smtClean="0"/>
              <a:t>18/01/2024</a:t>
            </a:fld>
            <a:endParaRPr lang="fr-FR"/>
          </a:p>
        </p:txBody>
      </p:sp>
      <p:sp>
        <p:nvSpPr>
          <p:cNvPr id="6" name="Espace réservé du pied de page 5">
            <a:extLst>
              <a:ext uri="{FF2B5EF4-FFF2-40B4-BE49-F238E27FC236}">
                <a16:creationId xmlns:a16="http://schemas.microsoft.com/office/drawing/2014/main" id="{6422BD15-4BE3-944A-640A-D0156852B22F}"/>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4C69D11-F294-C313-E257-28A7B32B9FEF}"/>
              </a:ext>
            </a:extLst>
          </p:cNvPr>
          <p:cNvSpPr>
            <a:spLocks noGrp="1"/>
          </p:cNvSpPr>
          <p:nvPr>
            <p:ph type="sldNum" sz="quarter" idx="12"/>
          </p:nvPr>
        </p:nvSpPr>
        <p:spPr/>
        <p:txBody>
          <a:bodyPr/>
          <a:lstStyle/>
          <a:p>
            <a:fld id="{89CBF3AE-620F-4C08-8BCB-6BF32EA75547}" type="slidenum">
              <a:rPr lang="fr-FR" smtClean="0"/>
              <a:t>‹N°›</a:t>
            </a:fld>
            <a:endParaRPr lang="fr-FR"/>
          </a:p>
        </p:txBody>
      </p:sp>
    </p:spTree>
    <p:extLst>
      <p:ext uri="{BB962C8B-B14F-4D97-AF65-F5344CB8AC3E}">
        <p14:creationId xmlns:p14="http://schemas.microsoft.com/office/powerpoint/2010/main" val="7516926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50B04C-A2FD-375E-069E-8F3B1488B7E4}"/>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72AB0E0B-861F-A9DC-9769-67DD3D5221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D8E1D47E-69B6-3431-F1F6-18F18D9D98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FA62464F-8AF5-38D6-FAEA-0B1E87E65946}"/>
              </a:ext>
            </a:extLst>
          </p:cNvPr>
          <p:cNvSpPr>
            <a:spLocks noGrp="1"/>
          </p:cNvSpPr>
          <p:nvPr>
            <p:ph type="dt" sz="half" idx="10"/>
          </p:nvPr>
        </p:nvSpPr>
        <p:spPr/>
        <p:txBody>
          <a:bodyPr/>
          <a:lstStyle/>
          <a:p>
            <a:fld id="{2A0D71DD-66C0-48AE-8FD0-87EB584AF4C7}" type="datetimeFigureOut">
              <a:rPr lang="fr-FR" smtClean="0"/>
              <a:t>18/01/2024</a:t>
            </a:fld>
            <a:endParaRPr lang="fr-FR"/>
          </a:p>
        </p:txBody>
      </p:sp>
      <p:sp>
        <p:nvSpPr>
          <p:cNvPr id="6" name="Espace réservé du pied de page 5">
            <a:extLst>
              <a:ext uri="{FF2B5EF4-FFF2-40B4-BE49-F238E27FC236}">
                <a16:creationId xmlns:a16="http://schemas.microsoft.com/office/drawing/2014/main" id="{A8D33665-CC5D-C615-F5AF-3D547AE56143}"/>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6D071436-BC02-691F-FEDC-F214F17FD6DE}"/>
              </a:ext>
            </a:extLst>
          </p:cNvPr>
          <p:cNvSpPr>
            <a:spLocks noGrp="1"/>
          </p:cNvSpPr>
          <p:nvPr>
            <p:ph type="sldNum" sz="quarter" idx="12"/>
          </p:nvPr>
        </p:nvSpPr>
        <p:spPr/>
        <p:txBody>
          <a:bodyPr/>
          <a:lstStyle/>
          <a:p>
            <a:fld id="{89CBF3AE-620F-4C08-8BCB-6BF32EA75547}" type="slidenum">
              <a:rPr lang="fr-FR" smtClean="0"/>
              <a:t>‹N°›</a:t>
            </a:fld>
            <a:endParaRPr lang="fr-FR"/>
          </a:p>
        </p:txBody>
      </p:sp>
    </p:spTree>
    <p:extLst>
      <p:ext uri="{BB962C8B-B14F-4D97-AF65-F5344CB8AC3E}">
        <p14:creationId xmlns:p14="http://schemas.microsoft.com/office/powerpoint/2010/main" val="13536246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13711D2-561A-AB04-630B-38743F38776C}"/>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9D10FBF0-79BA-9FF2-340E-9DABB5A6B256}"/>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42CCB29-5470-CAA0-6241-51A2EB16951B}"/>
              </a:ext>
            </a:extLst>
          </p:cNvPr>
          <p:cNvSpPr>
            <a:spLocks noGrp="1"/>
          </p:cNvSpPr>
          <p:nvPr>
            <p:ph type="dt" sz="half" idx="10"/>
          </p:nvPr>
        </p:nvSpPr>
        <p:spPr/>
        <p:txBody>
          <a:bodyPr/>
          <a:lstStyle/>
          <a:p>
            <a:fld id="{2A0D71DD-66C0-48AE-8FD0-87EB584AF4C7}" type="datetimeFigureOut">
              <a:rPr lang="fr-FR" smtClean="0"/>
              <a:t>18/01/2024</a:t>
            </a:fld>
            <a:endParaRPr lang="fr-FR"/>
          </a:p>
        </p:txBody>
      </p:sp>
      <p:sp>
        <p:nvSpPr>
          <p:cNvPr id="5" name="Espace réservé du pied de page 4">
            <a:extLst>
              <a:ext uri="{FF2B5EF4-FFF2-40B4-BE49-F238E27FC236}">
                <a16:creationId xmlns:a16="http://schemas.microsoft.com/office/drawing/2014/main" id="{8EC5492D-0F3A-A8B3-FF1B-6BE45996F5D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B128059-20F8-3378-6B1D-9B4008C257CA}"/>
              </a:ext>
            </a:extLst>
          </p:cNvPr>
          <p:cNvSpPr>
            <a:spLocks noGrp="1"/>
          </p:cNvSpPr>
          <p:nvPr>
            <p:ph type="sldNum" sz="quarter" idx="12"/>
          </p:nvPr>
        </p:nvSpPr>
        <p:spPr/>
        <p:txBody>
          <a:bodyPr/>
          <a:lstStyle/>
          <a:p>
            <a:fld id="{89CBF3AE-620F-4C08-8BCB-6BF32EA75547}" type="slidenum">
              <a:rPr lang="fr-FR" smtClean="0"/>
              <a:t>‹N°›</a:t>
            </a:fld>
            <a:endParaRPr lang="fr-FR"/>
          </a:p>
        </p:txBody>
      </p:sp>
    </p:spTree>
    <p:extLst>
      <p:ext uri="{BB962C8B-B14F-4D97-AF65-F5344CB8AC3E}">
        <p14:creationId xmlns:p14="http://schemas.microsoft.com/office/powerpoint/2010/main" val="11991807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9788AB11-DF8E-474E-7C6F-99DBD6BB7424}"/>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9E772461-CD48-963D-50F6-8012634E9E6F}"/>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45F807F-96C8-7DB0-E73A-B9546B7A1C00}"/>
              </a:ext>
            </a:extLst>
          </p:cNvPr>
          <p:cNvSpPr>
            <a:spLocks noGrp="1"/>
          </p:cNvSpPr>
          <p:nvPr>
            <p:ph type="dt" sz="half" idx="10"/>
          </p:nvPr>
        </p:nvSpPr>
        <p:spPr/>
        <p:txBody>
          <a:bodyPr/>
          <a:lstStyle/>
          <a:p>
            <a:fld id="{2A0D71DD-66C0-48AE-8FD0-87EB584AF4C7}" type="datetimeFigureOut">
              <a:rPr lang="fr-FR" smtClean="0"/>
              <a:t>18/01/2024</a:t>
            </a:fld>
            <a:endParaRPr lang="fr-FR"/>
          </a:p>
        </p:txBody>
      </p:sp>
      <p:sp>
        <p:nvSpPr>
          <p:cNvPr id="5" name="Espace réservé du pied de page 4">
            <a:extLst>
              <a:ext uri="{FF2B5EF4-FFF2-40B4-BE49-F238E27FC236}">
                <a16:creationId xmlns:a16="http://schemas.microsoft.com/office/drawing/2014/main" id="{FBC2DA34-E322-EB68-E4E9-C27AA93B417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61EE8E6-DE05-DB86-418C-25C684798CEA}"/>
              </a:ext>
            </a:extLst>
          </p:cNvPr>
          <p:cNvSpPr>
            <a:spLocks noGrp="1"/>
          </p:cNvSpPr>
          <p:nvPr>
            <p:ph type="sldNum" sz="quarter" idx="12"/>
          </p:nvPr>
        </p:nvSpPr>
        <p:spPr/>
        <p:txBody>
          <a:bodyPr/>
          <a:lstStyle/>
          <a:p>
            <a:fld id="{89CBF3AE-620F-4C08-8BCB-6BF32EA75547}" type="slidenum">
              <a:rPr lang="fr-FR" smtClean="0"/>
              <a:t>‹N°›</a:t>
            </a:fld>
            <a:endParaRPr lang="fr-FR"/>
          </a:p>
        </p:txBody>
      </p:sp>
    </p:spTree>
    <p:extLst>
      <p:ext uri="{BB962C8B-B14F-4D97-AF65-F5344CB8AC3E}">
        <p14:creationId xmlns:p14="http://schemas.microsoft.com/office/powerpoint/2010/main" val="39568972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2C58EA58-5E76-2627-9713-ED09D1053B6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5E3A17D2-05D6-BF7A-D1F6-2743B39D7A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C9A5FB55-B9AB-6475-EE92-265FDC7F35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0D71DD-66C0-48AE-8FD0-87EB584AF4C7}" type="datetimeFigureOut">
              <a:rPr lang="fr-FR" smtClean="0"/>
              <a:t>18/01/2024</a:t>
            </a:fld>
            <a:endParaRPr lang="fr-FR"/>
          </a:p>
        </p:txBody>
      </p:sp>
      <p:sp>
        <p:nvSpPr>
          <p:cNvPr id="5" name="Espace réservé du pied de page 4">
            <a:extLst>
              <a:ext uri="{FF2B5EF4-FFF2-40B4-BE49-F238E27FC236}">
                <a16:creationId xmlns:a16="http://schemas.microsoft.com/office/drawing/2014/main" id="{23F6C3BF-3067-8D2A-2D00-7347F0C9967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4F320B46-4F90-8EB6-B8C2-E2C75A79242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CBF3AE-620F-4C08-8BCB-6BF32EA75547}" type="slidenum">
              <a:rPr lang="fr-FR" smtClean="0"/>
              <a:t>‹N°›</a:t>
            </a:fld>
            <a:endParaRPr lang="fr-FR"/>
          </a:p>
        </p:txBody>
      </p:sp>
    </p:spTree>
    <p:extLst>
      <p:ext uri="{BB962C8B-B14F-4D97-AF65-F5344CB8AC3E}">
        <p14:creationId xmlns:p14="http://schemas.microsoft.com/office/powerpoint/2010/main" val="35759269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9" name="Rectangle : coins arrondis 8">
            <a:extLst>
              <a:ext uri="{FF2B5EF4-FFF2-40B4-BE49-F238E27FC236}">
                <a16:creationId xmlns:a16="http://schemas.microsoft.com/office/drawing/2014/main" id="{4CFA24E8-9F5B-5CB0-68CD-3BAAAD02DCCE}"/>
              </a:ext>
            </a:extLst>
          </p:cNvPr>
          <p:cNvSpPr/>
          <p:nvPr/>
        </p:nvSpPr>
        <p:spPr>
          <a:xfrm>
            <a:off x="201450" y="853123"/>
            <a:ext cx="11759641" cy="4411603"/>
          </a:xfrm>
          <a:prstGeom prst="round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3200" dirty="0">
              <a:solidFill>
                <a:schemeClr val="accent6">
                  <a:lumMod val="75000"/>
                </a:schemeClr>
              </a:solidFill>
              <a:effectLst/>
              <a:latin typeface="Times New Roman" panose="02020603050405020304" pitchFamily="18" charset="0"/>
              <a:ea typeface="Cambria" panose="02040503050406030204" pitchFamily="18" charset="0"/>
              <a:cs typeface="Times New Roman" panose="02020603050405020304" pitchFamily="18" charset="0"/>
            </a:endParaRPr>
          </a:p>
          <a:p>
            <a:pPr algn="ctr"/>
            <a:endParaRPr lang="en-US" sz="3200" dirty="0">
              <a:solidFill>
                <a:schemeClr val="accent6">
                  <a:lumMod val="75000"/>
                </a:schemeClr>
              </a:solidFill>
              <a:latin typeface="Times New Roman" panose="02020603050405020304" pitchFamily="18" charset="0"/>
              <a:ea typeface="Cambria" panose="02040503050406030204" pitchFamily="18" charset="0"/>
              <a:cs typeface="Times New Roman" panose="02020603050405020304" pitchFamily="18" charset="0"/>
            </a:endParaRPr>
          </a:p>
          <a:p>
            <a:pPr algn="ctr"/>
            <a:r>
              <a:rPr lang="fr-FR" sz="3200" b="1" dirty="0">
                <a:solidFill>
                  <a:schemeClr val="tx1"/>
                </a:solidFill>
              </a:rPr>
              <a:t>SUJET D’ANALYSE </a:t>
            </a:r>
            <a:endParaRPr lang="en-US" sz="3200" b="1"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a:p>
            <a:pPr algn="ct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algn="ctr"/>
            <a:endParaRPr lang="fr-FR" dirty="0"/>
          </a:p>
        </p:txBody>
      </p:sp>
      <p:sp>
        <p:nvSpPr>
          <p:cNvPr id="2" name="Rectangle 1"/>
          <p:cNvSpPr/>
          <p:nvPr/>
        </p:nvSpPr>
        <p:spPr>
          <a:xfrm>
            <a:off x="1222942" y="2761672"/>
            <a:ext cx="9716655" cy="1108364"/>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fr-FR" sz="3200" dirty="0">
                <a:solidFill>
                  <a:schemeClr val="tx1"/>
                </a:solidFill>
              </a:rPr>
              <a:t>Etude du fonctionnement de l’algorithme de classement des pages Web utilisé par le moteur de recherche Google</a:t>
            </a:r>
          </a:p>
        </p:txBody>
      </p:sp>
      <p:sp>
        <p:nvSpPr>
          <p:cNvPr id="3" name="Rectangle 2"/>
          <p:cNvSpPr/>
          <p:nvPr/>
        </p:nvSpPr>
        <p:spPr>
          <a:xfrm>
            <a:off x="-304800" y="5264726"/>
            <a:ext cx="4193310" cy="17826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rPr>
              <a:t>Présenté par : </a:t>
            </a:r>
            <a:endParaRPr lang="fr-FR" b="1" dirty="0" smtClean="0">
              <a:solidFill>
                <a:schemeClr val="tx1"/>
              </a:solidFill>
            </a:endParaRPr>
          </a:p>
          <a:p>
            <a:pPr algn="ctr"/>
            <a:r>
              <a:rPr lang="fr-FR" b="1" dirty="0" smtClean="0">
                <a:solidFill>
                  <a:schemeClr val="tx1"/>
                </a:solidFill>
              </a:rPr>
              <a:t>Kouamé </a:t>
            </a:r>
            <a:r>
              <a:rPr lang="fr-FR" b="1" dirty="0">
                <a:solidFill>
                  <a:schemeClr val="tx1"/>
                </a:solidFill>
              </a:rPr>
              <a:t>Gérard Kra </a:t>
            </a:r>
            <a:endParaRPr lang="fr-FR" b="1" dirty="0" smtClean="0">
              <a:solidFill>
                <a:schemeClr val="tx1"/>
              </a:solidFill>
            </a:endParaRPr>
          </a:p>
          <a:p>
            <a:pPr algn="ctr"/>
            <a:r>
              <a:rPr lang="fr-FR" b="1" dirty="0" smtClean="0">
                <a:solidFill>
                  <a:schemeClr val="tx1"/>
                </a:solidFill>
              </a:rPr>
              <a:t>Seyed </a:t>
            </a:r>
            <a:r>
              <a:rPr lang="fr-FR" b="1" dirty="0">
                <a:solidFill>
                  <a:schemeClr val="tx1"/>
                </a:solidFill>
              </a:rPr>
              <a:t>Hossein </a:t>
            </a:r>
            <a:r>
              <a:rPr lang="fr-FR" b="1" dirty="0" err="1">
                <a:solidFill>
                  <a:schemeClr val="tx1"/>
                </a:solidFill>
              </a:rPr>
              <a:t>Seyedi</a:t>
            </a:r>
            <a:r>
              <a:rPr lang="fr-FR" b="1" dirty="0">
                <a:solidFill>
                  <a:schemeClr val="tx1"/>
                </a:solidFill>
              </a:rPr>
              <a:t> </a:t>
            </a:r>
            <a:r>
              <a:rPr lang="fr-FR" b="1" dirty="0" err="1">
                <a:solidFill>
                  <a:schemeClr val="tx1"/>
                </a:solidFill>
              </a:rPr>
              <a:t>Nahrmiani</a:t>
            </a:r>
            <a:r>
              <a:rPr lang="fr-FR" b="1" dirty="0">
                <a:solidFill>
                  <a:schemeClr val="tx1"/>
                </a:solidFill>
              </a:rPr>
              <a:t> </a:t>
            </a:r>
            <a:endParaRPr lang="fr-FR" b="1" dirty="0" smtClean="0">
              <a:solidFill>
                <a:schemeClr val="tx1"/>
              </a:solidFill>
            </a:endParaRPr>
          </a:p>
          <a:p>
            <a:pPr algn="ctr"/>
            <a:r>
              <a:rPr lang="fr-FR" b="1" dirty="0" smtClean="0">
                <a:solidFill>
                  <a:schemeClr val="tx1"/>
                </a:solidFill>
              </a:rPr>
              <a:t>Koffi </a:t>
            </a:r>
            <a:r>
              <a:rPr lang="fr-FR" b="1" dirty="0">
                <a:solidFill>
                  <a:schemeClr val="tx1"/>
                </a:solidFill>
              </a:rPr>
              <a:t>Roland </a:t>
            </a:r>
            <a:r>
              <a:rPr lang="fr-FR" b="1" dirty="0" err="1">
                <a:solidFill>
                  <a:schemeClr val="tx1"/>
                </a:solidFill>
              </a:rPr>
              <a:t>Wotobe</a:t>
            </a:r>
            <a:r>
              <a:rPr lang="fr-FR" b="1" dirty="0">
                <a:solidFill>
                  <a:schemeClr val="tx1"/>
                </a:solidFill>
              </a:rPr>
              <a:t> </a:t>
            </a:r>
          </a:p>
        </p:txBody>
      </p:sp>
      <p:sp>
        <p:nvSpPr>
          <p:cNvPr id="4" name="Rectangle 3"/>
          <p:cNvSpPr/>
          <p:nvPr/>
        </p:nvSpPr>
        <p:spPr>
          <a:xfrm>
            <a:off x="8811491" y="5615706"/>
            <a:ext cx="3149600" cy="10806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rPr>
              <a:t>Encadrant : </a:t>
            </a:r>
            <a:endParaRPr lang="fr-FR" b="1" dirty="0" smtClean="0">
              <a:solidFill>
                <a:schemeClr val="tx1"/>
              </a:solidFill>
            </a:endParaRPr>
          </a:p>
          <a:p>
            <a:pPr algn="ctr"/>
            <a:r>
              <a:rPr lang="fr-FR" b="1" dirty="0" smtClean="0">
                <a:solidFill>
                  <a:schemeClr val="tx1"/>
                </a:solidFill>
              </a:rPr>
              <a:t>M </a:t>
            </a:r>
            <a:r>
              <a:rPr lang="fr-FR" b="1" dirty="0" err="1">
                <a:solidFill>
                  <a:schemeClr val="tx1"/>
                </a:solidFill>
              </a:rPr>
              <a:t>Rubenthaler</a:t>
            </a:r>
            <a:endParaRPr lang="fr-FR" b="1" dirty="0">
              <a:solidFill>
                <a:schemeClr val="tx1"/>
              </a:solidFill>
            </a:endParaRPr>
          </a:p>
        </p:txBody>
      </p:sp>
    </p:spTree>
    <p:extLst>
      <p:ext uri="{BB962C8B-B14F-4D97-AF65-F5344CB8AC3E}">
        <p14:creationId xmlns:p14="http://schemas.microsoft.com/office/powerpoint/2010/main" val="176563024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9000" b="-39000"/>
          </a:stretch>
        </a:blipFill>
        <a:effectLst/>
      </p:bgPr>
    </p:bg>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2F68BD2A-A4DD-2731-132A-553C3EFD1874}"/>
              </a:ext>
            </a:extLst>
          </p:cNvPr>
          <p:cNvSpPr/>
          <p:nvPr/>
        </p:nvSpPr>
        <p:spPr>
          <a:xfrm>
            <a:off x="1089890" y="886690"/>
            <a:ext cx="9901382" cy="5052292"/>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0" dirty="0" smtClean="0">
                <a:solidFill>
                  <a:schemeClr val="tx1"/>
                </a:solidFill>
                <a:latin typeface="Times New Roman" panose="02020603050405020304" pitchFamily="18" charset="0"/>
                <a:cs typeface="Times New Roman" panose="02020603050405020304" pitchFamily="18" charset="0"/>
              </a:rPr>
              <a:t>PageRank</a:t>
            </a:r>
            <a:endParaRPr lang="fr-FR" sz="2400" dirty="0">
              <a:solidFill>
                <a:schemeClr val="tx1"/>
              </a:solidFill>
              <a:latin typeface="Times New Roman" panose="02020603050405020304" pitchFamily="18" charset="0"/>
              <a:cs typeface="Times New Roman" panose="02020603050405020304" pitchFamily="18" charset="0"/>
            </a:endParaRPr>
          </a:p>
          <a:p>
            <a:pPr marL="685800" indent="-685800" algn="ctr">
              <a:buFont typeface="Arial" panose="020B0604020202020204" pitchFamily="34" charset="0"/>
              <a:buChar char="•"/>
            </a:pPr>
            <a:endParaRPr lang="fr-FR" sz="4800" dirty="0">
              <a:latin typeface="Times New Roman" panose="02020603050405020304" pitchFamily="18" charset="0"/>
              <a:cs typeface="Times New Roman" panose="02020603050405020304" pitchFamily="18" charset="0"/>
            </a:endParaRPr>
          </a:p>
          <a:p>
            <a:pPr marL="685800" indent="-685800" algn="ctr">
              <a:buFont typeface="Arial" panose="020B0604020202020204" pitchFamily="34" charset="0"/>
              <a:buChar char="•"/>
            </a:pPr>
            <a:endParaRPr lang="fr-FR" sz="4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929479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01600"/>
            <a:ext cx="12276814" cy="7028873"/>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6000" u="sng" dirty="0" smtClean="0"/>
              <a:t>Table des matières</a:t>
            </a:r>
          </a:p>
          <a:p>
            <a:pPr algn="ctr"/>
            <a:endParaRPr lang="fr-FR" sz="6000" u="sng" dirty="0"/>
          </a:p>
          <a:p>
            <a:pPr algn="just"/>
            <a:r>
              <a:rPr lang="fr-FR" sz="4000" dirty="0" smtClean="0"/>
              <a:t>Introduction</a:t>
            </a:r>
          </a:p>
          <a:p>
            <a:pPr marL="742950" indent="-742950" algn="just">
              <a:buFont typeface="+mj-lt"/>
              <a:buAutoNum type="arabicPeriod"/>
            </a:pPr>
            <a:r>
              <a:rPr lang="fr-FR" sz="4000" dirty="0" smtClean="0"/>
              <a:t>Origine </a:t>
            </a:r>
            <a:r>
              <a:rPr lang="fr-FR" sz="4000" dirty="0" smtClean="0"/>
              <a:t>de </a:t>
            </a:r>
            <a:r>
              <a:rPr lang="fr-FR" sz="4000" dirty="0" smtClean="0"/>
              <a:t>PageRank</a:t>
            </a:r>
          </a:p>
          <a:p>
            <a:pPr marL="742950" indent="-742950" algn="just">
              <a:buFont typeface="+mj-lt"/>
              <a:buAutoNum type="arabicPeriod"/>
            </a:pPr>
            <a:r>
              <a:rPr lang="fr-FR" sz="4000" dirty="0" smtClean="0"/>
              <a:t>Description du fonctionnement </a:t>
            </a:r>
            <a:r>
              <a:rPr lang="fr-FR" sz="4000" dirty="0"/>
              <a:t>de </a:t>
            </a:r>
            <a:r>
              <a:rPr lang="fr-FR" sz="4000" dirty="0" smtClean="0"/>
              <a:t>l’algorithme</a:t>
            </a:r>
            <a:endParaRPr lang="fr-FR" sz="4000" dirty="0"/>
          </a:p>
          <a:p>
            <a:pPr algn="just"/>
            <a:r>
              <a:rPr lang="fr-FR" sz="4000" dirty="0" smtClean="0"/>
              <a:t>   2.1. </a:t>
            </a:r>
            <a:r>
              <a:rPr lang="en-US" sz="4000" dirty="0" err="1">
                <a:solidFill>
                  <a:schemeClr val="bg1"/>
                </a:solidFill>
                <a:latin typeface="Times New Roman" panose="02020603050405020304" pitchFamily="18" charset="0"/>
                <a:ea typeface="Cambria" panose="02040503050406030204" pitchFamily="18" charset="0"/>
                <a:cs typeface="Times New Roman" panose="02020603050405020304" pitchFamily="18" charset="0"/>
              </a:rPr>
              <a:t>Modèle</a:t>
            </a:r>
            <a:r>
              <a:rPr lang="en-US" sz="4000" dirty="0">
                <a:solidFill>
                  <a:schemeClr val="bg1"/>
                </a:solidFill>
                <a:latin typeface="Times New Roman" panose="02020603050405020304" pitchFamily="18" charset="0"/>
                <a:ea typeface="Cambria" panose="02040503050406030204" pitchFamily="18" charset="0"/>
                <a:cs typeface="Times New Roman" panose="02020603050405020304" pitchFamily="18" charset="0"/>
              </a:rPr>
              <a:t> du surfer </a:t>
            </a:r>
            <a:r>
              <a:rPr lang="en-US" sz="4000" dirty="0" err="1">
                <a:solidFill>
                  <a:schemeClr val="bg1"/>
                </a:solidFill>
                <a:latin typeface="Times New Roman" panose="02020603050405020304" pitchFamily="18" charset="0"/>
                <a:ea typeface="Cambria" panose="02040503050406030204" pitchFamily="18" charset="0"/>
                <a:cs typeface="Times New Roman" panose="02020603050405020304" pitchFamily="18" charset="0"/>
              </a:rPr>
              <a:t>aléatoire</a:t>
            </a:r>
            <a:endParaRPr lang="en-US" sz="4000" dirty="0">
              <a:solidFill>
                <a:schemeClr val="bg1"/>
              </a:solidFill>
              <a:latin typeface="Times New Roman" panose="02020603050405020304" pitchFamily="18" charset="0"/>
              <a:ea typeface="Cambria" panose="02040503050406030204" pitchFamily="18" charset="0"/>
              <a:cs typeface="Times New Roman" panose="02020603050405020304" pitchFamily="18" charset="0"/>
            </a:endParaRPr>
          </a:p>
          <a:p>
            <a:pPr algn="just"/>
            <a:r>
              <a:rPr lang="fr-FR" sz="2800" dirty="0" smtClean="0">
                <a:solidFill>
                  <a:srgbClr val="222222"/>
                </a:solidFill>
                <a:latin typeface="Times New Roman" panose="02020603050405020304" pitchFamily="18" charset="0"/>
                <a:cs typeface="Times New Roman" panose="02020603050405020304" pitchFamily="18" charset="0"/>
              </a:rPr>
              <a:t>    </a:t>
            </a:r>
            <a:r>
              <a:rPr lang="fr-FR" sz="4000" dirty="0" smtClean="0"/>
              <a:t>2.2. </a:t>
            </a:r>
            <a:r>
              <a:rPr lang="fr-FR" sz="4000" dirty="0" err="1" smtClean="0"/>
              <a:t>Damping</a:t>
            </a:r>
            <a:r>
              <a:rPr lang="fr-FR" sz="4000" dirty="0" smtClean="0"/>
              <a:t> factor</a:t>
            </a:r>
          </a:p>
          <a:p>
            <a:pPr algn="just"/>
            <a:r>
              <a:rPr lang="fr-FR" sz="4000" dirty="0" smtClean="0"/>
              <a:t>3.   Mise en œuvre de l’algorithme PageRank</a:t>
            </a:r>
            <a:endParaRPr lang="fr-FR" sz="4000" dirty="0" smtClean="0"/>
          </a:p>
          <a:p>
            <a:pPr algn="just"/>
            <a:r>
              <a:rPr lang="fr-FR" sz="4000" dirty="0" smtClean="0"/>
              <a:t>Conclusion</a:t>
            </a:r>
            <a:endParaRPr lang="fr-FR" sz="4000" dirty="0"/>
          </a:p>
        </p:txBody>
      </p:sp>
    </p:spTree>
    <p:extLst>
      <p:ext uri="{BB962C8B-B14F-4D97-AF65-F5344CB8AC3E}">
        <p14:creationId xmlns:p14="http://schemas.microsoft.com/office/powerpoint/2010/main" val="101489445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71276" y="2266123"/>
            <a:ext cx="10583185" cy="31646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r>
              <a:rPr lang="fr-FR" sz="2800" dirty="0">
                <a:solidFill>
                  <a:schemeClr val="tx1">
                    <a:lumMod val="95000"/>
                    <a:lumOff val="5000"/>
                  </a:schemeClr>
                </a:solidFill>
                <a:latin typeface="Times New Roman" panose="02020603050405020304" pitchFamily="18" charset="0"/>
                <a:cs typeface="Times New Roman" panose="02020603050405020304" pitchFamily="18" charset="0"/>
              </a:rPr>
              <a:t>Depuis sa conception en 1998, Google a connu plusieurs améliorations et cela fait de lui aujourd’hui le moteur de recherche le plus utilisé au plan mondial. Cependant, la plupart des réformes de Google demeurent jusqu’à présent des secrets. Par contre, selon l’un des articles publiés par les </a:t>
            </a:r>
            <a:r>
              <a:rPr lang="fr-FR" sz="2800" dirty="0" smtClean="0">
                <a:solidFill>
                  <a:schemeClr val="tx1">
                    <a:lumMod val="95000"/>
                    <a:lumOff val="5000"/>
                  </a:schemeClr>
                </a:solidFill>
                <a:latin typeface="Times New Roman" panose="02020603050405020304" pitchFamily="18" charset="0"/>
                <a:cs typeface="Times New Roman" panose="02020603050405020304" pitchFamily="18" charset="0"/>
              </a:rPr>
              <a:t>fondateurs [1], </a:t>
            </a:r>
            <a:r>
              <a:rPr lang="fr-FR" sz="2800" dirty="0">
                <a:solidFill>
                  <a:schemeClr val="tx1">
                    <a:lumMod val="95000"/>
                    <a:lumOff val="5000"/>
                  </a:schemeClr>
                </a:solidFill>
                <a:latin typeface="Times New Roman" panose="02020603050405020304" pitchFamily="18" charset="0"/>
                <a:cs typeface="Times New Roman" panose="02020603050405020304" pitchFamily="18" charset="0"/>
              </a:rPr>
              <a:t>le pilier de son succès est une judicieuse modélisation mathématique que nous retraçons ici. </a:t>
            </a:r>
          </a:p>
        </p:txBody>
      </p:sp>
      <p:sp>
        <p:nvSpPr>
          <p:cNvPr id="5" name="Rectangle 4"/>
          <p:cNvSpPr/>
          <p:nvPr/>
        </p:nvSpPr>
        <p:spPr>
          <a:xfrm>
            <a:off x="3955772" y="0"/>
            <a:ext cx="4214191" cy="1415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smtClean="0">
                <a:solidFill>
                  <a:schemeClr val="tx1">
                    <a:lumMod val="95000"/>
                    <a:lumOff val="5000"/>
                  </a:schemeClr>
                </a:solidFill>
                <a:latin typeface="Times New Roman" panose="02020603050405020304" pitchFamily="18" charset="0"/>
                <a:cs typeface="Times New Roman" panose="02020603050405020304" pitchFamily="18" charset="0"/>
              </a:rPr>
              <a:t>INTRODUCTION</a:t>
            </a:r>
            <a:endParaRPr lang="fr-FR" sz="3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859617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9" name="Ellipse 8">
            <a:extLst>
              <a:ext uri="{FF2B5EF4-FFF2-40B4-BE49-F238E27FC236}">
                <a16:creationId xmlns:a16="http://schemas.microsoft.com/office/drawing/2014/main" id="{0B466957-8326-53B7-8318-F12C278AF6CB}"/>
              </a:ext>
            </a:extLst>
          </p:cNvPr>
          <p:cNvSpPr/>
          <p:nvPr/>
        </p:nvSpPr>
        <p:spPr>
          <a:xfrm>
            <a:off x="840510" y="461818"/>
            <a:ext cx="10067636" cy="4959927"/>
          </a:xfrm>
          <a:prstGeom prst="ellipse">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dirty="0">
              <a:solidFill>
                <a:schemeClr val="bg1">
                  <a:lumMod val="95000"/>
                </a:schemeClr>
              </a:solidFill>
              <a:latin typeface="Times New Roman" panose="02020603050405020304" pitchFamily="18" charset="0"/>
              <a:cs typeface="Times New Roman" panose="02020603050405020304" pitchFamily="18" charset="0"/>
            </a:endParaRPr>
          </a:p>
          <a:p>
            <a:pPr algn="just"/>
            <a:r>
              <a:rPr lang="fr-FR" sz="4400" dirty="0" smtClean="0">
                <a:solidFill>
                  <a:schemeClr val="tx1"/>
                </a:solidFill>
                <a:latin typeface="Times New Roman" panose="02020603050405020304" pitchFamily="18" charset="0"/>
                <a:cs typeface="Times New Roman" panose="02020603050405020304" pitchFamily="18" charset="0"/>
              </a:rPr>
              <a:t>Lorsqu’un utilisateur lance une recherche sur Google, comment </a:t>
            </a:r>
            <a:r>
              <a:rPr lang="fr-FR" sz="4400" dirty="0">
                <a:solidFill>
                  <a:schemeClr val="tx1"/>
                </a:solidFill>
                <a:latin typeface="Times New Roman" panose="02020603050405020304" pitchFamily="18" charset="0"/>
                <a:cs typeface="Times New Roman" panose="02020603050405020304" pitchFamily="18" charset="0"/>
              </a:rPr>
              <a:t>procède Google pour </a:t>
            </a:r>
            <a:r>
              <a:rPr lang="fr-FR" sz="4400" dirty="0" smtClean="0">
                <a:solidFill>
                  <a:schemeClr val="tx1"/>
                </a:solidFill>
                <a:latin typeface="Times New Roman" panose="02020603050405020304" pitchFamily="18" charset="0"/>
                <a:cs typeface="Times New Roman" panose="02020603050405020304" pitchFamily="18" charset="0"/>
              </a:rPr>
              <a:t>déterminer l’ordre selon lequel présenter les résultats à l’utilisateur?</a:t>
            </a:r>
            <a:endParaRPr lang="fr-FR" sz="4400" dirty="0">
              <a:solidFill>
                <a:schemeClr val="tx1"/>
              </a:solidFill>
              <a:latin typeface="Times New Roman" panose="02020603050405020304" pitchFamily="18" charset="0"/>
              <a:cs typeface="Times New Roman" panose="02020603050405020304" pitchFamily="18" charset="0"/>
            </a:endParaRPr>
          </a:p>
        </p:txBody>
      </p:sp>
      <p:sp>
        <p:nvSpPr>
          <p:cNvPr id="2" name="Rectangle 1"/>
          <p:cNvSpPr/>
          <p:nvPr/>
        </p:nvSpPr>
        <p:spPr>
          <a:xfrm>
            <a:off x="2113361" y="115454"/>
            <a:ext cx="7521934" cy="692727"/>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5400" b="1" dirty="0" smtClean="0">
                <a:solidFill>
                  <a:schemeClr val="tx1"/>
                </a:solidFill>
              </a:rPr>
              <a:t>1. ORIGINE DE PAGERANK</a:t>
            </a:r>
            <a:endParaRPr lang="fr-FR" sz="5400" b="1" dirty="0">
              <a:solidFill>
                <a:schemeClr val="tx1"/>
              </a:solidFill>
            </a:endParaRPr>
          </a:p>
        </p:txBody>
      </p:sp>
    </p:spTree>
    <p:extLst>
      <p:ext uri="{BB962C8B-B14F-4D97-AF65-F5344CB8AC3E}">
        <p14:creationId xmlns:p14="http://schemas.microsoft.com/office/powerpoint/2010/main" val="267040349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CD840688-9191-FA4C-56C1-842ECA6A6425}"/>
              </a:ext>
            </a:extLst>
          </p:cNvPr>
          <p:cNvSpPr>
            <a:spLocks noGrp="1"/>
          </p:cNvSpPr>
          <p:nvPr>
            <p:ph idx="1"/>
          </p:nvPr>
        </p:nvSpPr>
        <p:spPr>
          <a:xfrm>
            <a:off x="838200" y="1764699"/>
            <a:ext cx="10515600" cy="4351338"/>
          </a:xfrm>
        </p:spPr>
        <p:txBody>
          <a:bodyPr>
            <a:normAutofit/>
          </a:bodyPr>
          <a:lstStyle/>
          <a:p>
            <a:pPr marL="0" indent="0">
              <a:lnSpc>
                <a:spcPct val="107000"/>
              </a:lnSpc>
              <a:spcAft>
                <a:spcPts val="800"/>
              </a:spcAft>
              <a:buNone/>
            </a:pPr>
            <a:endParaRPr lang="en-US" sz="3600"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nSpc>
                <a:spcPct val="107000"/>
              </a:lnSpc>
              <a:spcAft>
                <a:spcPts val="800"/>
              </a:spcAft>
              <a:buNone/>
            </a:pPr>
            <a:endParaRPr lang="fr-FR" sz="26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fr-FR" sz="4400" dirty="0">
              <a:latin typeface="Times New Roman" panose="02020603050405020304" pitchFamily="18" charset="0"/>
              <a:cs typeface="Times New Roman" panose="02020603050405020304" pitchFamily="18" charset="0"/>
            </a:endParaRPr>
          </a:p>
        </p:txBody>
      </p:sp>
      <p:sp>
        <p:nvSpPr>
          <p:cNvPr id="7" name="Ellipse 6">
            <a:extLst>
              <a:ext uri="{FF2B5EF4-FFF2-40B4-BE49-F238E27FC236}">
                <a16:creationId xmlns:a16="http://schemas.microsoft.com/office/drawing/2014/main" id="{5F06CEE6-488D-2418-4B2F-9000679E2265}"/>
              </a:ext>
            </a:extLst>
          </p:cNvPr>
          <p:cNvSpPr/>
          <p:nvPr/>
        </p:nvSpPr>
        <p:spPr>
          <a:xfrm>
            <a:off x="320964" y="454363"/>
            <a:ext cx="11290434" cy="5032375"/>
          </a:xfrm>
          <a:prstGeom prst="ellipse">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07000"/>
              </a:lnSpc>
              <a:spcAft>
                <a:spcPts val="800"/>
              </a:spcAft>
            </a:pPr>
            <a:r>
              <a:rPr lang="fr-FR" sz="3200" dirty="0" smtClean="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L’un des plus important algorithme utilisé par Google pour ce classement est PageRank</a:t>
            </a:r>
            <a:r>
              <a:rPr lang="en-US" sz="3200" dirty="0" smtClean="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err="1" smtClean="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C’est</a:t>
            </a:r>
            <a:r>
              <a:rPr lang="en-US" sz="3200" dirty="0" smtClean="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 un </a:t>
            </a:r>
            <a:r>
              <a:rPr lang="en-US" sz="3200" dirty="0" err="1" smtClean="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algorithme</a:t>
            </a:r>
            <a:r>
              <a:rPr lang="en-US" sz="3200" dirty="0" smtClean="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 qui </a:t>
            </a:r>
            <a:r>
              <a:rPr lang="en-US" sz="3200" dirty="0" err="1" smtClean="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estime</a:t>
            </a:r>
            <a:r>
              <a:rPr lang="en-US" sz="3200" dirty="0" smtClean="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err="1" smtClean="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l’importance</a:t>
            </a:r>
            <a:r>
              <a:rPr lang="en-US" sz="3200" dirty="0" smtClean="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 des pages Web.</a:t>
            </a:r>
          </a:p>
          <a:p>
            <a:pPr>
              <a:lnSpc>
                <a:spcPct val="107000"/>
              </a:lnSpc>
              <a:spcAft>
                <a:spcPts val="800"/>
              </a:spcAft>
            </a:pPr>
            <a:r>
              <a:rPr lang="en-US" sz="3200" dirty="0" err="1"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En</a:t>
            </a:r>
            <a:r>
              <a:rPr lang="en-US" sz="3200" dirty="0"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err="1"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effet</a:t>
            </a:r>
            <a:r>
              <a:rPr lang="en-US" sz="3200" dirty="0"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err="1"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une</a:t>
            </a:r>
            <a:r>
              <a:rPr lang="en-US" sz="3200" dirty="0"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 première </a:t>
            </a:r>
            <a:r>
              <a:rPr lang="en-US" sz="3200" dirty="0" err="1"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approche</a:t>
            </a:r>
            <a:r>
              <a:rPr lang="en-US" sz="3200" dirty="0"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err="1"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consiste</a:t>
            </a:r>
            <a:r>
              <a:rPr lang="en-US" sz="3200" dirty="0"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à </a:t>
            </a:r>
            <a:r>
              <a:rPr lang="en-US" sz="3200" dirty="0"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dire </a:t>
            </a:r>
            <a:r>
              <a:rPr lang="en-US" sz="3200" dirty="0" err="1"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qu’une</a:t>
            </a:r>
            <a:r>
              <a:rPr lang="en-US" sz="3200" dirty="0"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 page Web </a:t>
            </a:r>
            <a:r>
              <a:rPr lang="en-US" sz="3200" dirty="0" err="1"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est</a:t>
            </a:r>
            <a:r>
              <a:rPr lang="en-US" sz="3200" dirty="0"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err="1"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importante</a:t>
            </a:r>
            <a:r>
              <a:rPr lang="en-US" sz="3200" dirty="0"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err="1"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si</a:t>
            </a:r>
            <a:r>
              <a:rPr lang="en-US" sz="3200" dirty="0"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err="1"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elle</a:t>
            </a:r>
            <a:r>
              <a:rPr lang="en-US" sz="3200" dirty="0"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err="1"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est</a:t>
            </a:r>
            <a:r>
              <a:rPr lang="en-US" sz="3200" dirty="0"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err="1"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citée</a:t>
            </a:r>
            <a:r>
              <a:rPr lang="en-US" sz="3200" dirty="0"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 par </a:t>
            </a:r>
            <a:r>
              <a:rPr lang="en-US" sz="3200" dirty="0" err="1"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plusieurs</a:t>
            </a:r>
            <a:r>
              <a:rPr lang="en-US" sz="3200" dirty="0"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err="1"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autres</a:t>
            </a:r>
            <a:r>
              <a:rPr lang="en-US" sz="3200" dirty="0"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 pages Web.</a:t>
            </a:r>
            <a:endParaRPr lang="fr-FR" sz="3200" dirty="0">
              <a:effectLst/>
              <a:latin typeface="Times New Roman" panose="02020603050405020304" pitchFamily="18" charset="0"/>
              <a:ea typeface="Calibri" panose="020F0502020204030204" pitchFamily="34" charset="0"/>
              <a:cs typeface="Times New Roman" panose="02020603050405020304" pitchFamily="18" charset="0"/>
            </a:endParaRPr>
          </a:p>
          <a:p>
            <a:pPr algn="ctr"/>
            <a:endParaRPr lang="fr-FR" dirty="0"/>
          </a:p>
        </p:txBody>
      </p:sp>
    </p:spTree>
    <p:extLst>
      <p:ext uri="{BB962C8B-B14F-4D97-AF65-F5344CB8AC3E}">
        <p14:creationId xmlns:p14="http://schemas.microsoft.com/office/powerpoint/2010/main" val="24701387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64309" y="390281"/>
            <a:ext cx="10515600" cy="1325563"/>
          </a:xfrm>
          <a:solidFill>
            <a:schemeClr val="accent5">
              <a:lumMod val="20000"/>
              <a:lumOff val="80000"/>
            </a:schemeClr>
          </a:solidFill>
        </p:spPr>
        <p:txBody>
          <a:bodyPr>
            <a:normAutofit fontScale="90000"/>
          </a:bodyPr>
          <a:lstStyle/>
          <a:p>
            <a:r>
              <a:rPr lang="fr-FR" sz="3600" dirty="0" smtClean="0"/>
              <a:t>Sur la base de ce principe, </a:t>
            </a:r>
            <a:r>
              <a:rPr lang="fr-FR" sz="3600" dirty="0"/>
              <a:t>nous pouvons dire </a:t>
            </a:r>
            <a:r>
              <a:rPr lang="fr-FR" sz="3600" dirty="0" smtClean="0"/>
              <a:t>dans l’exemple ci-dessous que la page P4 est la plus </a:t>
            </a:r>
            <a:r>
              <a:rPr lang="fr-FR" sz="3600" dirty="0" smtClean="0"/>
              <a:t>importante.</a:t>
            </a:r>
            <a:endParaRPr lang="fr-FR" sz="3600" dirty="0"/>
          </a:p>
        </p:txBody>
      </p:sp>
      <p:sp>
        <p:nvSpPr>
          <p:cNvPr id="4" name="Ellipse 3"/>
          <p:cNvSpPr/>
          <p:nvPr/>
        </p:nvSpPr>
        <p:spPr>
          <a:xfrm>
            <a:off x="1156756" y="4304146"/>
            <a:ext cx="858982" cy="55418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P1</a:t>
            </a:r>
            <a:endParaRPr lang="fr-FR" dirty="0"/>
          </a:p>
        </p:txBody>
      </p:sp>
      <p:sp>
        <p:nvSpPr>
          <p:cNvPr id="5" name="Ellipse 4"/>
          <p:cNvSpPr/>
          <p:nvPr/>
        </p:nvSpPr>
        <p:spPr>
          <a:xfrm>
            <a:off x="2498436" y="2687782"/>
            <a:ext cx="858982" cy="55418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P2</a:t>
            </a:r>
            <a:endParaRPr lang="fr-FR" dirty="0"/>
          </a:p>
        </p:txBody>
      </p:sp>
      <p:sp>
        <p:nvSpPr>
          <p:cNvPr id="6" name="Ellipse 5"/>
          <p:cNvSpPr/>
          <p:nvPr/>
        </p:nvSpPr>
        <p:spPr>
          <a:xfrm>
            <a:off x="4290291" y="2883715"/>
            <a:ext cx="858982" cy="55418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P3</a:t>
            </a:r>
            <a:endParaRPr lang="fr-FR" dirty="0"/>
          </a:p>
        </p:txBody>
      </p:sp>
      <p:sp>
        <p:nvSpPr>
          <p:cNvPr id="7" name="Ellipse 6"/>
          <p:cNvSpPr/>
          <p:nvPr/>
        </p:nvSpPr>
        <p:spPr>
          <a:xfrm>
            <a:off x="5592618" y="4858328"/>
            <a:ext cx="858982" cy="55418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P5</a:t>
            </a:r>
            <a:endParaRPr lang="fr-FR" dirty="0"/>
          </a:p>
        </p:txBody>
      </p:sp>
      <p:sp>
        <p:nvSpPr>
          <p:cNvPr id="8" name="Ellipse 7"/>
          <p:cNvSpPr/>
          <p:nvPr/>
        </p:nvSpPr>
        <p:spPr>
          <a:xfrm>
            <a:off x="2799723" y="5265831"/>
            <a:ext cx="858982" cy="554182"/>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P4</a:t>
            </a:r>
            <a:endParaRPr lang="fr-FR" dirty="0"/>
          </a:p>
        </p:txBody>
      </p:sp>
      <p:cxnSp>
        <p:nvCxnSpPr>
          <p:cNvPr id="10" name="Connecteur droit avec flèche 9"/>
          <p:cNvCxnSpPr>
            <a:endCxn id="5" idx="3"/>
          </p:cNvCxnSpPr>
          <p:nvPr/>
        </p:nvCxnSpPr>
        <p:spPr>
          <a:xfrm flipV="1">
            <a:off x="1756015" y="3160806"/>
            <a:ext cx="868216" cy="118832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1" name="Connecteur droit avec flèche 30"/>
          <p:cNvCxnSpPr/>
          <p:nvPr/>
        </p:nvCxnSpPr>
        <p:spPr>
          <a:xfrm>
            <a:off x="1765250" y="4806326"/>
            <a:ext cx="1091095" cy="686140"/>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Connecteur droit avec flèche 31"/>
          <p:cNvCxnSpPr>
            <a:endCxn id="8" idx="6"/>
          </p:cNvCxnSpPr>
          <p:nvPr/>
        </p:nvCxnSpPr>
        <p:spPr>
          <a:xfrm flipH="1">
            <a:off x="3658705" y="5117931"/>
            <a:ext cx="2003187" cy="424991"/>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Connecteur droit avec flèche 32"/>
          <p:cNvCxnSpPr>
            <a:stCxn id="5" idx="6"/>
            <a:endCxn id="6" idx="2"/>
          </p:cNvCxnSpPr>
          <p:nvPr/>
        </p:nvCxnSpPr>
        <p:spPr>
          <a:xfrm>
            <a:off x="3357418" y="2964873"/>
            <a:ext cx="932873" cy="19593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4" name="Connecteur droit avec flèche 33"/>
          <p:cNvCxnSpPr/>
          <p:nvPr/>
        </p:nvCxnSpPr>
        <p:spPr>
          <a:xfrm flipH="1">
            <a:off x="3376996" y="3382479"/>
            <a:ext cx="1163783" cy="1918761"/>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6998804"/>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CD840688-9191-FA4C-56C1-842ECA6A6425}"/>
              </a:ext>
            </a:extLst>
          </p:cNvPr>
          <p:cNvSpPr>
            <a:spLocks noGrp="1"/>
          </p:cNvSpPr>
          <p:nvPr>
            <p:ph idx="1"/>
          </p:nvPr>
        </p:nvSpPr>
        <p:spPr/>
        <p:txBody>
          <a:bodyPr>
            <a:normAutofit/>
          </a:bodyPr>
          <a:lstStyle/>
          <a:p>
            <a:pPr marL="0" indent="0">
              <a:lnSpc>
                <a:spcPct val="107000"/>
              </a:lnSpc>
              <a:spcAft>
                <a:spcPts val="800"/>
              </a:spcAft>
              <a:buNone/>
            </a:pPr>
            <a:endParaRPr lang="en-US" sz="3600"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nSpc>
                <a:spcPct val="107000"/>
              </a:lnSpc>
              <a:spcAft>
                <a:spcPts val="800"/>
              </a:spcAft>
              <a:buNone/>
            </a:pPr>
            <a:endParaRPr lang="fr-FR" sz="26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fr-FR" sz="4400" dirty="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82F11B34-7577-5002-CD9A-3D86F321D5EA}"/>
              </a:ext>
            </a:extLst>
          </p:cNvPr>
          <p:cNvSpPr/>
          <p:nvPr/>
        </p:nvSpPr>
        <p:spPr>
          <a:xfrm>
            <a:off x="1644316" y="147637"/>
            <a:ext cx="8903368" cy="10668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5400" dirty="0" smtClean="0">
                <a:solidFill>
                  <a:schemeClr val="tx1"/>
                </a:solidFill>
                <a:latin typeface="Times New Roman" panose="02020603050405020304" pitchFamily="18" charset="0"/>
                <a:ea typeface="Calibri" panose="020F0502020204030204" pitchFamily="34" charset="0"/>
                <a:cs typeface="Times New Roman" panose="02020603050405020304" pitchFamily="18" charset="0"/>
              </a:rPr>
              <a:t>Il y a cependant un problème!</a:t>
            </a:r>
            <a:endParaRPr lang="en-US" sz="5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endParaRPr lang="fr-FR" dirty="0"/>
          </a:p>
        </p:txBody>
      </p:sp>
      <p:sp>
        <p:nvSpPr>
          <p:cNvPr id="2" name="Rectangle 1">
            <a:extLst>
              <a:ext uri="{FF2B5EF4-FFF2-40B4-BE49-F238E27FC236}">
                <a16:creationId xmlns:a16="http://schemas.microsoft.com/office/drawing/2014/main" id="{89FD2203-43DE-AD1E-E673-8E1973DF5068}"/>
              </a:ext>
            </a:extLst>
          </p:cNvPr>
          <p:cNvSpPr/>
          <p:nvPr/>
        </p:nvSpPr>
        <p:spPr>
          <a:xfrm>
            <a:off x="122722" y="1214437"/>
            <a:ext cx="11946556" cy="5550911"/>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107000"/>
              </a:lnSpc>
              <a:spcAft>
                <a:spcPts val="800"/>
              </a:spcAft>
            </a:pPr>
            <a:endParaRPr lang="en-US" sz="3600" b="1"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07000"/>
              </a:lnSpc>
              <a:spcAft>
                <a:spcPts val="800"/>
              </a:spcAft>
            </a:pPr>
            <a:r>
              <a:rPr lang="fr-FR" sz="4000" dirty="0" smtClean="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Cette seule approche ne suffit </a:t>
            </a:r>
            <a:r>
              <a:rPr lang="fr-FR" sz="4000"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pas. En </a:t>
            </a:r>
            <a:r>
              <a:rPr lang="fr-FR" sz="4000" dirty="0"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effet, partant de ce principe, </a:t>
            </a:r>
            <a:r>
              <a:rPr lang="fr-FR" sz="4000" dirty="0" smtClean="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un développeur Web peut facilement faire remarquer l’importance de sa page Web, en créant  plusieurs autres pages qui citent la page en question.</a:t>
            </a:r>
          </a:p>
          <a:p>
            <a:pPr algn="just">
              <a:lnSpc>
                <a:spcPct val="107000"/>
              </a:lnSpc>
              <a:spcAft>
                <a:spcPts val="800"/>
              </a:spcAft>
            </a:pPr>
            <a:r>
              <a:rPr lang="fr-FR" sz="4000" dirty="0"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Cela ressemblerait à </a:t>
            </a:r>
            <a:r>
              <a:rPr lang="fr-FR" sz="4000" dirty="0"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l’exemple </a:t>
            </a:r>
            <a:r>
              <a:rPr lang="fr-FR" sz="4000" dirty="0"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ci-dessous.</a:t>
            </a:r>
            <a:endParaRPr lang="fr-FR" sz="4000" dirty="0" smtClean="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endParaRPr lang="fr-FR" dirty="0"/>
          </a:p>
        </p:txBody>
      </p:sp>
    </p:spTree>
    <p:extLst>
      <p:ext uri="{BB962C8B-B14F-4D97-AF65-F5344CB8AC3E}">
        <p14:creationId xmlns:p14="http://schemas.microsoft.com/office/powerpoint/2010/main" val="825929991"/>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llipse 3"/>
          <p:cNvSpPr/>
          <p:nvPr/>
        </p:nvSpPr>
        <p:spPr>
          <a:xfrm>
            <a:off x="3426671" y="3158865"/>
            <a:ext cx="609600" cy="563419"/>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P</a:t>
            </a:r>
            <a:endParaRPr lang="fr-FR" dirty="0"/>
          </a:p>
        </p:txBody>
      </p:sp>
      <p:sp>
        <p:nvSpPr>
          <p:cNvPr id="6" name="Ellipse 5"/>
          <p:cNvSpPr/>
          <p:nvPr/>
        </p:nvSpPr>
        <p:spPr>
          <a:xfrm>
            <a:off x="4331835" y="5385265"/>
            <a:ext cx="609600" cy="563419"/>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P9</a:t>
            </a:r>
            <a:endParaRPr lang="fr-FR" dirty="0"/>
          </a:p>
        </p:txBody>
      </p:sp>
      <p:sp>
        <p:nvSpPr>
          <p:cNvPr id="7" name="Ellipse 6"/>
          <p:cNvSpPr/>
          <p:nvPr/>
        </p:nvSpPr>
        <p:spPr>
          <a:xfrm>
            <a:off x="4456525" y="1224278"/>
            <a:ext cx="609600" cy="563419"/>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P1</a:t>
            </a:r>
            <a:endParaRPr lang="fr-FR" dirty="0"/>
          </a:p>
        </p:txBody>
      </p:sp>
      <p:sp>
        <p:nvSpPr>
          <p:cNvPr id="8" name="Ellipse 7"/>
          <p:cNvSpPr/>
          <p:nvPr/>
        </p:nvSpPr>
        <p:spPr>
          <a:xfrm>
            <a:off x="5435580" y="5403520"/>
            <a:ext cx="609600" cy="563419"/>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P8</a:t>
            </a:r>
            <a:endParaRPr lang="fr-FR" dirty="0"/>
          </a:p>
        </p:txBody>
      </p:sp>
      <p:sp>
        <p:nvSpPr>
          <p:cNvPr id="9" name="Ellipse 8"/>
          <p:cNvSpPr/>
          <p:nvPr/>
        </p:nvSpPr>
        <p:spPr>
          <a:xfrm>
            <a:off x="6687107" y="5195259"/>
            <a:ext cx="609600" cy="563419"/>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P7</a:t>
            </a:r>
            <a:endParaRPr lang="fr-FR" dirty="0"/>
          </a:p>
        </p:txBody>
      </p:sp>
      <p:sp>
        <p:nvSpPr>
          <p:cNvPr id="10" name="Ellipse 9"/>
          <p:cNvSpPr/>
          <p:nvPr/>
        </p:nvSpPr>
        <p:spPr>
          <a:xfrm>
            <a:off x="7296707" y="4468007"/>
            <a:ext cx="609600" cy="563419"/>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P6</a:t>
            </a:r>
            <a:endParaRPr lang="fr-FR" dirty="0"/>
          </a:p>
        </p:txBody>
      </p:sp>
      <p:sp>
        <p:nvSpPr>
          <p:cNvPr id="11" name="Ellipse 10"/>
          <p:cNvSpPr/>
          <p:nvPr/>
        </p:nvSpPr>
        <p:spPr>
          <a:xfrm>
            <a:off x="7453725" y="3459045"/>
            <a:ext cx="609600" cy="563419"/>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P5</a:t>
            </a:r>
            <a:endParaRPr lang="fr-FR" dirty="0"/>
          </a:p>
        </p:txBody>
      </p:sp>
      <p:sp>
        <p:nvSpPr>
          <p:cNvPr id="12" name="Ellipse 11"/>
          <p:cNvSpPr/>
          <p:nvPr/>
        </p:nvSpPr>
        <p:spPr>
          <a:xfrm>
            <a:off x="7453725" y="2475224"/>
            <a:ext cx="609600" cy="563419"/>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P4</a:t>
            </a:r>
            <a:endParaRPr lang="fr-FR" dirty="0"/>
          </a:p>
        </p:txBody>
      </p:sp>
      <p:sp>
        <p:nvSpPr>
          <p:cNvPr id="13" name="Ellipse 12"/>
          <p:cNvSpPr/>
          <p:nvPr/>
        </p:nvSpPr>
        <p:spPr>
          <a:xfrm>
            <a:off x="6705580" y="1667627"/>
            <a:ext cx="609600" cy="563419"/>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P3</a:t>
            </a:r>
            <a:endParaRPr lang="fr-FR" dirty="0"/>
          </a:p>
        </p:txBody>
      </p:sp>
      <p:sp>
        <p:nvSpPr>
          <p:cNvPr id="14" name="Ellipse 13"/>
          <p:cNvSpPr/>
          <p:nvPr/>
        </p:nvSpPr>
        <p:spPr>
          <a:xfrm>
            <a:off x="5592598" y="1104208"/>
            <a:ext cx="609600" cy="563419"/>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P2</a:t>
            </a:r>
            <a:endParaRPr lang="fr-FR" dirty="0"/>
          </a:p>
        </p:txBody>
      </p:sp>
      <p:cxnSp>
        <p:nvCxnSpPr>
          <p:cNvPr id="16" name="Connecteur droit avec flèche 15"/>
          <p:cNvCxnSpPr>
            <a:stCxn id="7" idx="3"/>
            <a:endCxn id="4" idx="0"/>
          </p:cNvCxnSpPr>
          <p:nvPr/>
        </p:nvCxnSpPr>
        <p:spPr>
          <a:xfrm flipH="1">
            <a:off x="3731471" y="1705186"/>
            <a:ext cx="814328" cy="1453679"/>
          </a:xfrm>
          <a:prstGeom prst="straightConnector1">
            <a:avLst/>
          </a:prstGeom>
          <a:ln w="190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onnecteur droit avec flèche 16"/>
          <p:cNvCxnSpPr>
            <a:stCxn id="14" idx="3"/>
          </p:cNvCxnSpPr>
          <p:nvPr/>
        </p:nvCxnSpPr>
        <p:spPr>
          <a:xfrm flipH="1">
            <a:off x="3906971" y="1585116"/>
            <a:ext cx="1774901" cy="1636921"/>
          </a:xfrm>
          <a:prstGeom prst="straightConnector1">
            <a:avLst/>
          </a:prstGeom>
          <a:ln w="190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necteur droit avec flèche 17"/>
          <p:cNvCxnSpPr/>
          <p:nvPr/>
        </p:nvCxnSpPr>
        <p:spPr>
          <a:xfrm flipH="1">
            <a:off x="3977445" y="2193368"/>
            <a:ext cx="2802448" cy="1182274"/>
          </a:xfrm>
          <a:prstGeom prst="straightConnector1">
            <a:avLst/>
          </a:prstGeom>
          <a:ln w="190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necteur droit avec flèche 18"/>
          <p:cNvCxnSpPr/>
          <p:nvPr/>
        </p:nvCxnSpPr>
        <p:spPr>
          <a:xfrm flipH="1">
            <a:off x="4009167" y="2812635"/>
            <a:ext cx="3471663" cy="563007"/>
          </a:xfrm>
          <a:prstGeom prst="straightConnector1">
            <a:avLst/>
          </a:prstGeom>
          <a:ln w="190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necteur droit avec flèche 19"/>
          <p:cNvCxnSpPr/>
          <p:nvPr/>
        </p:nvCxnSpPr>
        <p:spPr>
          <a:xfrm flipH="1" flipV="1">
            <a:off x="4036271" y="3439088"/>
            <a:ext cx="3417454" cy="300180"/>
          </a:xfrm>
          <a:prstGeom prst="straightConnector1">
            <a:avLst/>
          </a:prstGeom>
          <a:ln w="190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onnecteur droit avec flèche 20"/>
          <p:cNvCxnSpPr/>
          <p:nvPr/>
        </p:nvCxnSpPr>
        <p:spPr>
          <a:xfrm flipH="1" flipV="1">
            <a:off x="3977445" y="3576327"/>
            <a:ext cx="3319262" cy="1174876"/>
          </a:xfrm>
          <a:prstGeom prst="straightConnector1">
            <a:avLst/>
          </a:prstGeom>
          <a:ln w="190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onnecteur droit avec flèche 21"/>
          <p:cNvCxnSpPr>
            <a:stCxn id="6" idx="1"/>
            <a:endCxn id="4" idx="4"/>
          </p:cNvCxnSpPr>
          <p:nvPr/>
        </p:nvCxnSpPr>
        <p:spPr>
          <a:xfrm flipH="1" flipV="1">
            <a:off x="3731471" y="3722284"/>
            <a:ext cx="689638" cy="1745492"/>
          </a:xfrm>
          <a:prstGeom prst="straightConnector1">
            <a:avLst/>
          </a:prstGeom>
          <a:ln w="190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necteur droit avec flèche 25"/>
          <p:cNvCxnSpPr>
            <a:stCxn id="8" idx="1"/>
          </p:cNvCxnSpPr>
          <p:nvPr/>
        </p:nvCxnSpPr>
        <p:spPr>
          <a:xfrm flipH="1" flipV="1">
            <a:off x="3845382" y="3680901"/>
            <a:ext cx="1679472" cy="1805130"/>
          </a:xfrm>
          <a:prstGeom prst="straightConnector1">
            <a:avLst/>
          </a:prstGeom>
          <a:ln w="190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Connecteur droit avec flèche 26"/>
          <p:cNvCxnSpPr>
            <a:stCxn id="9" idx="1"/>
            <a:endCxn id="4" idx="5"/>
          </p:cNvCxnSpPr>
          <p:nvPr/>
        </p:nvCxnSpPr>
        <p:spPr>
          <a:xfrm flipH="1" flipV="1">
            <a:off x="3946997" y="3639773"/>
            <a:ext cx="2829384" cy="1637997"/>
          </a:xfrm>
          <a:prstGeom prst="straightConnector1">
            <a:avLst/>
          </a:prstGeom>
          <a:ln w="190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8485781"/>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256145" y="517237"/>
            <a:ext cx="9282546" cy="5181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fr-FR" sz="3600" dirty="0">
                <a:solidFill>
                  <a:srgbClr val="222222"/>
                </a:solidFill>
                <a:latin typeface="Times New Roman" panose="02020603050405020304" pitchFamily="18" charset="0"/>
                <a:ea typeface="Calibri" panose="020F0502020204030204" pitchFamily="34" charset="0"/>
                <a:cs typeface="Times New Roman" panose="02020603050405020304" pitchFamily="18" charset="0"/>
              </a:rPr>
              <a:t>C’est pourquoi une deuxième approche sera prise en compte: on dira qu’une page Web est importante si elle est citée par une autre page importante.</a:t>
            </a:r>
            <a:endParaRPr lang="fr-FR" sz="3600" dirty="0"/>
          </a:p>
        </p:txBody>
      </p:sp>
    </p:spTree>
    <p:extLst>
      <p:ext uri="{BB962C8B-B14F-4D97-AF65-F5344CB8AC3E}">
        <p14:creationId xmlns:p14="http://schemas.microsoft.com/office/powerpoint/2010/main" val="137337594"/>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9513" y="2039669"/>
            <a:ext cx="12014421" cy="33513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5400" b="1" dirty="0">
                <a:solidFill>
                  <a:schemeClr val="tx1"/>
                </a:solidFill>
              </a:rPr>
              <a:t>2</a:t>
            </a:r>
            <a:r>
              <a:rPr lang="fr-FR" sz="5400" b="1" dirty="0" smtClean="0">
                <a:solidFill>
                  <a:schemeClr val="tx1"/>
                </a:solidFill>
              </a:rPr>
              <a:t>. </a:t>
            </a:r>
            <a:r>
              <a:rPr lang="fr-FR" sz="5400" b="1" dirty="0">
                <a:solidFill>
                  <a:schemeClr val="tx1">
                    <a:lumMod val="95000"/>
                    <a:lumOff val="5000"/>
                  </a:schemeClr>
                </a:solidFill>
              </a:rPr>
              <a:t>Description du fonctionnement de </a:t>
            </a:r>
            <a:r>
              <a:rPr lang="fr-FR" sz="5400" b="1" dirty="0" smtClean="0">
                <a:solidFill>
                  <a:schemeClr val="tx1">
                    <a:lumMod val="95000"/>
                    <a:lumOff val="5000"/>
                  </a:schemeClr>
                </a:solidFill>
              </a:rPr>
              <a:t>l’algorithme</a:t>
            </a:r>
            <a:endParaRPr lang="fr-FR" sz="5400" b="1" dirty="0">
              <a:solidFill>
                <a:schemeClr val="tx1">
                  <a:lumMod val="95000"/>
                  <a:lumOff val="5000"/>
                </a:schemeClr>
              </a:solidFill>
            </a:endParaRPr>
          </a:p>
          <a:p>
            <a:pPr algn="ctr"/>
            <a:endParaRPr lang="fr-FR" sz="5400" b="1" dirty="0">
              <a:solidFill>
                <a:schemeClr val="tx1">
                  <a:lumMod val="95000"/>
                  <a:lumOff val="5000"/>
                </a:schemeClr>
              </a:solidFill>
            </a:endParaRPr>
          </a:p>
        </p:txBody>
      </p:sp>
    </p:spTree>
    <p:extLst>
      <p:ext uri="{BB962C8B-B14F-4D97-AF65-F5344CB8AC3E}">
        <p14:creationId xmlns:p14="http://schemas.microsoft.com/office/powerpoint/2010/main" val="8001497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6" name="Forme libre : forme 25">
            <a:extLst>
              <a:ext uri="{FF2B5EF4-FFF2-40B4-BE49-F238E27FC236}">
                <a16:creationId xmlns:a16="http://schemas.microsoft.com/office/drawing/2014/main" id="{AA1352A6-2E58-1A2C-BA23-03C2A4199539}"/>
              </a:ext>
            </a:extLst>
          </p:cNvPr>
          <p:cNvSpPr/>
          <p:nvPr/>
        </p:nvSpPr>
        <p:spPr>
          <a:xfrm>
            <a:off x="10464800" y="314960"/>
            <a:ext cx="1727200" cy="3040380"/>
          </a:xfrm>
          <a:custGeom>
            <a:avLst/>
            <a:gdLst>
              <a:gd name="connsiteX0" fmla="*/ 0 w 1727200"/>
              <a:gd name="connsiteY0" fmla="*/ 0 h 3040380"/>
              <a:gd name="connsiteX1" fmla="*/ 713720 w 1727200"/>
              <a:gd name="connsiteY1" fmla="*/ 0 h 3040380"/>
              <a:gd name="connsiteX2" fmla="*/ 1727200 w 1727200"/>
              <a:gd name="connsiteY2" fmla="*/ 1013480 h 3040380"/>
              <a:gd name="connsiteX3" fmla="*/ 1727200 w 1727200"/>
              <a:gd name="connsiteY3" fmla="*/ 3040380 h 3040380"/>
              <a:gd name="connsiteX4" fmla="*/ 0 w 1727200"/>
              <a:gd name="connsiteY4" fmla="*/ 0 h 3040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200" h="3040380">
                <a:moveTo>
                  <a:pt x="0" y="0"/>
                </a:moveTo>
                <a:lnTo>
                  <a:pt x="713720" y="0"/>
                </a:lnTo>
                <a:cubicBezTo>
                  <a:pt x="1273450" y="0"/>
                  <a:pt x="1727200" y="453750"/>
                  <a:pt x="1727200" y="1013480"/>
                </a:cubicBezTo>
                <a:lnTo>
                  <a:pt x="1727200" y="3040380"/>
                </a:lnTo>
                <a:cubicBezTo>
                  <a:pt x="1727200" y="1361224"/>
                  <a:pt x="953906" y="0"/>
                  <a:pt x="0" y="0"/>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5" name="Forme libre : forme 24">
            <a:extLst>
              <a:ext uri="{FF2B5EF4-FFF2-40B4-BE49-F238E27FC236}">
                <a16:creationId xmlns:a16="http://schemas.microsoft.com/office/drawing/2014/main" id="{7B997164-B3FC-F958-D201-5AF41357E74E}"/>
              </a:ext>
            </a:extLst>
          </p:cNvPr>
          <p:cNvSpPr/>
          <p:nvPr/>
        </p:nvSpPr>
        <p:spPr>
          <a:xfrm>
            <a:off x="10464800" y="3355340"/>
            <a:ext cx="1727200" cy="3040380"/>
          </a:xfrm>
          <a:custGeom>
            <a:avLst/>
            <a:gdLst>
              <a:gd name="connsiteX0" fmla="*/ 1727200 w 1727200"/>
              <a:gd name="connsiteY0" fmla="*/ 0 h 3040380"/>
              <a:gd name="connsiteX1" fmla="*/ 1727200 w 1727200"/>
              <a:gd name="connsiteY1" fmla="*/ 2026900 h 3040380"/>
              <a:gd name="connsiteX2" fmla="*/ 713720 w 1727200"/>
              <a:gd name="connsiteY2" fmla="*/ 3040380 h 3040380"/>
              <a:gd name="connsiteX3" fmla="*/ 0 w 1727200"/>
              <a:gd name="connsiteY3" fmla="*/ 3040380 h 3040380"/>
              <a:gd name="connsiteX4" fmla="*/ 1727200 w 1727200"/>
              <a:gd name="connsiteY4" fmla="*/ 0 h 3040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200" h="3040380">
                <a:moveTo>
                  <a:pt x="1727200" y="0"/>
                </a:moveTo>
                <a:lnTo>
                  <a:pt x="1727200" y="2026900"/>
                </a:lnTo>
                <a:cubicBezTo>
                  <a:pt x="1727200" y="2586630"/>
                  <a:pt x="1273450" y="3040380"/>
                  <a:pt x="713720" y="3040380"/>
                </a:cubicBezTo>
                <a:lnTo>
                  <a:pt x="0" y="3040380"/>
                </a:lnTo>
                <a:cubicBezTo>
                  <a:pt x="953906" y="3040380"/>
                  <a:pt x="1727200" y="1679156"/>
                  <a:pt x="1727200" y="0"/>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0" name="Rectangle : avec coins arrondis en diagonale 29">
            <a:extLst>
              <a:ext uri="{FF2B5EF4-FFF2-40B4-BE49-F238E27FC236}">
                <a16:creationId xmlns:a16="http://schemas.microsoft.com/office/drawing/2014/main" id="{D0AB5C3D-509E-7746-63EC-2AFA25C40D13}"/>
              </a:ext>
            </a:extLst>
          </p:cNvPr>
          <p:cNvSpPr/>
          <p:nvPr/>
        </p:nvSpPr>
        <p:spPr>
          <a:xfrm>
            <a:off x="304800" y="314960"/>
            <a:ext cx="10160000" cy="1162858"/>
          </a:xfrm>
          <a:prstGeom prst="round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smtClean="0">
                <a:solidFill>
                  <a:schemeClr val="bg1"/>
                </a:solidFill>
                <a:latin typeface="Times New Roman" panose="02020603050405020304" pitchFamily="18" charset="0"/>
                <a:ea typeface="Cambria" panose="02040503050406030204" pitchFamily="18" charset="0"/>
                <a:cs typeface="Times New Roman" panose="02020603050405020304" pitchFamily="18" charset="0"/>
              </a:rPr>
              <a:t>Comment </a:t>
            </a:r>
            <a:r>
              <a:rPr lang="en-US" sz="3600" dirty="0" err="1" smtClean="0">
                <a:solidFill>
                  <a:schemeClr val="bg1"/>
                </a:solidFill>
                <a:latin typeface="Times New Roman" panose="02020603050405020304" pitchFamily="18" charset="0"/>
                <a:ea typeface="Cambria" panose="02040503050406030204" pitchFamily="18" charset="0"/>
                <a:cs typeface="Times New Roman" panose="02020603050405020304" pitchFamily="18" charset="0"/>
              </a:rPr>
              <a:t>pouvons</a:t>
            </a:r>
            <a:r>
              <a:rPr lang="en-US" sz="3600" dirty="0" smtClean="0">
                <a:solidFill>
                  <a:schemeClr val="bg1"/>
                </a:solidFill>
                <a:latin typeface="Times New Roman" panose="02020603050405020304" pitchFamily="18" charset="0"/>
                <a:ea typeface="Cambria" panose="02040503050406030204" pitchFamily="18" charset="0"/>
                <a:cs typeface="Times New Roman" panose="02020603050405020304" pitchFamily="18" charset="0"/>
              </a:rPr>
              <a:t> nous </a:t>
            </a:r>
            <a:r>
              <a:rPr lang="en-US" sz="3600" dirty="0" err="1" smtClean="0">
                <a:solidFill>
                  <a:schemeClr val="bg1"/>
                </a:solidFill>
                <a:latin typeface="Times New Roman" panose="02020603050405020304" pitchFamily="18" charset="0"/>
                <a:ea typeface="Cambria" panose="02040503050406030204" pitchFamily="18" charset="0"/>
                <a:cs typeface="Times New Roman" panose="02020603050405020304" pitchFamily="18" charset="0"/>
              </a:rPr>
              <a:t>estimer</a:t>
            </a:r>
            <a:r>
              <a:rPr lang="en-US" sz="3600" dirty="0" smtClean="0">
                <a:solidFill>
                  <a:schemeClr val="bg1"/>
                </a:solidFill>
                <a:latin typeface="Times New Roman" panose="02020603050405020304" pitchFamily="18" charset="0"/>
                <a:ea typeface="Cambria" panose="020405030504060302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ea typeface="Cambria" panose="02040503050406030204" pitchFamily="18" charset="0"/>
                <a:cs typeface="Times New Roman" panose="02020603050405020304" pitchFamily="18" charset="0"/>
              </a:rPr>
              <a:t>l’importance</a:t>
            </a:r>
            <a:r>
              <a:rPr lang="en-US" sz="3600" dirty="0" smtClean="0">
                <a:solidFill>
                  <a:schemeClr val="bg1"/>
                </a:solidFill>
                <a:latin typeface="Times New Roman" panose="02020603050405020304" pitchFamily="18" charset="0"/>
                <a:ea typeface="Cambria" panose="020405030504060302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ea typeface="Cambria" panose="02040503050406030204" pitchFamily="18" charset="0"/>
                <a:cs typeface="Times New Roman" panose="02020603050405020304" pitchFamily="18" charset="0"/>
              </a:rPr>
              <a:t>d’une</a:t>
            </a:r>
            <a:r>
              <a:rPr lang="en-US" sz="3600" dirty="0" smtClean="0">
                <a:solidFill>
                  <a:schemeClr val="bg1"/>
                </a:solidFill>
                <a:latin typeface="Times New Roman" panose="02020603050405020304" pitchFamily="18" charset="0"/>
                <a:ea typeface="Cambria" panose="02040503050406030204" pitchFamily="18" charset="0"/>
                <a:cs typeface="Times New Roman" panose="02020603050405020304" pitchFamily="18" charset="0"/>
              </a:rPr>
              <a:t> page </a:t>
            </a:r>
            <a:r>
              <a:rPr lang="en-US" sz="3600" dirty="0" err="1" smtClean="0">
                <a:solidFill>
                  <a:schemeClr val="bg1"/>
                </a:solidFill>
                <a:latin typeface="Times New Roman" panose="02020603050405020304" pitchFamily="18" charset="0"/>
                <a:ea typeface="Cambria" panose="02040503050406030204" pitchFamily="18" charset="0"/>
                <a:cs typeface="Times New Roman" panose="02020603050405020304" pitchFamily="18" charset="0"/>
              </a:rPr>
              <a:t>sachant</a:t>
            </a:r>
            <a:r>
              <a:rPr lang="en-US" sz="3600" dirty="0" smtClean="0">
                <a:solidFill>
                  <a:schemeClr val="bg1"/>
                </a:solidFill>
                <a:latin typeface="Times New Roman" panose="02020603050405020304" pitchFamily="18" charset="0"/>
                <a:ea typeface="Cambria" panose="02040503050406030204" pitchFamily="18" charset="0"/>
                <a:cs typeface="Times New Roman" panose="02020603050405020304" pitchFamily="18" charset="0"/>
              </a:rPr>
              <a:t> </a:t>
            </a:r>
            <a:r>
              <a:rPr lang="en-US" sz="3600" dirty="0" err="1" smtClean="0">
                <a:solidFill>
                  <a:schemeClr val="bg1"/>
                </a:solidFill>
                <a:latin typeface="Times New Roman" panose="02020603050405020304" pitchFamily="18" charset="0"/>
                <a:ea typeface="Cambria" panose="02040503050406030204" pitchFamily="18" charset="0"/>
                <a:cs typeface="Times New Roman" panose="02020603050405020304" pitchFamily="18" charset="0"/>
              </a:rPr>
              <a:t>l’importance</a:t>
            </a:r>
            <a:r>
              <a:rPr lang="en-US" sz="3600" dirty="0" smtClean="0">
                <a:solidFill>
                  <a:schemeClr val="bg1"/>
                </a:solidFill>
                <a:latin typeface="Times New Roman" panose="02020603050405020304" pitchFamily="18" charset="0"/>
                <a:ea typeface="Cambria" panose="02040503050406030204" pitchFamily="18" charset="0"/>
                <a:cs typeface="Times New Roman" panose="02020603050405020304" pitchFamily="18" charset="0"/>
              </a:rPr>
              <a:t> de la page qui la cite?</a:t>
            </a:r>
            <a:endParaRPr lang="en-US" sz="3600" dirty="0">
              <a:solidFill>
                <a:schemeClr val="bg1"/>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31" name="Rectangle : avec coins arrondis en haut 30">
            <a:extLst>
              <a:ext uri="{FF2B5EF4-FFF2-40B4-BE49-F238E27FC236}">
                <a16:creationId xmlns:a16="http://schemas.microsoft.com/office/drawing/2014/main" id="{D1AA993C-8B1C-1CDA-ED3C-7008E7F38FF4}"/>
              </a:ext>
            </a:extLst>
          </p:cNvPr>
          <p:cNvSpPr/>
          <p:nvPr/>
        </p:nvSpPr>
        <p:spPr>
          <a:xfrm>
            <a:off x="219777" y="1514762"/>
            <a:ext cx="9850121" cy="4778311"/>
          </a:xfrm>
          <a:prstGeom prst="round2Same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4400" dirty="0" err="1" smtClean="0">
                <a:solidFill>
                  <a:schemeClr val="bg1"/>
                </a:solidFill>
                <a:latin typeface="Times New Roman" panose="02020603050405020304" pitchFamily="18" charset="0"/>
                <a:ea typeface="Cambria" panose="02040503050406030204" pitchFamily="18" charset="0"/>
                <a:cs typeface="Times New Roman" panose="02020603050405020304" pitchFamily="18" charset="0"/>
              </a:rPr>
              <a:t>Modèle</a:t>
            </a:r>
            <a:r>
              <a:rPr lang="en-US" sz="4400" dirty="0" smtClean="0">
                <a:solidFill>
                  <a:schemeClr val="bg1"/>
                </a:solidFill>
                <a:latin typeface="Times New Roman" panose="02020603050405020304" pitchFamily="18" charset="0"/>
                <a:ea typeface="Cambria" panose="02040503050406030204" pitchFamily="18" charset="0"/>
                <a:cs typeface="Times New Roman" panose="02020603050405020304" pitchFamily="18" charset="0"/>
              </a:rPr>
              <a:t> du surfer </a:t>
            </a:r>
            <a:r>
              <a:rPr lang="en-US" sz="4400" dirty="0" err="1" smtClean="0">
                <a:solidFill>
                  <a:schemeClr val="bg1"/>
                </a:solidFill>
                <a:latin typeface="Times New Roman" panose="02020603050405020304" pitchFamily="18" charset="0"/>
                <a:ea typeface="Cambria" panose="02040503050406030204" pitchFamily="18" charset="0"/>
                <a:cs typeface="Times New Roman" panose="02020603050405020304" pitchFamily="18" charset="0"/>
              </a:rPr>
              <a:t>aléatoire</a:t>
            </a:r>
            <a:endParaRPr lang="en-US" sz="4400" dirty="0">
              <a:solidFill>
                <a:schemeClr val="bg1"/>
              </a:solidFill>
              <a:latin typeface="Times New Roman" panose="02020603050405020304" pitchFamily="18" charset="0"/>
              <a:ea typeface="Cambria" panose="02040503050406030204" pitchFamily="18" charset="0"/>
              <a:cs typeface="Times New Roman" panose="02020603050405020304" pitchFamily="18" charset="0"/>
            </a:endParaRPr>
          </a:p>
          <a:p>
            <a:pPr>
              <a:lnSpc>
                <a:spcPct val="107000"/>
              </a:lnSpc>
              <a:spcAft>
                <a:spcPts val="800"/>
              </a:spcAft>
            </a:pPr>
            <a:endParaRPr lang="fr-FR" sz="3000" dirty="0" smtClean="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lnSpc>
                <a:spcPct val="107000"/>
              </a:lnSpc>
              <a:spcAft>
                <a:spcPts val="800"/>
              </a:spcAft>
            </a:pPr>
            <a:r>
              <a:rPr lang="fr-FR" sz="3000" dirty="0" smtClean="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Considérons un surfer aléatoire qui se promène sur différentes pages Web en prenant de façon aléatoire un lien quelconque</a:t>
            </a:r>
            <a:r>
              <a:rPr lang="en-US" sz="3000" dirty="0" smtClean="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a:t>
            </a:r>
          </a:p>
          <a:p>
            <a:pPr>
              <a:lnSpc>
                <a:spcPct val="107000"/>
              </a:lnSpc>
              <a:spcAft>
                <a:spcPts val="800"/>
              </a:spcAft>
            </a:pPr>
            <a:r>
              <a:rPr lang="en-US" sz="3000" dirty="0"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Le </a:t>
            </a:r>
            <a:r>
              <a:rPr lang="en-US" sz="3000" dirty="0" err="1"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principe</a:t>
            </a:r>
            <a:r>
              <a:rPr lang="en-US" sz="3000" dirty="0"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 du </a:t>
            </a:r>
            <a:r>
              <a:rPr lang="en-US" sz="3000" dirty="0" err="1"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modèle</a:t>
            </a:r>
            <a:r>
              <a:rPr lang="en-US" sz="3000" dirty="0"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 </a:t>
            </a:r>
            <a:r>
              <a:rPr lang="en-US" sz="3000" dirty="0" err="1"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consiste</a:t>
            </a:r>
            <a:r>
              <a:rPr lang="en-US" sz="3000" dirty="0"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 </a:t>
            </a:r>
            <a:r>
              <a:rPr lang="en-US" sz="3000" dirty="0"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à </a:t>
            </a:r>
            <a:r>
              <a:rPr lang="en-US" sz="3000" dirty="0" err="1"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attribuer</a:t>
            </a:r>
            <a:r>
              <a:rPr lang="en-US" sz="3000" dirty="0"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 un score à la page </a:t>
            </a:r>
            <a:r>
              <a:rPr lang="en-US" sz="3000" dirty="0" err="1"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chaque</a:t>
            </a:r>
            <a:r>
              <a:rPr lang="en-US" sz="3000" dirty="0"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 </a:t>
            </a:r>
            <a:r>
              <a:rPr lang="en-US" sz="3000" dirty="0" err="1"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fois</a:t>
            </a:r>
            <a:r>
              <a:rPr lang="en-US" sz="3000" dirty="0"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 </a:t>
            </a:r>
            <a:r>
              <a:rPr lang="en-US" sz="3000" dirty="0" err="1"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qu’elle</a:t>
            </a:r>
            <a:r>
              <a:rPr lang="en-US" sz="3000" dirty="0"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 sera </a:t>
            </a:r>
            <a:r>
              <a:rPr lang="en-US" sz="3000" dirty="0" err="1"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visitée</a:t>
            </a:r>
            <a:r>
              <a:rPr lang="en-US" sz="3000" dirty="0"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 par le surfer </a:t>
            </a:r>
            <a:r>
              <a:rPr lang="en-US" sz="3000" dirty="0" err="1"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puis</a:t>
            </a:r>
            <a:r>
              <a:rPr lang="en-US" sz="3000" dirty="0"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 </a:t>
            </a:r>
            <a:r>
              <a:rPr lang="en-US" sz="3000" dirty="0" err="1"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l’incrémenter</a:t>
            </a:r>
            <a:r>
              <a:rPr lang="en-US" sz="3000" dirty="0"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 à </a:t>
            </a:r>
            <a:r>
              <a:rPr lang="en-US" sz="3000" dirty="0" err="1"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chaque</a:t>
            </a:r>
            <a:r>
              <a:rPr lang="en-US" sz="3000" dirty="0"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 passage.</a:t>
            </a:r>
            <a:endParaRPr lang="fr-FR" sz="3000" dirty="0">
              <a:effectLst/>
              <a:latin typeface="Times New Roman" panose="02020603050405020304" pitchFamily="18" charset="0"/>
              <a:ea typeface="Calibri" panose="020F0502020204030204" pitchFamily="34" charset="0"/>
              <a:cs typeface="Times New Roman" panose="02020603050405020304" pitchFamily="18" charset="0"/>
            </a:endParaRPr>
          </a:p>
          <a:p>
            <a:pPr algn="ctr"/>
            <a:endParaRPr lang="fr-FR" dirty="0"/>
          </a:p>
        </p:txBody>
      </p:sp>
    </p:spTree>
    <p:extLst>
      <p:ext uri="{BB962C8B-B14F-4D97-AF65-F5344CB8AC3E}">
        <p14:creationId xmlns:p14="http://schemas.microsoft.com/office/powerpoint/2010/main" val="2449545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6" name="Forme libre : forme 25">
            <a:extLst>
              <a:ext uri="{FF2B5EF4-FFF2-40B4-BE49-F238E27FC236}">
                <a16:creationId xmlns:a16="http://schemas.microsoft.com/office/drawing/2014/main" id="{AA1352A6-2E58-1A2C-BA23-03C2A4199539}"/>
              </a:ext>
            </a:extLst>
          </p:cNvPr>
          <p:cNvSpPr/>
          <p:nvPr/>
        </p:nvSpPr>
        <p:spPr>
          <a:xfrm>
            <a:off x="10464800" y="286085"/>
            <a:ext cx="1727200" cy="3040380"/>
          </a:xfrm>
          <a:custGeom>
            <a:avLst/>
            <a:gdLst>
              <a:gd name="connsiteX0" fmla="*/ 0 w 1727200"/>
              <a:gd name="connsiteY0" fmla="*/ 0 h 3040380"/>
              <a:gd name="connsiteX1" fmla="*/ 713720 w 1727200"/>
              <a:gd name="connsiteY1" fmla="*/ 0 h 3040380"/>
              <a:gd name="connsiteX2" fmla="*/ 1727200 w 1727200"/>
              <a:gd name="connsiteY2" fmla="*/ 1013480 h 3040380"/>
              <a:gd name="connsiteX3" fmla="*/ 1727200 w 1727200"/>
              <a:gd name="connsiteY3" fmla="*/ 3040380 h 3040380"/>
              <a:gd name="connsiteX4" fmla="*/ 0 w 1727200"/>
              <a:gd name="connsiteY4" fmla="*/ 0 h 3040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200" h="3040380">
                <a:moveTo>
                  <a:pt x="0" y="0"/>
                </a:moveTo>
                <a:lnTo>
                  <a:pt x="713720" y="0"/>
                </a:lnTo>
                <a:cubicBezTo>
                  <a:pt x="1273450" y="0"/>
                  <a:pt x="1727200" y="453750"/>
                  <a:pt x="1727200" y="1013480"/>
                </a:cubicBezTo>
                <a:lnTo>
                  <a:pt x="1727200" y="3040380"/>
                </a:lnTo>
                <a:cubicBezTo>
                  <a:pt x="1727200" y="1361224"/>
                  <a:pt x="953906" y="0"/>
                  <a:pt x="0" y="0"/>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5" name="Forme libre : forme 24">
            <a:extLst>
              <a:ext uri="{FF2B5EF4-FFF2-40B4-BE49-F238E27FC236}">
                <a16:creationId xmlns:a16="http://schemas.microsoft.com/office/drawing/2014/main" id="{7B997164-B3FC-F958-D201-5AF41357E74E}"/>
              </a:ext>
            </a:extLst>
          </p:cNvPr>
          <p:cNvSpPr/>
          <p:nvPr/>
        </p:nvSpPr>
        <p:spPr>
          <a:xfrm>
            <a:off x="10464800" y="3355340"/>
            <a:ext cx="1727200" cy="3040380"/>
          </a:xfrm>
          <a:custGeom>
            <a:avLst/>
            <a:gdLst>
              <a:gd name="connsiteX0" fmla="*/ 1727200 w 1727200"/>
              <a:gd name="connsiteY0" fmla="*/ 0 h 3040380"/>
              <a:gd name="connsiteX1" fmla="*/ 1727200 w 1727200"/>
              <a:gd name="connsiteY1" fmla="*/ 2026900 h 3040380"/>
              <a:gd name="connsiteX2" fmla="*/ 713720 w 1727200"/>
              <a:gd name="connsiteY2" fmla="*/ 3040380 h 3040380"/>
              <a:gd name="connsiteX3" fmla="*/ 0 w 1727200"/>
              <a:gd name="connsiteY3" fmla="*/ 3040380 h 3040380"/>
              <a:gd name="connsiteX4" fmla="*/ 1727200 w 1727200"/>
              <a:gd name="connsiteY4" fmla="*/ 0 h 3040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200" h="3040380">
                <a:moveTo>
                  <a:pt x="1727200" y="0"/>
                </a:moveTo>
                <a:lnTo>
                  <a:pt x="1727200" y="2026900"/>
                </a:lnTo>
                <a:cubicBezTo>
                  <a:pt x="1727200" y="2586630"/>
                  <a:pt x="1273450" y="3040380"/>
                  <a:pt x="713720" y="3040380"/>
                </a:cubicBezTo>
                <a:lnTo>
                  <a:pt x="0" y="3040380"/>
                </a:lnTo>
                <a:cubicBezTo>
                  <a:pt x="953906" y="3040380"/>
                  <a:pt x="1727200" y="1679156"/>
                  <a:pt x="1727200" y="0"/>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1" name="Rectangle : avec coins arrondis en haut 30">
            <a:extLst>
              <a:ext uri="{FF2B5EF4-FFF2-40B4-BE49-F238E27FC236}">
                <a16:creationId xmlns:a16="http://schemas.microsoft.com/office/drawing/2014/main" id="{D1AA993C-8B1C-1CDA-ED3C-7008E7F38FF4}"/>
              </a:ext>
            </a:extLst>
          </p:cNvPr>
          <p:cNvSpPr/>
          <p:nvPr/>
        </p:nvSpPr>
        <p:spPr>
          <a:xfrm>
            <a:off x="0" y="257210"/>
            <a:ext cx="12192000" cy="6216849"/>
          </a:xfrm>
          <a:prstGeom prst="round2Same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07000"/>
              </a:lnSpc>
              <a:spcAft>
                <a:spcPts val="800"/>
              </a:spcAft>
            </a:pPr>
            <a:r>
              <a:rPr lang="en-US" sz="4400" dirty="0"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Après </a:t>
            </a:r>
            <a:r>
              <a:rPr lang="en-US" sz="4400" dirty="0" err="1"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plusieurs</a:t>
            </a:r>
            <a:r>
              <a:rPr lang="en-US" sz="4400" dirty="0"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4400" dirty="0" err="1"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itérations</a:t>
            </a:r>
            <a:r>
              <a:rPr lang="en-US" sz="4400" dirty="0"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 la page </a:t>
            </a:r>
            <a:r>
              <a:rPr lang="en-US" sz="4400" dirty="0" err="1"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ayant</a:t>
            </a:r>
            <a:r>
              <a:rPr lang="en-US" sz="4400" dirty="0"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 le plus </a:t>
            </a:r>
            <a:r>
              <a:rPr lang="en-US" sz="4400" dirty="0" err="1"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gros</a:t>
            </a:r>
            <a:r>
              <a:rPr lang="en-US" sz="4400" dirty="0"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 score sera </a:t>
            </a:r>
            <a:r>
              <a:rPr lang="en-US" sz="4400" dirty="0" err="1"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considérée</a:t>
            </a:r>
            <a:r>
              <a:rPr lang="en-US" sz="4400" dirty="0"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4400" dirty="0" err="1"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comme</a:t>
            </a:r>
            <a:r>
              <a:rPr lang="en-US" sz="4400" dirty="0"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 la plus </a:t>
            </a:r>
            <a:r>
              <a:rPr lang="en-US" sz="4400" dirty="0" err="1"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importante</a:t>
            </a:r>
            <a:r>
              <a:rPr lang="en-US" sz="4400" dirty="0" smtClean="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a:t>
            </a:r>
          </a:p>
          <a:p>
            <a:pPr>
              <a:lnSpc>
                <a:spcPct val="107000"/>
              </a:lnSpc>
              <a:spcAft>
                <a:spcPts val="800"/>
              </a:spcAft>
            </a:pPr>
            <a:r>
              <a:rPr lang="en-US" sz="4400" dirty="0"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Il </a:t>
            </a:r>
            <a:r>
              <a:rPr lang="en-US" sz="4400" dirty="0" err="1"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est</a:t>
            </a:r>
            <a:r>
              <a:rPr lang="en-US" sz="4400" dirty="0"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 </a:t>
            </a:r>
            <a:r>
              <a:rPr lang="en-US" sz="4400" dirty="0" err="1"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évident</a:t>
            </a:r>
            <a:r>
              <a:rPr lang="en-US" sz="4400" dirty="0"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 </a:t>
            </a:r>
            <a:r>
              <a:rPr lang="en-US" sz="4400" dirty="0"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que les pages pour </a:t>
            </a:r>
            <a:r>
              <a:rPr lang="en-US" sz="4400" dirty="0" err="1"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lesquelles</a:t>
            </a:r>
            <a:r>
              <a:rPr lang="en-US" sz="4400" dirty="0"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 </a:t>
            </a:r>
            <a:r>
              <a:rPr lang="en-US" sz="4400" dirty="0" err="1"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il</a:t>
            </a:r>
            <a:r>
              <a:rPr lang="en-US" sz="4400" dirty="0"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 </a:t>
            </a:r>
            <a:r>
              <a:rPr lang="en-US" sz="4400" dirty="0" err="1"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existe</a:t>
            </a:r>
            <a:r>
              <a:rPr lang="en-US" sz="4400" dirty="0"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 </a:t>
            </a:r>
            <a:r>
              <a:rPr lang="en-US" sz="4400" dirty="0" err="1"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plusieurs</a:t>
            </a:r>
            <a:r>
              <a:rPr lang="en-US" sz="4400" dirty="0"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 liens </a:t>
            </a:r>
            <a:r>
              <a:rPr lang="en-US" sz="4400" dirty="0" err="1"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menant</a:t>
            </a:r>
            <a:r>
              <a:rPr lang="en-US" sz="4400" dirty="0"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 </a:t>
            </a:r>
            <a:r>
              <a:rPr lang="en-US" sz="4400" dirty="0" err="1"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vers</a:t>
            </a:r>
            <a:r>
              <a:rPr lang="en-US" sz="4400" dirty="0"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 </a:t>
            </a:r>
            <a:r>
              <a:rPr lang="en-US" sz="4400" dirty="0" err="1"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elles</a:t>
            </a:r>
            <a:r>
              <a:rPr lang="en-US" sz="4400" dirty="0"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  </a:t>
            </a:r>
            <a:r>
              <a:rPr lang="en-US" sz="4400" dirty="0" err="1"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auront</a:t>
            </a:r>
            <a:r>
              <a:rPr lang="en-US" sz="4400" dirty="0"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 </a:t>
            </a:r>
            <a:r>
              <a:rPr lang="en-US" sz="4400" dirty="0" err="1"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tendance</a:t>
            </a:r>
            <a:r>
              <a:rPr lang="en-US" sz="4400" dirty="0"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 </a:t>
            </a:r>
            <a:r>
              <a:rPr lang="en-US" sz="4400" dirty="0"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à </a:t>
            </a:r>
            <a:r>
              <a:rPr lang="en-US" sz="4400" dirty="0" err="1"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remporter</a:t>
            </a:r>
            <a:r>
              <a:rPr lang="en-US" sz="4400" dirty="0"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 plus de score que </a:t>
            </a:r>
            <a:r>
              <a:rPr lang="en-US" sz="4400" dirty="0" err="1"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celles</a:t>
            </a:r>
            <a:r>
              <a:rPr lang="en-US" sz="4400" dirty="0"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 pour </a:t>
            </a:r>
            <a:r>
              <a:rPr lang="en-US" sz="4400" dirty="0" err="1"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lesquelles</a:t>
            </a:r>
            <a:r>
              <a:rPr lang="en-US" sz="4400" dirty="0"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 </a:t>
            </a:r>
            <a:r>
              <a:rPr lang="en-US" sz="4400" dirty="0" err="1"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il</a:t>
            </a:r>
            <a:r>
              <a:rPr lang="en-US" sz="4400" dirty="0"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 y a </a:t>
            </a:r>
            <a:r>
              <a:rPr lang="en-US" sz="4400" dirty="0" err="1"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peu</a:t>
            </a:r>
            <a:r>
              <a:rPr lang="en-US" sz="4400" dirty="0"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 de lien </a:t>
            </a:r>
            <a:r>
              <a:rPr lang="en-US" sz="4400" dirty="0" err="1"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menant</a:t>
            </a:r>
            <a:r>
              <a:rPr lang="en-US" sz="4400" dirty="0"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 </a:t>
            </a:r>
            <a:r>
              <a:rPr lang="en-US" sz="4400" dirty="0" err="1"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vers</a:t>
            </a:r>
            <a:r>
              <a:rPr lang="en-US" sz="4400" dirty="0"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 </a:t>
            </a:r>
            <a:r>
              <a:rPr lang="en-US" sz="4400" dirty="0" err="1"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elles</a:t>
            </a:r>
            <a:r>
              <a:rPr lang="en-US" sz="4400" dirty="0" smtClean="0">
                <a:solidFill>
                  <a:srgbClr val="222222"/>
                </a:solidFill>
                <a:latin typeface="Times New Roman" panose="02020603050405020304" pitchFamily="18" charset="0"/>
                <a:ea typeface="Calibri" panose="020F0502020204030204" pitchFamily="34" charset="0"/>
                <a:cs typeface="Times New Roman" panose="02020603050405020304" pitchFamily="18" charset="0"/>
              </a:rPr>
              <a:t>.</a:t>
            </a:r>
            <a:endParaRPr lang="fr-FR" sz="4400" dirty="0">
              <a:effectLst/>
              <a:latin typeface="Times New Roman" panose="02020603050405020304" pitchFamily="18" charset="0"/>
              <a:ea typeface="Calibri" panose="020F0502020204030204" pitchFamily="34" charset="0"/>
              <a:cs typeface="Times New Roman" panose="02020603050405020304" pitchFamily="18" charset="0"/>
            </a:endParaRPr>
          </a:p>
          <a:p>
            <a:pPr algn="ctr"/>
            <a:endParaRPr lang="fr-FR" dirty="0"/>
          </a:p>
        </p:txBody>
      </p:sp>
    </p:spTree>
    <p:extLst>
      <p:ext uri="{BB962C8B-B14F-4D97-AF65-F5344CB8AC3E}">
        <p14:creationId xmlns:p14="http://schemas.microsoft.com/office/powerpoint/2010/main" val="10605325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3600" dirty="0" smtClean="0"/>
              <a:t>Dans l’exemple ci-dessous, P1 est la page la plus importante.</a:t>
            </a:r>
            <a:endParaRPr lang="fr-FR" sz="3600" dirty="0"/>
          </a:p>
        </p:txBody>
      </p:sp>
      <p:sp>
        <p:nvSpPr>
          <p:cNvPr id="16" name="Ellipse 15"/>
          <p:cNvSpPr/>
          <p:nvPr/>
        </p:nvSpPr>
        <p:spPr>
          <a:xfrm>
            <a:off x="2048165" y="4159318"/>
            <a:ext cx="849745" cy="8312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P5</a:t>
            </a:r>
          </a:p>
          <a:p>
            <a:pPr algn="ctr"/>
            <a:r>
              <a:rPr lang="fr-FR" dirty="0" smtClean="0"/>
              <a:t>15%</a:t>
            </a:r>
            <a:endParaRPr lang="fr-FR" dirty="0"/>
          </a:p>
        </p:txBody>
      </p:sp>
      <p:sp>
        <p:nvSpPr>
          <p:cNvPr id="17" name="Ellipse 16"/>
          <p:cNvSpPr/>
          <p:nvPr/>
        </p:nvSpPr>
        <p:spPr>
          <a:xfrm>
            <a:off x="2914135" y="2534362"/>
            <a:ext cx="849745" cy="8312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P4</a:t>
            </a:r>
          </a:p>
          <a:p>
            <a:pPr algn="ctr"/>
            <a:r>
              <a:rPr lang="fr-FR" dirty="0" smtClean="0"/>
              <a:t>5%</a:t>
            </a:r>
            <a:endParaRPr lang="fr-FR" dirty="0"/>
          </a:p>
        </p:txBody>
      </p:sp>
      <p:sp>
        <p:nvSpPr>
          <p:cNvPr id="18" name="Ellipse 17"/>
          <p:cNvSpPr/>
          <p:nvPr/>
        </p:nvSpPr>
        <p:spPr>
          <a:xfrm>
            <a:off x="4382655" y="5887551"/>
            <a:ext cx="849745" cy="831272"/>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P1</a:t>
            </a:r>
          </a:p>
          <a:p>
            <a:pPr algn="ctr"/>
            <a:r>
              <a:rPr lang="fr-FR" dirty="0" smtClean="0"/>
              <a:t>45%</a:t>
            </a:r>
            <a:endParaRPr lang="fr-FR" dirty="0"/>
          </a:p>
        </p:txBody>
      </p:sp>
      <p:sp>
        <p:nvSpPr>
          <p:cNvPr id="19" name="Ellipse 18"/>
          <p:cNvSpPr/>
          <p:nvPr/>
        </p:nvSpPr>
        <p:spPr>
          <a:xfrm>
            <a:off x="4860637" y="3180594"/>
            <a:ext cx="849745" cy="8312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P3</a:t>
            </a:r>
          </a:p>
          <a:p>
            <a:pPr algn="ctr"/>
            <a:r>
              <a:rPr lang="fr-FR" dirty="0" smtClean="0"/>
              <a:t>15%</a:t>
            </a:r>
            <a:endParaRPr lang="fr-FR" dirty="0"/>
          </a:p>
        </p:txBody>
      </p:sp>
      <p:sp>
        <p:nvSpPr>
          <p:cNvPr id="20" name="Ellipse 19"/>
          <p:cNvSpPr/>
          <p:nvPr/>
        </p:nvSpPr>
        <p:spPr>
          <a:xfrm>
            <a:off x="7102764" y="3865419"/>
            <a:ext cx="849745" cy="8312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P2</a:t>
            </a:r>
          </a:p>
          <a:p>
            <a:pPr algn="ctr"/>
            <a:r>
              <a:rPr lang="fr-FR" dirty="0" smtClean="0"/>
              <a:t>20%</a:t>
            </a:r>
            <a:endParaRPr lang="fr-FR" dirty="0"/>
          </a:p>
        </p:txBody>
      </p:sp>
      <p:cxnSp>
        <p:nvCxnSpPr>
          <p:cNvPr id="21" name="Connecteur droit avec flèche 20"/>
          <p:cNvCxnSpPr>
            <a:stCxn id="18" idx="7"/>
            <a:endCxn id="20" idx="3"/>
          </p:cNvCxnSpPr>
          <p:nvPr/>
        </p:nvCxnSpPr>
        <p:spPr>
          <a:xfrm flipV="1">
            <a:off x="5107958" y="4574954"/>
            <a:ext cx="2119248" cy="143433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2" name="Connecteur droit avec flèche 21"/>
          <p:cNvCxnSpPr>
            <a:endCxn id="18" idx="1"/>
          </p:cNvCxnSpPr>
          <p:nvPr/>
        </p:nvCxnSpPr>
        <p:spPr>
          <a:xfrm>
            <a:off x="3462669" y="3326465"/>
            <a:ext cx="1044428" cy="2682823"/>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necteur droit avec flèche 22"/>
          <p:cNvCxnSpPr>
            <a:stCxn id="20" idx="4"/>
            <a:endCxn id="18" idx="6"/>
          </p:cNvCxnSpPr>
          <p:nvPr/>
        </p:nvCxnSpPr>
        <p:spPr>
          <a:xfrm flipH="1">
            <a:off x="5232400" y="4696691"/>
            <a:ext cx="2295237" cy="1606496"/>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Connecteur droit avec flèche 23"/>
          <p:cNvCxnSpPr>
            <a:stCxn id="18" idx="0"/>
          </p:cNvCxnSpPr>
          <p:nvPr/>
        </p:nvCxnSpPr>
        <p:spPr>
          <a:xfrm flipV="1">
            <a:off x="4807528" y="4008581"/>
            <a:ext cx="424872" cy="187897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5" name="Connecteur droit avec flèche 24"/>
          <p:cNvCxnSpPr/>
          <p:nvPr/>
        </p:nvCxnSpPr>
        <p:spPr>
          <a:xfrm flipH="1" flipV="1">
            <a:off x="3763880" y="3083607"/>
            <a:ext cx="1186810" cy="35261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6" name="Connecteur droit avec flèche 25"/>
          <p:cNvCxnSpPr/>
          <p:nvPr/>
        </p:nvCxnSpPr>
        <p:spPr>
          <a:xfrm flipH="1">
            <a:off x="2636244" y="3253962"/>
            <a:ext cx="484493" cy="95240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7" name="Connecteur droit avec flèche 26"/>
          <p:cNvCxnSpPr>
            <a:stCxn id="16" idx="5"/>
          </p:cNvCxnSpPr>
          <p:nvPr/>
        </p:nvCxnSpPr>
        <p:spPr>
          <a:xfrm>
            <a:off x="2773468" y="4868853"/>
            <a:ext cx="1609187" cy="1312597"/>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507490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rme libre : forme 5">
            <a:extLst>
              <a:ext uri="{FF2B5EF4-FFF2-40B4-BE49-F238E27FC236}">
                <a16:creationId xmlns:a16="http://schemas.microsoft.com/office/drawing/2014/main" id="{46BB839E-1940-E095-BE58-4F279A6B2E13}"/>
              </a:ext>
            </a:extLst>
          </p:cNvPr>
          <p:cNvSpPr/>
          <p:nvPr/>
        </p:nvSpPr>
        <p:spPr>
          <a:xfrm>
            <a:off x="314960" y="96738"/>
            <a:ext cx="11602720" cy="6410960"/>
          </a:xfrm>
          <a:custGeom>
            <a:avLst/>
            <a:gdLst>
              <a:gd name="connsiteX0" fmla="*/ 1068515 w 11602720"/>
              <a:gd name="connsiteY0" fmla="*/ 0 h 6410960"/>
              <a:gd name="connsiteX1" fmla="*/ 11602720 w 11602720"/>
              <a:gd name="connsiteY1" fmla="*/ 0 h 6410960"/>
              <a:gd name="connsiteX2" fmla="*/ 11602720 w 11602720"/>
              <a:gd name="connsiteY2" fmla="*/ 5342445 h 6410960"/>
              <a:gd name="connsiteX3" fmla="*/ 10534205 w 11602720"/>
              <a:gd name="connsiteY3" fmla="*/ 6410960 h 6410960"/>
              <a:gd name="connsiteX4" fmla="*/ 10403840 w 11602720"/>
              <a:gd name="connsiteY4" fmla="*/ 6410960 h 6410960"/>
              <a:gd name="connsiteX5" fmla="*/ 10403840 w 11602720"/>
              <a:gd name="connsiteY5" fmla="*/ 1503680 h 6410960"/>
              <a:gd name="connsiteX6" fmla="*/ 944880 w 11602720"/>
              <a:gd name="connsiteY6" fmla="*/ 1503680 h 6410960"/>
              <a:gd name="connsiteX7" fmla="*/ 944880 w 11602720"/>
              <a:gd name="connsiteY7" fmla="*/ 6410960 h 6410960"/>
              <a:gd name="connsiteX8" fmla="*/ 0 w 11602720"/>
              <a:gd name="connsiteY8" fmla="*/ 6410960 h 6410960"/>
              <a:gd name="connsiteX9" fmla="*/ 0 w 11602720"/>
              <a:gd name="connsiteY9" fmla="*/ 1068515 h 6410960"/>
              <a:gd name="connsiteX10" fmla="*/ 1068515 w 11602720"/>
              <a:gd name="connsiteY10" fmla="*/ 0 h 641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602720" h="6410960">
                <a:moveTo>
                  <a:pt x="1068515" y="0"/>
                </a:moveTo>
                <a:lnTo>
                  <a:pt x="11602720" y="0"/>
                </a:lnTo>
                <a:lnTo>
                  <a:pt x="11602720" y="5342445"/>
                </a:lnTo>
                <a:cubicBezTo>
                  <a:pt x="11602720" y="5932570"/>
                  <a:pt x="11124330" y="6410960"/>
                  <a:pt x="10534205" y="6410960"/>
                </a:cubicBezTo>
                <a:lnTo>
                  <a:pt x="10403840" y="6410960"/>
                </a:lnTo>
                <a:lnTo>
                  <a:pt x="10403840" y="1503680"/>
                </a:lnTo>
                <a:lnTo>
                  <a:pt x="944880" y="1503680"/>
                </a:lnTo>
                <a:lnTo>
                  <a:pt x="944880" y="6410960"/>
                </a:lnTo>
                <a:lnTo>
                  <a:pt x="0" y="6410960"/>
                </a:lnTo>
                <a:lnTo>
                  <a:pt x="0" y="1068515"/>
                </a:lnTo>
                <a:cubicBezTo>
                  <a:pt x="0" y="478390"/>
                  <a:pt x="478390" y="0"/>
                  <a:pt x="1068515" y="0"/>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7" name="Rectangle : coins arrondis 6">
            <a:extLst>
              <a:ext uri="{FF2B5EF4-FFF2-40B4-BE49-F238E27FC236}">
                <a16:creationId xmlns:a16="http://schemas.microsoft.com/office/drawing/2014/main" id="{5182ED84-EB32-38D7-D3AF-FB115E1910E0}"/>
              </a:ext>
            </a:extLst>
          </p:cNvPr>
          <p:cNvSpPr/>
          <p:nvPr/>
        </p:nvSpPr>
        <p:spPr>
          <a:xfrm>
            <a:off x="1307188" y="2179077"/>
            <a:ext cx="9817769" cy="434709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dirty="0" smtClean="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L’approche ci-dessus nous donne l’impression que le surfer aléatoire reste uniquement dans un ensemble de pages Web interconnecté</a:t>
            </a:r>
            <a:r>
              <a:rPr lang="en-US" sz="3200" dirty="0" smtClean="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err="1" smtClean="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ce</a:t>
            </a:r>
            <a:r>
              <a:rPr lang="en-US" sz="3200" dirty="0" smtClean="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 qui </a:t>
            </a:r>
            <a:r>
              <a:rPr lang="en-US" sz="3200" dirty="0" err="1" smtClean="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n’est</a:t>
            </a:r>
            <a:r>
              <a:rPr lang="en-US" sz="3200" dirty="0" smtClean="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 pas </a:t>
            </a:r>
            <a:r>
              <a:rPr lang="en-US" sz="3200" dirty="0" err="1" smtClean="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exactement</a:t>
            </a:r>
            <a:r>
              <a:rPr lang="en-US" sz="3200" dirty="0" smtClean="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smtClean="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le </a:t>
            </a:r>
            <a:r>
              <a:rPr lang="en-US" sz="3200" dirty="0" err="1" smtClean="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cas</a:t>
            </a:r>
            <a:r>
              <a:rPr lang="en-US" sz="3200" dirty="0" smtClean="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err="1" smtClean="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dans</a:t>
            </a:r>
            <a:r>
              <a:rPr lang="en-US" sz="3200" dirty="0" smtClean="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smtClean="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le monde </a:t>
            </a:r>
            <a:r>
              <a:rPr lang="en-US" sz="3200" dirty="0" err="1" smtClean="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réel</a:t>
            </a:r>
            <a:r>
              <a:rPr lang="en-US" sz="3200" dirty="0" smtClean="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t>
            </a:r>
          </a:p>
          <a:p>
            <a:r>
              <a:rPr lang="en-US" sz="3200" dirty="0" err="1" smtClean="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En</a:t>
            </a:r>
            <a:r>
              <a:rPr lang="en-US" sz="3200" dirty="0" smtClean="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smtClean="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effet</a:t>
            </a:r>
            <a:r>
              <a:rPr lang="en-US" sz="3200" dirty="0" smtClean="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smtClean="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il</a:t>
            </a:r>
            <a:r>
              <a:rPr lang="en-US" sz="3200" dirty="0" smtClean="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smtClean="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peut</a:t>
            </a:r>
            <a:r>
              <a:rPr lang="en-US" sz="3200" dirty="0" smtClean="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smtClean="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arriver </a:t>
            </a:r>
            <a:r>
              <a:rPr lang="en-US" sz="3200" dirty="0" err="1" smtClean="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qu’un</a:t>
            </a:r>
            <a:r>
              <a:rPr lang="en-US" sz="3200" dirty="0" smtClean="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ensemble de pages Web ne </a:t>
            </a:r>
            <a:r>
              <a:rPr lang="en-US" sz="3200" dirty="0" err="1" smtClean="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soit</a:t>
            </a:r>
            <a:r>
              <a:rPr lang="en-US" sz="3200" dirty="0" smtClean="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smtClean="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liée</a:t>
            </a:r>
            <a:r>
              <a:rPr lang="en-US" sz="3200" dirty="0" smtClean="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à un </a:t>
            </a:r>
            <a:r>
              <a:rPr lang="en-US" sz="3200" dirty="0" err="1" smtClean="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ou</a:t>
            </a:r>
            <a:r>
              <a:rPr lang="en-US" sz="3200" dirty="0" smtClean="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smtClean="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plusieurs</a:t>
            </a:r>
            <a:r>
              <a:rPr lang="en-US" sz="3200" dirty="0" smtClean="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smtClean="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autre</a:t>
            </a:r>
            <a:r>
              <a:rPr lang="en-US" sz="3200" dirty="0" err="1" smtClean="0">
                <a:solidFill>
                  <a:srgbClr val="002060"/>
                </a:solidFill>
                <a:latin typeface="Times New Roman" panose="02020603050405020304" pitchFamily="18" charset="0"/>
                <a:ea typeface="Calibri" panose="020F0502020204030204" pitchFamily="34" charset="0"/>
                <a:cs typeface="Times New Roman" panose="02020603050405020304" pitchFamily="18" charset="0"/>
              </a:rPr>
              <a:t>s</a:t>
            </a:r>
            <a:r>
              <a:rPr lang="en-US" sz="3200" dirty="0" smtClean="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ensemble de pages Web. Comment </a:t>
            </a:r>
            <a:r>
              <a:rPr lang="en-US" sz="3200" dirty="0" err="1" smtClean="0">
                <a:solidFill>
                  <a:srgbClr val="002060"/>
                </a:solidFill>
                <a:latin typeface="Times New Roman" panose="02020603050405020304" pitchFamily="18" charset="0"/>
                <a:ea typeface="Calibri" panose="020F0502020204030204" pitchFamily="34" charset="0"/>
                <a:cs typeface="Times New Roman" panose="02020603050405020304" pitchFamily="18" charset="0"/>
              </a:rPr>
              <a:t>pouvons</a:t>
            </a:r>
            <a:r>
              <a:rPr lang="en-US" sz="3200" dirty="0" smtClean="0">
                <a:solidFill>
                  <a:srgbClr val="002060"/>
                </a:solidFill>
                <a:latin typeface="Times New Roman" panose="02020603050405020304" pitchFamily="18" charset="0"/>
                <a:ea typeface="Calibri" panose="020F0502020204030204" pitchFamily="34" charset="0"/>
                <a:cs typeface="Times New Roman" panose="02020603050405020304" pitchFamily="18" charset="0"/>
              </a:rPr>
              <a:t>-nous </a:t>
            </a:r>
            <a:r>
              <a:rPr lang="en-US" sz="3200" dirty="0" err="1" smtClean="0">
                <a:solidFill>
                  <a:srgbClr val="002060"/>
                </a:solidFill>
                <a:latin typeface="Times New Roman" panose="02020603050405020304" pitchFamily="18" charset="0"/>
                <a:ea typeface="Calibri" panose="020F0502020204030204" pitchFamily="34" charset="0"/>
                <a:cs typeface="Times New Roman" panose="02020603050405020304" pitchFamily="18" charset="0"/>
              </a:rPr>
              <a:t>prendre</a:t>
            </a:r>
            <a:r>
              <a:rPr lang="en-US" sz="3200" dirty="0" smtClean="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smtClean="0">
                <a:solidFill>
                  <a:srgbClr val="002060"/>
                </a:solidFill>
                <a:latin typeface="Times New Roman" panose="02020603050405020304" pitchFamily="18" charset="0"/>
                <a:ea typeface="Calibri" panose="020F0502020204030204" pitchFamily="34" charset="0"/>
                <a:cs typeface="Times New Roman" panose="02020603050405020304" pitchFamily="18" charset="0"/>
              </a:rPr>
              <a:t>en</a:t>
            </a:r>
            <a:r>
              <a:rPr lang="en-US" sz="3200" dirty="0" smtClean="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smtClean="0">
                <a:solidFill>
                  <a:srgbClr val="002060"/>
                </a:solidFill>
                <a:latin typeface="Times New Roman" panose="02020603050405020304" pitchFamily="18" charset="0"/>
                <a:ea typeface="Calibri" panose="020F0502020204030204" pitchFamily="34" charset="0"/>
                <a:cs typeface="Times New Roman" panose="02020603050405020304" pitchFamily="18" charset="0"/>
              </a:rPr>
              <a:t>compte</a:t>
            </a:r>
            <a:r>
              <a:rPr lang="en-US" sz="3200" dirty="0" smtClean="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smtClean="0">
                <a:solidFill>
                  <a:srgbClr val="002060"/>
                </a:solidFill>
                <a:latin typeface="Times New Roman" panose="02020603050405020304" pitchFamily="18" charset="0"/>
                <a:ea typeface="Calibri" panose="020F0502020204030204" pitchFamily="34" charset="0"/>
                <a:cs typeface="Times New Roman" panose="02020603050405020304" pitchFamily="18" charset="0"/>
              </a:rPr>
              <a:t>cet</a:t>
            </a:r>
            <a:r>
              <a:rPr lang="en-US" sz="3200" dirty="0" smtClean="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aspect?</a:t>
            </a:r>
            <a:endParaRPr lang="fr-FR" sz="3200"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endParaRPr>
          </a:p>
          <a:p>
            <a:pPr algn="ctr"/>
            <a:endParaRPr lang="fr-FR" dirty="0"/>
          </a:p>
        </p:txBody>
      </p:sp>
      <p:sp>
        <p:nvSpPr>
          <p:cNvPr id="8" name="Ellipse 7">
            <a:extLst>
              <a:ext uri="{FF2B5EF4-FFF2-40B4-BE49-F238E27FC236}">
                <a16:creationId xmlns:a16="http://schemas.microsoft.com/office/drawing/2014/main" id="{5101D2AB-09AC-D656-E0D6-2CF456BD7B12}"/>
              </a:ext>
            </a:extLst>
          </p:cNvPr>
          <p:cNvSpPr/>
          <p:nvPr/>
        </p:nvSpPr>
        <p:spPr>
          <a:xfrm>
            <a:off x="1923592" y="474749"/>
            <a:ext cx="8252449" cy="100584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dirty="0" smtClean="0">
                <a:solidFill>
                  <a:schemeClr val="bg1"/>
                </a:solidFill>
                <a:latin typeface="Times New Roman" panose="02020603050405020304" pitchFamily="18" charset="0"/>
                <a:ea typeface="Cambria" panose="02040503050406030204" pitchFamily="18" charset="0"/>
                <a:cs typeface="Times New Roman" panose="02020603050405020304" pitchFamily="18" charset="0"/>
              </a:rPr>
              <a:t>Il y a par </a:t>
            </a:r>
            <a:r>
              <a:rPr lang="en-US" sz="4000" dirty="0" err="1" smtClean="0">
                <a:solidFill>
                  <a:schemeClr val="bg1"/>
                </a:solidFill>
                <a:latin typeface="Times New Roman" panose="02020603050405020304" pitchFamily="18" charset="0"/>
                <a:ea typeface="Cambria" panose="02040503050406030204" pitchFamily="18" charset="0"/>
                <a:cs typeface="Times New Roman" panose="02020603050405020304" pitchFamily="18" charset="0"/>
              </a:rPr>
              <a:t>contre</a:t>
            </a:r>
            <a:r>
              <a:rPr lang="en-US" sz="4000" dirty="0" smtClean="0">
                <a:solidFill>
                  <a:schemeClr val="bg1"/>
                </a:solidFill>
                <a:latin typeface="Times New Roman" panose="02020603050405020304" pitchFamily="18" charset="0"/>
                <a:ea typeface="Cambria" panose="02040503050406030204" pitchFamily="18" charset="0"/>
                <a:cs typeface="Times New Roman" panose="02020603050405020304" pitchFamily="18" charset="0"/>
              </a:rPr>
              <a:t> un souci pour </a:t>
            </a:r>
            <a:r>
              <a:rPr lang="en-US" sz="4000" dirty="0" err="1" smtClean="0">
                <a:solidFill>
                  <a:schemeClr val="bg1"/>
                </a:solidFill>
                <a:latin typeface="Times New Roman" panose="02020603050405020304" pitchFamily="18" charset="0"/>
                <a:ea typeface="Cambria" panose="02040503050406030204" pitchFamily="18" charset="0"/>
                <a:cs typeface="Times New Roman" panose="02020603050405020304" pitchFamily="18" charset="0"/>
              </a:rPr>
              <a:t>l’approche</a:t>
            </a:r>
            <a:r>
              <a:rPr lang="en-US" sz="4000" dirty="0" smtClean="0">
                <a:solidFill>
                  <a:schemeClr val="bg1"/>
                </a:solidFill>
                <a:latin typeface="Times New Roman" panose="02020603050405020304" pitchFamily="18" charset="0"/>
                <a:ea typeface="Cambria" panose="02040503050406030204" pitchFamily="18" charset="0"/>
                <a:cs typeface="Times New Roman" panose="02020603050405020304" pitchFamily="18" charset="0"/>
              </a:rPr>
              <a:t> ci-</a:t>
            </a:r>
            <a:r>
              <a:rPr lang="en-US" sz="4000" dirty="0" err="1" smtClean="0">
                <a:solidFill>
                  <a:schemeClr val="bg1"/>
                </a:solidFill>
                <a:latin typeface="Times New Roman" panose="02020603050405020304" pitchFamily="18" charset="0"/>
                <a:ea typeface="Cambria" panose="02040503050406030204" pitchFamily="18" charset="0"/>
                <a:cs typeface="Times New Roman" panose="02020603050405020304" pitchFamily="18" charset="0"/>
              </a:rPr>
              <a:t>dessus</a:t>
            </a:r>
            <a:r>
              <a:rPr lang="en-US" sz="4000" dirty="0" smtClean="0">
                <a:solidFill>
                  <a:schemeClr val="bg1"/>
                </a:solidFill>
                <a:latin typeface="Times New Roman" panose="02020603050405020304" pitchFamily="18" charset="0"/>
                <a:ea typeface="Cambria" panose="02040503050406030204" pitchFamily="18" charset="0"/>
                <a:cs typeface="Times New Roman" panose="02020603050405020304" pitchFamily="18" charset="0"/>
              </a:rPr>
              <a:t>!</a:t>
            </a:r>
            <a:endParaRPr lang="en-US" sz="4000" dirty="0">
              <a:solidFill>
                <a:schemeClr val="bg1"/>
              </a:solidFill>
              <a:latin typeface="Times New Roman" panose="020206030504050203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10028307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rme libre : forme 5">
            <a:extLst>
              <a:ext uri="{FF2B5EF4-FFF2-40B4-BE49-F238E27FC236}">
                <a16:creationId xmlns:a16="http://schemas.microsoft.com/office/drawing/2014/main" id="{46BB839E-1940-E095-BE58-4F279A6B2E13}"/>
              </a:ext>
            </a:extLst>
          </p:cNvPr>
          <p:cNvSpPr/>
          <p:nvPr/>
        </p:nvSpPr>
        <p:spPr>
          <a:xfrm>
            <a:off x="342669" y="177338"/>
            <a:ext cx="11602720" cy="6410960"/>
          </a:xfrm>
          <a:custGeom>
            <a:avLst/>
            <a:gdLst>
              <a:gd name="connsiteX0" fmla="*/ 1068515 w 11602720"/>
              <a:gd name="connsiteY0" fmla="*/ 0 h 6410960"/>
              <a:gd name="connsiteX1" fmla="*/ 11602720 w 11602720"/>
              <a:gd name="connsiteY1" fmla="*/ 0 h 6410960"/>
              <a:gd name="connsiteX2" fmla="*/ 11602720 w 11602720"/>
              <a:gd name="connsiteY2" fmla="*/ 5342445 h 6410960"/>
              <a:gd name="connsiteX3" fmla="*/ 10534205 w 11602720"/>
              <a:gd name="connsiteY3" fmla="*/ 6410960 h 6410960"/>
              <a:gd name="connsiteX4" fmla="*/ 10403840 w 11602720"/>
              <a:gd name="connsiteY4" fmla="*/ 6410960 h 6410960"/>
              <a:gd name="connsiteX5" fmla="*/ 10403840 w 11602720"/>
              <a:gd name="connsiteY5" fmla="*/ 1503680 h 6410960"/>
              <a:gd name="connsiteX6" fmla="*/ 944880 w 11602720"/>
              <a:gd name="connsiteY6" fmla="*/ 1503680 h 6410960"/>
              <a:gd name="connsiteX7" fmla="*/ 944880 w 11602720"/>
              <a:gd name="connsiteY7" fmla="*/ 6410960 h 6410960"/>
              <a:gd name="connsiteX8" fmla="*/ 0 w 11602720"/>
              <a:gd name="connsiteY8" fmla="*/ 6410960 h 6410960"/>
              <a:gd name="connsiteX9" fmla="*/ 0 w 11602720"/>
              <a:gd name="connsiteY9" fmla="*/ 1068515 h 6410960"/>
              <a:gd name="connsiteX10" fmla="*/ 1068515 w 11602720"/>
              <a:gd name="connsiteY10" fmla="*/ 0 h 6410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602720" h="6410960">
                <a:moveTo>
                  <a:pt x="1068515" y="0"/>
                </a:moveTo>
                <a:lnTo>
                  <a:pt x="11602720" y="0"/>
                </a:lnTo>
                <a:lnTo>
                  <a:pt x="11602720" y="5342445"/>
                </a:lnTo>
                <a:cubicBezTo>
                  <a:pt x="11602720" y="5932570"/>
                  <a:pt x="11124330" y="6410960"/>
                  <a:pt x="10534205" y="6410960"/>
                </a:cubicBezTo>
                <a:lnTo>
                  <a:pt x="10403840" y="6410960"/>
                </a:lnTo>
                <a:lnTo>
                  <a:pt x="10403840" y="1503680"/>
                </a:lnTo>
                <a:lnTo>
                  <a:pt x="944880" y="1503680"/>
                </a:lnTo>
                <a:lnTo>
                  <a:pt x="944880" y="6410960"/>
                </a:lnTo>
                <a:lnTo>
                  <a:pt x="0" y="6410960"/>
                </a:lnTo>
                <a:lnTo>
                  <a:pt x="0" y="1068515"/>
                </a:lnTo>
                <a:cubicBezTo>
                  <a:pt x="0" y="478390"/>
                  <a:pt x="478390" y="0"/>
                  <a:pt x="1068515" y="0"/>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7" name="Rectangle : coins arrondis 6">
            <a:extLst>
              <a:ext uri="{FF2B5EF4-FFF2-40B4-BE49-F238E27FC236}">
                <a16:creationId xmlns:a16="http://schemas.microsoft.com/office/drawing/2014/main" id="{5182ED84-EB32-38D7-D3AF-FB115E1910E0}"/>
              </a:ext>
            </a:extLst>
          </p:cNvPr>
          <p:cNvSpPr/>
          <p:nvPr/>
        </p:nvSpPr>
        <p:spPr>
          <a:xfrm>
            <a:off x="959220" y="1494674"/>
            <a:ext cx="10125777" cy="495808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r>
              <a:rPr lang="en-US" sz="3600" dirty="0" smtClean="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La resolution du </a:t>
            </a:r>
            <a:r>
              <a:rPr lang="en-US" sz="3600" dirty="0" err="1" smtClean="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probl</a:t>
            </a:r>
            <a:r>
              <a:rPr lang="en-US" sz="3600" dirty="0" err="1"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ème</a:t>
            </a:r>
            <a:r>
              <a:rPr lang="en-US" sz="3600" dirty="0"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 exposé ci-</a:t>
            </a:r>
            <a:r>
              <a:rPr lang="en-US" sz="3600" dirty="0" err="1"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dessus</a:t>
            </a:r>
            <a:r>
              <a:rPr lang="en-US" sz="3600" dirty="0"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600" dirty="0" err="1"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nécessite</a:t>
            </a:r>
            <a:r>
              <a:rPr lang="en-US" sz="3600" dirty="0"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600" dirty="0" err="1"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l’introduction</a:t>
            </a:r>
            <a:r>
              <a:rPr lang="en-US" sz="3600" dirty="0"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 de la notion de Damping Factor (</a:t>
            </a:r>
            <a:r>
              <a:rPr lang="en-US" sz="3600" dirty="0" err="1"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en</a:t>
            </a:r>
            <a:r>
              <a:rPr lang="en-US" sz="3600" dirty="0"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600" dirty="0" err="1"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anglais</a:t>
            </a:r>
            <a:r>
              <a:rPr lang="en-US" sz="3600" dirty="0"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600" dirty="0" err="1"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ou</a:t>
            </a:r>
            <a:r>
              <a:rPr lang="en-US" sz="3600" dirty="0"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600" dirty="0" err="1"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Facteur</a:t>
            </a:r>
            <a:r>
              <a:rPr lang="en-US" sz="3600" dirty="0"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600" dirty="0" err="1"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d’Amortissement</a:t>
            </a:r>
            <a:r>
              <a:rPr lang="en-US" sz="3600" dirty="0"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600" dirty="0" err="1"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en</a:t>
            </a:r>
            <a:r>
              <a:rPr lang="en-US" sz="3600" dirty="0"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600" dirty="0" err="1"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Français</a:t>
            </a:r>
            <a:r>
              <a:rPr lang="en-US" sz="3600" dirty="0" smtClean="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a:t>
            </a:r>
            <a:r>
              <a:rPr lang="en-US" sz="3600" dirty="0" smtClean="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fr-FR" sz="36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fr-FR" sz="3600" dirty="0" smtClean="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Ce </a:t>
            </a:r>
            <a:r>
              <a:rPr lang="fr-FR" sz="3600" dirty="0" smtClean="0">
                <a:solidFill>
                  <a:schemeClr val="tx1">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facteur modélise le comportement des utilisateurs qui pourraient simplement naviguer de manière aléatoire sans suivre de liens.</a:t>
            </a:r>
            <a:endParaRPr lang="en-US" sz="3600" dirty="0" smtClean="0">
              <a:solidFill>
                <a:schemeClr val="tx1">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8" name="Ellipse 7">
            <a:extLst>
              <a:ext uri="{FF2B5EF4-FFF2-40B4-BE49-F238E27FC236}">
                <a16:creationId xmlns:a16="http://schemas.microsoft.com/office/drawing/2014/main" id="{5101D2AB-09AC-D656-E0D6-2CF456BD7B12}"/>
              </a:ext>
            </a:extLst>
          </p:cNvPr>
          <p:cNvSpPr/>
          <p:nvPr/>
        </p:nvSpPr>
        <p:spPr>
          <a:xfrm>
            <a:off x="523239" y="353291"/>
            <a:ext cx="11145520" cy="100584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smtClean="0">
                <a:solidFill>
                  <a:schemeClr val="bg1"/>
                </a:solidFill>
                <a:latin typeface="Times New Roman" panose="02020603050405020304" pitchFamily="18" charset="0"/>
                <a:ea typeface="Cambria" panose="02040503050406030204" pitchFamily="18" charset="0"/>
                <a:cs typeface="Times New Roman" panose="02020603050405020304" pitchFamily="18" charset="0"/>
              </a:rPr>
              <a:t>2.2. Damping </a:t>
            </a:r>
            <a:r>
              <a:rPr lang="en-US" sz="4000" dirty="0" smtClean="0">
                <a:solidFill>
                  <a:schemeClr val="bg1"/>
                </a:solidFill>
                <a:latin typeface="Times New Roman" panose="02020603050405020304" pitchFamily="18" charset="0"/>
                <a:ea typeface="Cambria" panose="02040503050406030204" pitchFamily="18" charset="0"/>
                <a:cs typeface="Times New Roman" panose="02020603050405020304" pitchFamily="18" charset="0"/>
              </a:rPr>
              <a:t>Factor</a:t>
            </a:r>
            <a:endParaRPr lang="en-US" sz="4000" dirty="0">
              <a:solidFill>
                <a:schemeClr val="bg1"/>
              </a:solidFill>
              <a:latin typeface="Times New Roman" panose="020206030504050203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366232431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llipse 4"/>
          <p:cNvSpPr/>
          <p:nvPr/>
        </p:nvSpPr>
        <p:spPr>
          <a:xfrm>
            <a:off x="635017" y="3531239"/>
            <a:ext cx="849745" cy="8312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P5</a:t>
            </a:r>
          </a:p>
          <a:p>
            <a:pPr algn="ctr"/>
            <a:r>
              <a:rPr lang="fr-FR" dirty="0" smtClean="0"/>
              <a:t>13%</a:t>
            </a:r>
            <a:endParaRPr lang="fr-FR" dirty="0"/>
          </a:p>
        </p:txBody>
      </p:sp>
      <p:sp>
        <p:nvSpPr>
          <p:cNvPr id="9" name="Ellipse 8"/>
          <p:cNvSpPr/>
          <p:nvPr/>
        </p:nvSpPr>
        <p:spPr>
          <a:xfrm>
            <a:off x="1567357" y="1906283"/>
            <a:ext cx="849745" cy="8312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P4</a:t>
            </a:r>
          </a:p>
          <a:p>
            <a:pPr algn="ctr"/>
            <a:r>
              <a:rPr lang="fr-FR" dirty="0" smtClean="0"/>
              <a:t>5%</a:t>
            </a:r>
            <a:endParaRPr lang="fr-FR" dirty="0"/>
          </a:p>
        </p:txBody>
      </p:sp>
      <p:sp>
        <p:nvSpPr>
          <p:cNvPr id="10" name="Ellipse 9"/>
          <p:cNvSpPr/>
          <p:nvPr/>
        </p:nvSpPr>
        <p:spPr>
          <a:xfrm>
            <a:off x="2932716" y="5016614"/>
            <a:ext cx="849745" cy="831272"/>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P1</a:t>
            </a:r>
          </a:p>
          <a:p>
            <a:pPr algn="ctr"/>
            <a:r>
              <a:rPr lang="fr-FR" dirty="0"/>
              <a:t>2</a:t>
            </a:r>
            <a:r>
              <a:rPr lang="fr-FR" dirty="0" smtClean="0"/>
              <a:t>5%</a:t>
            </a:r>
            <a:endParaRPr lang="fr-FR" dirty="0"/>
          </a:p>
        </p:txBody>
      </p:sp>
      <p:sp>
        <p:nvSpPr>
          <p:cNvPr id="11" name="Ellipse 10"/>
          <p:cNvSpPr/>
          <p:nvPr/>
        </p:nvSpPr>
        <p:spPr>
          <a:xfrm>
            <a:off x="3447489" y="2552515"/>
            <a:ext cx="849745" cy="8312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P3</a:t>
            </a:r>
          </a:p>
          <a:p>
            <a:pPr algn="ctr"/>
            <a:r>
              <a:rPr lang="fr-FR" dirty="0" smtClean="0"/>
              <a:t>14%</a:t>
            </a:r>
            <a:endParaRPr lang="fr-FR" dirty="0"/>
          </a:p>
        </p:txBody>
      </p:sp>
      <p:sp>
        <p:nvSpPr>
          <p:cNvPr id="12" name="Ellipse 11"/>
          <p:cNvSpPr/>
          <p:nvPr/>
        </p:nvSpPr>
        <p:spPr>
          <a:xfrm>
            <a:off x="4788526" y="3656955"/>
            <a:ext cx="849745" cy="8312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P2</a:t>
            </a:r>
          </a:p>
          <a:p>
            <a:pPr algn="ctr"/>
            <a:r>
              <a:rPr lang="fr-FR" dirty="0" smtClean="0"/>
              <a:t>10%</a:t>
            </a:r>
            <a:endParaRPr lang="fr-FR" dirty="0"/>
          </a:p>
        </p:txBody>
      </p:sp>
      <p:cxnSp>
        <p:nvCxnSpPr>
          <p:cNvPr id="13" name="Connecteur droit avec flèche 12"/>
          <p:cNvCxnSpPr>
            <a:stCxn id="10" idx="7"/>
          </p:cNvCxnSpPr>
          <p:nvPr/>
        </p:nvCxnSpPr>
        <p:spPr>
          <a:xfrm flipV="1">
            <a:off x="3658019" y="4119653"/>
            <a:ext cx="1154199" cy="101869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4" name="Connecteur droit avec flèche 13"/>
          <p:cNvCxnSpPr>
            <a:endCxn id="10" idx="1"/>
          </p:cNvCxnSpPr>
          <p:nvPr/>
        </p:nvCxnSpPr>
        <p:spPr>
          <a:xfrm>
            <a:off x="2111730" y="2735718"/>
            <a:ext cx="945428" cy="2402633"/>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necteur droit avec flèche 14"/>
          <p:cNvCxnSpPr>
            <a:stCxn id="12" idx="3"/>
            <a:endCxn id="10" idx="6"/>
          </p:cNvCxnSpPr>
          <p:nvPr/>
        </p:nvCxnSpPr>
        <p:spPr>
          <a:xfrm flipH="1">
            <a:off x="3782461" y="4366490"/>
            <a:ext cx="1130507" cy="1065760"/>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necteur droit avec flèche 15"/>
          <p:cNvCxnSpPr>
            <a:stCxn id="10" idx="0"/>
          </p:cNvCxnSpPr>
          <p:nvPr/>
        </p:nvCxnSpPr>
        <p:spPr>
          <a:xfrm flipV="1">
            <a:off x="3357589" y="3137644"/>
            <a:ext cx="424872" cy="187897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7" name="Connecteur droit avec flèche 16"/>
          <p:cNvCxnSpPr/>
          <p:nvPr/>
        </p:nvCxnSpPr>
        <p:spPr>
          <a:xfrm flipH="1" flipV="1">
            <a:off x="2350732" y="2455528"/>
            <a:ext cx="1186810" cy="35261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 name="Connecteur droit avec flèche 17"/>
          <p:cNvCxnSpPr/>
          <p:nvPr/>
        </p:nvCxnSpPr>
        <p:spPr>
          <a:xfrm flipH="1">
            <a:off x="1223096" y="2625883"/>
            <a:ext cx="484493" cy="95240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9" name="Connecteur droit avec flèche 18"/>
          <p:cNvCxnSpPr>
            <a:stCxn id="5" idx="5"/>
          </p:cNvCxnSpPr>
          <p:nvPr/>
        </p:nvCxnSpPr>
        <p:spPr>
          <a:xfrm>
            <a:off x="1360320" y="4240774"/>
            <a:ext cx="1609187" cy="1312597"/>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20" name="Ellipse 19"/>
          <p:cNvSpPr/>
          <p:nvPr/>
        </p:nvSpPr>
        <p:spPr>
          <a:xfrm>
            <a:off x="6744788" y="3217665"/>
            <a:ext cx="858982" cy="55418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Q1</a:t>
            </a:r>
          </a:p>
          <a:p>
            <a:pPr algn="ctr"/>
            <a:r>
              <a:rPr lang="fr-FR" dirty="0" smtClean="0"/>
              <a:t>5%</a:t>
            </a:r>
            <a:endParaRPr lang="fr-FR" dirty="0"/>
          </a:p>
        </p:txBody>
      </p:sp>
      <p:sp>
        <p:nvSpPr>
          <p:cNvPr id="21" name="Ellipse 20"/>
          <p:cNvSpPr/>
          <p:nvPr/>
        </p:nvSpPr>
        <p:spPr>
          <a:xfrm>
            <a:off x="7683419" y="1906283"/>
            <a:ext cx="858982" cy="55418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Q2</a:t>
            </a:r>
          </a:p>
          <a:p>
            <a:pPr algn="ctr"/>
            <a:r>
              <a:rPr lang="fr-FR" dirty="0" smtClean="0"/>
              <a:t>5%</a:t>
            </a:r>
            <a:endParaRPr lang="fr-FR" dirty="0"/>
          </a:p>
        </p:txBody>
      </p:sp>
      <p:sp>
        <p:nvSpPr>
          <p:cNvPr id="22" name="Ellipse 21"/>
          <p:cNvSpPr/>
          <p:nvPr/>
        </p:nvSpPr>
        <p:spPr>
          <a:xfrm>
            <a:off x="9153251" y="2552515"/>
            <a:ext cx="858982" cy="55418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Q3</a:t>
            </a:r>
          </a:p>
          <a:p>
            <a:pPr algn="ctr"/>
            <a:r>
              <a:rPr lang="fr-FR" dirty="0"/>
              <a:t>5</a:t>
            </a:r>
            <a:r>
              <a:rPr lang="fr-FR" dirty="0" smtClean="0"/>
              <a:t>%</a:t>
            </a:r>
            <a:endParaRPr lang="fr-FR" dirty="0"/>
          </a:p>
        </p:txBody>
      </p:sp>
      <p:sp>
        <p:nvSpPr>
          <p:cNvPr id="23" name="Ellipse 22"/>
          <p:cNvSpPr/>
          <p:nvPr/>
        </p:nvSpPr>
        <p:spPr>
          <a:xfrm>
            <a:off x="10109215" y="3801001"/>
            <a:ext cx="858982" cy="55418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Q5</a:t>
            </a:r>
          </a:p>
          <a:p>
            <a:pPr algn="ctr"/>
            <a:r>
              <a:rPr lang="fr-FR" dirty="0" smtClean="0"/>
              <a:t>6%</a:t>
            </a:r>
            <a:endParaRPr lang="fr-FR" dirty="0"/>
          </a:p>
        </p:txBody>
      </p:sp>
      <p:sp>
        <p:nvSpPr>
          <p:cNvPr id="24" name="Ellipse 23"/>
          <p:cNvSpPr/>
          <p:nvPr/>
        </p:nvSpPr>
        <p:spPr>
          <a:xfrm>
            <a:off x="8396975" y="4175932"/>
            <a:ext cx="858982" cy="554182"/>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Q4</a:t>
            </a:r>
          </a:p>
          <a:p>
            <a:pPr algn="ctr"/>
            <a:r>
              <a:rPr lang="fr-FR" dirty="0" smtClean="0"/>
              <a:t>12%</a:t>
            </a:r>
            <a:endParaRPr lang="fr-FR" dirty="0"/>
          </a:p>
        </p:txBody>
      </p:sp>
      <p:cxnSp>
        <p:nvCxnSpPr>
          <p:cNvPr id="25" name="Connecteur droit avec flèche 24"/>
          <p:cNvCxnSpPr/>
          <p:nvPr/>
        </p:nvCxnSpPr>
        <p:spPr>
          <a:xfrm flipV="1">
            <a:off x="7353267" y="2321919"/>
            <a:ext cx="429505" cy="93730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6" name="Connecteur droit avec flèche 25"/>
          <p:cNvCxnSpPr/>
          <p:nvPr/>
        </p:nvCxnSpPr>
        <p:spPr>
          <a:xfrm>
            <a:off x="7362502" y="3716427"/>
            <a:ext cx="1091095" cy="686140"/>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Connecteur droit avec flèche 26"/>
          <p:cNvCxnSpPr>
            <a:stCxn id="23" idx="3"/>
            <a:endCxn id="24" idx="6"/>
          </p:cNvCxnSpPr>
          <p:nvPr/>
        </p:nvCxnSpPr>
        <p:spPr>
          <a:xfrm flipH="1">
            <a:off x="9255957" y="4274025"/>
            <a:ext cx="979053" cy="178998"/>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Connecteur droit avec flèche 27"/>
          <p:cNvCxnSpPr>
            <a:endCxn id="22" idx="1"/>
          </p:cNvCxnSpPr>
          <p:nvPr/>
        </p:nvCxnSpPr>
        <p:spPr>
          <a:xfrm>
            <a:off x="8521041" y="2161911"/>
            <a:ext cx="758005" cy="47176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9" name="Connecteur droit avec flèche 28"/>
          <p:cNvCxnSpPr/>
          <p:nvPr/>
        </p:nvCxnSpPr>
        <p:spPr>
          <a:xfrm flipH="1">
            <a:off x="8974249" y="3102086"/>
            <a:ext cx="507998" cy="1109255"/>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43" name="Rectangle 42"/>
          <p:cNvSpPr/>
          <p:nvPr/>
        </p:nvSpPr>
        <p:spPr>
          <a:xfrm>
            <a:off x="2164913" y="221673"/>
            <a:ext cx="5947997" cy="8959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solidFill>
                  <a:schemeClr val="bg2">
                    <a:lumMod val="10000"/>
                  </a:schemeClr>
                </a:solidFill>
              </a:rPr>
              <a:t>Pour un </a:t>
            </a:r>
            <a:r>
              <a:rPr lang="fr-FR" sz="3200" b="1" dirty="0" err="1" smtClean="0">
                <a:solidFill>
                  <a:schemeClr val="bg2">
                    <a:lumMod val="10000"/>
                  </a:schemeClr>
                </a:solidFill>
              </a:rPr>
              <a:t>Damping</a:t>
            </a:r>
            <a:r>
              <a:rPr lang="fr-FR" sz="3200" b="1" dirty="0" smtClean="0">
                <a:solidFill>
                  <a:schemeClr val="bg2">
                    <a:lumMod val="10000"/>
                  </a:schemeClr>
                </a:solidFill>
              </a:rPr>
              <a:t> Factor d=0.15</a:t>
            </a:r>
            <a:endParaRPr lang="fr-FR" sz="3200" b="1" dirty="0">
              <a:solidFill>
                <a:schemeClr val="bg2">
                  <a:lumMod val="10000"/>
                </a:schemeClr>
              </a:solidFill>
            </a:endParaRPr>
          </a:p>
        </p:txBody>
      </p:sp>
    </p:spTree>
    <p:extLst>
      <p:ext uri="{BB962C8B-B14F-4D97-AF65-F5344CB8AC3E}">
        <p14:creationId xmlns:p14="http://schemas.microsoft.com/office/powerpoint/2010/main" val="349130795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20837" y="922351"/>
            <a:ext cx="2564136" cy="826936"/>
          </a:xfrm>
          <a:prstGeom prst="rect">
            <a:avLst/>
          </a:prstGeom>
        </p:spPr>
      </p:pic>
      <p:sp>
        <p:nvSpPr>
          <p:cNvPr id="5" name="Rectangle 4"/>
          <p:cNvSpPr/>
          <p:nvPr/>
        </p:nvSpPr>
        <p:spPr>
          <a:xfrm>
            <a:off x="2113361" y="115454"/>
            <a:ext cx="7521934" cy="692727"/>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5400" b="1" dirty="0">
                <a:solidFill>
                  <a:schemeClr val="tx1"/>
                </a:solidFill>
              </a:rPr>
              <a:t>3</a:t>
            </a:r>
            <a:r>
              <a:rPr lang="fr-FR" sz="5400" b="1" dirty="0" smtClean="0">
                <a:solidFill>
                  <a:schemeClr val="tx1"/>
                </a:solidFill>
              </a:rPr>
              <a:t>. Mise </a:t>
            </a:r>
            <a:r>
              <a:rPr lang="fr-FR" sz="5400" b="1" dirty="0" smtClean="0">
                <a:solidFill>
                  <a:schemeClr val="tx1">
                    <a:lumMod val="95000"/>
                    <a:lumOff val="5000"/>
                  </a:schemeClr>
                </a:solidFill>
              </a:rPr>
              <a:t>en </a:t>
            </a:r>
            <a:r>
              <a:rPr lang="fr-FR" sz="5400" b="1" dirty="0">
                <a:solidFill>
                  <a:schemeClr val="tx1">
                    <a:lumMod val="95000"/>
                    <a:lumOff val="5000"/>
                  </a:schemeClr>
                </a:solidFill>
              </a:rPr>
              <a:t>œuvre </a:t>
            </a:r>
            <a:endParaRPr lang="fr-FR" sz="5400" b="1" dirty="0">
              <a:solidFill>
                <a:schemeClr val="tx1">
                  <a:lumMod val="95000"/>
                  <a:lumOff val="5000"/>
                </a:schemeClr>
              </a:solidFill>
            </a:endParaRPr>
          </a:p>
        </p:txBody>
      </p:sp>
      <p:pic>
        <p:nvPicPr>
          <p:cNvPr id="6" name="Imag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82670" y="2258170"/>
            <a:ext cx="4746929" cy="3088290"/>
          </a:xfrm>
          <a:prstGeom prst="rect">
            <a:avLst/>
          </a:prstGeom>
        </p:spPr>
      </p:pic>
      <p:sp>
        <p:nvSpPr>
          <p:cNvPr id="7" name="Rectangle 6"/>
          <p:cNvSpPr/>
          <p:nvPr/>
        </p:nvSpPr>
        <p:spPr>
          <a:xfrm>
            <a:off x="3264254" y="5346460"/>
            <a:ext cx="5720719" cy="70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solidFill>
                  <a:schemeClr val="tx1">
                    <a:lumMod val="95000"/>
                    <a:lumOff val="5000"/>
                  </a:schemeClr>
                </a:solidFill>
              </a:rPr>
              <a:t>Exemple de graphe du Web avant application du modèle</a:t>
            </a:r>
            <a:endParaRPr lang="fr-FR" dirty="0">
              <a:solidFill>
                <a:schemeClr val="tx1">
                  <a:lumMod val="95000"/>
                  <a:lumOff val="5000"/>
                </a:schemeClr>
              </a:solidFill>
            </a:endParaRPr>
          </a:p>
        </p:txBody>
      </p:sp>
      <p:sp>
        <p:nvSpPr>
          <p:cNvPr id="9" name="Rectangle 8"/>
          <p:cNvSpPr/>
          <p:nvPr/>
        </p:nvSpPr>
        <p:spPr>
          <a:xfrm>
            <a:off x="2182631" y="853339"/>
            <a:ext cx="8829926" cy="135967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fr-FR" dirty="0" smtClean="0">
                <a:solidFill>
                  <a:schemeClr val="tx1">
                    <a:lumMod val="95000"/>
                    <a:lumOff val="5000"/>
                  </a:schemeClr>
                </a:solidFill>
              </a:rPr>
              <a:t>Le modèle PageRank est donnée par la formule</a:t>
            </a:r>
          </a:p>
          <a:p>
            <a:pPr algn="just"/>
            <a:r>
              <a:rPr lang="fr-FR" dirty="0" smtClean="0">
                <a:solidFill>
                  <a:schemeClr val="tx1">
                    <a:lumMod val="95000"/>
                    <a:lumOff val="5000"/>
                  </a:schemeClr>
                </a:solidFill>
              </a:rPr>
              <a:t>Où c représente le </a:t>
            </a:r>
            <a:r>
              <a:rPr lang="fr-FR" dirty="0" err="1" smtClean="0">
                <a:solidFill>
                  <a:schemeClr val="tx1">
                    <a:lumMod val="95000"/>
                    <a:lumOff val="5000"/>
                  </a:schemeClr>
                </a:solidFill>
              </a:rPr>
              <a:t>Damping</a:t>
            </a:r>
            <a:r>
              <a:rPr lang="fr-FR" dirty="0" smtClean="0">
                <a:solidFill>
                  <a:schemeClr val="tx1">
                    <a:lumMod val="95000"/>
                    <a:lumOff val="5000"/>
                  </a:schemeClr>
                </a:solidFill>
              </a:rPr>
              <a:t> factor et le poids associé à la quantité (1-c) représente la matrice de transition associée au graphe du Web</a:t>
            </a:r>
            <a:endParaRPr lang="fr-FR" dirty="0">
              <a:solidFill>
                <a:schemeClr val="tx1">
                  <a:lumMod val="95000"/>
                  <a:lumOff val="5000"/>
                </a:schemeClr>
              </a:solidFill>
            </a:endParaRPr>
          </a:p>
        </p:txBody>
      </p:sp>
    </p:spTree>
    <p:extLst>
      <p:ext uri="{BB962C8B-B14F-4D97-AF65-F5344CB8AC3E}">
        <p14:creationId xmlns:p14="http://schemas.microsoft.com/office/powerpoint/2010/main" val="4021261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7429" y="1651222"/>
            <a:ext cx="10058400" cy="3293978"/>
          </a:xfrm>
          <a:prstGeom prst="rect">
            <a:avLst/>
          </a:prstGeom>
        </p:spPr>
      </p:pic>
      <p:sp>
        <p:nvSpPr>
          <p:cNvPr id="5" name="Rectangle 4"/>
          <p:cNvSpPr/>
          <p:nvPr/>
        </p:nvSpPr>
        <p:spPr>
          <a:xfrm>
            <a:off x="2164913" y="221673"/>
            <a:ext cx="5947997" cy="8959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solidFill>
                  <a:schemeClr val="bg2">
                    <a:lumMod val="10000"/>
                  </a:schemeClr>
                </a:solidFill>
              </a:rPr>
              <a:t>Pour un </a:t>
            </a:r>
            <a:r>
              <a:rPr lang="fr-FR" sz="3200" b="1" dirty="0" err="1" smtClean="0">
                <a:solidFill>
                  <a:schemeClr val="bg2">
                    <a:lumMod val="10000"/>
                  </a:schemeClr>
                </a:solidFill>
              </a:rPr>
              <a:t>Damping</a:t>
            </a:r>
            <a:r>
              <a:rPr lang="fr-FR" sz="3200" b="1" dirty="0" smtClean="0">
                <a:solidFill>
                  <a:schemeClr val="bg2">
                    <a:lumMod val="10000"/>
                  </a:schemeClr>
                </a:solidFill>
              </a:rPr>
              <a:t> Factor </a:t>
            </a:r>
            <a:r>
              <a:rPr lang="fr-FR" sz="3200" b="1" dirty="0" smtClean="0">
                <a:solidFill>
                  <a:schemeClr val="bg2">
                    <a:lumMod val="10000"/>
                  </a:schemeClr>
                </a:solidFill>
              </a:rPr>
              <a:t>c=0.15</a:t>
            </a:r>
            <a:endParaRPr lang="fr-FR" sz="3200" b="1" dirty="0">
              <a:solidFill>
                <a:schemeClr val="bg2">
                  <a:lumMod val="10000"/>
                </a:schemeClr>
              </a:solidFill>
            </a:endParaRPr>
          </a:p>
        </p:txBody>
      </p:sp>
      <p:pic>
        <p:nvPicPr>
          <p:cNvPr id="6" name="Imag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11098" y="439979"/>
            <a:ext cx="2714731" cy="1046915"/>
          </a:xfrm>
          <a:prstGeom prst="rect">
            <a:avLst/>
          </a:prstGeom>
        </p:spPr>
      </p:pic>
    </p:spTree>
    <p:extLst>
      <p:ext uri="{BB962C8B-B14F-4D97-AF65-F5344CB8AC3E}">
        <p14:creationId xmlns:p14="http://schemas.microsoft.com/office/powerpoint/2010/main" val="15693689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64254" y="1511540"/>
            <a:ext cx="5663492" cy="3834920"/>
          </a:xfrm>
          <a:prstGeom prst="rect">
            <a:avLst/>
          </a:prstGeom>
        </p:spPr>
      </p:pic>
      <p:sp>
        <p:nvSpPr>
          <p:cNvPr id="5" name="Rectangle 4"/>
          <p:cNvSpPr/>
          <p:nvPr/>
        </p:nvSpPr>
        <p:spPr>
          <a:xfrm>
            <a:off x="3821926" y="5346460"/>
            <a:ext cx="4797287" cy="70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solidFill>
                  <a:schemeClr val="tx1">
                    <a:lumMod val="95000"/>
                    <a:lumOff val="5000"/>
                  </a:schemeClr>
                </a:solidFill>
              </a:rPr>
              <a:t>Le graphe du Web après application du modèle</a:t>
            </a:r>
            <a:endParaRPr lang="fr-FR" dirty="0">
              <a:solidFill>
                <a:schemeClr val="tx1">
                  <a:lumMod val="95000"/>
                  <a:lumOff val="5000"/>
                </a:schemeClr>
              </a:solidFill>
            </a:endParaRPr>
          </a:p>
        </p:txBody>
      </p:sp>
      <p:sp>
        <p:nvSpPr>
          <p:cNvPr id="6" name="Rectangle 5"/>
          <p:cNvSpPr/>
          <p:nvPr/>
        </p:nvSpPr>
        <p:spPr>
          <a:xfrm>
            <a:off x="2164913" y="221673"/>
            <a:ext cx="5947997" cy="8959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solidFill>
                  <a:schemeClr val="bg2">
                    <a:lumMod val="10000"/>
                  </a:schemeClr>
                </a:solidFill>
              </a:rPr>
              <a:t>Pour un </a:t>
            </a:r>
            <a:r>
              <a:rPr lang="fr-FR" sz="3200" b="1" dirty="0" err="1" smtClean="0">
                <a:solidFill>
                  <a:schemeClr val="bg2">
                    <a:lumMod val="10000"/>
                  </a:schemeClr>
                </a:solidFill>
              </a:rPr>
              <a:t>Damping</a:t>
            </a:r>
            <a:r>
              <a:rPr lang="fr-FR" sz="3200" b="1" dirty="0" smtClean="0">
                <a:solidFill>
                  <a:schemeClr val="bg2">
                    <a:lumMod val="10000"/>
                  </a:schemeClr>
                </a:solidFill>
              </a:rPr>
              <a:t> Factor </a:t>
            </a:r>
            <a:r>
              <a:rPr lang="fr-FR" sz="3200" b="1" dirty="0" smtClean="0">
                <a:solidFill>
                  <a:schemeClr val="bg2">
                    <a:lumMod val="10000"/>
                  </a:schemeClr>
                </a:solidFill>
              </a:rPr>
              <a:t>c=0.15</a:t>
            </a:r>
            <a:endParaRPr lang="fr-FR" sz="3200" b="1" dirty="0">
              <a:solidFill>
                <a:schemeClr val="bg2">
                  <a:lumMod val="10000"/>
                </a:schemeClr>
              </a:solidFill>
            </a:endParaRPr>
          </a:p>
        </p:txBody>
      </p:sp>
      <p:pic>
        <p:nvPicPr>
          <p:cNvPr id="7" name="Imag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11098" y="422364"/>
            <a:ext cx="2714731" cy="1046915"/>
          </a:xfrm>
          <a:prstGeom prst="rect">
            <a:avLst/>
          </a:prstGeom>
        </p:spPr>
      </p:pic>
    </p:spTree>
    <p:extLst>
      <p:ext uri="{BB962C8B-B14F-4D97-AF65-F5344CB8AC3E}">
        <p14:creationId xmlns:p14="http://schemas.microsoft.com/office/powerpoint/2010/main" val="40965078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alpha val="42000"/>
          </a:schemeClr>
        </a:solidFill>
        <a:effectLst/>
      </p:bgPr>
    </p:bg>
    <p:spTree>
      <p:nvGrpSpPr>
        <p:cNvPr id="1" name=""/>
        <p:cNvGrpSpPr/>
        <p:nvPr/>
      </p:nvGrpSpPr>
      <p:grpSpPr>
        <a:xfrm>
          <a:off x="0" y="0"/>
          <a:ext cx="0" cy="0"/>
          <a:chOff x="0" y="0"/>
          <a:chExt cx="0" cy="0"/>
        </a:xfrm>
      </p:grpSpPr>
      <p:sp>
        <p:nvSpPr>
          <p:cNvPr id="4" name="Parchemin : vertical 3">
            <a:extLst>
              <a:ext uri="{FF2B5EF4-FFF2-40B4-BE49-F238E27FC236}">
                <a16:creationId xmlns:a16="http://schemas.microsoft.com/office/drawing/2014/main" id="{56D2F946-4755-7CDE-1DED-38CED3AF5ABA}"/>
              </a:ext>
            </a:extLst>
          </p:cNvPr>
          <p:cNvSpPr/>
          <p:nvPr/>
        </p:nvSpPr>
        <p:spPr>
          <a:xfrm>
            <a:off x="0" y="271112"/>
            <a:ext cx="11685069" cy="6014720"/>
          </a:xfrm>
          <a:prstGeom prst="verticalScroll">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7000"/>
              </a:lnSpc>
              <a:spcAft>
                <a:spcPts val="800"/>
              </a:spcAft>
            </a:pPr>
            <a:r>
              <a:rPr lang="fr-FR" sz="3200" dirty="0" smtClean="0">
                <a:solidFill>
                  <a:schemeClr val="bg2">
                    <a:lumMod val="10000"/>
                  </a:schemeClr>
                </a:solidFill>
                <a:latin typeface="Times New Roman" panose="02020603050405020304" pitchFamily="18" charset="0"/>
                <a:cs typeface="Times New Roman" panose="02020603050405020304" pitchFamily="18" charset="0"/>
              </a:rPr>
              <a:t>PageRank</a:t>
            </a:r>
            <a:r>
              <a:rPr lang="fr-FR" sz="3200" dirty="0">
                <a:solidFill>
                  <a:schemeClr val="bg2">
                    <a:lumMod val="10000"/>
                  </a:schemeClr>
                </a:solidFill>
                <a:latin typeface="Times New Roman" panose="02020603050405020304" pitchFamily="18" charset="0"/>
                <a:cs typeface="Times New Roman" panose="02020603050405020304" pitchFamily="18" charset="0"/>
              </a:rPr>
              <a:t>, </a:t>
            </a:r>
            <a:r>
              <a:rPr lang="fr-FR" sz="3200" dirty="0" smtClean="0">
                <a:solidFill>
                  <a:schemeClr val="bg2">
                    <a:lumMod val="10000"/>
                  </a:schemeClr>
                </a:solidFill>
                <a:latin typeface="Times New Roman" panose="02020603050405020304" pitchFamily="18" charset="0"/>
                <a:cs typeface="Times New Roman" panose="02020603050405020304" pitchFamily="18" charset="0"/>
              </a:rPr>
              <a:t>n’est pas le seul moyen par lequel calculer l’importance d’une page Web. Cependant, son approche </a:t>
            </a:r>
            <a:r>
              <a:rPr lang="fr-FR" sz="3200" dirty="0">
                <a:solidFill>
                  <a:schemeClr val="bg2">
                    <a:lumMod val="10000"/>
                  </a:schemeClr>
                </a:solidFill>
                <a:latin typeface="Times New Roman" panose="02020603050405020304" pitchFamily="18" charset="0"/>
                <a:cs typeface="Times New Roman" panose="02020603050405020304" pitchFamily="18" charset="0"/>
              </a:rPr>
              <a:t>a révolutionné le domaine de la recherche sur Internet en fournissant une méthode efficace et pertinente pour évaluer la pertinence des pages </a:t>
            </a:r>
            <a:r>
              <a:rPr lang="fr-FR" sz="3200" dirty="0" smtClean="0">
                <a:solidFill>
                  <a:schemeClr val="bg2">
                    <a:lumMod val="10000"/>
                  </a:schemeClr>
                </a:solidFill>
                <a:latin typeface="Times New Roman" panose="02020603050405020304" pitchFamily="18" charset="0"/>
                <a:cs typeface="Times New Roman" panose="02020603050405020304" pitchFamily="18" charset="0"/>
              </a:rPr>
              <a:t>web et </a:t>
            </a:r>
            <a:r>
              <a:rPr lang="fr-FR" sz="3200" smtClean="0">
                <a:solidFill>
                  <a:schemeClr val="bg2">
                    <a:lumMod val="10000"/>
                  </a:schemeClr>
                </a:solidFill>
                <a:latin typeface="Times New Roman" panose="02020603050405020304" pitchFamily="18" charset="0"/>
                <a:cs typeface="Times New Roman" panose="02020603050405020304" pitchFamily="18" charset="0"/>
              </a:rPr>
              <a:t>fournir </a:t>
            </a:r>
            <a:r>
              <a:rPr lang="fr-FR" sz="3200" smtClean="0">
                <a:solidFill>
                  <a:schemeClr val="bg2">
                    <a:lumMod val="10000"/>
                  </a:schemeClr>
                </a:solidFill>
                <a:latin typeface="Times New Roman" panose="02020603050405020304" pitchFamily="18" charset="0"/>
                <a:cs typeface="Times New Roman" panose="02020603050405020304" pitchFamily="18" charset="0"/>
              </a:rPr>
              <a:t>à </a:t>
            </a:r>
            <a:r>
              <a:rPr lang="fr-FR" sz="3200" dirty="0" smtClean="0">
                <a:solidFill>
                  <a:schemeClr val="bg2">
                    <a:lumMod val="10000"/>
                  </a:schemeClr>
                </a:solidFill>
                <a:latin typeface="Times New Roman" panose="02020603050405020304" pitchFamily="18" charset="0"/>
                <a:cs typeface="Times New Roman" panose="02020603050405020304" pitchFamily="18" charset="0"/>
              </a:rPr>
              <a:t>l’utilisateur les résultats de sa recherche par ordre d’importance. </a:t>
            </a:r>
            <a:endParaRPr lang="fr-FR" sz="3200" dirty="0">
              <a:solidFill>
                <a:schemeClr val="bg2">
                  <a:lumMod val="10000"/>
                </a:schemeClr>
              </a:solidFill>
              <a:latin typeface="Times New Roman" panose="02020603050405020304" pitchFamily="18" charset="0"/>
              <a:cs typeface="Times New Roman" panose="02020603050405020304" pitchFamily="18" charset="0"/>
            </a:endParaRPr>
          </a:p>
        </p:txBody>
      </p:sp>
      <p:sp>
        <p:nvSpPr>
          <p:cNvPr id="5" name="Rectangle : coins arrondis 4">
            <a:extLst>
              <a:ext uri="{FF2B5EF4-FFF2-40B4-BE49-F238E27FC236}">
                <a16:creationId xmlns:a16="http://schemas.microsoft.com/office/drawing/2014/main" id="{C676F5E8-D687-32D1-1793-C5764B567FE6}"/>
              </a:ext>
            </a:extLst>
          </p:cNvPr>
          <p:cNvSpPr/>
          <p:nvPr/>
        </p:nvSpPr>
        <p:spPr>
          <a:xfrm>
            <a:off x="86627" y="271112"/>
            <a:ext cx="11887199" cy="826168"/>
          </a:xfrm>
          <a:prstGeom prst="roundRect">
            <a:avLst>
              <a:gd name="adj" fmla="val 50000"/>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4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CONCLUSION</a:t>
            </a:r>
          </a:p>
        </p:txBody>
      </p:sp>
    </p:spTree>
    <p:extLst>
      <p:ext uri="{BB962C8B-B14F-4D97-AF65-F5344CB8AC3E}">
        <p14:creationId xmlns:p14="http://schemas.microsoft.com/office/powerpoint/2010/main" val="295844861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archemin : vertical 3">
            <a:extLst>
              <a:ext uri="{FF2B5EF4-FFF2-40B4-BE49-F238E27FC236}">
                <a16:creationId xmlns:a16="http://schemas.microsoft.com/office/drawing/2014/main" id="{56D2F946-4755-7CDE-1DED-38CED3AF5ABA}"/>
              </a:ext>
            </a:extLst>
          </p:cNvPr>
          <p:cNvSpPr/>
          <p:nvPr/>
        </p:nvSpPr>
        <p:spPr>
          <a:xfrm>
            <a:off x="0" y="271112"/>
            <a:ext cx="11685069" cy="6014720"/>
          </a:xfrm>
          <a:prstGeom prst="verticalScroll">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7000"/>
              </a:lnSpc>
              <a:spcAft>
                <a:spcPts val="800"/>
              </a:spcAft>
            </a:pPr>
            <a:r>
              <a:rPr lang="fr-FR" sz="3200" dirty="0" smtClean="0">
                <a:solidFill>
                  <a:schemeClr val="bg2">
                    <a:lumMod val="10000"/>
                  </a:schemeClr>
                </a:solidFill>
              </a:rPr>
              <a:t>[1] </a:t>
            </a:r>
            <a:r>
              <a:rPr lang="en-US" sz="2400" i="1" dirty="0">
                <a:solidFill>
                  <a:schemeClr val="tx1">
                    <a:lumMod val="95000"/>
                    <a:lumOff val="5000"/>
                  </a:schemeClr>
                </a:solidFill>
              </a:rPr>
              <a:t>S. </a:t>
            </a:r>
            <a:r>
              <a:rPr lang="en-US" sz="2400" i="1" dirty="0" err="1">
                <a:solidFill>
                  <a:schemeClr val="tx1">
                    <a:lumMod val="95000"/>
                    <a:lumOff val="5000"/>
                  </a:schemeClr>
                </a:solidFill>
              </a:rPr>
              <a:t>Brin</a:t>
            </a:r>
            <a:r>
              <a:rPr lang="en-US" sz="2400" i="1" dirty="0">
                <a:solidFill>
                  <a:schemeClr val="tx1">
                    <a:lumMod val="95000"/>
                    <a:lumOff val="5000"/>
                  </a:schemeClr>
                </a:solidFill>
              </a:rPr>
              <a:t>, L. Page The Anatomy of a Large-Scale </a:t>
            </a:r>
            <a:r>
              <a:rPr lang="en-US" sz="2400" i="1" dirty="0" err="1">
                <a:solidFill>
                  <a:schemeClr val="tx1">
                    <a:lumMod val="95000"/>
                    <a:lumOff val="5000"/>
                  </a:schemeClr>
                </a:solidFill>
              </a:rPr>
              <a:t>Hypertextual</a:t>
            </a:r>
            <a:r>
              <a:rPr lang="en-US" sz="2400" i="1" dirty="0">
                <a:solidFill>
                  <a:schemeClr val="tx1">
                    <a:lumMod val="95000"/>
                    <a:lumOff val="5000"/>
                  </a:schemeClr>
                </a:solidFill>
              </a:rPr>
              <a:t> Web Search Engine. Stanford University 1998,</a:t>
            </a:r>
            <a:endParaRPr lang="fr-FR" sz="2400" i="1" dirty="0" smtClean="0">
              <a:solidFill>
                <a:schemeClr val="tx1">
                  <a:lumMod val="95000"/>
                  <a:lumOff val="5000"/>
                </a:schemeClr>
              </a:solidFill>
            </a:endParaRPr>
          </a:p>
          <a:p>
            <a:pPr>
              <a:lnSpc>
                <a:spcPct val="107000"/>
              </a:lnSpc>
              <a:spcAft>
                <a:spcPts val="800"/>
              </a:spcAft>
            </a:pPr>
            <a:r>
              <a:rPr lang="fr-FR" sz="3200" i="1" dirty="0" smtClean="0">
                <a:solidFill>
                  <a:schemeClr val="bg2">
                    <a:lumMod val="10000"/>
                  </a:schemeClr>
                </a:solidFill>
              </a:rPr>
              <a:t>http</a:t>
            </a:r>
            <a:r>
              <a:rPr lang="fr-FR" sz="3200" i="1" dirty="0">
                <a:solidFill>
                  <a:schemeClr val="bg2">
                    <a:lumMod val="10000"/>
                  </a:schemeClr>
                </a:solidFill>
              </a:rPr>
              <a:t>://</a:t>
            </a:r>
            <a:r>
              <a:rPr lang="fr-FR" sz="3200" i="1" dirty="0" smtClean="0">
                <a:solidFill>
                  <a:schemeClr val="bg2">
                    <a:lumMod val="10000"/>
                  </a:schemeClr>
                </a:solidFill>
              </a:rPr>
              <a:t>images.math.cnrs.fr/Comment-Google-classe-les-pages.html?lang=fr </a:t>
            </a:r>
          </a:p>
          <a:p>
            <a:pPr>
              <a:lnSpc>
                <a:spcPct val="107000"/>
              </a:lnSpc>
              <a:spcAft>
                <a:spcPts val="800"/>
              </a:spcAft>
            </a:pPr>
            <a:r>
              <a:rPr lang="fr-FR" sz="3200" i="1" dirty="0" smtClean="0">
                <a:solidFill>
                  <a:schemeClr val="bg2">
                    <a:lumMod val="10000"/>
                  </a:schemeClr>
                </a:solidFill>
                <a:latin typeface="Times New Roman" panose="02020603050405020304" pitchFamily="18" charset="0"/>
                <a:cs typeface="Times New Roman" panose="02020603050405020304" pitchFamily="18" charset="0"/>
              </a:rPr>
              <a:t>https</a:t>
            </a:r>
            <a:r>
              <a:rPr lang="fr-FR" sz="3200" i="1" dirty="0">
                <a:solidFill>
                  <a:schemeClr val="bg2">
                    <a:lumMod val="10000"/>
                  </a:schemeClr>
                </a:solidFill>
                <a:latin typeface="Times New Roman" panose="02020603050405020304" pitchFamily="18" charset="0"/>
                <a:cs typeface="Times New Roman" panose="02020603050405020304" pitchFamily="18" charset="0"/>
              </a:rPr>
              <a:t>://</a:t>
            </a:r>
            <a:r>
              <a:rPr lang="fr-FR" sz="3200" i="1" dirty="0" smtClean="0">
                <a:solidFill>
                  <a:schemeClr val="bg2">
                    <a:lumMod val="10000"/>
                  </a:schemeClr>
                </a:solidFill>
                <a:latin typeface="Times New Roman" panose="02020603050405020304" pitchFamily="18" charset="0"/>
                <a:cs typeface="Times New Roman" panose="02020603050405020304" pitchFamily="18" charset="0"/>
              </a:rPr>
              <a:t>youtu.be/meonLcN</a:t>
            </a:r>
            <a:r>
              <a:rPr lang="fr-FR" sz="3200" i="1" dirty="0">
                <a:solidFill>
                  <a:schemeClr val="bg2">
                    <a:lumMod val="10000"/>
                  </a:schemeClr>
                </a:solidFill>
              </a:rPr>
              <a:t>Cours de ETH </a:t>
            </a:r>
            <a:r>
              <a:rPr lang="fr-FR" sz="3200" i="1" dirty="0" err="1">
                <a:solidFill>
                  <a:schemeClr val="bg2">
                    <a:lumMod val="10000"/>
                  </a:schemeClr>
                </a:solidFill>
              </a:rPr>
              <a:t>Zurick</a:t>
            </a:r>
            <a:r>
              <a:rPr lang="fr-FR" sz="3200" i="1" dirty="0">
                <a:solidFill>
                  <a:schemeClr val="bg2">
                    <a:lumMod val="10000"/>
                  </a:schemeClr>
                </a:solidFill>
              </a:rPr>
              <a:t> : </a:t>
            </a:r>
            <a:r>
              <a:rPr lang="fr-FR" sz="3200" i="1" dirty="0" err="1">
                <a:solidFill>
                  <a:schemeClr val="bg2">
                    <a:lumMod val="10000"/>
                  </a:schemeClr>
                </a:solidFill>
              </a:rPr>
              <a:t>Chapter</a:t>
            </a:r>
            <a:r>
              <a:rPr lang="fr-FR" sz="3200" i="1" dirty="0">
                <a:solidFill>
                  <a:schemeClr val="bg2">
                    <a:lumMod val="10000"/>
                  </a:schemeClr>
                </a:solidFill>
              </a:rPr>
              <a:t> 11 https://disco.ethz.ch/courses/ti2/ </a:t>
            </a:r>
            <a:r>
              <a:rPr lang="fr-FR" sz="3200" i="1" dirty="0" smtClean="0">
                <a:solidFill>
                  <a:schemeClr val="bg2">
                    <a:lumMod val="10000"/>
                  </a:schemeClr>
                </a:solidFill>
                <a:latin typeface="Times New Roman" panose="02020603050405020304" pitchFamily="18" charset="0"/>
                <a:cs typeface="Times New Roman" panose="02020603050405020304" pitchFamily="18" charset="0"/>
              </a:rPr>
              <a:t>7LD4</a:t>
            </a:r>
            <a:endParaRPr lang="fr-FR" sz="3200" i="1" dirty="0">
              <a:solidFill>
                <a:schemeClr val="bg2">
                  <a:lumMod val="10000"/>
                </a:schemeClr>
              </a:solidFill>
              <a:latin typeface="Times New Roman" panose="02020603050405020304" pitchFamily="18" charset="0"/>
              <a:cs typeface="Times New Roman" panose="02020603050405020304" pitchFamily="18" charset="0"/>
            </a:endParaRPr>
          </a:p>
        </p:txBody>
      </p:sp>
      <p:sp>
        <p:nvSpPr>
          <p:cNvPr id="8" name="Rectangle : coins arrondis 4">
            <a:extLst>
              <a:ext uri="{FF2B5EF4-FFF2-40B4-BE49-F238E27FC236}">
                <a16:creationId xmlns:a16="http://schemas.microsoft.com/office/drawing/2014/main" id="{C676F5E8-D687-32D1-1793-C5764B567FE6}"/>
              </a:ext>
            </a:extLst>
          </p:cNvPr>
          <p:cNvSpPr/>
          <p:nvPr/>
        </p:nvSpPr>
        <p:spPr>
          <a:xfrm>
            <a:off x="86627" y="271112"/>
            <a:ext cx="11887199" cy="826168"/>
          </a:xfrm>
          <a:prstGeom prst="roundRect">
            <a:avLst>
              <a:gd name="adj" fmla="val 50000"/>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400" dirty="0" smtClean="0">
                <a:solidFill>
                  <a:srgbClr val="7030A0"/>
                </a:solidFill>
                <a:latin typeface="Times New Roman" panose="02020603050405020304" pitchFamily="18" charset="0"/>
                <a:ea typeface="Calibri" panose="020F0502020204030204" pitchFamily="34" charset="0"/>
                <a:cs typeface="Times New Roman" panose="02020603050405020304" pitchFamily="18" charset="0"/>
              </a:rPr>
              <a:t>Référence</a:t>
            </a:r>
            <a:endParaRPr lang="fr-FR" sz="44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6696510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gradFill>
          <a:gsLst>
            <a:gs pos="0">
              <a:srgbClr val="FFFF00"/>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Ellipse 3">
            <a:extLst>
              <a:ext uri="{FF2B5EF4-FFF2-40B4-BE49-F238E27FC236}">
                <a16:creationId xmlns:a16="http://schemas.microsoft.com/office/drawing/2014/main" id="{021ACF4A-427A-231B-526A-A7DE764ACB9B}"/>
              </a:ext>
            </a:extLst>
          </p:cNvPr>
          <p:cNvSpPr/>
          <p:nvPr/>
        </p:nvSpPr>
        <p:spPr>
          <a:xfrm>
            <a:off x="0" y="2489200"/>
            <a:ext cx="12192000" cy="2722880"/>
          </a:xfrm>
          <a:prstGeom prst="ellipse">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600" dirty="0" smtClean="0">
                <a:latin typeface="Times New Roman" panose="02020603050405020304" pitchFamily="18" charset="0"/>
                <a:cs typeface="Times New Roman" panose="02020603050405020304" pitchFamily="18" charset="0"/>
              </a:rPr>
              <a:t>Merci pour votre attention!</a:t>
            </a:r>
            <a:endParaRPr lang="fr-FR" sz="6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14434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1183</TotalTime>
  <Words>814</Words>
  <Application>Microsoft Office PowerPoint</Application>
  <PresentationFormat>Grand écran</PresentationFormat>
  <Paragraphs>110</Paragraphs>
  <Slides>23</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23</vt:i4>
      </vt:variant>
    </vt:vector>
  </HeadingPairs>
  <TitlesOfParts>
    <vt:vector size="29" baseType="lpstr">
      <vt:lpstr>Arial</vt:lpstr>
      <vt:lpstr>Calibri</vt:lpstr>
      <vt:lpstr>Calibri Light</vt:lpstr>
      <vt:lpstr>Cambria</vt:lpstr>
      <vt:lpstr>Times New Roman</vt:lpstr>
      <vt:lpstr>Thème Office</vt:lpstr>
      <vt:lpstr>Présentation PowerPoint</vt:lpstr>
      <vt:lpstr>Présentation PowerPoint</vt:lpstr>
      <vt:lpstr>Présentation PowerPoint</vt:lpstr>
      <vt:lpstr>Présentation PowerPoint</vt:lpstr>
      <vt:lpstr>Présentation PowerPoint</vt:lpstr>
      <vt:lpstr>Présentation PowerPoint</vt:lpstr>
      <vt:lpstr>Sur la base de ce principe, nous pouvons dire dans l’exemple ci-dessous que la page P4 est la plus importante.</vt:lpstr>
      <vt:lpstr>Présentation PowerPoint</vt:lpstr>
      <vt:lpstr>Présentation PowerPoint</vt:lpstr>
      <vt:lpstr>Présentation PowerPoint</vt:lpstr>
      <vt:lpstr>Présentation PowerPoint</vt:lpstr>
      <vt:lpstr>Présentation PowerPoint</vt:lpstr>
      <vt:lpstr>Présentation PowerPoint</vt:lpstr>
      <vt:lpstr>Dans l’exemple ci-dessous, P1 est la page la plus importante.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Role of Actuaries in the Insurance Sector</dc:title>
  <dc:creator>Kouamé Gérard Kra</dc:creator>
  <cp:lastModifiedBy>Kouamé Gérard Kra</cp:lastModifiedBy>
  <cp:revision>76</cp:revision>
  <dcterms:created xsi:type="dcterms:W3CDTF">2023-06-11T13:38:29Z</dcterms:created>
  <dcterms:modified xsi:type="dcterms:W3CDTF">2024-01-18T22:37:01Z</dcterms:modified>
</cp:coreProperties>
</file>